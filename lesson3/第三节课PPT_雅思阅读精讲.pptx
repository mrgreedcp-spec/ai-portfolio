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IELTS ACADEMIC READING</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雅思阅读精讲班 · 第三节课</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a:t>
            </a:r>
          </a:p>
        </p:txBody>
      </p:sp>
      <p:sp>
        <p:nvSpPr>
          <p:cNvPr id="8" name="Rectangle 7"/>
          <p:cNvSpPr/>
          <p:nvPr/>
        </p:nvSpPr>
        <p:spPr>
          <a:xfrm>
            <a:off x="658368" y="1627632"/>
            <a:ext cx="10881360" cy="65836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3600" b="1">
                <a:solidFill>
                  <a:srgbClr val="0F172A"/>
                </a:solidFill>
                <a:latin typeface="微软雅黑"/>
                <a:ea typeface="微软雅黑"/>
                <a:cs typeface="微软雅黑"/>
              </a:rPr>
              <a:t>题型拓展 × 逐题精讲 × 长难句</a:t>
            </a:r>
          </a:p>
        </p:txBody>
      </p:sp>
      <p:sp>
        <p:nvSpPr>
          <p:cNvPr id="9" name="Rectangle 8"/>
          <p:cNvSpPr/>
          <p:nvPr/>
        </p:nvSpPr>
        <p:spPr>
          <a:xfrm>
            <a:off x="658368" y="2560320"/>
            <a:ext cx="10881360" cy="1097280"/>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本节新增题型：选择题 · 表格填空 · 简答题 · 图形配对 · 词库摘要</a:t>
            </a:r>
          </a:p>
          <a:p>
            <a:pPr algn="l"/>
            <a:r>
              <a:rPr sz="2200" b="1">
                <a:solidFill>
                  <a:srgbClr val="0F172A"/>
                </a:solidFill>
                <a:latin typeface="微软雅黑"/>
                <a:ea typeface="微软雅黑"/>
                <a:cs typeface="微软雅黑"/>
              </a:rPr>
              <a:t>延续第二节课：四步拆句法继续用在每一道题的“命中句”上</a:t>
            </a:r>
          </a:p>
        </p:txBody>
      </p:sp>
      <p:sp>
        <p:nvSpPr>
          <p:cNvPr id="10" name="Rectangle 9"/>
          <p:cNvSpPr/>
          <p:nvPr/>
        </p:nvSpPr>
        <p:spPr>
          <a:xfrm>
            <a:off x="658368" y="3977639"/>
            <a:ext cx="10881360" cy="868680"/>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材料：Athletics + Whales + Blind（Q1–40）+ Weather Forecasting（课后）</a:t>
            </a:r>
          </a:p>
        </p:txBody>
      </p:sp>
      <p:sp>
        <p:nvSpPr>
          <p:cNvPr id="11" name="Rectangle 10"/>
          <p:cNvSpPr/>
          <p:nvPr/>
        </p:nvSpPr>
        <p:spPr>
          <a:xfrm>
            <a:off x="658368" y="5074920"/>
            <a:ext cx="10881360" cy="868680"/>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开场作业复盘：The Development of Plastics Q1–13（第二节课作业）</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ROADMAP</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今天的认知路线：从“会拆句”到“会拆题型”</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2</a:t>
            </a:r>
          </a:p>
        </p:txBody>
      </p:sp>
      <p:sp>
        <p:nvSpPr>
          <p:cNvPr id="8" name="Rectangle 7"/>
          <p:cNvSpPr/>
          <p:nvPr/>
        </p:nvSpPr>
        <p:spPr>
          <a:xfrm>
            <a:off x="658368"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1 作业复盘</a:t>
            </a:r>
          </a:p>
        </p:txBody>
      </p:sp>
      <p:sp>
        <p:nvSpPr>
          <p:cNvPr id="9" name="Rectangle 8"/>
          <p:cNvSpPr/>
          <p:nvPr/>
        </p:nvSpPr>
        <p:spPr>
          <a:xfrm>
            <a:off x="658368" y="1828800"/>
            <a:ext cx="3429000" cy="3611880"/>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Plastics Q1–13</a:t>
            </a:r>
          </a:p>
          <a:p>
            <a:pPr algn="l"/>
            <a:r>
              <a:rPr sz="2200" b="1">
                <a:solidFill>
                  <a:srgbClr val="0F172A"/>
                </a:solidFill>
                <a:latin typeface="微软雅黑"/>
                <a:ea typeface="微软雅黑"/>
                <a:cs typeface="微软雅黑"/>
              </a:rPr>
              <a:t>· 表格 + 判断</a:t>
            </a:r>
          </a:p>
          <a:p>
            <a:pPr algn="l"/>
            <a:r>
              <a:rPr sz="2200" b="1">
                <a:solidFill>
                  <a:srgbClr val="0F172A"/>
                </a:solidFill>
                <a:latin typeface="微软雅黑"/>
                <a:ea typeface="微软雅黑"/>
                <a:cs typeface="微软雅黑"/>
              </a:rPr>
              <a:t>· 先对答案再讲错因</a:t>
            </a:r>
          </a:p>
        </p:txBody>
      </p:sp>
      <p:sp>
        <p:nvSpPr>
          <p:cNvPr id="10" name="Rectangle 9"/>
          <p:cNvSpPr/>
          <p:nvPr/>
        </p:nvSpPr>
        <p:spPr>
          <a:xfrm>
            <a:off x="4334256"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2 题型拓展</a:t>
            </a:r>
          </a:p>
        </p:txBody>
      </p:sp>
      <p:sp>
        <p:nvSpPr>
          <p:cNvPr id="11" name="Rectangle 10"/>
          <p:cNvSpPr/>
          <p:nvPr/>
        </p:nvSpPr>
        <p:spPr>
          <a:xfrm>
            <a:off x="4334256" y="1828800"/>
            <a:ext cx="3429000" cy="3611880"/>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选择题四步</a:t>
            </a:r>
          </a:p>
          <a:p>
            <a:pPr algn="l"/>
            <a:r>
              <a:rPr sz="2200" b="1">
                <a:solidFill>
                  <a:srgbClr val="0F172A"/>
                </a:solidFill>
                <a:latin typeface="微软雅黑"/>
                <a:ea typeface="微软雅黑"/>
                <a:cs typeface="微软雅黑"/>
              </a:rPr>
              <a:t>· 表格 / 简答</a:t>
            </a:r>
          </a:p>
          <a:p>
            <a:pPr algn="l"/>
            <a:r>
              <a:rPr sz="2200" b="1">
                <a:solidFill>
                  <a:srgbClr val="0F172A"/>
                </a:solidFill>
                <a:latin typeface="微软雅黑"/>
                <a:ea typeface="微软雅黑"/>
                <a:cs typeface="微软雅黑"/>
              </a:rPr>
              <a:t>· 图形 + 词库摘要</a:t>
            </a:r>
          </a:p>
        </p:txBody>
      </p:sp>
      <p:sp>
        <p:nvSpPr>
          <p:cNvPr id="12" name="Rectangle 11"/>
          <p:cNvSpPr/>
          <p:nvPr/>
        </p:nvSpPr>
        <p:spPr>
          <a:xfrm>
            <a:off x="8010144"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3 逐题精讲</a:t>
            </a:r>
          </a:p>
        </p:txBody>
      </p:sp>
      <p:sp>
        <p:nvSpPr>
          <p:cNvPr id="13" name="Rectangle 12"/>
          <p:cNvSpPr/>
          <p:nvPr/>
        </p:nvSpPr>
        <p:spPr>
          <a:xfrm>
            <a:off x="8010144" y="1828800"/>
            <a:ext cx="3429000" cy="3611880"/>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一题两页</a:t>
            </a:r>
          </a:p>
          <a:p>
            <a:pPr algn="l"/>
            <a:r>
              <a:rPr sz="2200" b="1">
                <a:solidFill>
                  <a:srgbClr val="0F172A"/>
                </a:solidFill>
                <a:latin typeface="微软雅黑"/>
                <a:ea typeface="微软雅黑"/>
                <a:cs typeface="微软雅黑"/>
              </a:rPr>
              <a:t>· 第一页答案链</a:t>
            </a:r>
          </a:p>
          <a:p>
            <a:pPr algn="l"/>
            <a:r>
              <a:rPr sz="2200" b="1">
                <a:solidFill>
                  <a:srgbClr val="0F172A"/>
                </a:solidFill>
                <a:latin typeface="微软雅黑"/>
                <a:ea typeface="微软雅黑"/>
                <a:cs typeface="微软雅黑"/>
              </a:rPr>
              <a:t>· 第二页句法链</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REVIEW</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第二课复盘：四步拆句法</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3</a:t>
            </a:r>
          </a:p>
        </p:txBody>
      </p:sp>
      <p:sp>
        <p:nvSpPr>
          <p:cNvPr id="8" name="Rectangle 7"/>
          <p:cNvSpPr/>
          <p:nvPr/>
        </p:nvSpPr>
        <p:spPr>
          <a:xfrm>
            <a:off x="658368"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① 减法</a:t>
            </a:r>
          </a:p>
        </p:txBody>
      </p:sp>
      <p:sp>
        <p:nvSpPr>
          <p:cNvPr id="9" name="Rectangle 8"/>
          <p:cNvSpPr/>
          <p:nvPr/>
        </p:nvSpPr>
        <p:spPr>
          <a:xfrm>
            <a:off x="658368" y="1828800"/>
            <a:ext cx="3429000" cy="3611880"/>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圈有限谓语</a:t>
            </a:r>
          </a:p>
          <a:p>
            <a:pPr algn="l"/>
            <a:r>
              <a:rPr sz="2200" b="1">
                <a:solidFill>
                  <a:srgbClr val="0F172A"/>
                </a:solidFill>
                <a:latin typeface="微软雅黑"/>
                <a:ea typeface="微软雅黑"/>
                <a:cs typeface="微软雅黑"/>
              </a:rPr>
              <a:t>· 盖插入语</a:t>
            </a:r>
          </a:p>
          <a:p>
            <a:pPr algn="l"/>
            <a:r>
              <a:rPr sz="2200" b="1">
                <a:solidFill>
                  <a:srgbClr val="0F172A"/>
                </a:solidFill>
                <a:latin typeface="微软雅黑"/>
                <a:ea typeface="微软雅黑"/>
                <a:cs typeface="微软雅黑"/>
              </a:rPr>
              <a:t>· 先抓 S-V-O</a:t>
            </a:r>
          </a:p>
        </p:txBody>
      </p:sp>
      <p:sp>
        <p:nvSpPr>
          <p:cNvPr id="10" name="Rectangle 9"/>
          <p:cNvSpPr/>
          <p:nvPr/>
        </p:nvSpPr>
        <p:spPr>
          <a:xfrm>
            <a:off x="4334256"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② 分层</a:t>
            </a:r>
          </a:p>
        </p:txBody>
      </p:sp>
      <p:sp>
        <p:nvSpPr>
          <p:cNvPr id="11" name="Rectangle 10"/>
          <p:cNvSpPr/>
          <p:nvPr/>
        </p:nvSpPr>
        <p:spPr>
          <a:xfrm>
            <a:off x="4334256" y="1828800"/>
            <a:ext cx="3429000" cy="3611880"/>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从句修饰谁</a:t>
            </a:r>
          </a:p>
          <a:p>
            <a:pPr algn="l"/>
            <a:r>
              <a:rPr sz="2200" b="1">
                <a:solidFill>
                  <a:srgbClr val="0F172A"/>
                </a:solidFill>
                <a:latin typeface="微软雅黑"/>
                <a:ea typeface="微软雅黑"/>
                <a:cs typeface="微软雅黑"/>
              </a:rPr>
              <a:t>· 状语说明什么</a:t>
            </a:r>
          </a:p>
          <a:p>
            <a:pPr algn="l"/>
            <a:r>
              <a:rPr sz="2200" b="1">
                <a:solidFill>
                  <a:srgbClr val="0F172A"/>
                </a:solidFill>
                <a:latin typeface="微软雅黑"/>
                <a:ea typeface="微软雅黑"/>
                <a:cs typeface="微软雅黑"/>
              </a:rPr>
              <a:t>· 代词指向谁</a:t>
            </a:r>
          </a:p>
        </p:txBody>
      </p:sp>
      <p:sp>
        <p:nvSpPr>
          <p:cNvPr id="12" name="Rectangle 11"/>
          <p:cNvSpPr/>
          <p:nvPr/>
        </p:nvSpPr>
        <p:spPr>
          <a:xfrm>
            <a:off x="8010144"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回题</a:t>
            </a:r>
          </a:p>
        </p:txBody>
      </p:sp>
      <p:sp>
        <p:nvSpPr>
          <p:cNvPr id="13" name="Rectangle 12"/>
          <p:cNvSpPr/>
          <p:nvPr/>
        </p:nvSpPr>
        <p:spPr>
          <a:xfrm>
            <a:off x="8010144" y="1828800"/>
            <a:ext cx="3429000" cy="3611880"/>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题干关系</a:t>
            </a:r>
          </a:p>
          <a:p>
            <a:pPr algn="l"/>
            <a:r>
              <a:rPr sz="2200" b="1">
                <a:solidFill>
                  <a:srgbClr val="0F172A"/>
                </a:solidFill>
                <a:latin typeface="微软雅黑"/>
                <a:ea typeface="微软雅黑"/>
                <a:cs typeface="微软雅黑"/>
              </a:rPr>
              <a:t>· 是否完整对应</a:t>
            </a:r>
          </a:p>
          <a:p>
            <a:pPr algn="l"/>
            <a:r>
              <a:rPr sz="2200" b="1">
                <a:solidFill>
                  <a:srgbClr val="0F172A"/>
                </a:solidFill>
                <a:latin typeface="微软雅黑"/>
                <a:ea typeface="微软雅黑"/>
                <a:cs typeface="微软雅黑"/>
              </a:rPr>
              <a:t>· 是否被偷换</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LESSON GOALS</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第三课目标：题型不同，动作相同</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4</a:t>
            </a:r>
          </a:p>
        </p:txBody>
      </p:sp>
      <p:sp>
        <p:nvSpPr>
          <p:cNvPr id="8" name="Rectangle 7"/>
          <p:cNvSpPr/>
          <p:nvPr/>
        </p:nvSpPr>
        <p:spPr>
          <a:xfrm>
            <a:off x="658368"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看得懂题型</a:t>
            </a:r>
          </a:p>
        </p:txBody>
      </p:sp>
      <p:sp>
        <p:nvSpPr>
          <p:cNvPr id="9" name="Rectangle 8"/>
          <p:cNvSpPr/>
          <p:nvPr/>
        </p:nvSpPr>
        <p:spPr>
          <a:xfrm>
            <a:off x="658368" y="1828800"/>
            <a:ext cx="3429000" cy="3611880"/>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题干先划限定</a:t>
            </a:r>
          </a:p>
          <a:p>
            <a:pPr algn="l"/>
            <a:r>
              <a:rPr sz="2200" b="1">
                <a:solidFill>
                  <a:srgbClr val="0F172A"/>
                </a:solidFill>
                <a:latin typeface="微软雅黑"/>
                <a:ea typeface="微软雅黑"/>
                <a:cs typeface="微软雅黑"/>
              </a:rPr>
              <a:t>· 空格先定词性</a:t>
            </a:r>
          </a:p>
          <a:p>
            <a:pPr algn="l"/>
            <a:r>
              <a:rPr sz="2200" b="1">
                <a:solidFill>
                  <a:srgbClr val="0F172A"/>
                </a:solidFill>
                <a:latin typeface="微软雅黑"/>
                <a:ea typeface="微软雅黑"/>
                <a:cs typeface="微软雅黑"/>
              </a:rPr>
              <a:t>· 选项先找差异</a:t>
            </a:r>
          </a:p>
        </p:txBody>
      </p:sp>
      <p:sp>
        <p:nvSpPr>
          <p:cNvPr id="10" name="Rectangle 9"/>
          <p:cNvSpPr/>
          <p:nvPr/>
        </p:nvSpPr>
        <p:spPr>
          <a:xfrm>
            <a:off x="4334256"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找得到证据</a:t>
            </a:r>
          </a:p>
        </p:txBody>
      </p:sp>
      <p:sp>
        <p:nvSpPr>
          <p:cNvPr id="11" name="Rectangle 10"/>
          <p:cNvSpPr/>
          <p:nvPr/>
        </p:nvSpPr>
        <p:spPr>
          <a:xfrm>
            <a:off x="4334256" y="1828800"/>
            <a:ext cx="3429000" cy="3611880"/>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写 P/S</a:t>
            </a:r>
          </a:p>
          <a:p>
            <a:pPr algn="l"/>
            <a:r>
              <a:rPr sz="2200" b="1">
                <a:solidFill>
                  <a:srgbClr val="0F172A"/>
                </a:solidFill>
                <a:latin typeface="微软雅黑"/>
                <a:ea typeface="微软雅黑"/>
                <a:cs typeface="微软雅黑"/>
              </a:rPr>
              <a:t>· 一题一句</a:t>
            </a:r>
          </a:p>
          <a:p>
            <a:pPr algn="l"/>
            <a:r>
              <a:rPr sz="2200" b="1">
                <a:solidFill>
                  <a:srgbClr val="0F172A"/>
                </a:solidFill>
                <a:latin typeface="微软雅黑"/>
                <a:ea typeface="微软雅黑"/>
                <a:cs typeface="微软雅黑"/>
              </a:rPr>
              <a:t>· 跨段要连读</a:t>
            </a:r>
          </a:p>
        </p:txBody>
      </p:sp>
      <p:sp>
        <p:nvSpPr>
          <p:cNvPr id="12" name="Rectangle 11"/>
          <p:cNvSpPr/>
          <p:nvPr/>
        </p:nvSpPr>
        <p:spPr>
          <a:xfrm>
            <a:off x="8010144"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判得稳答案</a:t>
            </a:r>
          </a:p>
        </p:txBody>
      </p:sp>
      <p:sp>
        <p:nvSpPr>
          <p:cNvPr id="13" name="Rectangle 12"/>
          <p:cNvSpPr/>
          <p:nvPr/>
        </p:nvSpPr>
        <p:spPr>
          <a:xfrm>
            <a:off x="8010144" y="1828800"/>
            <a:ext cx="3429000" cy="3611880"/>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核对比较方向</a:t>
            </a:r>
          </a:p>
          <a:p>
            <a:pPr algn="l"/>
            <a:r>
              <a:rPr sz="2200" b="1">
                <a:solidFill>
                  <a:srgbClr val="0F172A"/>
                </a:solidFill>
                <a:latin typeface="微软雅黑"/>
                <a:ea typeface="微软雅黑"/>
                <a:cs typeface="微软雅黑"/>
              </a:rPr>
              <a:t>· 核对范围程度</a:t>
            </a:r>
          </a:p>
          <a:p>
            <a:pPr algn="l"/>
            <a:r>
              <a:rPr sz="2200" b="1">
                <a:solidFill>
                  <a:srgbClr val="0F172A"/>
                </a:solidFill>
                <a:latin typeface="微软雅黑"/>
                <a:ea typeface="微软雅黑"/>
                <a:cs typeface="微软雅黑"/>
              </a:rPr>
              <a:t>· 核对词数形式</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HOMEWORK REVIEW</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开场作业复盘：The Development of Plastics Q1–13</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5</a:t>
            </a:r>
          </a:p>
        </p:txBody>
      </p:sp>
      <p:sp>
        <p:nvSpPr>
          <p:cNvPr id="8" name="Rectangle 7"/>
          <p:cNvSpPr/>
          <p:nvPr/>
        </p:nvSpPr>
        <p:spPr>
          <a:xfrm>
            <a:off x="731520" y="1417320"/>
            <a:ext cx="10744200" cy="148132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300" b="1">
                <a:solidFill>
                  <a:srgbClr val="0F172A"/>
                </a:solidFill>
                <a:latin typeface="微软雅黑"/>
                <a:ea typeface="微软雅黑"/>
                <a:cs typeface="微软雅黑"/>
              </a:rPr>
              <a:t>The Development of Plastics 是第二节课布置的课后独立作业。本节课开场先复盘：表格填空考“属性 / 用途 / 国别”的行列定位，判断题考化学关系与程度词。</a:t>
            </a:r>
          </a:p>
        </p:txBody>
      </p:sp>
      <p:sp>
        <p:nvSpPr>
          <p:cNvPr id="9" name="Rectangle 8"/>
          <p:cNvSpPr/>
          <p:nvPr/>
        </p:nvSpPr>
        <p:spPr>
          <a:xfrm>
            <a:off x="731520" y="3099815"/>
            <a:ext cx="1074420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300" b="1">
                <a:solidFill>
                  <a:srgbClr val="0F172A"/>
                </a:solidFill>
                <a:latin typeface="微软雅黑"/>
                <a:ea typeface="微软雅黑"/>
                <a:cs typeface="微软雅黑"/>
              </a:rPr>
              <a:t>复盘要求</a:t>
            </a:r>
          </a:p>
          <a:p>
            <a:pPr algn="l"/>
            <a:r>
              <a:rPr sz="2300" b="1">
                <a:solidFill>
                  <a:srgbClr val="0F172A"/>
                </a:solidFill>
                <a:latin typeface="微软雅黑"/>
                <a:ea typeface="微软雅黑"/>
                <a:cs typeface="微软雅黑"/>
              </a:rPr>
              <a:t>1 先对答案，标出对错，但不要立刻看讲解。</a:t>
            </a:r>
          </a:p>
          <a:p>
            <a:pPr algn="l"/>
            <a:r>
              <a:rPr sz="2300" b="1">
                <a:solidFill>
                  <a:srgbClr val="0F172A"/>
                </a:solidFill>
                <a:latin typeface="微软雅黑"/>
                <a:ea typeface="微软雅黑"/>
                <a:cs typeface="微软雅黑"/>
              </a:rPr>
              <a:t>2 每道错题写出 P/S 定位，再写题干与原文的同义替换。</a:t>
            </a:r>
          </a:p>
          <a:p>
            <a:pPr algn="l"/>
            <a:r>
              <a:rPr sz="2300" b="1">
                <a:solidFill>
                  <a:srgbClr val="0F172A"/>
                </a:solidFill>
                <a:latin typeface="微软雅黑"/>
                <a:ea typeface="微软雅黑"/>
                <a:cs typeface="微软雅黑"/>
              </a:rPr>
              <a:t>3 最后写错因：定位错 / 替换错 / 范围与方向错。</a:t>
            </a:r>
          </a:p>
        </p:txBody>
      </p:sp>
      <p:sp>
        <p:nvSpPr>
          <p:cNvPr id="10" name="Rectangle 9"/>
          <p:cNvSpPr/>
          <p:nvPr/>
        </p:nvSpPr>
        <p:spPr>
          <a:xfrm>
            <a:off x="731520" y="4782312"/>
            <a:ext cx="10744200" cy="14813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300" b="1">
                <a:solidFill>
                  <a:srgbClr val="0F172A"/>
                </a:solidFill>
                <a:latin typeface="微软雅黑"/>
                <a:ea typeface="微软雅黑"/>
                <a:cs typeface="微软雅黑"/>
              </a:rPr>
              <a:t>为什么用作业开场</a:t>
            </a:r>
          </a:p>
          <a:p>
            <a:pPr algn="l"/>
            <a:r>
              <a:rPr sz="2300" b="1">
                <a:solidFill>
                  <a:srgbClr val="0F172A"/>
                </a:solidFill>
                <a:latin typeface="微软雅黑"/>
                <a:ea typeface="微软雅黑"/>
                <a:cs typeface="微软雅黑"/>
              </a:rPr>
              <a:t>作业是隔了一周之后做的，它检验的不是记忆，而是方法有没有留下来。</a:t>
            </a:r>
          </a:p>
          <a:p>
            <a:pPr algn="l"/>
            <a:r>
              <a:rPr sz="2300" b="1">
                <a:solidFill>
                  <a:srgbClr val="0F172A"/>
                </a:solidFill>
                <a:latin typeface="微软雅黑"/>
                <a:ea typeface="微软雅黑"/>
                <a:cs typeface="微软雅黑"/>
              </a:rPr>
              <a:t>错在哪一步，决定你今天这节课该重点练什么。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文章地图</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HOMEWORK · The Development of Plastics</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6</a:t>
            </a:r>
          </a:p>
        </p:txBody>
      </p:sp>
      <p:sp>
        <p:nvSpPr>
          <p:cNvPr id="8" name="Rectangle 7"/>
          <p:cNvSpPr/>
          <p:nvPr/>
        </p:nvSpPr>
        <p:spPr>
          <a:xfrm>
            <a:off x="658368"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P1–P3</a:t>
            </a:r>
          </a:p>
        </p:txBody>
      </p:sp>
      <p:sp>
        <p:nvSpPr>
          <p:cNvPr id="9" name="Rectangle 8"/>
          <p:cNvSpPr/>
          <p:nvPr/>
        </p:nvSpPr>
        <p:spPr>
          <a:xfrm>
            <a:off x="658368" y="1828800"/>
            <a:ext cx="3429000" cy="3611880"/>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塑料＝橡胶替代品</a:t>
            </a:r>
          </a:p>
          <a:p>
            <a:pPr algn="l"/>
            <a:r>
              <a:rPr sz="2200" b="1">
                <a:solidFill>
                  <a:srgbClr val="0F172A"/>
                </a:solidFill>
                <a:latin typeface="微软雅黑"/>
                <a:ea typeface="微软雅黑"/>
                <a:cs typeface="微软雅黑"/>
              </a:rPr>
              <a:t>· celluloid 第一种塑料</a:t>
            </a:r>
          </a:p>
          <a:p>
            <a:pPr algn="l"/>
            <a:r>
              <a:rPr sz="2200" b="1">
                <a:solidFill>
                  <a:srgbClr val="0F172A"/>
                </a:solidFill>
                <a:latin typeface="微软雅黑"/>
                <a:ea typeface="微软雅黑"/>
                <a:cs typeface="微软雅黑"/>
              </a:rPr>
              <a:t>· Bakelite 第一种热固性</a:t>
            </a:r>
          </a:p>
        </p:txBody>
      </p:sp>
      <p:sp>
        <p:nvSpPr>
          <p:cNvPr id="10" name="Rectangle 9"/>
          <p:cNvSpPr/>
          <p:nvPr/>
        </p:nvSpPr>
        <p:spPr>
          <a:xfrm>
            <a:off x="4334256"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P4–P7</a:t>
            </a:r>
          </a:p>
        </p:txBody>
      </p:sp>
      <p:sp>
        <p:nvSpPr>
          <p:cNvPr id="11" name="Rectangle 10"/>
          <p:cNvSpPr/>
          <p:nvPr/>
        </p:nvSpPr>
        <p:spPr>
          <a:xfrm>
            <a:off x="4334256" y="1828800"/>
            <a:ext cx="3429000" cy="3611880"/>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polythene / PVC / Teflon</a:t>
            </a:r>
          </a:p>
          <a:p>
            <a:pPr algn="l"/>
            <a:r>
              <a:rPr sz="2200" b="1">
                <a:solidFill>
                  <a:srgbClr val="0F172A"/>
                </a:solidFill>
                <a:latin typeface="微软雅黑"/>
                <a:ea typeface="微软雅黑"/>
                <a:cs typeface="微软雅黑"/>
              </a:rPr>
              <a:t>· polystyrene / polyurethane</a:t>
            </a:r>
          </a:p>
          <a:p>
            <a:pPr algn="l"/>
            <a:r>
              <a:rPr sz="2200" b="1">
                <a:solidFill>
                  <a:srgbClr val="0F172A"/>
                </a:solidFill>
                <a:latin typeface="微软雅黑"/>
                <a:ea typeface="微软雅黑"/>
                <a:cs typeface="微软雅黑"/>
              </a:rPr>
              <a:t>· nylon 与合成纤维</a:t>
            </a:r>
          </a:p>
        </p:txBody>
      </p:sp>
      <p:sp>
        <p:nvSpPr>
          <p:cNvPr id="12" name="Rectangle 11"/>
          <p:cNvSpPr/>
          <p:nvPr/>
        </p:nvSpPr>
        <p:spPr>
          <a:xfrm>
            <a:off x="8010144"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P8–P9</a:t>
            </a:r>
          </a:p>
        </p:txBody>
      </p:sp>
      <p:sp>
        <p:nvSpPr>
          <p:cNvPr id="13" name="Rectangle 12"/>
          <p:cNvSpPr/>
          <p:nvPr/>
        </p:nvSpPr>
        <p:spPr>
          <a:xfrm>
            <a:off x="8010144" y="1828800"/>
            <a:ext cx="3429000" cy="3611880"/>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优点即缺点：不可毁</a:t>
            </a:r>
          </a:p>
          <a:p>
            <a:pPr algn="l"/>
            <a:r>
              <a:rPr sz="2200" b="1">
                <a:solidFill>
                  <a:srgbClr val="0F172A"/>
                </a:solidFill>
                <a:latin typeface="微软雅黑"/>
                <a:ea typeface="微软雅黑"/>
                <a:cs typeface="微软雅黑"/>
              </a:rPr>
              <a:t>· 回收困难</a:t>
            </a:r>
          </a:p>
          <a:p>
            <a:pPr algn="l"/>
            <a:r>
              <a:rPr sz="2200" b="1">
                <a:solidFill>
                  <a:srgbClr val="0F172A"/>
                </a:solidFill>
                <a:latin typeface="微软雅黑"/>
                <a:ea typeface="微软雅黑"/>
                <a:cs typeface="微软雅黑"/>
              </a:rPr>
              <a:t>· 可降解与储存条件</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题型策略</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题型策略</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7</a:t>
            </a:r>
          </a:p>
        </p:txBody>
      </p:sp>
      <p:sp>
        <p:nvSpPr>
          <p:cNvPr id="8" name="Rectangle 7"/>
          <p:cNvSpPr/>
          <p:nvPr/>
        </p:nvSpPr>
        <p:spPr>
          <a:xfrm>
            <a:off x="731520" y="1417320"/>
            <a:ext cx="10744200" cy="148132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Q1–7 表格填空：表格按“材料”逐行推进，先看列标题（Properties / Common uses）定词性。</a:t>
            </a:r>
          </a:p>
        </p:txBody>
      </p:sp>
      <p:sp>
        <p:nvSpPr>
          <p:cNvPr id="9" name="Rectangle 8"/>
          <p:cNvSpPr/>
          <p:nvPr/>
        </p:nvSpPr>
        <p:spPr>
          <a:xfrm>
            <a:off x="731520" y="3099815"/>
            <a:ext cx="10744200" cy="14813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表格顺序≠原文顺序的绝对保证，但本篇基本同步：Celluloid→Bakelite→Polythene→PVC→…</a:t>
            </a:r>
          </a:p>
        </p:txBody>
      </p:sp>
      <p:sp>
        <p:nvSpPr>
          <p:cNvPr id="10" name="Rectangle 9"/>
          <p:cNvSpPr/>
          <p:nvPr/>
        </p:nvSpPr>
        <p:spPr>
          <a:xfrm>
            <a:off x="731520" y="4782312"/>
            <a:ext cx="10744200" cy="148132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Q8–13 判断题：本篇陷阱是化学关系（same / different）与程度词（more durable）。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Q1｜Celluloid 行：还有什么著名用途</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8</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Celluloid｜1860s｜USA｜…｜Common uses：billiard balls / cutlery / clothing / 1 ………………</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空格在 Common uses 列 → 填“用途/产品”名词。</a:t>
            </a:r>
          </a:p>
          <a:p>
            <a:pPr algn="l"/>
            <a:r>
              <a:rPr sz="1900" b="0">
                <a:solidFill>
                  <a:srgbClr val="0F172A"/>
                </a:solidFill>
                <a:latin typeface="微软雅黑"/>
                <a:ea typeface="微软雅黑"/>
                <a:cs typeface="微软雅黑"/>
              </a:rPr>
              <a:t>锚点：celluloid 的著名产品。</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P2 S6: But perhaps the best-known celluloid product was photographic film, without which the film industry could never have taken off at the end of the 19th century.</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表格前三项 billiard balls / cutlery / clothing 对应 P2 S2、S5。</a:t>
            </a:r>
          </a:p>
          <a:p>
            <a:pPr algn="l"/>
            <a:r>
              <a:rPr sz="1900" b="0">
                <a:solidFill>
                  <a:srgbClr val="0F172A"/>
                </a:solidFill>
                <a:latin typeface="微软雅黑"/>
                <a:ea typeface="微软雅黑"/>
                <a:cs typeface="微软雅黑"/>
              </a:rPr>
              <a:t>S6 用 best-known celluloid product 引出最后一项。</a:t>
            </a:r>
          </a:p>
          <a:p>
            <a:pPr algn="l"/>
            <a:r>
              <a:rPr sz="1900" b="0">
                <a:solidFill>
                  <a:srgbClr val="0F172A"/>
                </a:solidFill>
                <a:latin typeface="微软雅黑"/>
                <a:ea typeface="微软雅黑"/>
                <a:cs typeface="微软雅黑"/>
              </a:rPr>
              <a:t>取系动词后的名词短语：photographic film。</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100" b="1">
                <a:solidFill>
                  <a:srgbClr val="0F172A"/>
                </a:solidFill>
                <a:latin typeface="微软雅黑"/>
                <a:ea typeface="微软雅黑"/>
                <a:cs typeface="微软雅黑"/>
              </a:rPr>
              <a:t>Answer: photographic film</a:t>
            </a:r>
          </a:p>
          <a:p>
            <a:pPr algn="l"/>
            <a:r>
              <a:rPr sz="2100" b="1">
                <a:solidFill>
                  <a:srgbClr val="0F172A"/>
                </a:solidFill>
                <a:latin typeface="微软雅黑"/>
                <a:ea typeface="微软雅黑"/>
                <a:cs typeface="微软雅黑"/>
              </a:rPr>
              <a:t>两词，≤3。</a:t>
            </a:r>
          </a:p>
          <a:p>
            <a:pPr algn="l"/>
            <a:r>
              <a:rPr sz="2100" b="1">
                <a:solidFill>
                  <a:srgbClr val="0F172A"/>
                </a:solidFill>
                <a:latin typeface="微软雅黑"/>
                <a:ea typeface="微软雅黑"/>
                <a:cs typeface="微软雅黑"/>
              </a:rPr>
              <a:t>不要只写 film。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Q1｜without which 引导的非限定定语从句</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9</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But perhaps the best-known celluloid product was photographic film, without which the film industry could never have taken off at the end of the 19th century.</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The best-known celluloid product was photographic film.</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 主干是 S + be + 表语：product was photographic film。</a:t>
            </a:r>
          </a:p>
          <a:p>
            <a:pPr algn="l"/>
            <a:r>
              <a:rPr sz="1700" b="0">
                <a:solidFill>
                  <a:srgbClr val="0F172A"/>
                </a:solidFill>
                <a:latin typeface="微软雅黑"/>
                <a:ea typeface="微软雅黑"/>
                <a:cs typeface="微软雅黑"/>
              </a:rPr>
              <a:t>· perhaps 是程度副词，不影响事实。</a:t>
            </a:r>
          </a:p>
          <a:p>
            <a:pPr algn="l"/>
            <a:r>
              <a:rPr sz="1700" b="0">
                <a:solidFill>
                  <a:srgbClr val="0F172A"/>
                </a:solidFill>
                <a:latin typeface="微软雅黑"/>
                <a:ea typeface="微软雅黑"/>
                <a:cs typeface="微软雅黑"/>
              </a:rPr>
              <a:t>· without which = 介词 + 关系代词，which 指 photographic film。</a:t>
            </a:r>
          </a:p>
          <a:p>
            <a:pPr algn="l"/>
            <a:r>
              <a:rPr sz="1700" b="0">
                <a:solidFill>
                  <a:srgbClr val="0F172A"/>
                </a:solidFill>
                <a:latin typeface="微软雅黑"/>
                <a:ea typeface="微软雅黑"/>
                <a:cs typeface="微软雅黑"/>
              </a:rPr>
              <a:t>· could never have taken off 是虚拟语气：没有它就不可能兴起。</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但也许最著名的赛璐珞产品是照相胶片；没有它，电影业在19世纪末根本不可能起步。</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take off 起飞、兴起 ↔ become successful；best-known 最著名的</a:t>
            </a:r>
          </a:p>
          <a:p>
            <a:pPr algn="l"/>
            <a:r>
              <a:rPr sz="1850" b="1">
                <a:solidFill>
                  <a:srgbClr val="0F172A"/>
                </a:solidFill>
                <a:latin typeface="微软雅黑"/>
                <a:ea typeface="微软雅黑"/>
                <a:cs typeface="微软雅黑"/>
              </a:rPr>
              <a:t>application = use（用途），表格常用 Common uses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Q2｜1907 年美国诞生的是哪种塑料</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10</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2 ………………｜1907｜USA｜can't be softened after setting; good insulator; resistant to water and acid</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空格在 Name 列 → 填材料名。</a:t>
            </a:r>
          </a:p>
          <a:p>
            <a:pPr algn="l"/>
            <a:r>
              <a:rPr sz="1900" b="0">
                <a:solidFill>
                  <a:srgbClr val="0F172A"/>
                </a:solidFill>
                <a:latin typeface="微软雅黑"/>
                <a:ea typeface="微软雅黑"/>
                <a:cs typeface="微软雅黑"/>
              </a:rPr>
              <a:t>锚点：1907 + 不能再软化。</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600" b="0">
                <a:solidFill>
                  <a:srgbClr val="0F172A"/>
                </a:solidFill>
                <a:latin typeface="微软雅黑"/>
                <a:ea typeface="微软雅黑"/>
                <a:cs typeface="微软雅黑"/>
              </a:rPr>
              <a:t>P3 S2–S3: In 1907, Leo Baekeland ..., a Belgian chemist working in the USA, invented a different kind of plastic ... Baekeland called it Bakelite, and it was the first of the thermosets—plastics that can be cast and moulded while hot, but cannot be softened by heat and reshaped once they have set.</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0">
                <a:solidFill>
                  <a:srgbClr val="0F172A"/>
                </a:solidFill>
                <a:latin typeface="微软雅黑"/>
                <a:ea typeface="微软雅黑"/>
                <a:cs typeface="微软雅黑"/>
              </a:rPr>
              <a:t>1907 与 USA 原词复现，一句锁定。</a:t>
            </a:r>
          </a:p>
          <a:p>
            <a:pPr algn="l"/>
            <a:r>
              <a:rPr sz="1800" b="0">
                <a:solidFill>
                  <a:srgbClr val="0F172A"/>
                </a:solidFill>
                <a:latin typeface="微软雅黑"/>
                <a:ea typeface="微软雅黑"/>
                <a:cs typeface="微软雅黑"/>
              </a:rPr>
              <a:t>can't be softened after setting ↔ cannot be softened ... once they have set。</a:t>
            </a:r>
          </a:p>
          <a:p>
            <a:pPr algn="l"/>
            <a:r>
              <a:rPr sz="1800" b="0">
                <a:solidFill>
                  <a:srgbClr val="0F172A"/>
                </a:solidFill>
                <a:latin typeface="微软雅黑"/>
                <a:ea typeface="微软雅黑"/>
                <a:cs typeface="微软雅黑"/>
              </a:rPr>
              <a:t>材料名在 called it 之后：Bakelite（首字母大写照抄）。</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Bakelite</a:t>
            </a:r>
          </a:p>
          <a:p>
            <a:pPr algn="l"/>
            <a:r>
              <a:rPr sz="2100" b="1">
                <a:solidFill>
                  <a:srgbClr val="0F172A"/>
                </a:solidFill>
                <a:latin typeface="微软雅黑"/>
                <a:ea typeface="微软雅黑"/>
                <a:cs typeface="微软雅黑"/>
              </a:rPr>
              <a:t>一词，首字母大写。</a:t>
            </a:r>
          </a:p>
          <a:p>
            <a:pPr algn="l"/>
            <a:r>
              <a:rPr sz="2100" b="1">
                <a:solidFill>
                  <a:srgbClr val="0F172A"/>
                </a:solidFill>
                <a:latin typeface="微软雅黑"/>
                <a:ea typeface="微软雅黑"/>
                <a:cs typeface="微软雅黑"/>
              </a:rPr>
              <a:t>不要填 Baekeland（人名）。</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Q2｜thermosets 的破折号定义</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11</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Baekeland called it Bakelite, and it was the first of the thermosets—plastics that can be cast and moulded while hot, but cannot be softened by heat and reshaped once they have set.</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It was the first of the thermosets.</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500" b="0">
                <a:solidFill>
                  <a:srgbClr val="0F172A"/>
                </a:solidFill>
                <a:latin typeface="微软雅黑"/>
                <a:ea typeface="微软雅黑"/>
                <a:cs typeface="微软雅黑"/>
              </a:rPr>
              <a:t>· called it Bakelite 是“把它叫作……”，宾补结构。</a:t>
            </a:r>
          </a:p>
          <a:p>
            <a:pPr algn="l"/>
            <a:r>
              <a:rPr sz="1500" b="0">
                <a:solidFill>
                  <a:srgbClr val="0F172A"/>
                </a:solidFill>
                <a:latin typeface="微软雅黑"/>
                <a:ea typeface="微软雅黑"/>
                <a:cs typeface="微软雅黑"/>
              </a:rPr>
              <a:t>· 破折号后是 thermosets 的定义，整段可先跳过。</a:t>
            </a:r>
          </a:p>
          <a:p>
            <a:pPr algn="l"/>
            <a:r>
              <a:rPr sz="1500" b="0">
                <a:solidFill>
                  <a:srgbClr val="0F172A"/>
                </a:solidFill>
                <a:latin typeface="微软雅黑"/>
                <a:ea typeface="微软雅黑"/>
                <a:cs typeface="微软雅黑"/>
              </a:rPr>
              <a:t>· 定义里 can ... but cannot ... 是本题与 Q10 的关键对比。</a:t>
            </a:r>
          </a:p>
          <a:p>
            <a:pPr algn="l"/>
            <a:r>
              <a:rPr sz="1500" b="0">
                <a:solidFill>
                  <a:srgbClr val="0F172A"/>
                </a:solidFill>
                <a:latin typeface="微软雅黑"/>
                <a:ea typeface="微软雅黑"/>
                <a:cs typeface="微软雅黑"/>
              </a:rPr>
              <a:t>· once they have set 是时间状语从句：一旦定型。</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20" b="0">
                <a:solidFill>
                  <a:srgbClr val="0F172A"/>
                </a:solidFill>
                <a:latin typeface="微软雅黑"/>
                <a:ea typeface="微软雅黑"/>
                <a:cs typeface="微软雅黑"/>
              </a:rPr>
              <a:t>Baekeland 把它称作 Bakelite；它是第一种热固性塑料——这类塑料可在受热时浇铸成型，但一旦定型就无法再受热软化和重塑。</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cast 浇铸；mould 塑形 ↔ shape；set 凝固、定型</a:t>
            </a:r>
          </a:p>
          <a:p>
            <a:pPr algn="l"/>
            <a:r>
              <a:rPr sz="1850" b="1">
                <a:solidFill>
                  <a:srgbClr val="0F172A"/>
                </a:solidFill>
                <a:latin typeface="微软雅黑"/>
                <a:ea typeface="微软雅黑"/>
                <a:cs typeface="微软雅黑"/>
              </a:rPr>
              <a:t>thermoset 热固性塑料（↔ thermoplastic 热塑性塑料）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Q3｜Bakelite 行：另一项常见用途</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12</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400" b="1">
                <a:solidFill>
                  <a:srgbClr val="0F172A"/>
                </a:solidFill>
                <a:latin typeface="微软雅黑"/>
                <a:ea typeface="微软雅黑"/>
                <a:cs typeface="微软雅黑"/>
              </a:rPr>
              <a:t>2 Bakelite｜…｜Common uses：3 ……………… / household object</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空格在 Common uses 列 → 填产品名。</a:t>
            </a:r>
          </a:p>
          <a:p>
            <a:pPr algn="l"/>
            <a:r>
              <a:rPr sz="1900" b="0">
                <a:solidFill>
                  <a:srgbClr val="0F172A"/>
                </a:solidFill>
                <a:latin typeface="微软雅黑"/>
                <a:ea typeface="微软雅黑"/>
                <a:cs typeface="微软雅黑"/>
              </a:rPr>
              <a:t>锚点：Bakelite 的性质带出用途。</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P3 S4–S5: Bakelite was a good insulator, and was resistant to water and acid. With these properties it was soon being used in the manufacture of electrical switches as well as a variety of domestic items.</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表格 Properties 列正是 S4，用途在紧接的 S5。</a:t>
            </a:r>
          </a:p>
          <a:p>
            <a:pPr algn="l"/>
            <a:r>
              <a:rPr sz="1900" b="0">
                <a:solidFill>
                  <a:srgbClr val="0F172A"/>
                </a:solidFill>
                <a:latin typeface="微软雅黑"/>
                <a:ea typeface="微软雅黑"/>
                <a:cs typeface="微软雅黑"/>
              </a:rPr>
              <a:t>household object ↔ domestic items（家用物品）。</a:t>
            </a:r>
          </a:p>
          <a:p>
            <a:pPr algn="l"/>
            <a:r>
              <a:rPr sz="1900" b="0">
                <a:solidFill>
                  <a:srgbClr val="0F172A"/>
                </a:solidFill>
                <a:latin typeface="微软雅黑"/>
                <a:ea typeface="微软雅黑"/>
                <a:cs typeface="微软雅黑"/>
              </a:rPr>
              <a:t>as well as 前面的那一项就是答案：electrical switches。</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100" b="1">
                <a:solidFill>
                  <a:srgbClr val="0F172A"/>
                </a:solidFill>
                <a:latin typeface="微软雅黑"/>
                <a:ea typeface="微软雅黑"/>
                <a:cs typeface="微软雅黑"/>
              </a:rPr>
              <a:t>Answer: electrical switches</a:t>
            </a:r>
          </a:p>
          <a:p>
            <a:pPr algn="l"/>
            <a:r>
              <a:rPr sz="2100" b="1">
                <a:solidFill>
                  <a:srgbClr val="0F172A"/>
                </a:solidFill>
                <a:latin typeface="微软雅黑"/>
                <a:ea typeface="微软雅黑"/>
                <a:cs typeface="微软雅黑"/>
              </a:rPr>
              <a:t>两词，保留复数。</a:t>
            </a:r>
          </a:p>
          <a:p>
            <a:pPr algn="l"/>
            <a:r>
              <a:rPr sz="2100" b="1">
                <a:solidFill>
                  <a:srgbClr val="0F172A"/>
                </a:solidFill>
                <a:latin typeface="微软雅黑"/>
                <a:ea typeface="微软雅黑"/>
                <a:cs typeface="微软雅黑"/>
              </a:rPr>
              <a:t>别写 switches 一词。</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Q3｜With these properties 的回指</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13</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Bakelite was a good insulator, and was resistant to water and acid. With these properties it was soon being used in the manufacture of electrical switches as well as a variety of domestic items.</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It was soon being used in the manufacture of electrical switches.</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500" b="0">
                <a:solidFill>
                  <a:srgbClr val="0F172A"/>
                </a:solidFill>
                <a:latin typeface="微软雅黑"/>
                <a:ea typeface="微软雅黑"/>
                <a:cs typeface="微软雅黑"/>
              </a:rPr>
              <a:t>· these properties 回指上一句的两条性质，必须连读两句。</a:t>
            </a:r>
          </a:p>
          <a:p>
            <a:pPr algn="l"/>
            <a:r>
              <a:rPr sz="1500" b="0">
                <a:solidFill>
                  <a:srgbClr val="0F172A"/>
                </a:solidFill>
                <a:latin typeface="微软雅黑"/>
                <a:ea typeface="微软雅黑"/>
                <a:cs typeface="微软雅黑"/>
              </a:rPr>
              <a:t>· was being used 是过去进行时的被动。</a:t>
            </a:r>
          </a:p>
          <a:p>
            <a:pPr algn="l"/>
            <a:r>
              <a:rPr sz="1500" b="0">
                <a:solidFill>
                  <a:srgbClr val="0F172A"/>
                </a:solidFill>
                <a:latin typeface="微软雅黑"/>
                <a:ea typeface="微软雅黑"/>
                <a:cs typeface="微软雅黑"/>
              </a:rPr>
              <a:t>· in the manufacture of ... 是“用于制造……”。</a:t>
            </a:r>
          </a:p>
          <a:p>
            <a:pPr algn="l"/>
            <a:r>
              <a:rPr sz="1500" b="0">
                <a:solidFill>
                  <a:srgbClr val="0F172A"/>
                </a:solidFill>
                <a:latin typeface="微软雅黑"/>
                <a:ea typeface="微软雅黑"/>
                <a:cs typeface="微软雅黑"/>
              </a:rPr>
              <a:t>· as well as 连接两类用途，前者是编号空的答案。</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Bakelite 是良好的绝缘体，且耐水耐酸。凭借这些性质，它很快被用于制造电气开关以及各种家用物品。</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insulator 绝缘体 ↔ insulation；resistant to 耐……的</a:t>
            </a:r>
          </a:p>
          <a:p>
            <a:pPr algn="l"/>
            <a:r>
              <a:rPr sz="1850" b="1">
                <a:solidFill>
                  <a:srgbClr val="0F172A"/>
                </a:solidFill>
                <a:latin typeface="微软雅黑"/>
                <a:ea typeface="微软雅黑"/>
                <a:cs typeface="微软雅黑"/>
              </a:rPr>
              <a:t>domestic items = household objects（家用物品）</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Q4｜Polythene 出自哪个国家</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14</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400" b="1">
                <a:solidFill>
                  <a:srgbClr val="0F172A"/>
                </a:solidFill>
                <a:latin typeface="微软雅黑"/>
                <a:ea typeface="微软雅黑"/>
                <a:cs typeface="微软雅黑"/>
              </a:rPr>
              <a:t>Polythene｜1930s｜4 ………………｜can be softened and reshaped by heat</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空格在 Country of origin 列 → 填国名。</a:t>
            </a:r>
          </a:p>
          <a:p>
            <a:pPr algn="l"/>
            <a:r>
              <a:rPr sz="1900" b="0">
                <a:solidFill>
                  <a:srgbClr val="0F172A"/>
                </a:solidFill>
                <a:latin typeface="微软雅黑"/>
                <a:ea typeface="微软雅黑"/>
                <a:cs typeface="微软雅黑"/>
              </a:rPr>
              <a:t>锚点：1930s + polythene。</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P4 S3: In the 1930s, chemists in Britain discovered that the gas ethylene would polymerize under heat and pressure to form a thermoplastic they called polythene.</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1930s 与 polythene 双锚点，一句命中。</a:t>
            </a:r>
          </a:p>
          <a:p>
            <a:pPr algn="l"/>
            <a:r>
              <a:rPr sz="1900" b="0">
                <a:solidFill>
                  <a:srgbClr val="0F172A"/>
                </a:solidFill>
                <a:latin typeface="微软雅黑"/>
                <a:ea typeface="微软雅黑"/>
                <a:cs typeface="微软雅黑"/>
              </a:rPr>
              <a:t>Country of origin ↔ chemists in Britain（在英国的化学家）。</a:t>
            </a:r>
          </a:p>
          <a:p>
            <a:pPr algn="l"/>
            <a:r>
              <a:rPr sz="1900" b="0">
                <a:solidFill>
                  <a:srgbClr val="0F172A"/>
                </a:solidFill>
                <a:latin typeface="微软雅黑"/>
                <a:ea typeface="微软雅黑"/>
                <a:cs typeface="微软雅黑"/>
              </a:rPr>
              <a:t>填国名 Britain，不要写 British 或 England。</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Britain</a:t>
            </a:r>
          </a:p>
          <a:p>
            <a:pPr algn="l"/>
            <a:r>
              <a:rPr sz="2100" b="1">
                <a:solidFill>
                  <a:srgbClr val="0F172A"/>
                </a:solidFill>
                <a:latin typeface="微软雅黑"/>
                <a:ea typeface="微软雅黑"/>
                <a:cs typeface="微软雅黑"/>
              </a:rPr>
              <a:t>一词，国名。</a:t>
            </a:r>
          </a:p>
          <a:p>
            <a:pPr algn="l"/>
            <a:r>
              <a:rPr sz="2100" b="1">
                <a:solidFill>
                  <a:srgbClr val="0F172A"/>
                </a:solidFill>
                <a:latin typeface="微软雅黑"/>
                <a:ea typeface="微软雅黑"/>
                <a:cs typeface="微软雅黑"/>
              </a:rPr>
              <a:t>非 British / England。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Q4｜discovered that ... 宾语从句 + 省略关系词</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15</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In the 1930s, chemists in Britain discovered that the gas ethylene would polymerize under heat and pressure to form a thermoplastic they called polythene.</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00" b="1">
                <a:solidFill>
                  <a:srgbClr val="0F172A"/>
                </a:solidFill>
                <a:latin typeface="微软雅黑"/>
                <a:ea typeface="微软雅黑"/>
                <a:cs typeface="微软雅黑"/>
              </a:rPr>
              <a:t>Chemists in Britain discovered that ethylene would polymerize to form a thermoplastic.</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500" b="0">
                <a:solidFill>
                  <a:srgbClr val="0F172A"/>
                </a:solidFill>
                <a:latin typeface="微软雅黑"/>
                <a:ea typeface="微软雅黑"/>
                <a:cs typeface="微软雅黑"/>
              </a:rPr>
              <a:t>· 主干 chemists discovered that ...，主语带 in Britain 后置定语。</a:t>
            </a:r>
          </a:p>
          <a:p>
            <a:pPr algn="l"/>
            <a:r>
              <a:rPr sz="1500" b="0">
                <a:solidFill>
                  <a:srgbClr val="0F172A"/>
                </a:solidFill>
                <a:latin typeface="微软雅黑"/>
                <a:ea typeface="微软雅黑"/>
                <a:cs typeface="微软雅黑"/>
              </a:rPr>
              <a:t>· that 从句里主语是 the gas ethylene。</a:t>
            </a:r>
          </a:p>
          <a:p>
            <a:pPr algn="l"/>
            <a:r>
              <a:rPr sz="1500" b="0">
                <a:solidFill>
                  <a:srgbClr val="0F172A"/>
                </a:solidFill>
                <a:latin typeface="微软雅黑"/>
                <a:ea typeface="微软雅黑"/>
                <a:cs typeface="微软雅黑"/>
              </a:rPr>
              <a:t>· under heat and pressure 是条件状语。</a:t>
            </a:r>
          </a:p>
          <a:p>
            <a:pPr algn="l"/>
            <a:r>
              <a:rPr sz="1500" b="0">
                <a:solidFill>
                  <a:srgbClr val="0F172A"/>
                </a:solidFill>
                <a:latin typeface="微软雅黑"/>
                <a:ea typeface="微软雅黑"/>
                <a:cs typeface="微软雅黑"/>
              </a:rPr>
              <a:t>· a thermoplastic (which) they called polythene —— 关系代词被省略。</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20世纪30年代，英国的化学家发现乙烯气体在加热加压下会聚合，形成一种被他们称为聚乙烯的热塑性塑料。</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polymerize 聚合；thermoplastic 热塑性塑料</a:t>
            </a:r>
          </a:p>
          <a:p>
            <a:pPr algn="l"/>
            <a:r>
              <a:rPr sz="1850" b="1">
                <a:solidFill>
                  <a:srgbClr val="0F172A"/>
                </a:solidFill>
                <a:latin typeface="微软雅黑"/>
                <a:ea typeface="微软雅黑"/>
                <a:cs typeface="微软雅黑"/>
              </a:rPr>
              <a:t>country of origin 原产国 ↔ chemists in + 国名</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Q5｜Rigid PVC 的性质是什么</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16</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Rigid PVC｜…｜Properties：is 5 ………………｜Common uses：external piping</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is + 空格 → 形容词。</a:t>
            </a:r>
          </a:p>
          <a:p>
            <a:pPr algn="l"/>
            <a:r>
              <a:rPr sz="1900" b="0">
                <a:solidFill>
                  <a:srgbClr val="0F172A"/>
                </a:solidFill>
                <a:latin typeface="微软雅黑"/>
                <a:ea typeface="微软雅黑"/>
                <a:cs typeface="微软雅黑"/>
              </a:rPr>
              <a:t>锚点：rigid PVC + 户外管道。</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P4 S6: A small change in the starting material—replacing a hydrogen atom in ethylene with a chlorine atom—produced rigid PVC (polyvinyl chloride), a fireproof plastic suitable for drains and gutters.</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0">
                <a:solidFill>
                  <a:srgbClr val="0F172A"/>
                </a:solidFill>
                <a:latin typeface="微软雅黑"/>
                <a:ea typeface="微软雅黑"/>
                <a:cs typeface="微软雅黑"/>
              </a:rPr>
              <a:t>external piping ↔ drains and gutters（排水管与檐槽）。</a:t>
            </a:r>
          </a:p>
          <a:p>
            <a:pPr algn="l"/>
            <a:r>
              <a:rPr sz="1800" b="0">
                <a:solidFill>
                  <a:srgbClr val="0F172A"/>
                </a:solidFill>
                <a:latin typeface="微软雅黑"/>
                <a:ea typeface="微软雅黑"/>
                <a:cs typeface="微软雅黑"/>
              </a:rPr>
              <a:t>rigid PVC 后的同位语 a fireproof plastic 给出性质。</a:t>
            </a:r>
          </a:p>
          <a:p>
            <a:pPr algn="l"/>
            <a:r>
              <a:rPr sz="1800" b="0">
                <a:solidFill>
                  <a:srgbClr val="0F172A"/>
                </a:solidFill>
                <a:latin typeface="微软雅黑"/>
                <a:ea typeface="微软雅黑"/>
                <a:cs typeface="微软雅黑"/>
              </a:rPr>
              <a:t>is + 形容词，所以填 fireproof，不能填 fireproof plastic。</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fireproof</a:t>
            </a:r>
          </a:p>
          <a:p>
            <a:pPr algn="l"/>
            <a:r>
              <a:rPr sz="2100" b="1">
                <a:solidFill>
                  <a:srgbClr val="0F172A"/>
                </a:solidFill>
                <a:latin typeface="微软雅黑"/>
                <a:ea typeface="微软雅黑"/>
                <a:cs typeface="微软雅黑"/>
              </a:rPr>
              <a:t>一词，形容词。</a:t>
            </a:r>
          </a:p>
          <a:p>
            <a:pPr algn="l"/>
            <a:r>
              <a:rPr sz="2100" b="1">
                <a:solidFill>
                  <a:srgbClr val="0F172A"/>
                </a:solidFill>
                <a:latin typeface="微软雅黑"/>
                <a:ea typeface="微软雅黑"/>
                <a:cs typeface="微软雅黑"/>
              </a:rPr>
              <a:t>由 is 决定词性。</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Q5｜破折号插入语 + 同位语给性质</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17</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A small change in the starting material—replacing a hydrogen atom in ethylene with a chlorine atom—produced rigid PVC (polyvinyl chloride), a fireproof plastic suitable for drains and gutters.</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A small change produced rigid PVC.</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500" b="0">
                <a:solidFill>
                  <a:srgbClr val="0F172A"/>
                </a:solidFill>
                <a:latin typeface="微软雅黑"/>
                <a:ea typeface="微软雅黑"/>
                <a:cs typeface="微软雅黑"/>
              </a:rPr>
              <a:t>· 主语 A small change，谓语 produced，宾语 rigid PVC。</a:t>
            </a:r>
          </a:p>
          <a:p>
            <a:pPr algn="l"/>
            <a:r>
              <a:rPr sz="1500" b="0">
                <a:solidFill>
                  <a:srgbClr val="0F172A"/>
                </a:solidFill>
                <a:latin typeface="微软雅黑"/>
                <a:ea typeface="微软雅黑"/>
                <a:cs typeface="微软雅黑"/>
              </a:rPr>
              <a:t>· 两个破折号之间解释“改了什么”，先整块盖住。</a:t>
            </a:r>
          </a:p>
          <a:p>
            <a:pPr algn="l"/>
            <a:r>
              <a:rPr sz="1500" b="0">
                <a:solidFill>
                  <a:srgbClr val="0F172A"/>
                </a:solidFill>
                <a:latin typeface="微软雅黑"/>
                <a:ea typeface="微软雅黑"/>
                <a:cs typeface="微软雅黑"/>
              </a:rPr>
              <a:t>· a fireproof plastic ... 是 rigid PVC 的同位语。</a:t>
            </a:r>
          </a:p>
          <a:p>
            <a:pPr algn="l"/>
            <a:r>
              <a:rPr sz="1500" b="0">
                <a:solidFill>
                  <a:srgbClr val="0F172A"/>
                </a:solidFill>
                <a:latin typeface="微软雅黑"/>
                <a:ea typeface="微软雅黑"/>
                <a:cs typeface="微软雅黑"/>
              </a:rPr>
              <a:t>· suitable for ... 是形容词短语后置定语。</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20" b="0">
                <a:solidFill>
                  <a:srgbClr val="0F172A"/>
                </a:solidFill>
                <a:latin typeface="微软雅黑"/>
                <a:ea typeface="微软雅黑"/>
                <a:cs typeface="微软雅黑"/>
              </a:rPr>
              <a:t>起始材料上的一个小改动——把乙烯中的一个氢原子换成氯原子——制造出了硬质 PVC，这是一种适用于排水管和檐槽的防火塑料。</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fireproof 防火的 ↔ fire-resistant；rigid 硬质的 ↔ stiff</a:t>
            </a:r>
          </a:p>
          <a:p>
            <a:pPr algn="l"/>
            <a:r>
              <a:rPr sz="1850" b="1">
                <a:solidFill>
                  <a:srgbClr val="0F172A"/>
                </a:solidFill>
                <a:latin typeface="微软雅黑"/>
                <a:ea typeface="微软雅黑"/>
                <a:cs typeface="微软雅黑"/>
              </a:rPr>
              <a:t>drains and gutters 排水管与檐槽 ＝ external piping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Q6｜Polystyrene 像什么</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18</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400" b="1">
                <a:solidFill>
                  <a:srgbClr val="0F172A"/>
                </a:solidFill>
                <a:latin typeface="微软雅黑"/>
                <a:ea typeface="微软雅黑"/>
                <a:cs typeface="微软雅黑"/>
              </a:rPr>
              <a:t>Polystyrene｜1930s｜Germany｜Properties：resembles 6 ………………</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resembles + 空格 → 名词。</a:t>
            </a:r>
          </a:p>
          <a:p>
            <a:pPr algn="l"/>
            <a:r>
              <a:rPr sz="1900" b="0">
                <a:solidFill>
                  <a:srgbClr val="0F172A"/>
                </a:solidFill>
                <a:latin typeface="微软雅黑"/>
                <a:ea typeface="微软雅黑"/>
                <a:cs typeface="微软雅黑"/>
              </a:rPr>
              <a:t>锚点：polystyrene。</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P5 S1: Polystyrene, a hard, clear material like glass, was developed during the 1930s in Germany, and its applications included food containers and toys.</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resembles ↔ like（像……）。</a:t>
            </a:r>
          </a:p>
          <a:p>
            <a:pPr algn="l"/>
            <a:r>
              <a:rPr sz="1900" b="0">
                <a:solidFill>
                  <a:srgbClr val="0F172A"/>
                </a:solidFill>
                <a:latin typeface="微软雅黑"/>
                <a:ea typeface="微软雅黑"/>
                <a:cs typeface="微软雅黑"/>
              </a:rPr>
              <a:t>a hard, clear material like glass 是 polystyrene 的同位语。</a:t>
            </a:r>
          </a:p>
          <a:p>
            <a:pPr algn="l"/>
            <a:r>
              <a:rPr sz="1900" b="0">
                <a:solidFill>
                  <a:srgbClr val="0F172A"/>
                </a:solidFill>
                <a:latin typeface="微软雅黑"/>
                <a:ea typeface="微软雅黑"/>
                <a:cs typeface="微软雅黑"/>
              </a:rPr>
              <a:t>取 like 后的名词：glass。</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glass</a:t>
            </a:r>
          </a:p>
          <a:p>
            <a:pPr algn="l"/>
            <a:r>
              <a:rPr sz="2100" b="1">
                <a:solidFill>
                  <a:srgbClr val="0F172A"/>
                </a:solidFill>
                <a:latin typeface="微软雅黑"/>
                <a:ea typeface="微软雅黑"/>
                <a:cs typeface="微软雅黑"/>
              </a:rPr>
              <a:t>一词。</a:t>
            </a:r>
          </a:p>
          <a:p>
            <a:pPr algn="l"/>
            <a:r>
              <a:rPr sz="2100" b="1">
                <a:solidFill>
                  <a:srgbClr val="0F172A"/>
                </a:solidFill>
                <a:latin typeface="微软雅黑"/>
                <a:ea typeface="微软雅黑"/>
                <a:cs typeface="微软雅黑"/>
              </a:rPr>
              <a:t>resembles = like。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Q6｜主语后紧跟同位语，主干被拉开</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19</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50" b="1">
                <a:solidFill>
                  <a:srgbClr val="0F172A"/>
                </a:solidFill>
                <a:latin typeface="微软雅黑"/>
                <a:ea typeface="微软雅黑"/>
                <a:cs typeface="微软雅黑"/>
              </a:rPr>
              <a:t>Polystyrene, a hard, clear material like glass, was developed during the 1930s in Germany, and its applications included food containers and toys.</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Polystyrene was developed during the 1930s in Germany.</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 主语 Polystyrene 之后立刻插入同位语，先用逗号定位边界。</a:t>
            </a:r>
          </a:p>
          <a:p>
            <a:pPr algn="l"/>
            <a:r>
              <a:rPr sz="1700" b="0">
                <a:solidFill>
                  <a:srgbClr val="0F172A"/>
                </a:solidFill>
                <a:latin typeface="微软雅黑"/>
                <a:ea typeface="微软雅黑"/>
                <a:cs typeface="微软雅黑"/>
              </a:rPr>
              <a:t>· 盖掉同位语，主干 was developed ... 立刻显形。</a:t>
            </a:r>
          </a:p>
          <a:p>
            <a:pPr algn="l"/>
            <a:r>
              <a:rPr sz="1700" b="0">
                <a:solidFill>
                  <a:srgbClr val="0F172A"/>
                </a:solidFill>
                <a:latin typeface="微软雅黑"/>
                <a:ea typeface="微软雅黑"/>
                <a:cs typeface="微软雅黑"/>
              </a:rPr>
              <a:t>· and 后并列第二个分句，讲用途。</a:t>
            </a:r>
          </a:p>
          <a:p>
            <a:pPr algn="l"/>
            <a:r>
              <a:rPr sz="1700" b="0">
                <a:solidFill>
                  <a:srgbClr val="0F172A"/>
                </a:solidFill>
                <a:latin typeface="微软雅黑"/>
                <a:ea typeface="微软雅黑"/>
                <a:cs typeface="微软雅黑"/>
              </a:rPr>
              <a:t>· 本题答案恰恰藏在被“盖掉”的同位语里——盖是为了看清结构，不是不读。</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聚苯乙烯是一种像玻璃一样坚硬透明的材料，于20世纪30年代在德国研制出来，其用途包括食品容器和玩具。</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resemble 类似于 ↔ be like / look like；clear 透明的</a:t>
            </a:r>
          </a:p>
          <a:p>
            <a:pPr algn="l"/>
            <a:r>
              <a:rPr sz="1850" b="1">
                <a:solidFill>
                  <a:srgbClr val="0F172A"/>
                </a:solidFill>
                <a:latin typeface="微软雅黑"/>
                <a:ea typeface="微软雅黑"/>
                <a:cs typeface="微软雅黑"/>
              </a:rPr>
              <a:t>applications 用途 ↔ uses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Q7｜Polyurethane 通常做成什么形态</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20</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Polyurethane｜…｜Germany｜usually manufactured as a 7 ………………｜insulation</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as a + 空格 → 单数可数名词。</a:t>
            </a:r>
          </a:p>
          <a:p>
            <a:pPr algn="l"/>
            <a:r>
              <a:rPr sz="1900" b="0">
                <a:solidFill>
                  <a:srgbClr val="0F172A"/>
                </a:solidFill>
                <a:latin typeface="微软雅黑"/>
                <a:ea typeface="微软雅黑"/>
                <a:cs typeface="微软雅黑"/>
              </a:rPr>
              <a:t>锚点：polyurethane + 保温材料。</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P5 S3: Polyurethane, developed in the same country, was commonly produced as a foam, which was very useful in the production of insulating materials.</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usually ↔ commonly；manufactured ↔ produced。</a:t>
            </a:r>
          </a:p>
          <a:p>
            <a:pPr algn="l"/>
            <a:r>
              <a:rPr sz="1900" b="0">
                <a:solidFill>
                  <a:srgbClr val="0F172A"/>
                </a:solidFill>
                <a:latin typeface="微软雅黑"/>
                <a:ea typeface="微软雅黑"/>
                <a:cs typeface="微软雅黑"/>
              </a:rPr>
              <a:t>as a + 名词 与原文 as a foam 完全对位。</a:t>
            </a:r>
          </a:p>
          <a:p>
            <a:pPr algn="l"/>
            <a:r>
              <a:rPr sz="1900" b="0">
                <a:solidFill>
                  <a:srgbClr val="0F172A"/>
                </a:solidFill>
                <a:latin typeface="微软雅黑"/>
                <a:ea typeface="微软雅黑"/>
                <a:cs typeface="微软雅黑"/>
              </a:rPr>
              <a:t>Germany 由 the same country 回指上一句得来。</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foam</a:t>
            </a:r>
          </a:p>
          <a:p>
            <a:pPr algn="l"/>
            <a:r>
              <a:rPr sz="2100" b="1">
                <a:solidFill>
                  <a:srgbClr val="0F172A"/>
                </a:solidFill>
                <a:latin typeface="微软雅黑"/>
                <a:ea typeface="微软雅黑"/>
                <a:cs typeface="微软雅黑"/>
              </a:rPr>
              <a:t>一词，单数。</a:t>
            </a:r>
          </a:p>
          <a:p>
            <a:pPr algn="l"/>
            <a:r>
              <a:rPr sz="2100" b="1">
                <a:solidFill>
                  <a:srgbClr val="0F172A"/>
                </a:solidFill>
                <a:latin typeface="微软雅黑"/>
                <a:ea typeface="微软雅黑"/>
                <a:cs typeface="微软雅黑"/>
              </a:rPr>
              <a:t>a 提示单数可数。</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Q7｜过去分词短语作后置定语 + which 从句</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21</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50" b="1">
                <a:solidFill>
                  <a:srgbClr val="0F172A"/>
                </a:solidFill>
                <a:latin typeface="微软雅黑"/>
                <a:ea typeface="微软雅黑"/>
                <a:cs typeface="微软雅黑"/>
              </a:rPr>
              <a:t>Polyurethane, developed in the same country, was commonly produced as a foam, which was very useful in the production of insulating materials.</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Polyurethane was commonly produced as a foam.</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 developed in the same country 是过去分词后置定语，先盖住。</a:t>
            </a:r>
          </a:p>
          <a:p>
            <a:pPr algn="l"/>
            <a:r>
              <a:rPr sz="1700" b="0">
                <a:solidFill>
                  <a:srgbClr val="0F172A"/>
                </a:solidFill>
                <a:latin typeface="微软雅黑"/>
                <a:ea typeface="微软雅黑"/>
                <a:cs typeface="微软雅黑"/>
              </a:rPr>
              <a:t>· the same country 回指上一句的 Germany——表格该列答案由此而来。</a:t>
            </a:r>
          </a:p>
          <a:p>
            <a:pPr algn="l"/>
            <a:r>
              <a:rPr sz="1700" b="0">
                <a:solidFill>
                  <a:srgbClr val="0F172A"/>
                </a:solidFill>
                <a:latin typeface="微软雅黑"/>
                <a:ea typeface="微软雅黑"/>
                <a:cs typeface="微软雅黑"/>
              </a:rPr>
              <a:t>· 主干 was produced as a foam。</a:t>
            </a:r>
          </a:p>
          <a:p>
            <a:pPr algn="l"/>
            <a:r>
              <a:rPr sz="1700" b="0">
                <a:solidFill>
                  <a:srgbClr val="0F172A"/>
                </a:solidFill>
                <a:latin typeface="微软雅黑"/>
                <a:ea typeface="微软雅黑"/>
                <a:cs typeface="微软雅黑"/>
              </a:rPr>
              <a:t>· which 指代 foam，补充说明用途。</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聚氨酯也是在同一个国家研制的，通常被制成泡沫，这种形态在生产保温材料方面非常有用。</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foam 泡沫；insulating materials 保温/绝缘材料</a:t>
            </a:r>
          </a:p>
          <a:p>
            <a:pPr algn="l"/>
            <a:r>
              <a:rPr sz="1850" b="1">
                <a:solidFill>
                  <a:srgbClr val="0F172A"/>
                </a:solidFill>
                <a:latin typeface="微软雅黑"/>
                <a:ea typeface="微软雅黑"/>
                <a:cs typeface="微软雅黑"/>
              </a:rPr>
              <a:t>commonly = usually；produced = manufactured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Q8｜very different：化学关系被写反</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22</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The chemical structure of rubber is very different from that of plastics.</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锚点：chemical structure + different。</a:t>
            </a:r>
          </a:p>
          <a:p>
            <a:pPr algn="l"/>
            <a:r>
              <a:rPr sz="1900" b="0">
                <a:solidFill>
                  <a:srgbClr val="0F172A"/>
                </a:solidFill>
                <a:latin typeface="微软雅黑"/>
                <a:ea typeface="微软雅黑"/>
                <a:cs typeface="微软雅黑"/>
              </a:rPr>
              <a:t>先问：原文说“同”还是“异”？</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P1 S2–S3: Chemically, rubber is a polymer—a compound containing large molecules ... The same bonding principle—polymerization—is the basis of the creation of a huge range of plastics.</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原文说橡胶是聚合物，塑料靠同一种成键原理生成。</a:t>
            </a:r>
          </a:p>
          <a:p>
            <a:pPr algn="l"/>
            <a:r>
              <a:rPr sz="1900" b="0">
                <a:solidFill>
                  <a:srgbClr val="0F172A"/>
                </a:solidFill>
                <a:latin typeface="微软雅黑"/>
                <a:ea typeface="微软雅黑"/>
                <a:cs typeface="微软雅黑"/>
              </a:rPr>
              <a:t>The same bonding principle 明确指出两者“相同”。</a:t>
            </a:r>
          </a:p>
          <a:p>
            <a:pPr algn="l"/>
            <a:r>
              <a:rPr sz="1900" b="0">
                <a:solidFill>
                  <a:srgbClr val="0F172A"/>
                </a:solidFill>
                <a:latin typeface="微软雅黑"/>
                <a:ea typeface="微软雅黑"/>
                <a:cs typeface="微软雅黑"/>
              </a:rPr>
              <a:t>题干说 very different，与原文正相反。</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FALSE</a:t>
            </a:r>
          </a:p>
          <a:p>
            <a:pPr algn="l"/>
            <a:r>
              <a:rPr sz="2100" b="1">
                <a:solidFill>
                  <a:srgbClr val="0F172A"/>
                </a:solidFill>
                <a:latin typeface="微软雅黑"/>
                <a:ea typeface="微软雅黑"/>
                <a:cs typeface="微软雅黑"/>
              </a:rPr>
              <a:t>same 与 different 对撞。</a:t>
            </a:r>
          </a:p>
          <a:p>
            <a:pPr algn="l"/>
            <a:r>
              <a:rPr sz="2100" b="1">
                <a:solidFill>
                  <a:srgbClr val="0F172A"/>
                </a:solidFill>
                <a:latin typeface="微软雅黑"/>
                <a:ea typeface="微软雅黑"/>
                <a:cs typeface="微软雅黑"/>
              </a:rPr>
              <a:t>有明确矛盾句。</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Q8｜两个破折号定义 + The same 的回指</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23</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1">
                <a:solidFill>
                  <a:srgbClr val="0F172A"/>
                </a:solidFill>
                <a:latin typeface="微软雅黑"/>
                <a:ea typeface="微软雅黑"/>
                <a:cs typeface="微软雅黑"/>
              </a:rPr>
              <a:t>Chemically, rubber is a polymer—a compound containing large molecules that are formed by the bonding of many smaller, simpler units, repeated over and over again. The same bonding principle—polymerization—is the basis of the creation of a huge range of plastics.</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Rubber is a polymer. The same bonding principle is the basis of plastics.</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600" b="0">
                <a:solidFill>
                  <a:srgbClr val="0F172A"/>
                </a:solidFill>
                <a:latin typeface="微软雅黑"/>
                <a:ea typeface="微软雅黑"/>
                <a:cs typeface="微软雅黑"/>
              </a:rPr>
              <a:t>· 第一句破折号后是 polymer 的定义，containing / formed 都是后置修饰。</a:t>
            </a:r>
          </a:p>
          <a:p>
            <a:pPr algn="l"/>
            <a:r>
              <a:rPr sz="1600" b="0">
                <a:solidFill>
                  <a:srgbClr val="0F172A"/>
                </a:solidFill>
                <a:latin typeface="微软雅黑"/>
                <a:ea typeface="微软雅黑"/>
                <a:cs typeface="微软雅黑"/>
              </a:rPr>
              <a:t>· 第二句主语是 The same bonding principle——The same 是判断依据。</a:t>
            </a:r>
          </a:p>
          <a:p>
            <a:pPr algn="l"/>
            <a:r>
              <a:rPr sz="1600" b="0">
                <a:solidFill>
                  <a:srgbClr val="0F172A"/>
                </a:solidFill>
                <a:latin typeface="微软雅黑"/>
                <a:ea typeface="微软雅黑"/>
                <a:cs typeface="微软雅黑"/>
              </a:rPr>
              <a:t>· polymerization 夹在破折号中间，是同位解释。</a:t>
            </a:r>
          </a:p>
          <a:p>
            <a:pPr algn="l"/>
            <a:r>
              <a:rPr sz="1600" b="0">
                <a:solidFill>
                  <a:srgbClr val="0F172A"/>
                </a:solidFill>
                <a:latin typeface="微软雅黑"/>
                <a:ea typeface="微软雅黑"/>
                <a:cs typeface="微软雅黑"/>
              </a:rPr>
              <a:t>· 两句连读才能看出“橡胶与塑料同源”。</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20" b="0">
                <a:solidFill>
                  <a:srgbClr val="0F172A"/>
                </a:solidFill>
                <a:latin typeface="微软雅黑"/>
                <a:ea typeface="微软雅黑"/>
                <a:cs typeface="微软雅黑"/>
              </a:rPr>
              <a:t>从化学角度看，橡胶是一种聚合物——即由许多更小更简单的单元反复成键而形成大分子的化合物。同样的成键原理（聚合）也是化工业创造出大量塑料的基础。</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polymer 聚合物；compound 化合物；bonding 成键</a:t>
            </a:r>
          </a:p>
          <a:p>
            <a:pPr algn="l"/>
            <a:r>
              <a:rPr sz="1850" b="1">
                <a:solidFill>
                  <a:srgbClr val="0F172A"/>
                </a:solidFill>
                <a:latin typeface="微软雅黑"/>
                <a:ea typeface="微软雅黑"/>
                <a:cs typeface="微软雅黑"/>
              </a:rPr>
              <a:t>the same ... as ＝ 相同（判断题常考的关系词）</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Q9｜industrial chemist：职业身份未提</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24</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400" b="1">
                <a:solidFill>
                  <a:srgbClr val="0F172A"/>
                </a:solidFill>
                <a:latin typeface="微软雅黑"/>
                <a:ea typeface="微软雅黑"/>
                <a:cs typeface="微软雅黑"/>
              </a:rPr>
              <a:t>John Wesley Hyatt was an industrial chemist.</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锚点：John Wesley Hyatt + 职业。</a:t>
            </a:r>
          </a:p>
          <a:p>
            <a:pPr algn="l"/>
            <a:r>
              <a:rPr sz="1900" b="0">
                <a:solidFill>
                  <a:srgbClr val="0F172A"/>
                </a:solidFill>
                <a:latin typeface="微软雅黑"/>
                <a:ea typeface="微软雅黑"/>
                <a:cs typeface="微软雅黑"/>
              </a:rPr>
              <a:t>问的是“他是不是工业化学家”。</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P2 S3: The prize was won by John Wesley Hyatt, with a material called celluloid.（全文只提到他赢得奖金）</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原文只说他用赛璐珞赢得了奖金。</a:t>
            </a:r>
          </a:p>
          <a:p>
            <a:pPr algn="l"/>
            <a:r>
              <a:rPr sz="1900" b="0">
                <a:solidFill>
                  <a:srgbClr val="0F172A"/>
                </a:solidFill>
                <a:latin typeface="微软雅黑"/>
                <a:ea typeface="微软雅黑"/>
                <a:cs typeface="微软雅黑"/>
              </a:rPr>
              <a:t>对他的职业、身份、受训背景只字未提。</a:t>
            </a:r>
          </a:p>
          <a:p>
            <a:pPr algn="l"/>
            <a:r>
              <a:rPr sz="1900" b="0">
                <a:solidFill>
                  <a:srgbClr val="0F172A"/>
                </a:solidFill>
                <a:latin typeface="微软雅黑"/>
                <a:ea typeface="微软雅黑"/>
                <a:cs typeface="微软雅黑"/>
              </a:rPr>
              <a:t>对比 P3 S2 明确写了 Baekeland 是 a Belgian chemist——可见作者要提就会提。</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NOT GIVEN</a:t>
            </a:r>
          </a:p>
          <a:p>
            <a:pPr algn="l"/>
            <a:r>
              <a:rPr sz="2100" b="1">
                <a:solidFill>
                  <a:srgbClr val="0F172A"/>
                </a:solidFill>
                <a:latin typeface="微软雅黑"/>
                <a:ea typeface="微软雅黑"/>
                <a:cs typeface="微软雅黑"/>
              </a:rPr>
              <a:t>人名在，职业不在。</a:t>
            </a:r>
          </a:p>
          <a:p>
            <a:pPr algn="l"/>
            <a:r>
              <a:rPr sz="2100" b="1">
                <a:solidFill>
                  <a:srgbClr val="0F172A"/>
                </a:solidFill>
                <a:latin typeface="微软雅黑"/>
                <a:ea typeface="微软雅黑"/>
                <a:cs typeface="微软雅黑"/>
              </a:rPr>
              <a:t>缺信息，不是矛盾。</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Q9｜被动语态与 with 表方式</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25</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In the 1860s, $10,000 was offered to anybody who could replace ivory—supplies of which were declining—with something equally good ... The prize was won by John Wesley Hyatt, with a material called celluloid.</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The prize was won by John Wesley Hyatt.</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500" b="0">
                <a:solidFill>
                  <a:srgbClr val="0F172A"/>
                </a:solidFill>
                <a:latin typeface="微软雅黑"/>
                <a:ea typeface="微软雅黑"/>
                <a:cs typeface="微软雅黑"/>
              </a:rPr>
              <a:t>· was offered to anybody who ... 是被动 + 定语从句。</a:t>
            </a:r>
          </a:p>
          <a:p>
            <a:pPr algn="l"/>
            <a:r>
              <a:rPr sz="1500" b="0">
                <a:solidFill>
                  <a:srgbClr val="0F172A"/>
                </a:solidFill>
                <a:latin typeface="微软雅黑"/>
                <a:ea typeface="微软雅黑"/>
                <a:cs typeface="微软雅黑"/>
              </a:rPr>
              <a:t>· supplies of which were declining 是插入的非限定定从：象牙供应在减少。</a:t>
            </a:r>
          </a:p>
          <a:p>
            <a:pPr algn="l"/>
            <a:r>
              <a:rPr sz="1500" b="0">
                <a:solidFill>
                  <a:srgbClr val="0F172A"/>
                </a:solidFill>
                <a:latin typeface="微软雅黑"/>
                <a:ea typeface="微软雅黑"/>
                <a:cs typeface="微软雅黑"/>
              </a:rPr>
              <a:t>· The prize was won by X 的 by 后是获奖者。</a:t>
            </a:r>
          </a:p>
          <a:p>
            <a:pPr algn="l"/>
            <a:r>
              <a:rPr sz="1500" b="0">
                <a:solidFill>
                  <a:srgbClr val="0F172A"/>
                </a:solidFill>
                <a:latin typeface="微软雅黑"/>
                <a:ea typeface="微软雅黑"/>
                <a:cs typeface="微软雅黑"/>
              </a:rPr>
              <a:t>· with a material called celluloid 表方式，不是身份。</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20" b="0">
                <a:solidFill>
                  <a:srgbClr val="0F172A"/>
                </a:solidFill>
                <a:latin typeface="微软雅黑"/>
                <a:ea typeface="微软雅黑"/>
                <a:cs typeface="微软雅黑"/>
              </a:rPr>
              <a:t>19世纪60年代，有人悬赏一万美元，奖给能用同样好的材料替代象牙（其供应正在减少）制造台球的人。这笔奖金被 John Wesley Hyatt 用一种叫赛璐珞的材料赢得。</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decline 减少 ↔ fall / go down；ivory 象牙</a:t>
            </a:r>
          </a:p>
          <a:p>
            <a:pPr algn="l"/>
            <a:r>
              <a:rPr sz="1850" b="1">
                <a:solidFill>
                  <a:srgbClr val="0F172A"/>
                </a:solidFill>
                <a:latin typeface="微软雅黑"/>
                <a:ea typeface="微软雅黑"/>
                <a:cs typeface="微软雅黑"/>
              </a:rPr>
              <a:t>equally good 同样好的；win the prize 赢得奖金</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Q10｜react to heat：两者恰恰相反</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26</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400" b="1">
                <a:solidFill>
                  <a:srgbClr val="0F172A"/>
                </a:solidFill>
                <a:latin typeface="微软雅黑"/>
                <a:ea typeface="微软雅黑"/>
                <a:cs typeface="微软雅黑"/>
              </a:rPr>
              <a:t>Celluloid and Bakelite react in the same way to heat.</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锚点：celluloid / Bakelite / heat。</a:t>
            </a:r>
          </a:p>
          <a:p>
            <a:pPr algn="l"/>
            <a:r>
              <a:rPr sz="1900" b="0">
                <a:solidFill>
                  <a:srgbClr val="0F172A"/>
                </a:solidFill>
                <a:latin typeface="微软雅黑"/>
                <a:ea typeface="微软雅黑"/>
                <a:cs typeface="微软雅黑"/>
              </a:rPr>
              <a:t>需要同时看两段各一句。</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0">
                <a:solidFill>
                  <a:srgbClr val="0F172A"/>
                </a:solidFill>
                <a:latin typeface="微软雅黑"/>
                <a:ea typeface="微软雅黑"/>
                <a:cs typeface="微软雅黑"/>
              </a:rPr>
              <a:t>P3 S1: Celluloid can be repeatedly softened and reshaped by heat, and is known as a thermoplastic. P3 S3: ... the first of the thermosets—plastics that ... cannot be softened by heat and reshaped once they have set.</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Celluloid ＝ thermoplastic：可反复受热软化。</a:t>
            </a:r>
          </a:p>
          <a:p>
            <a:pPr algn="l"/>
            <a:r>
              <a:rPr sz="1900" b="0">
                <a:solidFill>
                  <a:srgbClr val="0F172A"/>
                </a:solidFill>
                <a:latin typeface="微软雅黑"/>
                <a:ea typeface="微软雅黑"/>
                <a:cs typeface="微软雅黑"/>
              </a:rPr>
              <a:t>Bakelite ＝ thermoset：定型后不能再受热软化。</a:t>
            </a:r>
          </a:p>
          <a:p>
            <a:pPr algn="l"/>
            <a:r>
              <a:rPr sz="1900" b="0">
                <a:solidFill>
                  <a:srgbClr val="0F172A"/>
                </a:solidFill>
                <a:latin typeface="微软雅黑"/>
                <a:ea typeface="微软雅黑"/>
                <a:cs typeface="微软雅黑"/>
              </a:rPr>
              <a:t>两者对热的反应正好相反，题干说 same way → 矛盾。</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FALSE</a:t>
            </a:r>
          </a:p>
          <a:p>
            <a:pPr algn="l"/>
            <a:r>
              <a:rPr sz="2100" b="1">
                <a:solidFill>
                  <a:srgbClr val="0F172A"/>
                </a:solidFill>
                <a:latin typeface="微软雅黑"/>
                <a:ea typeface="微软雅黑"/>
                <a:cs typeface="微软雅黑"/>
              </a:rPr>
              <a:t>热塑 vs 热固。</a:t>
            </a:r>
          </a:p>
          <a:p>
            <a:pPr algn="l"/>
            <a:r>
              <a:rPr sz="2100" b="1">
                <a:solidFill>
                  <a:srgbClr val="0F172A"/>
                </a:solidFill>
                <a:latin typeface="微软雅黑"/>
                <a:ea typeface="微软雅黑"/>
                <a:cs typeface="微软雅黑"/>
              </a:rPr>
              <a:t>同段两句对撞。</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Q10｜thermoplastic 与 thermoset 的对照</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27</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1">
                <a:solidFill>
                  <a:srgbClr val="0F172A"/>
                </a:solidFill>
                <a:latin typeface="微软雅黑"/>
                <a:ea typeface="微软雅黑"/>
                <a:cs typeface="微软雅黑"/>
              </a:rPr>
              <a:t>Celluloid can be repeatedly softened and reshaped by heat, and is known as a thermoplastic. ... the first of the thermosets—plastics that can be cast and moulded while hot, but cannot be softened by heat and reshaped once they have set.</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Celluloid can be softened by heat; thermosets cannot be softened by heat.</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500" b="0">
                <a:solidFill>
                  <a:srgbClr val="0F172A"/>
                </a:solidFill>
                <a:latin typeface="微软雅黑"/>
                <a:ea typeface="微软雅黑"/>
                <a:cs typeface="微软雅黑"/>
              </a:rPr>
              <a:t>· 两句的关键谓语都是 be softened by heat，一个 can，一个 cannot。</a:t>
            </a:r>
          </a:p>
          <a:p>
            <a:pPr algn="l"/>
            <a:r>
              <a:rPr sz="1500" b="0">
                <a:solidFill>
                  <a:srgbClr val="0F172A"/>
                </a:solidFill>
                <a:latin typeface="微软雅黑"/>
                <a:ea typeface="微软雅黑"/>
                <a:cs typeface="微软雅黑"/>
              </a:rPr>
              <a:t>· 判断题遇到 same / different，先把两边的谓语并排写出来。</a:t>
            </a:r>
          </a:p>
          <a:p>
            <a:pPr algn="l"/>
            <a:r>
              <a:rPr sz="1500" b="0">
                <a:solidFill>
                  <a:srgbClr val="0F172A"/>
                </a:solidFill>
                <a:latin typeface="微软雅黑"/>
                <a:ea typeface="微软雅黑"/>
                <a:cs typeface="微软雅黑"/>
              </a:rPr>
              <a:t>· repeatedly 与 once they have set 是两种时间条件。</a:t>
            </a:r>
          </a:p>
          <a:p>
            <a:pPr algn="l"/>
            <a:r>
              <a:rPr sz="1500" b="0">
                <a:solidFill>
                  <a:srgbClr val="0F172A"/>
                </a:solidFill>
                <a:latin typeface="微软雅黑"/>
                <a:ea typeface="微软雅黑"/>
                <a:cs typeface="微软雅黑"/>
              </a:rPr>
              <a:t>· -plastic 与 -set 两个词根本身就提示了差别。</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20" b="0">
                <a:solidFill>
                  <a:srgbClr val="0F172A"/>
                </a:solidFill>
                <a:latin typeface="微软雅黑"/>
                <a:ea typeface="微软雅黑"/>
                <a:cs typeface="微软雅黑"/>
              </a:rPr>
              <a:t>赛璐珞可以被反复加热软化并重塑，被称为热塑性塑料；而热固性塑料受热时可浇铸成型，但一旦定型就不能再受热软化重塑。</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thermoplastic 热塑性 ↔ can be softened repeatedly</a:t>
            </a:r>
          </a:p>
          <a:p>
            <a:pPr algn="l"/>
            <a:r>
              <a:rPr sz="1850" b="1">
                <a:solidFill>
                  <a:srgbClr val="0F172A"/>
                </a:solidFill>
                <a:latin typeface="微软雅黑"/>
                <a:ea typeface="微软雅黑"/>
                <a:cs typeface="微软雅黑"/>
              </a:rPr>
              <a:t>thermoset 热固性 ↔ cannot be softened once set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Q11｜several plastics：混合材料难回收</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28</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If an object is made of several plastics, these prove hard to break down and reuse.</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锚点：several plastics + reuse。</a:t>
            </a:r>
          </a:p>
          <a:p>
            <a:pPr algn="l"/>
            <a:r>
              <a:rPr sz="1900" b="0">
                <a:solidFill>
                  <a:srgbClr val="0F172A"/>
                </a:solidFill>
                <a:latin typeface="微软雅黑"/>
                <a:ea typeface="微软雅黑"/>
                <a:cs typeface="微软雅黑"/>
              </a:rPr>
              <a:t>找“回收难不难”的句子。</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P8 S4: Nor is it very easy to recycle plastics, as different types of plastic are often found in the same items and call for different treatments.</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0">
                <a:solidFill>
                  <a:srgbClr val="0F172A"/>
                </a:solidFill>
                <a:latin typeface="微软雅黑"/>
                <a:ea typeface="微软雅黑"/>
                <a:cs typeface="微软雅黑"/>
              </a:rPr>
              <a:t>break down and reuse ↔ recycle（回收再利用）。</a:t>
            </a:r>
          </a:p>
          <a:p>
            <a:pPr algn="l"/>
            <a:r>
              <a:rPr sz="1800" b="0">
                <a:solidFill>
                  <a:srgbClr val="0F172A"/>
                </a:solidFill>
                <a:latin typeface="微软雅黑"/>
                <a:ea typeface="微软雅黑"/>
                <a:cs typeface="微软雅黑"/>
              </a:rPr>
              <a:t>several plastics in one object ↔ different types ... in the same items。</a:t>
            </a:r>
          </a:p>
          <a:p>
            <a:pPr algn="l"/>
            <a:r>
              <a:rPr sz="1800" b="0">
                <a:solidFill>
                  <a:srgbClr val="0F172A"/>
                </a:solidFill>
                <a:latin typeface="微软雅黑"/>
                <a:ea typeface="微软雅黑"/>
                <a:cs typeface="微软雅黑"/>
              </a:rPr>
              <a:t>Nor is it very easy ＝ 也不容易 → 与题干 hard 一致。</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TRUE</a:t>
            </a:r>
          </a:p>
          <a:p>
            <a:pPr algn="l"/>
            <a:r>
              <a:rPr sz="2100" b="1">
                <a:solidFill>
                  <a:srgbClr val="0F172A"/>
                </a:solidFill>
                <a:latin typeface="微软雅黑"/>
                <a:ea typeface="微软雅黑"/>
                <a:cs typeface="微软雅黑"/>
              </a:rPr>
              <a:t>Nor ＝ 也不。</a:t>
            </a:r>
          </a:p>
          <a:p>
            <a:pPr algn="l"/>
            <a:r>
              <a:rPr sz="2100" b="1">
                <a:solidFill>
                  <a:srgbClr val="0F172A"/>
                </a:solidFill>
                <a:latin typeface="微软雅黑"/>
                <a:ea typeface="微软雅黑"/>
                <a:cs typeface="微软雅黑"/>
              </a:rPr>
              <a:t>否定倒装别读反。</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Q11｜Nor 引起的部分倒装</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29</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50" b="1">
                <a:solidFill>
                  <a:srgbClr val="0F172A"/>
                </a:solidFill>
                <a:latin typeface="微软雅黑"/>
                <a:ea typeface="微软雅黑"/>
                <a:cs typeface="微软雅黑"/>
              </a:rPr>
              <a:t>Nor is it very easy to recycle plastics, as different types of plastic are often found in the same items and call for different treatments.</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It is not very easy to recycle plastics.</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500" b="0">
                <a:solidFill>
                  <a:srgbClr val="0F172A"/>
                </a:solidFill>
                <a:latin typeface="微软雅黑"/>
                <a:ea typeface="微软雅黑"/>
                <a:cs typeface="微软雅黑"/>
              </a:rPr>
              <a:t>· Nor 置于句首，助动词提到主语前：Nor is it ...（部分倒装）。</a:t>
            </a:r>
          </a:p>
          <a:p>
            <a:pPr algn="l"/>
            <a:r>
              <a:rPr sz="1500" b="0">
                <a:solidFill>
                  <a:srgbClr val="0F172A"/>
                </a:solidFill>
                <a:latin typeface="微软雅黑"/>
                <a:ea typeface="微软雅黑"/>
                <a:cs typeface="微软雅黑"/>
              </a:rPr>
              <a:t>· 还原语序：It is not very easy to recycle plastics either。</a:t>
            </a:r>
          </a:p>
          <a:p>
            <a:pPr algn="l"/>
            <a:r>
              <a:rPr sz="1500" b="0">
                <a:solidFill>
                  <a:srgbClr val="0F172A"/>
                </a:solidFill>
                <a:latin typeface="微软雅黑"/>
                <a:ea typeface="微软雅黑"/>
                <a:cs typeface="微软雅黑"/>
              </a:rPr>
              <a:t>· it 是形式主语，真正主语是 to recycle plastics。</a:t>
            </a:r>
          </a:p>
          <a:p>
            <a:pPr algn="l"/>
            <a:r>
              <a:rPr sz="1500" b="0">
                <a:solidFill>
                  <a:srgbClr val="0F172A"/>
                </a:solidFill>
                <a:latin typeface="微软雅黑"/>
                <a:ea typeface="微软雅黑"/>
                <a:cs typeface="微软雅黑"/>
              </a:rPr>
              <a:t>· as 引导原因状语从句，给出“为什么难”。</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塑料也不太容易回收，因为同一件物品中往往含有不同种类的塑料，而它们需要不同的处理方式。</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recycle 回收 ↔ break down and reuse；call for 需要 ↔ require</a:t>
            </a:r>
          </a:p>
          <a:p>
            <a:pPr algn="l"/>
            <a:r>
              <a:rPr sz="1850" b="1">
                <a:solidFill>
                  <a:srgbClr val="0F172A"/>
                </a:solidFill>
                <a:latin typeface="微软雅黑"/>
                <a:ea typeface="微软雅黑"/>
                <a:cs typeface="微软雅黑"/>
              </a:rPr>
              <a:t>Nor + 倒装 ＝ 也不（否定延续）</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Q12｜more durable：淀粉的作用被写反</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30</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400" b="1">
                <a:solidFill>
                  <a:srgbClr val="0F172A"/>
                </a:solidFill>
                <a:latin typeface="微软雅黑"/>
                <a:ea typeface="微软雅黑"/>
                <a:cs typeface="微软雅黑"/>
              </a:rPr>
              <a:t>Adding starch to plastic makes it more durable.</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锚点：starch + durable。</a:t>
            </a:r>
          </a:p>
          <a:p>
            <a:pPr algn="l"/>
            <a:r>
              <a:rPr sz="1900" b="0">
                <a:solidFill>
                  <a:srgbClr val="0F172A"/>
                </a:solidFill>
                <a:latin typeface="微软雅黑"/>
                <a:ea typeface="微软雅黑"/>
                <a:cs typeface="微软雅黑"/>
              </a:rPr>
              <a:t>先问：加淀粉是为了更耐用还是更易坏？</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P9 S1: Plastics can be made biodegradable by incorporating into their structure a material such as starch, which is attacked by bacteria and causes the plastic to fall apart.</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加淀粉是为了 biodegradable（可生物降解）。</a:t>
            </a:r>
          </a:p>
          <a:p>
            <a:pPr algn="l"/>
            <a:r>
              <a:rPr sz="1900" b="0">
                <a:solidFill>
                  <a:srgbClr val="0F172A"/>
                </a:solidFill>
                <a:latin typeface="微软雅黑"/>
                <a:ea typeface="微软雅黑"/>
                <a:cs typeface="微软雅黑"/>
              </a:rPr>
              <a:t>which ... causes the plastic to fall apart ＝ 让塑料散架。</a:t>
            </a:r>
          </a:p>
          <a:p>
            <a:pPr algn="l"/>
            <a:r>
              <a:rPr sz="1900" b="0">
                <a:solidFill>
                  <a:srgbClr val="0F172A"/>
                </a:solidFill>
                <a:latin typeface="微软雅黑"/>
                <a:ea typeface="微软雅黑"/>
                <a:cs typeface="微软雅黑"/>
              </a:rPr>
              <a:t>题干说 more durable（更耐用），方向完全相反。</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FALSE</a:t>
            </a:r>
          </a:p>
          <a:p>
            <a:pPr algn="l"/>
            <a:r>
              <a:rPr sz="2100" b="1">
                <a:solidFill>
                  <a:srgbClr val="0F172A"/>
                </a:solidFill>
                <a:latin typeface="微软雅黑"/>
                <a:ea typeface="微软雅黑"/>
                <a:cs typeface="微软雅黑"/>
              </a:rPr>
              <a:t>fall apart ≠ durable。</a:t>
            </a:r>
          </a:p>
          <a:p>
            <a:pPr algn="l"/>
            <a:r>
              <a:rPr sz="2100" b="1">
                <a:solidFill>
                  <a:srgbClr val="0F172A"/>
                </a:solidFill>
                <a:latin typeface="微软雅黑"/>
                <a:ea typeface="微软雅黑"/>
                <a:cs typeface="微软雅黑"/>
              </a:rPr>
              <a:t>作用被写反。</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Q12｜by + 动名词表方式 + which 从句</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31</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Plastics can be made biodegradable by incorporating into their structure a material such as starch, which is attacked by bacteria and causes the plastic to fall apart.</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Plastics can be made biodegradable by incorporating starch.</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400" b="0">
                <a:solidFill>
                  <a:srgbClr val="0F172A"/>
                </a:solidFill>
                <a:latin typeface="微软雅黑"/>
                <a:ea typeface="微软雅黑"/>
                <a:cs typeface="微软雅黑"/>
              </a:rPr>
              <a:t>· 主干是 Plastics can be made biodegradable（被动 + 宾补）。</a:t>
            </a:r>
          </a:p>
          <a:p>
            <a:pPr algn="l"/>
            <a:r>
              <a:rPr sz="1400" b="0">
                <a:solidFill>
                  <a:srgbClr val="0F172A"/>
                </a:solidFill>
                <a:latin typeface="微软雅黑"/>
                <a:ea typeface="微软雅黑"/>
                <a:cs typeface="微软雅黑"/>
              </a:rPr>
              <a:t>· by incorporating ... 是方式状语。</a:t>
            </a:r>
          </a:p>
          <a:p>
            <a:pPr algn="l"/>
            <a:r>
              <a:rPr sz="1400" b="0">
                <a:solidFill>
                  <a:srgbClr val="0F172A"/>
                </a:solidFill>
                <a:latin typeface="微软雅黑"/>
                <a:ea typeface="微软雅黑"/>
                <a:cs typeface="微软雅黑"/>
              </a:rPr>
              <a:t>· incorporating into their structure a material —— 宾语后置，先还原成 incorporating a material into their structure。</a:t>
            </a:r>
          </a:p>
          <a:p>
            <a:pPr algn="l"/>
            <a:r>
              <a:rPr sz="1400" b="0">
                <a:solidFill>
                  <a:srgbClr val="0F172A"/>
                </a:solidFill>
                <a:latin typeface="微软雅黑"/>
                <a:ea typeface="微软雅黑"/>
                <a:cs typeface="微软雅黑"/>
              </a:rPr>
              <a:t>· which 指 starch，带出两个并列谓语 is attacked / causes。</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通过在结构中加入淀粉之类的材料，可以使塑料变得可生物降解；这种材料会被细菌侵蚀，并使塑料散架。</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biodegradable 可生物降解的；incorporate 加入 ↔ add / include</a:t>
            </a:r>
          </a:p>
          <a:p>
            <a:pPr algn="l"/>
            <a:r>
              <a:rPr sz="1850" b="1">
                <a:solidFill>
                  <a:srgbClr val="0F172A"/>
                </a:solidFill>
                <a:latin typeface="微软雅黑"/>
                <a:ea typeface="微软雅黑"/>
                <a:cs typeface="微软雅黑"/>
              </a:rPr>
              <a:t>fall apart 散架、解体（↔ durable 耐用的）</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Q13｜storage conditions：必须避光保存</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32</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Containers which are designed to decompose need particular storage conditions.</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锚点：decompose + storage。</a:t>
            </a:r>
          </a:p>
          <a:p>
            <a:pPr algn="l"/>
            <a:r>
              <a:rPr sz="1900" b="0">
                <a:solidFill>
                  <a:srgbClr val="0F172A"/>
                </a:solidFill>
                <a:latin typeface="微软雅黑"/>
                <a:ea typeface="微软雅黑"/>
                <a:cs typeface="微软雅黑"/>
              </a:rPr>
              <a:t>找“怎么存放”的句子。</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P9 S2: Other materials can be incorporated that gradually decay in sunlight—although bottles made of such materials have to be stored in the dark, to ensure they do not disintegrate before they have been used.</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0">
                <a:solidFill>
                  <a:srgbClr val="0F172A"/>
                </a:solidFill>
                <a:latin typeface="微软雅黑"/>
                <a:ea typeface="微软雅黑"/>
                <a:cs typeface="微软雅黑"/>
              </a:rPr>
              <a:t>designed to decompose ↔ gradually decay in sunlight。</a:t>
            </a:r>
          </a:p>
          <a:p>
            <a:pPr algn="l"/>
            <a:r>
              <a:rPr sz="1800" b="0">
                <a:solidFill>
                  <a:srgbClr val="0F172A"/>
                </a:solidFill>
                <a:latin typeface="微软雅黑"/>
                <a:ea typeface="微软雅黑"/>
                <a:cs typeface="微软雅黑"/>
              </a:rPr>
              <a:t>containers ↔ bottles（瓶子是容器的一种）。</a:t>
            </a:r>
          </a:p>
          <a:p>
            <a:pPr algn="l"/>
            <a:r>
              <a:rPr sz="1800" b="0">
                <a:solidFill>
                  <a:srgbClr val="0F172A"/>
                </a:solidFill>
                <a:latin typeface="微软雅黑"/>
                <a:ea typeface="微软雅黑"/>
                <a:cs typeface="微软雅黑"/>
              </a:rPr>
              <a:t>particular storage conditions ↔ have to be stored in the dark（必须避光）。</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TRUE</a:t>
            </a:r>
          </a:p>
          <a:p>
            <a:pPr algn="l"/>
            <a:r>
              <a:rPr sz="2100" b="1">
                <a:solidFill>
                  <a:srgbClr val="0F172A"/>
                </a:solidFill>
                <a:latin typeface="微软雅黑"/>
                <a:ea typeface="微软雅黑"/>
                <a:cs typeface="微软雅黑"/>
              </a:rPr>
              <a:t>in the dark ＝ 特定条件。</a:t>
            </a:r>
          </a:p>
          <a:p>
            <a:pPr algn="l"/>
            <a:r>
              <a:rPr sz="2100" b="1">
                <a:solidFill>
                  <a:srgbClr val="0F172A"/>
                </a:solidFill>
                <a:latin typeface="微软雅黑"/>
                <a:ea typeface="微软雅黑"/>
                <a:cs typeface="微软雅黑"/>
              </a:rPr>
              <a:t>三处替换齐全。</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Q13｜although 让步 + to ensure 目的状语</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第二节课作业 · The Development of Plastics</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33</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Other materials can be incorporated that gradually decay in sunlight—although bottles made of such materials have to be stored in the dark, to ensure they do not disintegrate before they have been used.</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Bottles made of such materials have to be stored in the dark.</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400" b="0">
                <a:solidFill>
                  <a:srgbClr val="0F172A"/>
                </a:solidFill>
                <a:latin typeface="微软雅黑"/>
                <a:ea typeface="微软雅黑"/>
                <a:cs typeface="微软雅黑"/>
              </a:rPr>
              <a:t>· that gradually decay in sunlight 是修饰 materials 的定语从句（与主语分离）。</a:t>
            </a:r>
          </a:p>
          <a:p>
            <a:pPr algn="l"/>
            <a:r>
              <a:rPr sz="1400" b="0">
                <a:solidFill>
                  <a:srgbClr val="0F172A"/>
                </a:solidFill>
                <a:latin typeface="微软雅黑"/>
                <a:ea typeface="微软雅黑"/>
                <a:cs typeface="微软雅黑"/>
              </a:rPr>
              <a:t>· 破折号后的 although 从句才是本题的答案句。</a:t>
            </a:r>
          </a:p>
          <a:p>
            <a:pPr algn="l"/>
            <a:r>
              <a:rPr sz="1400" b="0">
                <a:solidFill>
                  <a:srgbClr val="0F172A"/>
                </a:solidFill>
                <a:latin typeface="微软雅黑"/>
                <a:ea typeface="微软雅黑"/>
                <a:cs typeface="微软雅黑"/>
              </a:rPr>
              <a:t>· made of such materials 是过去分词后置定语。</a:t>
            </a:r>
          </a:p>
          <a:p>
            <a:pPr algn="l"/>
            <a:r>
              <a:rPr sz="1400" b="0">
                <a:solidFill>
                  <a:srgbClr val="0F172A"/>
                </a:solidFill>
                <a:latin typeface="微软雅黑"/>
                <a:ea typeface="微软雅黑"/>
                <a:cs typeface="微软雅黑"/>
              </a:rPr>
              <a:t>· to ensure ... 是目的状语，说明为什么要避光。</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20" b="0">
                <a:solidFill>
                  <a:srgbClr val="0F172A"/>
                </a:solidFill>
                <a:latin typeface="微软雅黑"/>
                <a:ea typeface="微软雅黑"/>
                <a:cs typeface="微软雅黑"/>
              </a:rPr>
              <a:t>也可以加入另一些在阳光下会逐渐分解的材料——不过用这类材料制成的瓶子必须避光保存，以确保它们在使用之前不会解体。</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decay 分解 ↔ decompose；disintegrate 解体 ↔ fall apart</a:t>
            </a:r>
          </a:p>
          <a:p>
            <a:pPr algn="l"/>
            <a:r>
              <a:rPr sz="1850" b="1">
                <a:solidFill>
                  <a:srgbClr val="0F172A"/>
                </a:solidFill>
                <a:latin typeface="微软雅黑"/>
                <a:ea typeface="微软雅黑"/>
                <a:cs typeface="微软雅黑"/>
              </a:rPr>
              <a:t>be stored in the dark 避光保存 ＝ particular storage conditions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小结</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作业 小结：表格按材料行推进，判断题看化学关系</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34</a:t>
            </a:r>
          </a:p>
        </p:txBody>
      </p:sp>
      <p:sp>
        <p:nvSpPr>
          <p:cNvPr id="8" name="Rectangle 7"/>
          <p:cNvSpPr/>
          <p:nvPr/>
        </p:nvSpPr>
        <p:spPr>
          <a:xfrm>
            <a:off x="658368"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表格定位</a:t>
            </a:r>
          </a:p>
        </p:txBody>
      </p:sp>
      <p:sp>
        <p:nvSpPr>
          <p:cNvPr id="9" name="Rectangle 8"/>
          <p:cNvSpPr/>
          <p:nvPr/>
        </p:nvSpPr>
        <p:spPr>
          <a:xfrm>
            <a:off x="658368" y="1828800"/>
            <a:ext cx="3429000" cy="3611880"/>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按材料名找段</a:t>
            </a:r>
          </a:p>
          <a:p>
            <a:pPr algn="l"/>
            <a:r>
              <a:rPr sz="2200" b="1">
                <a:solidFill>
                  <a:srgbClr val="0F172A"/>
                </a:solidFill>
                <a:latin typeface="微软雅黑"/>
                <a:ea typeface="微软雅黑"/>
                <a:cs typeface="微软雅黑"/>
              </a:rPr>
              <a:t>· 按列定词性</a:t>
            </a:r>
          </a:p>
          <a:p>
            <a:pPr algn="l"/>
            <a:r>
              <a:rPr sz="2200" b="1">
                <a:solidFill>
                  <a:srgbClr val="0F172A"/>
                </a:solidFill>
                <a:latin typeface="微软雅黑"/>
                <a:ea typeface="微软雅黑"/>
                <a:cs typeface="微软雅黑"/>
              </a:rPr>
              <a:t>· ≤3 词</a:t>
            </a:r>
          </a:p>
        </p:txBody>
      </p:sp>
      <p:sp>
        <p:nvSpPr>
          <p:cNvPr id="10" name="Rectangle 9"/>
          <p:cNvSpPr/>
          <p:nvPr/>
        </p:nvSpPr>
        <p:spPr>
          <a:xfrm>
            <a:off x="4334256"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判断三陷阱</a:t>
            </a:r>
          </a:p>
        </p:txBody>
      </p:sp>
      <p:sp>
        <p:nvSpPr>
          <p:cNvPr id="11" name="Rectangle 10"/>
          <p:cNvSpPr/>
          <p:nvPr/>
        </p:nvSpPr>
        <p:spPr>
          <a:xfrm>
            <a:off x="4334256" y="1828800"/>
            <a:ext cx="3429000" cy="3611880"/>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same vs different</a:t>
            </a:r>
          </a:p>
          <a:p>
            <a:pPr algn="l"/>
            <a:r>
              <a:rPr sz="2200" b="1">
                <a:solidFill>
                  <a:srgbClr val="0F172A"/>
                </a:solidFill>
                <a:latin typeface="微软雅黑"/>
                <a:ea typeface="微软雅黑"/>
                <a:cs typeface="微软雅黑"/>
              </a:rPr>
              <a:t>· 职业身份未提</a:t>
            </a:r>
          </a:p>
          <a:p>
            <a:pPr algn="l"/>
            <a:r>
              <a:rPr sz="2200" b="1">
                <a:solidFill>
                  <a:srgbClr val="0F172A"/>
                </a:solidFill>
                <a:latin typeface="微软雅黑"/>
                <a:ea typeface="微软雅黑"/>
                <a:cs typeface="微软雅黑"/>
              </a:rPr>
              <a:t>· more durable 反向</a:t>
            </a:r>
          </a:p>
        </p:txBody>
      </p:sp>
      <p:sp>
        <p:nvSpPr>
          <p:cNvPr id="12" name="Rectangle 11"/>
          <p:cNvSpPr/>
          <p:nvPr/>
        </p:nvSpPr>
        <p:spPr>
          <a:xfrm>
            <a:off x="8010144"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作业收获</a:t>
            </a:r>
          </a:p>
        </p:txBody>
      </p:sp>
      <p:sp>
        <p:nvSpPr>
          <p:cNvPr id="13" name="Rectangle 12"/>
          <p:cNvSpPr/>
          <p:nvPr/>
        </p:nvSpPr>
        <p:spPr>
          <a:xfrm>
            <a:off x="8010144" y="1828800"/>
            <a:ext cx="3429000" cy="3611880"/>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错在定位还是替换</a:t>
            </a:r>
          </a:p>
          <a:p>
            <a:pPr algn="l"/>
            <a:r>
              <a:rPr sz="2200" b="1">
                <a:solidFill>
                  <a:srgbClr val="0F172A"/>
                </a:solidFill>
                <a:latin typeface="微软雅黑"/>
                <a:ea typeface="微软雅黑"/>
                <a:cs typeface="微软雅黑"/>
              </a:rPr>
              <a:t>· 写下错因</a:t>
            </a:r>
          </a:p>
          <a:p>
            <a:pPr algn="l"/>
            <a:r>
              <a:rPr sz="2200" b="1">
                <a:solidFill>
                  <a:srgbClr val="0F172A"/>
                </a:solidFill>
                <a:latin typeface="微软雅黑"/>
                <a:ea typeface="微软雅黑"/>
                <a:cs typeface="微软雅黑"/>
              </a:rPr>
              <a:t>· 带着问题进新课</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NEW TYPES</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本节新增题型总览：先认动作，再做题</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35</a:t>
            </a:r>
          </a:p>
        </p:txBody>
      </p:sp>
      <p:sp>
        <p:nvSpPr>
          <p:cNvPr id="8" name="Rectangle 7"/>
          <p:cNvSpPr/>
          <p:nvPr/>
        </p:nvSpPr>
        <p:spPr>
          <a:xfrm>
            <a:off x="731520" y="1417320"/>
            <a:ext cx="10744200" cy="1060704"/>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选择题 MCQ：题干先划限定词 → 回原文找唯一支持句 → 四个选项逐个排除。</a:t>
            </a:r>
          </a:p>
        </p:txBody>
      </p:sp>
      <p:sp>
        <p:nvSpPr>
          <p:cNvPr id="9" name="Rectangle 8"/>
          <p:cNvSpPr/>
          <p:nvPr/>
        </p:nvSpPr>
        <p:spPr>
          <a:xfrm>
            <a:off x="731520" y="2679191"/>
            <a:ext cx="10744200" cy="1060704"/>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表格填空 Table：表格＝原文顺序地图，先读行列标题定“该填什么词性”。</a:t>
            </a:r>
          </a:p>
        </p:txBody>
      </p:sp>
      <p:sp>
        <p:nvSpPr>
          <p:cNvPr id="10" name="Rectangle 9"/>
          <p:cNvSpPr/>
          <p:nvPr/>
        </p:nvSpPr>
        <p:spPr>
          <a:xfrm>
            <a:off x="731520" y="3941063"/>
            <a:ext cx="10744200" cy="1060704"/>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简答题 Short-answer：疑问词决定答案词性，Which sense→感官名，Which species→物种名。</a:t>
            </a:r>
          </a:p>
        </p:txBody>
      </p:sp>
      <p:sp>
        <p:nvSpPr>
          <p:cNvPr id="11" name="Rectangle 10"/>
          <p:cNvSpPr/>
          <p:nvPr/>
        </p:nvSpPr>
        <p:spPr>
          <a:xfrm>
            <a:off x="731520" y="5202936"/>
            <a:ext cx="10744200" cy="1060704"/>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图形配对 + 词库摘要：先在原文把所有对照关系配好，再回题面选；词库允许重复使用。</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MCQ METHOD</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选择题四步：题干限定 → 唯一句 → 排除 → 复核</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36</a:t>
            </a:r>
          </a:p>
        </p:txBody>
      </p:sp>
      <p:sp>
        <p:nvSpPr>
          <p:cNvPr id="8" name="Rectangle 7"/>
          <p:cNvSpPr/>
          <p:nvPr/>
        </p:nvSpPr>
        <p:spPr>
          <a:xfrm>
            <a:off x="658368"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① 划限定</a:t>
            </a:r>
          </a:p>
        </p:txBody>
      </p:sp>
      <p:sp>
        <p:nvSpPr>
          <p:cNvPr id="9" name="Rectangle 8"/>
          <p:cNvSpPr/>
          <p:nvPr/>
        </p:nvSpPr>
        <p:spPr>
          <a:xfrm>
            <a:off x="658368" y="1828800"/>
            <a:ext cx="3429000" cy="3611880"/>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first paragraph</a:t>
            </a:r>
          </a:p>
          <a:p>
            <a:pPr algn="l"/>
            <a:r>
              <a:rPr sz="2200" b="1">
                <a:solidFill>
                  <a:srgbClr val="0F172A"/>
                </a:solidFill>
                <a:latin typeface="微软雅黑"/>
                <a:ea typeface="微软雅黑"/>
                <a:cs typeface="微软雅黑"/>
              </a:rPr>
              <a:t>· the writer found</a:t>
            </a:r>
          </a:p>
          <a:p>
            <a:pPr algn="l"/>
            <a:r>
              <a:rPr sz="2200" b="1">
                <a:solidFill>
                  <a:srgbClr val="0F172A"/>
                </a:solidFill>
                <a:latin typeface="微软雅黑"/>
                <a:ea typeface="微软雅黑"/>
                <a:cs typeface="微软雅黑"/>
              </a:rPr>
              <a:t>· because / in order to</a:t>
            </a:r>
          </a:p>
        </p:txBody>
      </p:sp>
      <p:sp>
        <p:nvSpPr>
          <p:cNvPr id="10" name="Rectangle 9"/>
          <p:cNvSpPr/>
          <p:nvPr/>
        </p:nvSpPr>
        <p:spPr>
          <a:xfrm>
            <a:off x="4334256"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② 找唯一句</a:t>
            </a:r>
          </a:p>
        </p:txBody>
      </p:sp>
      <p:sp>
        <p:nvSpPr>
          <p:cNvPr id="11" name="Rectangle 10"/>
          <p:cNvSpPr/>
          <p:nvPr/>
        </p:nvSpPr>
        <p:spPr>
          <a:xfrm>
            <a:off x="4334256" y="1828800"/>
            <a:ext cx="3429000" cy="3611880"/>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只允许一句支持</a:t>
            </a:r>
          </a:p>
          <a:p>
            <a:pPr algn="l"/>
            <a:r>
              <a:rPr sz="2200" b="1">
                <a:solidFill>
                  <a:srgbClr val="0F172A"/>
                </a:solidFill>
                <a:latin typeface="微软雅黑"/>
                <a:ea typeface="微软雅黑"/>
                <a:cs typeface="微软雅黑"/>
              </a:rPr>
              <a:t>· 跨段要连读</a:t>
            </a:r>
          </a:p>
          <a:p>
            <a:pPr algn="l"/>
            <a:r>
              <a:rPr sz="2200" b="1">
                <a:solidFill>
                  <a:srgbClr val="0F172A"/>
                </a:solidFill>
                <a:latin typeface="微软雅黑"/>
                <a:ea typeface="微软雅黑"/>
                <a:cs typeface="微软雅黑"/>
              </a:rPr>
              <a:t>· 写下 P/S</a:t>
            </a:r>
          </a:p>
        </p:txBody>
      </p:sp>
      <p:sp>
        <p:nvSpPr>
          <p:cNvPr id="12" name="Rectangle 11"/>
          <p:cNvSpPr/>
          <p:nvPr/>
        </p:nvSpPr>
        <p:spPr>
          <a:xfrm>
            <a:off x="8010144"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排除</a:t>
            </a:r>
          </a:p>
        </p:txBody>
      </p:sp>
      <p:sp>
        <p:nvSpPr>
          <p:cNvPr id="13" name="Rectangle 12"/>
          <p:cNvSpPr/>
          <p:nvPr/>
        </p:nvSpPr>
        <p:spPr>
          <a:xfrm>
            <a:off x="8010144" y="1828800"/>
            <a:ext cx="3429000" cy="3611880"/>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原文没说</a:t>
            </a:r>
          </a:p>
          <a:p>
            <a:pPr algn="l"/>
            <a:r>
              <a:rPr sz="2200" b="1">
                <a:solidFill>
                  <a:srgbClr val="0F172A"/>
                </a:solidFill>
                <a:latin typeface="微软雅黑"/>
                <a:ea typeface="微软雅黑"/>
                <a:cs typeface="微软雅黑"/>
              </a:rPr>
              <a:t>· 程度太强</a:t>
            </a:r>
          </a:p>
          <a:p>
            <a:pPr algn="l"/>
            <a:r>
              <a:rPr sz="2200" b="1">
                <a:solidFill>
                  <a:srgbClr val="0F172A"/>
                </a:solidFill>
                <a:latin typeface="微软雅黑"/>
                <a:ea typeface="微软雅黑"/>
                <a:cs typeface="微软雅黑"/>
              </a:rPr>
              <a:t>· 偷换对象</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TABLE / SHORT-ANSWER</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表格题与简答题：把“词性”想在前面</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37</a:t>
            </a:r>
          </a:p>
        </p:txBody>
      </p:sp>
      <p:sp>
        <p:nvSpPr>
          <p:cNvPr id="8" name="Rectangle 7"/>
          <p:cNvSpPr/>
          <p:nvPr/>
        </p:nvSpPr>
        <p:spPr>
          <a:xfrm>
            <a:off x="731520" y="1417320"/>
            <a:ext cx="10744200" cy="2322576"/>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表格填空三查</a:t>
            </a:r>
          </a:p>
          <a:p>
            <a:pPr algn="l"/>
            <a:r>
              <a:rPr sz="2300" b="1">
                <a:solidFill>
                  <a:srgbClr val="0F172A"/>
                </a:solidFill>
                <a:latin typeface="微软雅黑"/>
                <a:ea typeface="微软雅黑"/>
                <a:cs typeface="微软雅黑"/>
              </a:rPr>
              <a:t>① 该空在哪一列？SPECIES 列填物种名，COMMENTS 列填方向 / 频率。</a:t>
            </a:r>
          </a:p>
          <a:p>
            <a:pPr algn="l"/>
            <a:r>
              <a:rPr sz="2300" b="1">
                <a:solidFill>
                  <a:srgbClr val="0F172A"/>
                </a:solidFill>
                <a:latin typeface="微软雅黑"/>
                <a:ea typeface="微软雅黑"/>
                <a:cs typeface="微软雅黑"/>
              </a:rPr>
              <a:t>② 词数上限是多少？NO MORE THAN THREE WORDS 就绝不能写四个词。</a:t>
            </a:r>
          </a:p>
          <a:p>
            <a:pPr algn="l"/>
            <a:r>
              <a:rPr sz="2300" b="1">
                <a:solidFill>
                  <a:srgbClr val="0F172A"/>
                </a:solidFill>
                <a:latin typeface="微软雅黑"/>
                <a:ea typeface="微软雅黑"/>
                <a:cs typeface="微软雅黑"/>
              </a:rPr>
              <a:t>③ 单复数与原文是否一致？frequencies / waters 都要保留复数。</a:t>
            </a:r>
          </a:p>
        </p:txBody>
      </p:sp>
      <p:sp>
        <p:nvSpPr>
          <p:cNvPr id="9" name="Rectangle 8"/>
          <p:cNvSpPr/>
          <p:nvPr/>
        </p:nvSpPr>
        <p:spPr>
          <a:xfrm>
            <a:off x="731520" y="3941064"/>
            <a:ext cx="10744200" cy="2322576"/>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简答题三查</a:t>
            </a:r>
          </a:p>
          <a:p>
            <a:pPr algn="l"/>
            <a:r>
              <a:rPr sz="2300" b="1">
                <a:solidFill>
                  <a:srgbClr val="0F172A"/>
                </a:solidFill>
                <a:latin typeface="微软雅黑"/>
                <a:ea typeface="微软雅黑"/>
                <a:cs typeface="微软雅黑"/>
              </a:rPr>
              <a:t>① 疑问词是什么？Which sense / Which species / What 决定答案词性。</a:t>
            </a:r>
          </a:p>
          <a:p>
            <a:pPr algn="l"/>
            <a:r>
              <a:rPr sz="2300" b="1">
                <a:solidFill>
                  <a:srgbClr val="0F172A"/>
                </a:solidFill>
                <a:latin typeface="微软雅黑"/>
                <a:ea typeface="微软雅黑"/>
                <a:cs typeface="微软雅黑"/>
              </a:rPr>
              <a:t>② 答案能不能压到 3 词以内？能压则压，不要抄整句。</a:t>
            </a:r>
          </a:p>
          <a:p>
            <a:pPr algn="l"/>
            <a:r>
              <a:rPr sz="2300" b="1">
                <a:solidFill>
                  <a:srgbClr val="0F172A"/>
                </a:solidFill>
                <a:latin typeface="微软雅黑"/>
                <a:ea typeface="微软雅黑"/>
                <a:cs typeface="微软雅黑"/>
              </a:rPr>
              <a:t>③ 是否照抄了原文拼写？简答题不需要自己改写。</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DIAGRAM &amp; SUMMARY</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图形配对与词库摘要：先建对照表，再动笔</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38</a:t>
            </a:r>
          </a:p>
        </p:txBody>
      </p:sp>
      <p:sp>
        <p:nvSpPr>
          <p:cNvPr id="8" name="Rectangle 7"/>
          <p:cNvSpPr/>
          <p:nvPr/>
        </p:nvSpPr>
        <p:spPr>
          <a:xfrm>
            <a:off x="731520" y="1417320"/>
            <a:ext cx="10744200" cy="2322576"/>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图形配对</a:t>
            </a:r>
          </a:p>
          <a:p>
            <a:pPr algn="l"/>
            <a:r>
              <a:rPr sz="2300" b="1">
                <a:solidFill>
                  <a:srgbClr val="0F172A"/>
                </a:solidFill>
                <a:latin typeface="微软雅黑"/>
                <a:ea typeface="微软雅黑"/>
                <a:cs typeface="微软雅黑"/>
              </a:rPr>
              <a:t>原文若列出五种画法，就先把五组“画法 → 含义”全部写出来；</a:t>
            </a:r>
          </a:p>
          <a:p>
            <a:pPr algn="l"/>
            <a:r>
              <a:rPr sz="2300" b="1">
                <a:solidFill>
                  <a:srgbClr val="0F172A"/>
                </a:solidFill>
                <a:latin typeface="微软雅黑"/>
                <a:ea typeface="微软雅黑"/>
                <a:cs typeface="微软雅黑"/>
              </a:rPr>
              <a:t>题目只考三个图，另外两组正是干扰项的来源。</a:t>
            </a:r>
          </a:p>
        </p:txBody>
      </p:sp>
      <p:sp>
        <p:nvSpPr>
          <p:cNvPr id="9" name="Rectangle 8"/>
          <p:cNvSpPr/>
          <p:nvPr/>
        </p:nvSpPr>
        <p:spPr>
          <a:xfrm>
            <a:off x="731520" y="3941064"/>
            <a:ext cx="10744200" cy="2322576"/>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词库摘要（NB You may use any word more than once）</a:t>
            </a:r>
          </a:p>
          <a:p>
            <a:pPr algn="l"/>
            <a:r>
              <a:rPr sz="2300" b="1">
                <a:solidFill>
                  <a:srgbClr val="0F172A"/>
                </a:solidFill>
                <a:latin typeface="微软雅黑"/>
                <a:ea typeface="微软雅黑"/>
                <a:cs typeface="微软雅黑"/>
              </a:rPr>
              <a:t>① 先给每个空标词性：名词 / 形容词 / 人群词。</a:t>
            </a:r>
          </a:p>
          <a:p>
            <a:pPr algn="l"/>
            <a:r>
              <a:rPr sz="2300" b="1">
                <a:solidFill>
                  <a:srgbClr val="0F172A"/>
                </a:solidFill>
                <a:latin typeface="微软雅黑"/>
                <a:ea typeface="微软雅黑"/>
                <a:cs typeface="微软雅黑"/>
              </a:rPr>
              <a:t>② 同一个词可以重复使用（本篇 sighted 就用了两次）。</a:t>
            </a:r>
          </a:p>
          <a:p>
            <a:pPr algn="l"/>
            <a:r>
              <a:rPr sz="2300" b="1">
                <a:solidFill>
                  <a:srgbClr val="0F172A"/>
                </a:solidFill>
                <a:latin typeface="微软雅黑"/>
                <a:ea typeface="微软雅黑"/>
                <a:cs typeface="微软雅黑"/>
              </a:rPr>
              <a:t>③ 最后核对程度：resembled 只能选 similar，不能选 identical。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VOCAB INTEGRATION</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随题词汇：只背“这道题用得上”的替换</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39</a:t>
            </a:r>
          </a:p>
        </p:txBody>
      </p:sp>
      <p:sp>
        <p:nvSpPr>
          <p:cNvPr id="8" name="Rectangle 7"/>
          <p:cNvSpPr/>
          <p:nvPr/>
        </p:nvSpPr>
        <p:spPr>
          <a:xfrm>
            <a:off x="658368"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题干 → 原文</a:t>
            </a:r>
          </a:p>
        </p:txBody>
      </p:sp>
      <p:sp>
        <p:nvSpPr>
          <p:cNvPr id="9" name="Rectangle 8"/>
          <p:cNvSpPr/>
          <p:nvPr/>
        </p:nvSpPr>
        <p:spPr>
          <a:xfrm>
            <a:off x="658368" y="1828800"/>
            <a:ext cx="3429000" cy="3611880"/>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respected → reputation</a:t>
            </a:r>
          </a:p>
          <a:p>
            <a:pPr algn="l"/>
            <a:r>
              <a:rPr sz="2200" b="1">
                <a:solidFill>
                  <a:srgbClr val="0F172A"/>
                </a:solidFill>
                <a:latin typeface="微软雅黑"/>
                <a:ea typeface="微软雅黑"/>
                <a:cs typeface="微软雅黑"/>
              </a:rPr>
              <a:t>· supported → not impressed</a:t>
            </a:r>
          </a:p>
          <a:p>
            <a:pPr algn="l"/>
            <a:r>
              <a:rPr sz="2200" b="1">
                <a:solidFill>
                  <a:srgbClr val="0F172A"/>
                </a:solidFill>
                <a:latin typeface="微软雅黑"/>
                <a:ea typeface="微软雅黑"/>
                <a:cs typeface="微软雅黑"/>
              </a:rPr>
              <a:t>· good time → right moment</a:t>
            </a:r>
          </a:p>
        </p:txBody>
      </p:sp>
      <p:sp>
        <p:nvSpPr>
          <p:cNvPr id="10" name="Rectangle 9"/>
          <p:cNvSpPr/>
          <p:nvPr/>
        </p:nvSpPr>
        <p:spPr>
          <a:xfrm>
            <a:off x="4334256"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名词化 ↔ 从句</a:t>
            </a:r>
          </a:p>
        </p:txBody>
      </p:sp>
      <p:sp>
        <p:nvSpPr>
          <p:cNvPr id="11" name="Rectangle 10"/>
          <p:cNvSpPr/>
          <p:nvPr/>
        </p:nvSpPr>
        <p:spPr>
          <a:xfrm>
            <a:off x="4334256" y="1828800"/>
            <a:ext cx="3429000" cy="3611880"/>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introduction of X</a:t>
            </a:r>
          </a:p>
          <a:p>
            <a:pPr algn="l"/>
            <a:r>
              <a:rPr sz="2200" b="1">
                <a:solidFill>
                  <a:srgbClr val="0F172A"/>
                </a:solidFill>
                <a:latin typeface="微软雅黑"/>
                <a:ea typeface="微软雅黑"/>
                <a:cs typeface="微软雅黑"/>
              </a:rPr>
              <a:t>· = X was introduced</a:t>
            </a:r>
          </a:p>
          <a:p>
            <a:pPr algn="l"/>
            <a:r>
              <a:rPr sz="2200" b="1">
                <a:solidFill>
                  <a:srgbClr val="0F172A"/>
                </a:solidFill>
                <a:latin typeface="微软雅黑"/>
                <a:ea typeface="微软雅黑"/>
                <a:cs typeface="微软雅黑"/>
              </a:rPr>
              <a:t>· 考点常在这一步</a:t>
            </a:r>
          </a:p>
        </p:txBody>
      </p:sp>
      <p:sp>
        <p:nvSpPr>
          <p:cNvPr id="12" name="Rectangle 11"/>
          <p:cNvSpPr/>
          <p:nvPr/>
        </p:nvSpPr>
        <p:spPr>
          <a:xfrm>
            <a:off x="8010144"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程度与方向</a:t>
            </a:r>
          </a:p>
        </p:txBody>
      </p:sp>
      <p:sp>
        <p:nvSpPr>
          <p:cNvPr id="13" name="Rectangle 12"/>
          <p:cNvSpPr/>
          <p:nvPr/>
        </p:nvSpPr>
        <p:spPr>
          <a:xfrm>
            <a:off x="8010144" y="1828800"/>
            <a:ext cx="3429000" cy="3611880"/>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at least as ... as</a:t>
            </a:r>
          </a:p>
          <a:p>
            <a:pPr algn="l"/>
            <a:r>
              <a:rPr sz="2200" b="1">
                <a:solidFill>
                  <a:srgbClr val="0F172A"/>
                </a:solidFill>
                <a:latin typeface="微软雅黑"/>
                <a:ea typeface="微软雅黑"/>
                <a:cs typeface="微软雅黑"/>
              </a:rPr>
              <a:t>· more ... than</a:t>
            </a:r>
          </a:p>
          <a:p>
            <a:pPr algn="l"/>
            <a:r>
              <a:rPr sz="2200" b="1">
                <a:solidFill>
                  <a:srgbClr val="0F172A"/>
                </a:solidFill>
                <a:latin typeface="微软雅黑"/>
                <a:ea typeface="微软雅黑"/>
                <a:cs typeface="微软雅黑"/>
              </a:rPr>
              <a:t>· only / all / fully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文章地图</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PASSAGE 1 · How much higher? How much faster?</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40</a:t>
            </a:r>
          </a:p>
        </p:txBody>
      </p:sp>
      <p:sp>
        <p:nvSpPr>
          <p:cNvPr id="8" name="Rectangle 7"/>
          <p:cNvSpPr/>
          <p:nvPr/>
        </p:nvSpPr>
        <p:spPr>
          <a:xfrm>
            <a:off x="658368"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P1–P2</a:t>
            </a:r>
          </a:p>
        </p:txBody>
      </p:sp>
      <p:sp>
        <p:nvSpPr>
          <p:cNvPr id="9" name="Rectangle 8"/>
          <p:cNvSpPr/>
          <p:nvPr/>
        </p:nvSpPr>
        <p:spPr>
          <a:xfrm>
            <a:off x="658368" y="1828800"/>
            <a:ext cx="3429000" cy="3611880"/>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百年成绩持续提高</a:t>
            </a:r>
          </a:p>
          <a:p>
            <a:pPr algn="l"/>
            <a:r>
              <a:rPr sz="2200" b="1">
                <a:solidFill>
                  <a:srgbClr val="0F172A"/>
                </a:solidFill>
                <a:latin typeface="微软雅黑"/>
                <a:ea typeface="微软雅黑"/>
                <a:cs typeface="微软雅黑"/>
              </a:rPr>
              <a:t>· 力量项目 vs 耐力项目</a:t>
            </a:r>
          </a:p>
          <a:p>
            <a:pPr algn="l"/>
            <a:r>
              <a:rPr sz="2200" b="1">
                <a:solidFill>
                  <a:srgbClr val="0F172A"/>
                </a:solidFill>
                <a:latin typeface="微软雅黑"/>
                <a:ea typeface="微软雅黑"/>
                <a:cs typeface="微软雅黑"/>
              </a:rPr>
              <a:t>· 最重要因素：基因</a:t>
            </a:r>
          </a:p>
        </p:txBody>
      </p:sp>
      <p:sp>
        <p:nvSpPr>
          <p:cNvPr id="10" name="Rectangle 9"/>
          <p:cNvSpPr/>
          <p:nvPr/>
        </p:nvSpPr>
        <p:spPr>
          <a:xfrm>
            <a:off x="4334256"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P3–P6</a:t>
            </a:r>
          </a:p>
        </p:txBody>
      </p:sp>
      <p:sp>
        <p:nvSpPr>
          <p:cNvPr id="11" name="Rectangle 10"/>
          <p:cNvSpPr/>
          <p:nvPr/>
        </p:nvSpPr>
        <p:spPr>
          <a:xfrm>
            <a:off x="4334256" y="1828800"/>
            <a:ext cx="3429000" cy="3611880"/>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基因只占三分之一</a:t>
            </a:r>
          </a:p>
          <a:p>
            <a:pPr algn="l"/>
            <a:r>
              <a:rPr sz="2200" b="1">
                <a:solidFill>
                  <a:srgbClr val="0F172A"/>
                </a:solidFill>
                <a:latin typeface="微软雅黑"/>
                <a:ea typeface="微软雅黑"/>
                <a:cs typeface="微软雅黑"/>
              </a:rPr>
              <a:t>· plyometrics 力量训练</a:t>
            </a:r>
          </a:p>
          <a:p>
            <a:pPr algn="l"/>
            <a:r>
              <a:rPr sz="2200" b="1">
                <a:solidFill>
                  <a:srgbClr val="0F172A"/>
                </a:solidFill>
                <a:latin typeface="微软雅黑"/>
                <a:ea typeface="微软雅黑"/>
                <a:cs typeface="微软雅黑"/>
              </a:rPr>
              <a:t>· 营养 / 针对性训练</a:t>
            </a:r>
          </a:p>
        </p:txBody>
      </p:sp>
      <p:sp>
        <p:nvSpPr>
          <p:cNvPr id="12" name="Rectangle 11"/>
          <p:cNvSpPr/>
          <p:nvPr/>
        </p:nvSpPr>
        <p:spPr>
          <a:xfrm>
            <a:off x="8010144"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P7–P9</a:t>
            </a:r>
          </a:p>
        </p:txBody>
      </p:sp>
      <p:sp>
        <p:nvSpPr>
          <p:cNvPr id="13" name="Rectangle 12"/>
          <p:cNvSpPr/>
          <p:nvPr/>
        </p:nvSpPr>
        <p:spPr>
          <a:xfrm>
            <a:off x="8010144" y="1828800"/>
            <a:ext cx="3429000" cy="3611880"/>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biomechanics 生物力学</a:t>
            </a:r>
          </a:p>
          <a:p>
            <a:pPr algn="l"/>
            <a:r>
              <a:rPr sz="2200" b="1">
                <a:solidFill>
                  <a:srgbClr val="0F172A"/>
                </a:solidFill>
                <a:latin typeface="微软雅黑"/>
                <a:ea typeface="微软雅黑"/>
                <a:cs typeface="微软雅黑"/>
              </a:rPr>
              <a:t>· Fosbury flop 与器材</a:t>
            </a:r>
          </a:p>
          <a:p>
            <a:pPr algn="l"/>
            <a:r>
              <a:rPr sz="2200" b="1">
                <a:solidFill>
                  <a:srgbClr val="0F172A"/>
                </a:solidFill>
                <a:latin typeface="微软雅黑"/>
                <a:ea typeface="微软雅黑"/>
                <a:cs typeface="微软雅黑"/>
              </a:rPr>
              <a:t>· 认识仍然基础</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题型策略</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Passage 1 题型策略</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41</a:t>
            </a:r>
          </a:p>
        </p:txBody>
      </p:sp>
      <p:sp>
        <p:nvSpPr>
          <p:cNvPr id="8" name="Rectangle 7"/>
          <p:cNvSpPr/>
          <p:nvPr/>
        </p:nvSpPr>
        <p:spPr>
          <a:xfrm>
            <a:off x="731520" y="1417320"/>
            <a:ext cx="10744200" cy="148132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Q1–6 判断题：先定位时间与主体，再核对“比较方向 / 全称词 / 是否真的提到”。</a:t>
            </a:r>
          </a:p>
        </p:txBody>
      </p:sp>
      <p:sp>
        <p:nvSpPr>
          <p:cNvPr id="9" name="Rectangle 8"/>
          <p:cNvSpPr/>
          <p:nvPr/>
        </p:nvSpPr>
        <p:spPr>
          <a:xfrm>
            <a:off x="731520" y="3099815"/>
            <a:ext cx="10744200" cy="14813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Q7–10 句子填空：ONE WORD，先用介词与冠词预测词性，答案多在引号句内。</a:t>
            </a:r>
          </a:p>
        </p:txBody>
      </p:sp>
      <p:sp>
        <p:nvSpPr>
          <p:cNvPr id="10" name="Rectangle 9"/>
          <p:cNvSpPr/>
          <p:nvPr/>
        </p:nvSpPr>
        <p:spPr>
          <a:xfrm>
            <a:off x="731520" y="4782312"/>
            <a:ext cx="10744200" cy="148132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Q11–13 选择题：先读题干找限定，再回原文找唯一支持句，最后逐项排除。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Q1｜date from：把“大约1900”对回原文时间</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42</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400" b="1">
                <a:solidFill>
                  <a:srgbClr val="0F172A"/>
                </a:solidFill>
                <a:latin typeface="微软雅黑"/>
                <a:ea typeface="微软雅黑"/>
                <a:cs typeface="微软雅黑"/>
              </a:rPr>
              <a:t>Modern official athletic records date from about 1900.</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锚点：official records / about 1900。</a:t>
            </a:r>
          </a:p>
          <a:p>
            <a:pPr algn="l"/>
            <a:r>
              <a:rPr sz="1900" b="0">
                <a:solidFill>
                  <a:srgbClr val="0F172A"/>
                </a:solidFill>
                <a:latin typeface="微软雅黑"/>
                <a:ea typeface="微软雅黑"/>
                <a:cs typeface="微软雅黑"/>
              </a:rPr>
              <a:t>判断题先问：记录从何时开始？</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P1 S1: Since the early years of the twentieth century, when the International Athletic Federation began keeping records, there has been a steady improvement ...</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0">
                <a:solidFill>
                  <a:srgbClr val="0F172A"/>
                </a:solidFill>
                <a:latin typeface="微软雅黑"/>
                <a:ea typeface="微软雅黑"/>
                <a:cs typeface="微软雅黑"/>
              </a:rPr>
              <a:t>official records ↔ the International Athletic Federation began keeping records。</a:t>
            </a:r>
          </a:p>
          <a:p>
            <a:pPr algn="l"/>
            <a:r>
              <a:rPr sz="1800" b="0">
                <a:solidFill>
                  <a:srgbClr val="0F172A"/>
                </a:solidFill>
                <a:latin typeface="微软雅黑"/>
                <a:ea typeface="微软雅黑"/>
                <a:cs typeface="微软雅黑"/>
              </a:rPr>
              <a:t>about 1900 ↔ the early years of the twentieth century（20世纪最初几年）。</a:t>
            </a:r>
          </a:p>
          <a:p>
            <a:pPr algn="l"/>
            <a:r>
              <a:rPr sz="1800" b="0">
                <a:solidFill>
                  <a:srgbClr val="0F172A"/>
                </a:solidFill>
                <a:latin typeface="微软雅黑"/>
                <a:ea typeface="微软雅黑"/>
                <a:cs typeface="微软雅黑"/>
              </a:rPr>
              <a:t>主体一致、时间一致 → 支持。</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TRUE</a:t>
            </a:r>
          </a:p>
          <a:p>
            <a:pPr algn="l"/>
            <a:r>
              <a:rPr sz="2100" b="1">
                <a:solidFill>
                  <a:srgbClr val="0F172A"/>
                </a:solidFill>
                <a:latin typeface="微软雅黑"/>
                <a:ea typeface="微软雅黑"/>
                <a:cs typeface="微软雅黑"/>
              </a:rPr>
              <a:t>时间与主体双对应。</a:t>
            </a:r>
          </a:p>
          <a:p>
            <a:pPr algn="l"/>
            <a:r>
              <a:rPr sz="2100" b="1">
                <a:solidFill>
                  <a:srgbClr val="0F172A"/>
                </a:solidFill>
                <a:latin typeface="微软雅黑"/>
                <a:ea typeface="微软雅黑"/>
                <a:cs typeface="微软雅黑"/>
              </a:rPr>
              <a:t>近似说法≠矛盾。</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Q1｜when 定语从句 + 三个 how 从句</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43</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1">
                <a:solidFill>
                  <a:srgbClr val="0F172A"/>
                </a:solidFill>
                <a:latin typeface="微软雅黑"/>
                <a:ea typeface="微软雅黑"/>
                <a:cs typeface="微软雅黑"/>
              </a:rPr>
              <a:t>Since the early years of the twentieth century, when the International Athletic Federation began keeping records, there has been a steady improvement in how fast athletes run, how high they jump and how far they are able to hurl massive objects, themselves included, through space.</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There has been a steady improvement.</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500" b="0">
                <a:solidFill>
                  <a:srgbClr val="0F172A"/>
                </a:solidFill>
                <a:latin typeface="微软雅黑"/>
                <a:ea typeface="微软雅黑"/>
                <a:cs typeface="微软雅黑"/>
              </a:rPr>
              <a:t>· Since ... century 是时间状语，划定全文起点。</a:t>
            </a:r>
          </a:p>
          <a:p>
            <a:pPr algn="l"/>
            <a:r>
              <a:rPr sz="1500" b="0">
                <a:solidFill>
                  <a:srgbClr val="0F172A"/>
                </a:solidFill>
                <a:latin typeface="微软雅黑"/>
                <a:ea typeface="微软雅黑"/>
                <a:cs typeface="微软雅黑"/>
              </a:rPr>
              <a:t>· when 引导定语从句，补充说明这个时间点发生了什么。</a:t>
            </a:r>
          </a:p>
          <a:p>
            <a:pPr algn="l"/>
            <a:r>
              <a:rPr sz="1500" b="0">
                <a:solidFill>
                  <a:srgbClr val="0F172A"/>
                </a:solidFill>
                <a:latin typeface="微软雅黑"/>
                <a:ea typeface="微软雅黑"/>
                <a:cs typeface="微软雅黑"/>
              </a:rPr>
              <a:t>· how fast / how high / how far 三个从句并列，作 in 的宾语。</a:t>
            </a:r>
          </a:p>
          <a:p>
            <a:pPr algn="l"/>
            <a:r>
              <a:rPr sz="1500" b="0">
                <a:solidFill>
                  <a:srgbClr val="0F172A"/>
                </a:solidFill>
                <a:latin typeface="微软雅黑"/>
                <a:ea typeface="微软雅黑"/>
                <a:cs typeface="微软雅黑"/>
              </a:rPr>
              <a:t>· themselves included 是插入语，先跳过。</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20" b="0">
                <a:solidFill>
                  <a:srgbClr val="0F172A"/>
                </a:solidFill>
                <a:latin typeface="微软雅黑"/>
                <a:ea typeface="微软雅黑"/>
                <a:cs typeface="微软雅黑"/>
              </a:rPr>
              <a:t>自20世纪初国际田联开始保存记录以来，运动员跑得多快、跳得多高、把重物（包括自己）掷得多远，一直在稳步提升。</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steady 稳定的 ↔ continuous / consistent；hurl 投掷 ↔ throw</a:t>
            </a:r>
          </a:p>
          <a:p>
            <a:pPr algn="l"/>
            <a:r>
              <a:rPr sz="1850" b="1">
                <a:solidFill>
                  <a:srgbClr val="0F172A"/>
                </a:solidFill>
                <a:latin typeface="微软雅黑"/>
                <a:ea typeface="微软雅黑"/>
                <a:cs typeface="微软雅黑"/>
              </a:rPr>
              <a:t>date from = 始于；keep records = 保存记录</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Q2｜before 把时间推到原文范围之外</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44</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There was little improvement in athletic performance before the twentieth century.</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锚点：before the twentieth century。</a:t>
            </a:r>
          </a:p>
          <a:p>
            <a:pPr algn="l"/>
            <a:r>
              <a:rPr sz="1900" b="0">
                <a:solidFill>
                  <a:srgbClr val="0F172A"/>
                </a:solidFill>
                <a:latin typeface="微软雅黑"/>
                <a:ea typeface="微软雅黑"/>
                <a:cs typeface="微软雅黑"/>
              </a:rPr>
              <a:t>先问：原文写没写“20世纪之前”？</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P1 S1: Since the early years of the twentieth century ... there has been a steady improvement. （全文从20世纪写起，未回溯更早时期）</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原文用 Since 划定起点，只谈20世纪以来。</a:t>
            </a:r>
          </a:p>
          <a:p>
            <a:pPr algn="l"/>
            <a:r>
              <a:rPr sz="1900" b="0">
                <a:solidFill>
                  <a:srgbClr val="0F172A"/>
                </a:solidFill>
                <a:latin typeface="微软雅黑"/>
                <a:ea typeface="微软雅黑"/>
                <a:cs typeface="微软雅黑"/>
              </a:rPr>
              <a:t>对20世纪之前的成绩既没有肯定，也没有否定。</a:t>
            </a:r>
          </a:p>
          <a:p>
            <a:pPr algn="l"/>
            <a:r>
              <a:rPr sz="1900" b="0">
                <a:solidFill>
                  <a:srgbClr val="0F172A"/>
                </a:solidFill>
                <a:latin typeface="微软雅黑"/>
                <a:ea typeface="微软雅黑"/>
                <a:cs typeface="微软雅黑"/>
              </a:rPr>
              <a:t>“没写”不能推成“确实提高很少”。</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NOT GIVEN</a:t>
            </a:r>
          </a:p>
          <a:p>
            <a:pPr algn="l"/>
            <a:r>
              <a:rPr sz="2100" b="1">
                <a:solidFill>
                  <a:srgbClr val="0F172A"/>
                </a:solidFill>
                <a:latin typeface="微软雅黑"/>
                <a:ea typeface="微软雅黑"/>
                <a:cs typeface="微软雅黑"/>
              </a:rPr>
              <a:t>时间落在原文范围外。</a:t>
            </a:r>
          </a:p>
          <a:p>
            <a:pPr algn="l"/>
            <a:r>
              <a:rPr sz="2100" b="1">
                <a:solidFill>
                  <a:srgbClr val="0F172A"/>
                </a:solidFill>
                <a:latin typeface="微软雅黑"/>
                <a:ea typeface="微软雅黑"/>
                <a:cs typeface="微软雅黑"/>
              </a:rPr>
              <a:t>缺信息，不是矛盾。</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Q2｜破折号插入语与百分比范围</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45</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For the so-called power events — that require a relatively brief, explosive release of energy, like the 100-metre sprint and the long jump — times and distances have improved ten to twenty per cent.</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Times and distances have improved ten to twenty per cent.</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 两个破折号之间是插入语，解释 power events 的定义。</a:t>
            </a:r>
          </a:p>
          <a:p>
            <a:pPr algn="l"/>
            <a:r>
              <a:rPr sz="1700" b="0">
                <a:solidFill>
                  <a:srgbClr val="0F172A"/>
                </a:solidFill>
                <a:latin typeface="微软雅黑"/>
                <a:ea typeface="微软雅黑"/>
                <a:cs typeface="微软雅黑"/>
              </a:rPr>
              <a:t>· 先把插入语整段盖住，主干立刻清楚。</a:t>
            </a:r>
          </a:p>
          <a:p>
            <a:pPr algn="l"/>
            <a:r>
              <a:rPr sz="1700" b="0">
                <a:solidFill>
                  <a:srgbClr val="0F172A"/>
                </a:solidFill>
                <a:latin typeface="微软雅黑"/>
                <a:ea typeface="微软雅黑"/>
                <a:cs typeface="微软雅黑"/>
              </a:rPr>
              <a:t>· like ... 是举例，不是新信息。</a:t>
            </a:r>
          </a:p>
          <a:p>
            <a:pPr algn="l"/>
            <a:r>
              <a:rPr sz="1700" b="0">
                <a:solidFill>
                  <a:srgbClr val="0F172A"/>
                </a:solidFill>
                <a:latin typeface="微软雅黑"/>
                <a:ea typeface="微软雅黑"/>
                <a:cs typeface="微软雅黑"/>
              </a:rPr>
              <a:t>· ten to twenty per cent 是范围数字，后面 Q3 要用。</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所谓力量型项目——需要相对短暂、爆发式释放能量，比如百米短跑和跳远——其成绩和距离提高了百分之十到二十。</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explosive 爆发式的 ↔ sudden and powerful；brief 短暂的 ↔ short</a:t>
            </a:r>
          </a:p>
          <a:p>
            <a:pPr algn="l"/>
            <a:r>
              <a:rPr sz="1850" b="1">
                <a:solidFill>
                  <a:srgbClr val="0F172A"/>
                </a:solidFill>
                <a:latin typeface="微软雅黑"/>
                <a:ea typeface="微软雅黑"/>
                <a:cs typeface="微软雅黑"/>
              </a:rPr>
              <a:t>so-called 所谓的；release of energy = 能量释放</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Q3｜most greatly：比较级问“谁提高最多”</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46</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Performance has improved most greatly in events requiring an intensive burst of energy.</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锚点：most greatly + burst of energy。</a:t>
            </a:r>
          </a:p>
          <a:p>
            <a:pPr algn="l"/>
            <a:r>
              <a:rPr sz="1900" b="0">
                <a:solidFill>
                  <a:srgbClr val="0F172A"/>
                </a:solidFill>
                <a:latin typeface="微软雅黑"/>
                <a:ea typeface="微软雅黑"/>
                <a:cs typeface="微软雅黑"/>
              </a:rPr>
              <a:t>题干在做“谁第一”的排序。</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P1 S2–S3: For the so-called power events ... times and distances have improved ten to twenty per cent. In the endurance events the results have been more dramatic.（P1 S5: almost thirty per cent faster）</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burst of energy ↔ explosive release of energy ＝ power events。</a:t>
            </a:r>
          </a:p>
          <a:p>
            <a:pPr algn="l"/>
            <a:r>
              <a:rPr sz="1900" b="0">
                <a:solidFill>
                  <a:srgbClr val="0F172A"/>
                </a:solidFill>
                <a:latin typeface="微软雅黑"/>
                <a:ea typeface="微软雅黑"/>
                <a:cs typeface="微软雅黑"/>
              </a:rPr>
              <a:t>力量项目 10–20%，耐力项目 more dramatic，近 30%。</a:t>
            </a:r>
          </a:p>
          <a:p>
            <a:pPr algn="l"/>
            <a:r>
              <a:rPr sz="1900" b="0">
                <a:solidFill>
                  <a:srgbClr val="0F172A"/>
                </a:solidFill>
                <a:latin typeface="微软雅黑"/>
                <a:ea typeface="微软雅黑"/>
                <a:cs typeface="微软雅黑"/>
              </a:rPr>
              <a:t>所以提高最多的是耐力项目，不是力量项目 → 与题干相反。</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FALSE</a:t>
            </a:r>
          </a:p>
          <a:p>
            <a:pPr algn="l"/>
            <a:r>
              <a:rPr sz="2100" b="1">
                <a:solidFill>
                  <a:srgbClr val="0F172A"/>
                </a:solidFill>
                <a:latin typeface="微软雅黑"/>
                <a:ea typeface="微软雅黑"/>
                <a:cs typeface="微软雅黑"/>
              </a:rPr>
              <a:t>比较方向被写反。</a:t>
            </a:r>
          </a:p>
          <a:p>
            <a:pPr algn="l"/>
            <a:r>
              <a:rPr sz="2100" b="1">
                <a:solidFill>
                  <a:srgbClr val="0F172A"/>
                </a:solidFill>
                <a:latin typeface="微软雅黑"/>
                <a:ea typeface="微软雅黑"/>
                <a:cs typeface="微软雅黑"/>
              </a:rPr>
              <a:t>两个数字直接对撞。</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Q3｜more dramatic 与 thirty per cent 的比较链</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47</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In the endurance events the results have been more dramatic. ... In 1999, Morocco's Khalid Khannouchi set a new world record of 2:05:42, almost thirty per cent faster.</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The results have been more dramatic (almost thirty per cent faster).</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 more dramatic 是比较级，隐含比较对象＝上一句的 power events。</a:t>
            </a:r>
          </a:p>
          <a:p>
            <a:pPr algn="l"/>
            <a:r>
              <a:rPr sz="1700" b="0">
                <a:solidFill>
                  <a:srgbClr val="0F172A"/>
                </a:solidFill>
                <a:latin typeface="微软雅黑"/>
                <a:ea typeface="微软雅黑"/>
                <a:cs typeface="微软雅黑"/>
              </a:rPr>
              <a:t>· almost thirty per cent faster 是这个比较的具体数值。</a:t>
            </a:r>
          </a:p>
          <a:p>
            <a:pPr algn="l"/>
            <a:r>
              <a:rPr sz="1700" b="0">
                <a:solidFill>
                  <a:srgbClr val="0F172A"/>
                </a:solidFill>
                <a:latin typeface="微软雅黑"/>
                <a:ea typeface="微软雅黑"/>
                <a:cs typeface="微软雅黑"/>
              </a:rPr>
              <a:t>· 比较级句一定要回头找“比谁”，不能只看形容词。</a:t>
            </a:r>
          </a:p>
          <a:p>
            <a:pPr algn="l"/>
            <a:r>
              <a:rPr sz="1700" b="0">
                <a:solidFill>
                  <a:srgbClr val="0F172A"/>
                </a:solidFill>
                <a:latin typeface="微软雅黑"/>
                <a:ea typeface="微软雅黑"/>
                <a:cs typeface="微软雅黑"/>
              </a:rPr>
              <a:t>· 画 30% &gt; 20%，方向立刻定。</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在耐力项目中，结果更为显著。1999年摩洛哥选手创造了2:05:42的世界纪录，几乎快了百分之三十。</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dramatic 显著的 ↔ striking / marked；endurance 耐力 ↔ stamina</a:t>
            </a:r>
          </a:p>
          <a:p>
            <a:pPr algn="l"/>
            <a:r>
              <a:rPr sz="1850" b="1">
                <a:solidFill>
                  <a:srgbClr val="0F172A"/>
                </a:solidFill>
                <a:latin typeface="微软雅黑"/>
                <a:ea typeface="微软雅黑"/>
                <a:cs typeface="微软雅黑"/>
              </a:rPr>
              <a:t>intensive burst of energy ＝ explosive release of energy</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Q4｜fully explained：全称词一出现就要查</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48</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Improvements in athletic performance can be fully explained by genetics.</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锚点：fully / genetics。</a:t>
            </a:r>
          </a:p>
          <a:p>
            <a:pPr algn="l"/>
            <a:r>
              <a:rPr sz="1900" b="0">
                <a:solidFill>
                  <a:srgbClr val="0F172A"/>
                </a:solidFill>
                <a:latin typeface="微软雅黑"/>
                <a:ea typeface="微软雅黑"/>
                <a:cs typeface="微软雅黑"/>
              </a:rPr>
              <a:t>全称词 fully 是本题唯一考点。</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P2 S1: No one theory can explain improvements in performance, but the most important factor has been genetics.</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原文：没有任何单一理论能解释，基因只是“最重要的因素”。</a:t>
            </a:r>
          </a:p>
          <a:p>
            <a:pPr algn="l"/>
            <a:r>
              <a:rPr sz="1900" b="0">
                <a:solidFill>
                  <a:srgbClr val="0F172A"/>
                </a:solidFill>
                <a:latin typeface="微软雅黑"/>
                <a:ea typeface="微软雅黑"/>
                <a:cs typeface="微软雅黑"/>
              </a:rPr>
              <a:t>most important ≠ fully explains，仍留有别的因素。</a:t>
            </a:r>
          </a:p>
          <a:p>
            <a:pPr algn="l"/>
            <a:r>
              <a:rPr sz="1900" b="0">
                <a:solidFill>
                  <a:srgbClr val="0F172A"/>
                </a:solidFill>
                <a:latin typeface="微软雅黑"/>
                <a:ea typeface="微软雅黑"/>
                <a:cs typeface="微软雅黑"/>
              </a:rPr>
              <a:t>题干把“最重要”升级成“全部”，被原文否定。</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100" b="1">
                <a:solidFill>
                  <a:srgbClr val="0F172A"/>
                </a:solidFill>
                <a:latin typeface="微软雅黑"/>
                <a:ea typeface="微软雅黑"/>
                <a:cs typeface="微软雅黑"/>
              </a:rPr>
              <a:t>Answer: FALSE</a:t>
            </a:r>
          </a:p>
          <a:p>
            <a:pPr algn="l"/>
            <a:r>
              <a:rPr sz="2100" b="1">
                <a:solidFill>
                  <a:srgbClr val="0F172A"/>
                </a:solidFill>
                <a:latin typeface="微软雅黑"/>
                <a:ea typeface="微软雅黑"/>
                <a:cs typeface="微软雅黑"/>
              </a:rPr>
              <a:t>fully 与 No one theory 直接冲突。</a:t>
            </a:r>
          </a:p>
          <a:p>
            <a:pPr algn="l"/>
            <a:r>
              <a:rPr sz="2100" b="1">
                <a:solidFill>
                  <a:srgbClr val="0F172A"/>
                </a:solidFill>
                <a:latin typeface="微软雅黑"/>
                <a:ea typeface="微软雅黑"/>
                <a:cs typeface="微软雅黑"/>
              </a:rPr>
              <a:t>程度被放大。</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Q4｜No one ... but ... 的让步转折</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49</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50" b="1">
                <a:solidFill>
                  <a:srgbClr val="0F172A"/>
                </a:solidFill>
                <a:latin typeface="微软雅黑"/>
                <a:ea typeface="微软雅黑"/>
                <a:cs typeface="微软雅黑"/>
              </a:rPr>
              <a:t>No one theory can explain improvements in performance, but the most important factor has been genetics.</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00" b="1">
                <a:solidFill>
                  <a:srgbClr val="0F172A"/>
                </a:solidFill>
                <a:latin typeface="微软雅黑"/>
                <a:ea typeface="微软雅黑"/>
                <a:cs typeface="微软雅黑"/>
              </a:rPr>
              <a:t>No one theory can explain improvements, but genetics is the most important factor.</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600" b="0">
                <a:solidFill>
                  <a:srgbClr val="0F172A"/>
                </a:solidFill>
                <a:latin typeface="微软雅黑"/>
                <a:ea typeface="微软雅黑"/>
                <a:cs typeface="微软雅黑"/>
              </a:rPr>
              <a:t>· No one theory can ... 是整句的否定前提。</a:t>
            </a:r>
          </a:p>
          <a:p>
            <a:pPr algn="l"/>
            <a:r>
              <a:rPr sz="1600" b="0">
                <a:solidFill>
                  <a:srgbClr val="0F172A"/>
                </a:solidFill>
                <a:latin typeface="微软雅黑"/>
                <a:ea typeface="微软雅黑"/>
                <a:cs typeface="微软雅黑"/>
              </a:rPr>
              <a:t>· but 之后才是作者真正的立场：基因最重要。</a:t>
            </a:r>
          </a:p>
          <a:p>
            <a:pPr algn="l"/>
            <a:r>
              <a:rPr sz="1600" b="0">
                <a:solidFill>
                  <a:srgbClr val="0F172A"/>
                </a:solidFill>
                <a:latin typeface="微软雅黑"/>
                <a:ea typeface="微软雅黑"/>
                <a:cs typeface="微软雅黑"/>
              </a:rPr>
              <a:t>· 两个分句合起来＝“重要，但不是全部”。</a:t>
            </a:r>
          </a:p>
          <a:p>
            <a:pPr algn="l"/>
            <a:r>
              <a:rPr sz="1600" b="0">
                <a:solidFill>
                  <a:srgbClr val="0F172A"/>
                </a:solidFill>
                <a:latin typeface="微软雅黑"/>
                <a:ea typeface="微软雅黑"/>
                <a:cs typeface="微软雅黑"/>
              </a:rPr>
              <a:t>· 判断题遇到 but，答案几乎总在 but 之后。</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没有哪一种理论能解释成绩的提高，但最重要的因素一直是遗传（基因）。</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factor 因素 ↔ element / cause；genetics 遗传学、基因</a:t>
            </a:r>
          </a:p>
          <a:p>
            <a:pPr algn="l"/>
            <a:r>
              <a:rPr sz="1850" b="1">
                <a:solidFill>
                  <a:srgbClr val="0F172A"/>
                </a:solidFill>
                <a:latin typeface="微软雅黑"/>
                <a:ea typeface="微软雅黑"/>
                <a:cs typeface="微软雅黑"/>
              </a:rPr>
              <a:t>fully explained by = 完全由……解释（全称）</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Q5｜choose his parents：谚语不等于事实陈述</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50</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The parents of top athletes have often been successful athletes themselves.</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锚点：parents + successful athletes。</a:t>
            </a:r>
          </a:p>
          <a:p>
            <a:pPr algn="l"/>
            <a:r>
              <a:rPr sz="1900" b="0">
                <a:solidFill>
                  <a:srgbClr val="0F172A"/>
                </a:solidFill>
                <a:latin typeface="微软雅黑"/>
                <a:ea typeface="微软雅黑"/>
                <a:cs typeface="微软雅黑"/>
              </a:rPr>
              <a:t>题干问“父母本人是否也是运动员”。</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P2 S2: 'The athlete must choose his parents carefully,' says Jesus Dapena, a sports scientist at Indiana University, invoking an oft-cited adage.</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原文只是引用一句谚语，强调“基因来自父母”。</a:t>
            </a:r>
          </a:p>
          <a:p>
            <a:pPr algn="l"/>
            <a:r>
              <a:rPr sz="1900" b="0">
                <a:solidFill>
                  <a:srgbClr val="0F172A"/>
                </a:solidFill>
                <a:latin typeface="微软雅黑"/>
                <a:ea typeface="微软雅黑"/>
                <a:cs typeface="微软雅黑"/>
              </a:rPr>
              <a:t>全文没有说顶尖运动员的父母本人是不是成功运动员。</a:t>
            </a:r>
          </a:p>
          <a:p>
            <a:pPr algn="l"/>
            <a:r>
              <a:rPr sz="1900" b="0">
                <a:solidFill>
                  <a:srgbClr val="0F172A"/>
                </a:solidFill>
                <a:latin typeface="微软雅黑"/>
                <a:ea typeface="微软雅黑"/>
                <a:cs typeface="微软雅黑"/>
              </a:rPr>
              <a:t>相关词出现（parents）≠ 完整关系被给出。</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NOT GIVEN</a:t>
            </a:r>
          </a:p>
          <a:p>
            <a:pPr algn="l"/>
            <a:r>
              <a:rPr sz="2100" b="1">
                <a:solidFill>
                  <a:srgbClr val="0F172A"/>
                </a:solidFill>
                <a:latin typeface="微软雅黑"/>
                <a:ea typeface="微软雅黑"/>
                <a:cs typeface="微软雅黑"/>
              </a:rPr>
              <a:t>只有基因暗示。</a:t>
            </a:r>
          </a:p>
          <a:p>
            <a:pPr algn="l"/>
            <a:r>
              <a:rPr sz="2100" b="1">
                <a:solidFill>
                  <a:srgbClr val="0F172A"/>
                </a:solidFill>
                <a:latin typeface="微软雅黑"/>
                <a:ea typeface="微软雅黑"/>
                <a:cs typeface="微软雅黑"/>
              </a:rPr>
              <a:t>父母身份未提。</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Q5｜引语 + 同位语 + invoking 非谓语</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51</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50" b="1">
                <a:solidFill>
                  <a:srgbClr val="0F172A"/>
                </a:solidFill>
                <a:latin typeface="微软雅黑"/>
                <a:ea typeface="微软雅黑"/>
                <a:cs typeface="微软雅黑"/>
              </a:rPr>
              <a:t>'The athlete must choose his parents carefully,' says Jesus Dapena, a sports scientist at Indiana University, invoking an oft-cited adage.</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Jesus Dapena says: the athlete must choose his parents carefully.</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500" b="0">
                <a:solidFill>
                  <a:srgbClr val="0F172A"/>
                </a:solidFill>
                <a:latin typeface="微软雅黑"/>
                <a:ea typeface="微软雅黑"/>
                <a:cs typeface="微软雅黑"/>
              </a:rPr>
              <a:t>· 引号内是被说的话，says + 主语是倒装的引述结构。</a:t>
            </a:r>
          </a:p>
          <a:p>
            <a:pPr algn="l"/>
            <a:r>
              <a:rPr sz="1500" b="0">
                <a:solidFill>
                  <a:srgbClr val="0F172A"/>
                </a:solidFill>
                <a:latin typeface="微软雅黑"/>
                <a:ea typeface="微软雅黑"/>
                <a:cs typeface="微软雅黑"/>
              </a:rPr>
              <a:t>· a sports scientist ... 是 Dapena 的同位语，可整块跳过。</a:t>
            </a:r>
          </a:p>
          <a:p>
            <a:pPr algn="l"/>
            <a:r>
              <a:rPr sz="1500" b="0">
                <a:solidFill>
                  <a:srgbClr val="0F172A"/>
                </a:solidFill>
                <a:latin typeface="微软雅黑"/>
                <a:ea typeface="微软雅黑"/>
                <a:cs typeface="微软雅黑"/>
              </a:rPr>
              <a:t>· invoking an oft-cited adage 是现在分词状语，说明“在引用一句老话”。</a:t>
            </a:r>
          </a:p>
          <a:p>
            <a:pPr algn="l"/>
            <a:r>
              <a:rPr sz="1500" b="0">
                <a:solidFill>
                  <a:srgbClr val="0F172A"/>
                </a:solidFill>
                <a:latin typeface="微软雅黑"/>
                <a:ea typeface="微软雅黑"/>
                <a:cs typeface="微软雅黑"/>
              </a:rPr>
              <a:t>· adage 一词提示：这是比喻，不是数据。</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“运动员必须谨慎地选择自己的父母，”印第安纳大学运动科学家 Jesus Dapena 引用了这句常被提起的老话。</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adage 谚语 ↔ saying / proverb；invoke 引用 ↔ cite / refer to</a:t>
            </a:r>
          </a:p>
          <a:p>
            <a:pPr algn="l"/>
            <a:r>
              <a:rPr sz="1850" b="1">
                <a:solidFill>
                  <a:srgbClr val="0F172A"/>
                </a:solidFill>
                <a:latin typeface="微软雅黑"/>
                <a:ea typeface="微软雅黑"/>
                <a:cs typeface="微软雅黑"/>
              </a:rPr>
              <a:t>oft-cited = 常被引用的</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Q6｜identified early 与 younger age 的等价</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52</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The growing international importance of athletics means that gifted athletes can be recognised at a younger age.</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锚点：international / gifted / younger age。</a:t>
            </a:r>
          </a:p>
          <a:p>
            <a:pPr algn="l"/>
            <a:r>
              <a:rPr sz="1900" b="0">
                <a:solidFill>
                  <a:srgbClr val="0F172A"/>
                </a:solidFill>
                <a:latin typeface="微软雅黑"/>
                <a:ea typeface="微软雅黑"/>
                <a:cs typeface="微软雅黑"/>
              </a:rPr>
              <a:t>三个要素都要在原文找到。</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P2 S3: ... but with increasing global participation in athletics — and greater rewards to tempt athletes — it is more likely that individuals possessing the unique complement of genes for athletic performance can be identified early.</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500" b="0">
                <a:solidFill>
                  <a:srgbClr val="0F172A"/>
                </a:solidFill>
                <a:latin typeface="微软雅黑"/>
                <a:ea typeface="微软雅黑"/>
                <a:cs typeface="微软雅黑"/>
              </a:rPr>
              <a:t>international importance ↔ increasing global participation。</a:t>
            </a:r>
          </a:p>
          <a:p>
            <a:pPr algn="l"/>
            <a:r>
              <a:rPr sz="1500" b="0">
                <a:solidFill>
                  <a:srgbClr val="0F172A"/>
                </a:solidFill>
                <a:latin typeface="微软雅黑"/>
                <a:ea typeface="微软雅黑"/>
                <a:cs typeface="微软雅黑"/>
              </a:rPr>
              <a:t>gifted athletes ↔ individuals possessing the unique complement of genes。</a:t>
            </a:r>
          </a:p>
          <a:p>
            <a:pPr algn="l"/>
            <a:r>
              <a:rPr sz="1500" b="0">
                <a:solidFill>
                  <a:srgbClr val="0F172A"/>
                </a:solidFill>
                <a:latin typeface="微软雅黑"/>
                <a:ea typeface="微软雅黑"/>
                <a:cs typeface="微软雅黑"/>
              </a:rPr>
              <a:t>recognised at a younger age ↔ can be identified early。三处都对应。</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TRUE</a:t>
            </a:r>
          </a:p>
          <a:p>
            <a:pPr algn="l"/>
            <a:r>
              <a:rPr sz="2100" b="1">
                <a:solidFill>
                  <a:srgbClr val="0F172A"/>
                </a:solidFill>
                <a:latin typeface="微软雅黑"/>
                <a:ea typeface="微软雅黑"/>
                <a:cs typeface="微软雅黑"/>
              </a:rPr>
              <a:t>三组同义替换齐全。</a:t>
            </a:r>
          </a:p>
          <a:p>
            <a:pPr algn="l"/>
            <a:r>
              <a:rPr sz="2100" b="1">
                <a:solidFill>
                  <a:srgbClr val="0F172A"/>
                </a:solidFill>
                <a:latin typeface="微软雅黑"/>
                <a:ea typeface="微软雅黑"/>
                <a:cs typeface="微软雅黑"/>
              </a:rPr>
              <a:t>逻辑关系完整。</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Q6｜it is more likely that ... 形式主语句</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53</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00" b="1">
                <a:solidFill>
                  <a:srgbClr val="0F172A"/>
                </a:solidFill>
                <a:latin typeface="微软雅黑"/>
                <a:ea typeface="微软雅黑"/>
                <a:cs typeface="微软雅黑"/>
              </a:rPr>
              <a:t>Over the past century, the composition of the human gene pool has not changed appreciably, but with increasing global participation in athletics — and greater rewards to tempt athletes — it is more likely that individuals ... can be identified early.</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It is more likely that individuals can be identified early.</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500" b="0">
                <a:solidFill>
                  <a:srgbClr val="0F172A"/>
                </a:solidFill>
                <a:latin typeface="微软雅黑"/>
                <a:ea typeface="微软雅黑"/>
                <a:cs typeface="微软雅黑"/>
              </a:rPr>
              <a:t>· but 之前讲基因库没变，是背景，不是考点。</a:t>
            </a:r>
          </a:p>
          <a:p>
            <a:pPr algn="l"/>
            <a:r>
              <a:rPr sz="1500" b="0">
                <a:solidFill>
                  <a:srgbClr val="0F172A"/>
                </a:solidFill>
                <a:latin typeface="微软雅黑"/>
                <a:ea typeface="微软雅黑"/>
                <a:cs typeface="微软雅黑"/>
              </a:rPr>
              <a:t>· with ... participation 是伴随状语，表示条件。</a:t>
            </a:r>
          </a:p>
          <a:p>
            <a:pPr algn="l"/>
            <a:r>
              <a:rPr sz="1500" b="0">
                <a:solidFill>
                  <a:srgbClr val="0F172A"/>
                </a:solidFill>
                <a:latin typeface="微软雅黑"/>
                <a:ea typeface="微软雅黑"/>
                <a:cs typeface="微软雅黑"/>
              </a:rPr>
              <a:t>· it 是形式主语，真正主语是后面的 that 从句。</a:t>
            </a:r>
          </a:p>
          <a:p>
            <a:pPr algn="l"/>
            <a:r>
              <a:rPr sz="1500" b="0">
                <a:solidFill>
                  <a:srgbClr val="0F172A"/>
                </a:solidFill>
                <a:latin typeface="微软雅黑"/>
                <a:ea typeface="微软雅黑"/>
                <a:cs typeface="微软雅黑"/>
              </a:rPr>
              <a:t>· possessing ... 是现在分词后置定语，修饰 individuals。</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20" b="0">
                <a:solidFill>
                  <a:srgbClr val="0F172A"/>
                </a:solidFill>
                <a:latin typeface="微软雅黑"/>
                <a:ea typeface="微软雅黑"/>
                <a:cs typeface="微软雅黑"/>
              </a:rPr>
              <a:t>过去一个世纪，人类基因库的构成没有明显变化，但随着全球参与度提高、奖励增加，具备独特运动基因组合的人更有可能被及早发现。</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appreciably 明显地 ↔ noticeably；tempt 吸引 ↔ attract</a:t>
            </a:r>
          </a:p>
          <a:p>
            <a:pPr algn="l"/>
            <a:r>
              <a:rPr sz="1850" b="1">
                <a:solidFill>
                  <a:srgbClr val="0F172A"/>
                </a:solidFill>
                <a:latin typeface="微软雅黑"/>
                <a:ea typeface="微软雅黑"/>
                <a:cs typeface="微软雅黑"/>
              </a:rPr>
              <a:t>identify early = recognise at a younger age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Q7｜relying on：找“靠什么取得成绩”</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54</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According to Professor Yessis, American runners are relying for their current success on ……………</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rely on + 空格 → 名词。</a:t>
            </a:r>
          </a:p>
          <a:p>
            <a:pPr algn="l"/>
            <a:r>
              <a:rPr sz="1900" b="0">
                <a:solidFill>
                  <a:srgbClr val="0F172A"/>
                </a:solidFill>
                <a:latin typeface="微软雅黑"/>
                <a:ea typeface="微软雅黑"/>
                <a:cs typeface="微软雅黑"/>
              </a:rPr>
              <a:t>锚点：Yessis / American runners。</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P3 S3: Yessis believes that U.S. runners, despite their impressive achievements, are 'running on their genetics'.</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American runners ↔ U.S. runners。</a:t>
            </a:r>
          </a:p>
          <a:p>
            <a:pPr algn="l"/>
            <a:r>
              <a:rPr sz="1900" b="0">
                <a:solidFill>
                  <a:srgbClr val="0F172A"/>
                </a:solidFill>
                <a:latin typeface="微软雅黑"/>
                <a:ea typeface="微软雅黑"/>
                <a:cs typeface="微软雅黑"/>
              </a:rPr>
              <a:t>relying ... on ↔ running on（原文用引号做比喻）。</a:t>
            </a:r>
          </a:p>
          <a:p>
            <a:pPr algn="l"/>
            <a:r>
              <a:rPr sz="1900" b="0">
                <a:solidFill>
                  <a:srgbClr val="0F172A"/>
                </a:solidFill>
                <a:latin typeface="微软雅黑"/>
                <a:ea typeface="微软雅黑"/>
                <a:cs typeface="微软雅黑"/>
              </a:rPr>
              <a:t>current success ↔ impressive achievements。空格填 on 后的名词。</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genetics</a:t>
            </a:r>
          </a:p>
          <a:p>
            <a:pPr algn="l"/>
            <a:r>
              <a:rPr sz="2100" b="1">
                <a:solidFill>
                  <a:srgbClr val="0F172A"/>
                </a:solidFill>
                <a:latin typeface="微软雅黑"/>
                <a:ea typeface="微软雅黑"/>
                <a:cs typeface="微软雅黑"/>
              </a:rPr>
              <a:t>ONE WORD。</a:t>
            </a:r>
          </a:p>
          <a:p>
            <a:pPr algn="l"/>
            <a:r>
              <a:rPr sz="2100" b="1">
                <a:solidFill>
                  <a:srgbClr val="0F172A"/>
                </a:solidFill>
                <a:latin typeface="微软雅黑"/>
                <a:ea typeface="微软雅黑"/>
                <a:cs typeface="微软雅黑"/>
              </a:rPr>
              <a:t>照抄原文拼写。</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Q7｜despite 让步 + 引号里的比喻</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55</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50" b="1">
                <a:solidFill>
                  <a:srgbClr val="0F172A"/>
                </a:solidFill>
                <a:latin typeface="微软雅黑"/>
                <a:ea typeface="微软雅黑"/>
                <a:cs typeface="微软雅黑"/>
              </a:rPr>
              <a:t>Yessis believes that U.S. runners, despite their impressive achievements, are 'running on their genetics'.</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U.S. runners are running on their genetics.</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500" b="0">
                <a:solidFill>
                  <a:srgbClr val="0F172A"/>
                </a:solidFill>
                <a:latin typeface="微软雅黑"/>
                <a:ea typeface="微软雅黑"/>
                <a:cs typeface="微软雅黑"/>
              </a:rPr>
              <a:t>· believes that ... 是宾语从句，主干在从句里。</a:t>
            </a:r>
          </a:p>
          <a:p>
            <a:pPr algn="l"/>
            <a:r>
              <a:rPr sz="1500" b="0">
                <a:solidFill>
                  <a:srgbClr val="0F172A"/>
                </a:solidFill>
                <a:latin typeface="微软雅黑"/>
                <a:ea typeface="微软雅黑"/>
                <a:cs typeface="微软雅黑"/>
              </a:rPr>
              <a:t>· despite ... achievements 是让步插入语，先盖住。</a:t>
            </a:r>
          </a:p>
          <a:p>
            <a:pPr algn="l"/>
            <a:r>
              <a:rPr sz="1500" b="0">
                <a:solidFill>
                  <a:srgbClr val="0F172A"/>
                </a:solidFill>
                <a:latin typeface="微软雅黑"/>
                <a:ea typeface="微软雅黑"/>
                <a:cs typeface="微软雅黑"/>
              </a:rPr>
              <a:t>· 盖掉插入语后 S + V 立刻清楚：runners are running on ...。</a:t>
            </a:r>
          </a:p>
          <a:p>
            <a:pPr algn="l"/>
            <a:r>
              <a:rPr sz="1500" b="0">
                <a:solidFill>
                  <a:srgbClr val="0F172A"/>
                </a:solidFill>
                <a:latin typeface="微软雅黑"/>
                <a:ea typeface="微软雅黑"/>
                <a:cs typeface="微软雅黑"/>
              </a:rPr>
              <a:t>· 引号表示这是形象说法，含“只吃老本”的贬义。</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Yessis 认为，美国跑者尽管成绩亮眼，却是在“靠基因跑步”。</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impressive 令人印象深刻的 ↔ remarkable；achievement 成就 ↔ success</a:t>
            </a:r>
          </a:p>
          <a:p>
            <a:pPr algn="l"/>
            <a:r>
              <a:rPr sz="1850" b="1">
                <a:solidFill>
                  <a:srgbClr val="0F172A"/>
                </a:solidFill>
                <a:latin typeface="微软雅黑"/>
                <a:ea typeface="微软雅黑"/>
                <a:cs typeface="微软雅黑"/>
              </a:rPr>
              <a:t>rely on = run on（此处比喻“依赖”）</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Q8｜develop an athlete's：找被发展的能力</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56</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Yessis describes a training approach from the former Soviet Union that aims to develop an athlete's ……………</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develop an athlete's + 空格 → 名词。</a:t>
            </a:r>
          </a:p>
          <a:p>
            <a:pPr algn="l"/>
            <a:r>
              <a:rPr sz="1900" b="0">
                <a:solidFill>
                  <a:srgbClr val="0F172A"/>
                </a:solidFill>
                <a:latin typeface="微软雅黑"/>
                <a:ea typeface="微软雅黑"/>
                <a:cs typeface="微软雅黑"/>
              </a:rPr>
              <a:t>锚点：former Soviet Union。</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P3 S5: ... as well as plyometrics, a technique pioneered in the former Soviet Union. P4 S1: ... plyometrics focuses on increasing power — the rate at which an athlete can expend energy.</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先用 former Soviet Union 定位到 plyometrics。</a:t>
            </a:r>
          </a:p>
          <a:p>
            <a:pPr algn="l"/>
            <a:r>
              <a:rPr sz="1900" b="0">
                <a:solidFill>
                  <a:srgbClr val="0F172A"/>
                </a:solidFill>
                <a:latin typeface="微软雅黑"/>
                <a:ea typeface="微软雅黑"/>
                <a:cs typeface="微软雅黑"/>
              </a:rPr>
              <a:t>再顺着 plyometrics 到下一段找它“练什么”。</a:t>
            </a:r>
          </a:p>
          <a:p>
            <a:pPr algn="l"/>
            <a:r>
              <a:rPr sz="1900" b="0">
                <a:solidFill>
                  <a:srgbClr val="0F172A"/>
                </a:solidFill>
                <a:latin typeface="微软雅黑"/>
                <a:ea typeface="微软雅黑"/>
                <a:cs typeface="微软雅黑"/>
              </a:rPr>
              <a:t>aims to develop ↔ focuses on increasing。空格填 power。</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power</a:t>
            </a:r>
          </a:p>
          <a:p>
            <a:pPr algn="l"/>
            <a:r>
              <a:rPr sz="2100" b="1">
                <a:solidFill>
                  <a:srgbClr val="0F172A"/>
                </a:solidFill>
                <a:latin typeface="微软雅黑"/>
                <a:ea typeface="微软雅黑"/>
                <a:cs typeface="微软雅黑"/>
              </a:rPr>
              <a:t>ONE WORD。</a:t>
            </a:r>
          </a:p>
          <a:p>
            <a:pPr algn="l"/>
            <a:r>
              <a:rPr sz="2100" b="1">
                <a:solidFill>
                  <a:srgbClr val="0F172A"/>
                </a:solidFill>
                <a:latin typeface="微软雅黑"/>
                <a:ea typeface="微软雅黑"/>
                <a:cs typeface="微软雅黑"/>
              </a:rPr>
              <a:t>跨段两步定位。</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Q8｜Whereas 让步 + 破折号同位解释</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57</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Whereas most exercises are designed to build up strength or endurance, plyometrics focuses on increasing power — the rate at which an athlete can expend energy.</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Plyometrics focuses on increasing power.</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 Whereas 引导让步／对比状语从句，先读后半句。</a:t>
            </a:r>
          </a:p>
          <a:p>
            <a:pPr algn="l"/>
            <a:r>
              <a:rPr sz="1700" b="0">
                <a:solidFill>
                  <a:srgbClr val="0F172A"/>
                </a:solidFill>
                <a:latin typeface="微软雅黑"/>
                <a:ea typeface="微软雅黑"/>
                <a:cs typeface="微软雅黑"/>
              </a:rPr>
              <a:t>· 主句主语 plyometrics，谓语 focuses on。</a:t>
            </a:r>
          </a:p>
          <a:p>
            <a:pPr algn="l"/>
            <a:r>
              <a:rPr sz="1700" b="0">
                <a:solidFill>
                  <a:srgbClr val="0F172A"/>
                </a:solidFill>
                <a:latin typeface="微软雅黑"/>
                <a:ea typeface="微软雅黑"/>
                <a:cs typeface="微软雅黑"/>
              </a:rPr>
              <a:t>· 破折号后是 power 的同位解释，不是新答案。</a:t>
            </a:r>
          </a:p>
          <a:p>
            <a:pPr algn="l"/>
            <a:r>
              <a:rPr sz="1700" b="0">
                <a:solidFill>
                  <a:srgbClr val="0F172A"/>
                </a:solidFill>
                <a:latin typeface="微软雅黑"/>
                <a:ea typeface="微软雅黑"/>
                <a:cs typeface="微软雅黑"/>
              </a:rPr>
              <a:t>· at which 定语从句修饰 the rate。</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大多数训练旨在增强力量或耐力，而超等长训练关注的是提高“功率”——即运动员释放能量的速率。</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endurance 耐力 ↔ stamina；expend 消耗 ↔ use up / spend</a:t>
            </a:r>
          </a:p>
          <a:p>
            <a:pPr algn="l"/>
            <a:r>
              <a:rPr sz="1850" b="1">
                <a:solidFill>
                  <a:srgbClr val="0F172A"/>
                </a:solidFill>
                <a:latin typeface="微软雅黑"/>
                <a:ea typeface="微软雅黑"/>
                <a:cs typeface="微软雅黑"/>
              </a:rPr>
              <a:t>focus on increasing = aim to develop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Q9｜links A to B：找因果的结果端</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58</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400" b="1">
                <a:solidFill>
                  <a:srgbClr val="0F172A"/>
                </a:solidFill>
                <a:latin typeface="微软雅黑"/>
                <a:ea typeface="微软雅黑"/>
                <a:cs typeface="微软雅黑"/>
              </a:rPr>
              <a:t>Yessis links an inadequate diet to ……………</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links ... to + 空格 → 结果名词。</a:t>
            </a:r>
          </a:p>
          <a:p>
            <a:pPr algn="l"/>
            <a:r>
              <a:rPr sz="1900" b="0">
                <a:solidFill>
                  <a:srgbClr val="0F172A"/>
                </a:solidFill>
                <a:latin typeface="微软雅黑"/>
                <a:ea typeface="微软雅黑"/>
                <a:cs typeface="微软雅黑"/>
              </a:rPr>
              <a:t>锚点：inadequate diet（营养不足）。</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P5 S4: Few coaches, for instance, understand how deficiencies in trace minerals can lead to injuries.</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inadequate diet ↔ deficiencies in trace minerals（微量元素缺乏）。</a:t>
            </a:r>
          </a:p>
          <a:p>
            <a:pPr algn="l"/>
            <a:r>
              <a:rPr sz="1900" b="0">
                <a:solidFill>
                  <a:srgbClr val="0F172A"/>
                </a:solidFill>
                <a:latin typeface="微软雅黑"/>
                <a:ea typeface="微软雅黑"/>
                <a:cs typeface="微软雅黑"/>
              </a:rPr>
              <a:t>links ... to ↔ can lead to（因果关系词替换）。</a:t>
            </a:r>
          </a:p>
          <a:p>
            <a:pPr algn="l"/>
            <a:r>
              <a:rPr sz="1900" b="0">
                <a:solidFill>
                  <a:srgbClr val="0F172A"/>
                </a:solidFill>
                <a:latin typeface="微软雅黑"/>
                <a:ea typeface="微软雅黑"/>
                <a:cs typeface="微软雅黑"/>
              </a:rPr>
              <a:t>取 lead to 后的名词，注意复数形式。</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injuries</a:t>
            </a:r>
          </a:p>
          <a:p>
            <a:pPr algn="l"/>
            <a:r>
              <a:rPr sz="2100" b="1">
                <a:solidFill>
                  <a:srgbClr val="0F172A"/>
                </a:solidFill>
                <a:latin typeface="微软雅黑"/>
                <a:ea typeface="微软雅黑"/>
                <a:cs typeface="微软雅黑"/>
              </a:rPr>
              <a:t>ONE WORD，复数。</a:t>
            </a:r>
          </a:p>
          <a:p>
            <a:pPr algn="l"/>
            <a:r>
              <a:rPr sz="2100" b="1">
                <a:solidFill>
                  <a:srgbClr val="0F172A"/>
                </a:solidFill>
                <a:latin typeface="微软雅黑"/>
                <a:ea typeface="微软雅黑"/>
                <a:cs typeface="微软雅黑"/>
              </a:rPr>
              <a:t>照抄原文形式。</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Q9｜how 引导的宾语从句藏因果</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59</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50" b="1">
                <a:solidFill>
                  <a:srgbClr val="0F172A"/>
                </a:solidFill>
                <a:latin typeface="微软雅黑"/>
                <a:ea typeface="微软雅黑"/>
                <a:cs typeface="微软雅黑"/>
              </a:rPr>
              <a:t>Few coaches, for instance, understand how deficiencies in trace minerals can lead to injuries.</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Few coaches understand how deficiencies can lead to injuries.</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 Few 是否定含义的主语：“几乎没有教练懂”。</a:t>
            </a:r>
          </a:p>
          <a:p>
            <a:pPr algn="l"/>
            <a:r>
              <a:rPr sz="1700" b="0">
                <a:solidFill>
                  <a:srgbClr val="0F172A"/>
                </a:solidFill>
                <a:latin typeface="微软雅黑"/>
                <a:ea typeface="微软雅黑"/>
                <a:cs typeface="微软雅黑"/>
              </a:rPr>
              <a:t>· for instance 是插入语，跳过。</a:t>
            </a:r>
          </a:p>
          <a:p>
            <a:pPr algn="l"/>
            <a:r>
              <a:rPr sz="1700" b="0">
                <a:solidFill>
                  <a:srgbClr val="0F172A"/>
                </a:solidFill>
                <a:latin typeface="微软雅黑"/>
                <a:ea typeface="微软雅黑"/>
                <a:cs typeface="微软雅黑"/>
              </a:rPr>
              <a:t>· how ... 整段是 understand 的宾语从句。</a:t>
            </a:r>
          </a:p>
          <a:p>
            <a:pPr algn="l"/>
            <a:r>
              <a:rPr sz="1700" b="0">
                <a:solidFill>
                  <a:srgbClr val="0F172A"/>
                </a:solidFill>
                <a:latin typeface="微软雅黑"/>
                <a:ea typeface="微软雅黑"/>
                <a:cs typeface="微软雅黑"/>
              </a:rPr>
              <a:t>· 真正的因果在从句内：deficiencies → injuries。</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例如，很少有教练明白微量元素缺乏是如何导致受伤的。</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deficiency 缺乏 ↔ shortage / lack；trace minerals 微量元素</a:t>
            </a:r>
          </a:p>
          <a:p>
            <a:pPr algn="l"/>
            <a:r>
              <a:rPr sz="1850" b="1">
                <a:solidFill>
                  <a:srgbClr val="0F172A"/>
                </a:solidFill>
                <a:latin typeface="微软雅黑"/>
                <a:ea typeface="微软雅黑"/>
                <a:cs typeface="微软雅黑"/>
              </a:rPr>
              <a:t>lead to = result in = cause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Q10｜the key to：找打破纪录的条件</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60</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Yessis claims that the key to setting new records is better ……………</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better + 空格 → 可被 better 修饰的名词。</a:t>
            </a:r>
          </a:p>
          <a:p>
            <a:pPr algn="l"/>
            <a:r>
              <a:rPr sz="1900" b="0">
                <a:solidFill>
                  <a:srgbClr val="0F172A"/>
                </a:solidFill>
                <a:latin typeface="微软雅黑"/>
                <a:ea typeface="微软雅黑"/>
                <a:cs typeface="微软雅黑"/>
              </a:rPr>
              <a:t>锚点：setting new records。</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P6 S3: ... 'but there will be increases even if only by hundredths of a second, as long as our training continues to improve.'</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setting new records ↔ there will be increases（成绩继续提高）。</a:t>
            </a:r>
          </a:p>
          <a:p>
            <a:pPr algn="l"/>
            <a:r>
              <a:rPr sz="1900" b="0">
                <a:solidFill>
                  <a:srgbClr val="0F172A"/>
                </a:solidFill>
                <a:latin typeface="微软雅黑"/>
                <a:ea typeface="微软雅黑"/>
                <a:cs typeface="微软雅黑"/>
              </a:rPr>
              <a:t>the key to ↔ as long as（条件关系）。</a:t>
            </a:r>
          </a:p>
          <a:p>
            <a:pPr algn="l"/>
            <a:r>
              <a:rPr sz="1900" b="0">
                <a:solidFill>
                  <a:srgbClr val="0F172A"/>
                </a:solidFill>
                <a:latin typeface="微软雅黑"/>
                <a:ea typeface="微软雅黑"/>
                <a:cs typeface="微软雅黑"/>
              </a:rPr>
              <a:t>better ↔ continues to improve。空格填 training。</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training</a:t>
            </a:r>
          </a:p>
          <a:p>
            <a:pPr algn="l"/>
            <a:r>
              <a:rPr sz="2100" b="1">
                <a:solidFill>
                  <a:srgbClr val="0F172A"/>
                </a:solidFill>
                <a:latin typeface="微软雅黑"/>
                <a:ea typeface="微软雅黑"/>
                <a:cs typeface="微软雅黑"/>
              </a:rPr>
              <a:t>ONE WORD。</a:t>
            </a:r>
          </a:p>
          <a:p>
            <a:pPr algn="l"/>
            <a:r>
              <a:rPr sz="2100" b="1">
                <a:solidFill>
                  <a:srgbClr val="0F172A"/>
                </a:solidFill>
                <a:latin typeface="微软雅黑"/>
                <a:ea typeface="微软雅黑"/>
                <a:cs typeface="微软雅黑"/>
              </a:rPr>
              <a:t>条件句给出答案。</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Q10｜冒号引出直接引语 + as long as 条件</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61</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He will not predict by how much, however: 'Exactly what the limits are it's hard to say, but there will be increases even if only by hundredths of a second, as long as our training continues to improve.'</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There will be increases as long as our training continues to improve.</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80" b="0">
                <a:solidFill>
                  <a:srgbClr val="0F172A"/>
                </a:solidFill>
                <a:latin typeface="微软雅黑"/>
                <a:ea typeface="微软雅黑"/>
                <a:cs typeface="微软雅黑"/>
              </a:rPr>
              <a:t>· 冒号前是转述，冒号后才是原话。</a:t>
            </a:r>
          </a:p>
          <a:p>
            <a:pPr algn="l"/>
            <a:r>
              <a:rPr sz="1880" b="0">
                <a:solidFill>
                  <a:srgbClr val="0F172A"/>
                </a:solidFill>
                <a:latin typeface="微软雅黑"/>
                <a:ea typeface="微软雅黑"/>
                <a:cs typeface="微软雅黑"/>
              </a:rPr>
              <a:t>· Exactly what the limits are 是前置的宾语从句，属让步。</a:t>
            </a:r>
          </a:p>
          <a:p>
            <a:pPr algn="l"/>
            <a:r>
              <a:rPr sz="1880" b="0">
                <a:solidFill>
                  <a:srgbClr val="0F172A"/>
                </a:solidFill>
                <a:latin typeface="微软雅黑"/>
                <a:ea typeface="微软雅黑"/>
                <a:cs typeface="微软雅黑"/>
              </a:rPr>
              <a:t>· but 之后是重点：一定会有提高。</a:t>
            </a:r>
          </a:p>
          <a:p>
            <a:pPr algn="l"/>
            <a:r>
              <a:rPr sz="1880" b="0">
                <a:solidFill>
                  <a:srgbClr val="0F172A"/>
                </a:solidFill>
                <a:latin typeface="微软雅黑"/>
                <a:ea typeface="微软雅黑"/>
                <a:cs typeface="微软雅黑"/>
              </a:rPr>
              <a:t>· as long as 引导条件状语从句，答案就在这里。</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20" b="0">
                <a:solidFill>
                  <a:srgbClr val="0F172A"/>
                </a:solidFill>
                <a:latin typeface="微软雅黑"/>
                <a:ea typeface="微软雅黑"/>
                <a:cs typeface="微软雅黑"/>
              </a:rPr>
              <a:t>不过他不肯预测提高多少：“极限究竟在哪里很难说，但只要训练不断改进，成绩就会提高，哪怕只有百分之一秒。”</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predict 预测 ↔ forecast；hundredths of a second 百分之一秒</a:t>
            </a:r>
          </a:p>
          <a:p>
            <a:pPr algn="l"/>
            <a:r>
              <a:rPr sz="1850" b="1">
                <a:solidFill>
                  <a:srgbClr val="0F172A"/>
                </a:solidFill>
                <a:latin typeface="微软雅黑"/>
                <a:ea typeface="微软雅黑"/>
                <a:cs typeface="微软雅黑"/>
              </a:rPr>
              <a:t>as long as = provided that（只要）</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Q11｜biomechanics films 让教练能做什么</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62</a:t>
            </a:r>
          </a:p>
        </p:txBody>
      </p:sp>
      <p:sp>
        <p:nvSpPr>
          <p:cNvPr id="8" name="Rectangle 7"/>
          <p:cNvSpPr/>
          <p:nvPr/>
        </p:nvSpPr>
        <p:spPr>
          <a:xfrm>
            <a:off x="658368" y="1280160"/>
            <a:ext cx="10881360" cy="530352"/>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00" b="1">
                <a:solidFill>
                  <a:srgbClr val="0F172A"/>
                </a:solidFill>
                <a:latin typeface="微软雅黑"/>
                <a:ea typeface="微软雅黑"/>
                <a:cs typeface="微软雅黑"/>
              </a:rPr>
              <a:t>Biomechanics films are proving particularly useful because they enable trainers to</a:t>
            </a:r>
          </a:p>
        </p:txBody>
      </p:sp>
      <p:sp>
        <p:nvSpPr>
          <p:cNvPr id="9" name="Rectangle 8"/>
          <p:cNvSpPr/>
          <p:nvPr/>
        </p:nvSpPr>
        <p:spPr>
          <a:xfrm>
            <a:off x="658368" y="1883664"/>
            <a:ext cx="10881360" cy="1225296"/>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0">
                <a:solidFill>
                  <a:srgbClr val="0F172A"/>
                </a:solidFill>
                <a:latin typeface="微软雅黑"/>
                <a:ea typeface="微软雅黑"/>
                <a:cs typeface="微软雅黑"/>
              </a:rPr>
              <a:t>A  highlight areas for improvement in athletes.</a:t>
            </a:r>
          </a:p>
          <a:p>
            <a:pPr algn="l"/>
            <a:r>
              <a:rPr sz="1800" b="0">
                <a:solidFill>
                  <a:srgbClr val="0F172A"/>
                </a:solidFill>
                <a:latin typeface="微软雅黑"/>
                <a:ea typeface="微软雅黑"/>
                <a:cs typeface="微软雅黑"/>
              </a:rPr>
              <a:t>B  assess the fitness levels of athletes.</a:t>
            </a:r>
          </a:p>
          <a:p>
            <a:pPr algn="l"/>
            <a:r>
              <a:rPr sz="1800" b="0">
                <a:solidFill>
                  <a:srgbClr val="0F172A"/>
                </a:solidFill>
                <a:latin typeface="微软雅黑"/>
                <a:ea typeface="微软雅黑"/>
                <a:cs typeface="微软雅黑"/>
              </a:rPr>
              <a:t>C  select top athletes.</a:t>
            </a:r>
          </a:p>
          <a:p>
            <a:pPr algn="l"/>
            <a:r>
              <a:rPr sz="1800" b="0">
                <a:solidFill>
                  <a:srgbClr val="0F172A"/>
                </a:solidFill>
                <a:latin typeface="微软雅黑"/>
                <a:ea typeface="微软雅黑"/>
                <a:cs typeface="微软雅黑"/>
              </a:rPr>
              <a:t>D  predict the success of athletes.</a:t>
            </a:r>
          </a:p>
        </p:txBody>
      </p:sp>
      <p:sp>
        <p:nvSpPr>
          <p:cNvPr id="10" name="Rectangle 9"/>
          <p:cNvSpPr/>
          <p:nvPr/>
        </p:nvSpPr>
        <p:spPr>
          <a:xfrm>
            <a:off x="713232" y="325526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1" name="Rectangle 10"/>
          <p:cNvSpPr/>
          <p:nvPr/>
        </p:nvSpPr>
        <p:spPr>
          <a:xfrm>
            <a:off x="713232" y="3566160"/>
            <a:ext cx="3246120" cy="1170432"/>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0">
                <a:solidFill>
                  <a:srgbClr val="0F172A"/>
                </a:solidFill>
                <a:latin typeface="微软雅黑"/>
                <a:ea typeface="微软雅黑"/>
                <a:cs typeface="微软雅黑"/>
              </a:rPr>
              <a:t>锚点：films / enable trainers to。</a:t>
            </a:r>
          </a:p>
          <a:p>
            <a:pPr algn="l"/>
            <a:r>
              <a:rPr sz="1800" b="0">
                <a:solidFill>
                  <a:srgbClr val="0F172A"/>
                </a:solidFill>
                <a:latin typeface="微软雅黑"/>
                <a:ea typeface="微软雅黑"/>
                <a:cs typeface="微软雅黑"/>
              </a:rPr>
              <a:t>原文要给出“拍完之后能说什么”。</a:t>
            </a:r>
          </a:p>
        </p:txBody>
      </p:sp>
      <p:sp>
        <p:nvSpPr>
          <p:cNvPr id="12" name="Rectangle 11"/>
          <p:cNvSpPr/>
          <p:nvPr/>
        </p:nvSpPr>
        <p:spPr>
          <a:xfrm>
            <a:off x="4297680" y="325526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3" name="Rectangle 12"/>
          <p:cNvSpPr/>
          <p:nvPr/>
        </p:nvSpPr>
        <p:spPr>
          <a:xfrm>
            <a:off x="4297680" y="3566160"/>
            <a:ext cx="7178040" cy="1170432"/>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0">
                <a:solidFill>
                  <a:srgbClr val="0F172A"/>
                </a:solidFill>
                <a:latin typeface="微软雅黑"/>
                <a:ea typeface="微软雅黑"/>
                <a:cs typeface="微软雅黑"/>
              </a:rPr>
              <a:t>P7 S3: By applying Newton's laws to these motions, 'we can say that this athlete's run is not fast enough; that this one is not using his arms strongly enough during take-off,' says Dapena.</a:t>
            </a:r>
          </a:p>
        </p:txBody>
      </p:sp>
      <p:sp>
        <p:nvSpPr>
          <p:cNvPr id="14" name="Rectangle 13"/>
          <p:cNvSpPr/>
          <p:nvPr/>
        </p:nvSpPr>
        <p:spPr>
          <a:xfrm>
            <a:off x="713232" y="4919472"/>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5" name="Rectangle 14"/>
          <p:cNvSpPr/>
          <p:nvPr/>
        </p:nvSpPr>
        <p:spPr>
          <a:xfrm>
            <a:off x="713232" y="5230368"/>
            <a:ext cx="6675120" cy="1060704"/>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600" b="0">
                <a:solidFill>
                  <a:srgbClr val="0F172A"/>
                </a:solidFill>
                <a:latin typeface="微软雅黑"/>
                <a:ea typeface="微软雅黑"/>
                <a:cs typeface="微软雅黑"/>
              </a:rPr>
              <a:t>原文两句引语都在指出“哪里还不够好”。</a:t>
            </a:r>
          </a:p>
          <a:p>
            <a:pPr algn="l"/>
            <a:r>
              <a:rPr sz="1600" b="0">
                <a:solidFill>
                  <a:srgbClr val="0F172A"/>
                </a:solidFill>
                <a:latin typeface="微软雅黑"/>
                <a:ea typeface="微软雅黑"/>
                <a:cs typeface="微软雅黑"/>
              </a:rPr>
              <a:t>not fast enough / not using his arms strongly enough ＝ 待改进之处。</a:t>
            </a:r>
          </a:p>
          <a:p>
            <a:pPr algn="l"/>
            <a:r>
              <a:rPr sz="1600" b="0">
                <a:solidFill>
                  <a:srgbClr val="0F172A"/>
                </a:solidFill>
                <a:latin typeface="微软雅黑"/>
                <a:ea typeface="微软雅黑"/>
                <a:cs typeface="微软雅黑"/>
              </a:rPr>
              <a:t>B 体能测评、C 选材、D 预测成绩，原文都未提。</a:t>
            </a:r>
          </a:p>
        </p:txBody>
      </p:sp>
      <p:sp>
        <p:nvSpPr>
          <p:cNvPr id="16" name="Rectangle 15"/>
          <p:cNvSpPr/>
          <p:nvPr/>
        </p:nvSpPr>
        <p:spPr>
          <a:xfrm>
            <a:off x="7726679" y="4919472"/>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7" name="Rectangle 16"/>
          <p:cNvSpPr/>
          <p:nvPr/>
        </p:nvSpPr>
        <p:spPr>
          <a:xfrm>
            <a:off x="7726679" y="5230368"/>
            <a:ext cx="3749039" cy="1060704"/>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100" b="1">
                <a:solidFill>
                  <a:srgbClr val="0F172A"/>
                </a:solidFill>
                <a:latin typeface="微软雅黑"/>
                <a:ea typeface="微软雅黑"/>
                <a:cs typeface="微软雅黑"/>
              </a:rPr>
              <a:t>Answer: A</a:t>
            </a:r>
          </a:p>
          <a:p>
            <a:pPr algn="l"/>
            <a:r>
              <a:rPr sz="2100" b="1">
                <a:solidFill>
                  <a:srgbClr val="0F172A"/>
                </a:solidFill>
                <a:latin typeface="微软雅黑"/>
                <a:ea typeface="微软雅黑"/>
                <a:cs typeface="微软雅黑"/>
              </a:rPr>
              <a:t>highlight areas for</a:t>
            </a:r>
          </a:p>
          <a:p>
            <a:pPr algn="l"/>
            <a:r>
              <a:rPr sz="2100" b="1">
                <a:solidFill>
                  <a:srgbClr val="0F172A"/>
                </a:solidFill>
                <a:latin typeface="微软雅黑"/>
                <a:ea typeface="微软雅黑"/>
                <a:cs typeface="微软雅黑"/>
              </a:rPr>
              <a:t>improvement 指出不足</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Q11｜By applying ... 状语 + 两个 that 从句</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63</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1">
                <a:solidFill>
                  <a:srgbClr val="0F172A"/>
                </a:solidFill>
                <a:latin typeface="微软雅黑"/>
                <a:ea typeface="微软雅黑"/>
                <a:cs typeface="微软雅黑"/>
              </a:rPr>
              <a:t>By applying Newton's laws to these motions, 'we can say that this athlete's run is not fast enough; that this one is not using his arms strongly enough during take-off,' says Dapena, who uses these methods to help high jumpers.</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We can say that this athlete's run is not fast enough.</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 By applying ... 是方式状语，说明凭什么下判断。</a:t>
            </a:r>
          </a:p>
          <a:p>
            <a:pPr algn="l"/>
            <a:r>
              <a:rPr sz="1700" b="0">
                <a:solidFill>
                  <a:srgbClr val="0F172A"/>
                </a:solidFill>
                <a:latin typeface="微软雅黑"/>
                <a:ea typeface="微软雅黑"/>
                <a:cs typeface="微软雅黑"/>
              </a:rPr>
              <a:t>· 两个 that 从句并列，都是 say 的宾语。</a:t>
            </a:r>
          </a:p>
          <a:p>
            <a:pPr algn="l"/>
            <a:r>
              <a:rPr sz="1700" b="0">
                <a:solidFill>
                  <a:srgbClr val="0F172A"/>
                </a:solidFill>
                <a:latin typeface="微软雅黑"/>
                <a:ea typeface="微软雅黑"/>
                <a:cs typeface="微软雅黑"/>
              </a:rPr>
              <a:t>· 分号只是并列，不是新话题。</a:t>
            </a:r>
          </a:p>
          <a:p>
            <a:pPr algn="l"/>
            <a:r>
              <a:rPr sz="1700" b="0">
                <a:solidFill>
                  <a:srgbClr val="0F172A"/>
                </a:solidFill>
                <a:latin typeface="微软雅黑"/>
                <a:ea typeface="微软雅黑"/>
                <a:cs typeface="微软雅黑"/>
              </a:rPr>
              <a:t>· who ... 非限定定语从句补充 Dapena 的身份。</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20" b="0">
                <a:solidFill>
                  <a:srgbClr val="0F172A"/>
                </a:solidFill>
                <a:latin typeface="微软雅黑"/>
                <a:ea typeface="微软雅黑"/>
                <a:cs typeface="微软雅黑"/>
              </a:rPr>
              <a:t>通过把牛顿定律用于这些动作，“我们可以说这名运动员跑得不够快，那名运动员起跳时手臂用力不足，”Dapena 说，他用这些方法帮助跳高运动员。</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highlight 指出、突出 ↔ point out / identify；take-off 起跳</a:t>
            </a:r>
          </a:p>
          <a:p>
            <a:pPr algn="l"/>
            <a:r>
              <a:rPr sz="1850" b="1">
                <a:solidFill>
                  <a:srgbClr val="0F172A"/>
                </a:solidFill>
                <a:latin typeface="微软雅黑"/>
                <a:ea typeface="微软雅黑"/>
                <a:cs typeface="微软雅黑"/>
              </a:rPr>
              <a:t>areas for improvement = 不足之处（＝原文两处 not ... enough）</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Q12｜理论模型对 Fosbury flop 起了什么作用</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64</a:t>
            </a:r>
          </a:p>
        </p:txBody>
      </p:sp>
      <p:sp>
        <p:nvSpPr>
          <p:cNvPr id="8" name="Rectangle 7"/>
          <p:cNvSpPr/>
          <p:nvPr/>
        </p:nvSpPr>
        <p:spPr>
          <a:xfrm>
            <a:off x="658368" y="1280160"/>
            <a:ext cx="10881360" cy="530352"/>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Biomechanics specialists used theoretical models to</a:t>
            </a:r>
          </a:p>
        </p:txBody>
      </p:sp>
      <p:sp>
        <p:nvSpPr>
          <p:cNvPr id="9" name="Rectangle 8"/>
          <p:cNvSpPr/>
          <p:nvPr/>
        </p:nvSpPr>
        <p:spPr>
          <a:xfrm>
            <a:off x="658368" y="1883664"/>
            <a:ext cx="10881360" cy="1225296"/>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0">
                <a:solidFill>
                  <a:srgbClr val="0F172A"/>
                </a:solidFill>
                <a:latin typeface="微软雅黑"/>
                <a:ea typeface="微软雅黑"/>
                <a:cs typeface="微软雅黑"/>
              </a:rPr>
              <a:t>A  soften the Fosbury flop.</a:t>
            </a:r>
          </a:p>
          <a:p>
            <a:pPr algn="l"/>
            <a:r>
              <a:rPr sz="1800" b="0">
                <a:solidFill>
                  <a:srgbClr val="0F172A"/>
                </a:solidFill>
                <a:latin typeface="微软雅黑"/>
                <a:ea typeface="微软雅黑"/>
                <a:cs typeface="微软雅黑"/>
              </a:rPr>
              <a:t>B  create the Fosbury flop.</a:t>
            </a:r>
          </a:p>
          <a:p>
            <a:pPr algn="l"/>
            <a:r>
              <a:rPr sz="1800" b="0">
                <a:solidFill>
                  <a:srgbClr val="0F172A"/>
                </a:solidFill>
                <a:latin typeface="微软雅黑"/>
                <a:ea typeface="微软雅黑"/>
                <a:cs typeface="微软雅黑"/>
              </a:rPr>
              <a:t>C  correct the Fosbury flop.</a:t>
            </a:r>
          </a:p>
          <a:p>
            <a:pPr algn="l"/>
            <a:r>
              <a:rPr sz="1800" b="0">
                <a:solidFill>
                  <a:srgbClr val="0F172A"/>
                </a:solidFill>
                <a:latin typeface="微软雅黑"/>
                <a:ea typeface="微软雅黑"/>
                <a:cs typeface="微软雅黑"/>
              </a:rPr>
              <a:t>D  explain the Fosbury flop.</a:t>
            </a:r>
          </a:p>
        </p:txBody>
      </p:sp>
      <p:sp>
        <p:nvSpPr>
          <p:cNvPr id="10" name="Rectangle 9"/>
          <p:cNvSpPr/>
          <p:nvPr/>
        </p:nvSpPr>
        <p:spPr>
          <a:xfrm>
            <a:off x="713232" y="325526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1" name="Rectangle 10"/>
          <p:cNvSpPr/>
          <p:nvPr/>
        </p:nvSpPr>
        <p:spPr>
          <a:xfrm>
            <a:off x="713232" y="3566160"/>
            <a:ext cx="3246120" cy="1170432"/>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锚点：biomechanics specialists / models。</a:t>
            </a:r>
          </a:p>
          <a:p>
            <a:pPr algn="l"/>
            <a:r>
              <a:rPr sz="1900" b="0">
                <a:solidFill>
                  <a:srgbClr val="0F172A"/>
                </a:solidFill>
                <a:latin typeface="微软雅黑"/>
                <a:ea typeface="微软雅黑"/>
                <a:cs typeface="微软雅黑"/>
              </a:rPr>
              <a:t>问的是“模型用来干什么”。</a:t>
            </a:r>
          </a:p>
        </p:txBody>
      </p:sp>
      <p:sp>
        <p:nvSpPr>
          <p:cNvPr id="12" name="Rectangle 11"/>
          <p:cNvSpPr/>
          <p:nvPr/>
        </p:nvSpPr>
        <p:spPr>
          <a:xfrm>
            <a:off x="4297680" y="325526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3" name="Rectangle 12"/>
          <p:cNvSpPr/>
          <p:nvPr/>
        </p:nvSpPr>
        <p:spPr>
          <a:xfrm>
            <a:off x="4297680" y="3566160"/>
            <a:ext cx="7178040" cy="1170432"/>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P8 S4: That understanding took the later analysis of biomechanics specialists, who put their minds to comprehending something that was too complex and unorthodox ever to have been invented through their own mathematical simulations.</a:t>
            </a:r>
          </a:p>
        </p:txBody>
      </p:sp>
      <p:sp>
        <p:nvSpPr>
          <p:cNvPr id="14" name="Rectangle 13"/>
          <p:cNvSpPr/>
          <p:nvPr/>
        </p:nvSpPr>
        <p:spPr>
          <a:xfrm>
            <a:off x="713232" y="4919472"/>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5" name="Rectangle 14"/>
          <p:cNvSpPr/>
          <p:nvPr/>
        </p:nvSpPr>
        <p:spPr>
          <a:xfrm>
            <a:off x="713232" y="5230368"/>
            <a:ext cx="6675120" cy="1060704"/>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600" b="0">
                <a:solidFill>
                  <a:srgbClr val="0F172A"/>
                </a:solidFill>
                <a:latin typeface="微软雅黑"/>
                <a:ea typeface="微软雅黑"/>
                <a:cs typeface="微软雅黑"/>
              </a:rPr>
              <a:t>专家做的是 comprehending＝理解、解释这个动作。</a:t>
            </a:r>
          </a:p>
          <a:p>
            <a:pPr algn="l"/>
            <a:r>
              <a:rPr sz="1600" b="0">
                <a:solidFill>
                  <a:srgbClr val="0F172A"/>
                </a:solidFill>
                <a:latin typeface="微软雅黑"/>
                <a:ea typeface="微软雅黑"/>
                <a:cs typeface="微软雅黑"/>
              </a:rPr>
              <a:t>too ... ever to have been invented 明确否定“模型能发明它” → B 错。</a:t>
            </a:r>
          </a:p>
          <a:p>
            <a:pPr algn="l"/>
            <a:r>
              <a:rPr sz="1600" b="0">
                <a:solidFill>
                  <a:srgbClr val="0F172A"/>
                </a:solidFill>
                <a:latin typeface="微软雅黑"/>
                <a:ea typeface="微软雅黑"/>
                <a:cs typeface="微软雅黑"/>
              </a:rPr>
              <a:t>原文没有 soften／correct 的意思 → A、C 排除。</a:t>
            </a:r>
          </a:p>
        </p:txBody>
      </p:sp>
      <p:sp>
        <p:nvSpPr>
          <p:cNvPr id="16" name="Rectangle 15"/>
          <p:cNvSpPr/>
          <p:nvPr/>
        </p:nvSpPr>
        <p:spPr>
          <a:xfrm>
            <a:off x="7726679" y="4919472"/>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7" name="Rectangle 16"/>
          <p:cNvSpPr/>
          <p:nvPr/>
        </p:nvSpPr>
        <p:spPr>
          <a:xfrm>
            <a:off x="7726679" y="5230368"/>
            <a:ext cx="3749039" cy="1060704"/>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100" b="1">
                <a:solidFill>
                  <a:srgbClr val="0F172A"/>
                </a:solidFill>
                <a:latin typeface="微软雅黑"/>
                <a:ea typeface="微软雅黑"/>
                <a:cs typeface="微软雅黑"/>
              </a:rPr>
              <a:t>Answer: D</a:t>
            </a:r>
          </a:p>
          <a:p>
            <a:pPr algn="l"/>
            <a:r>
              <a:rPr sz="2100" b="1">
                <a:solidFill>
                  <a:srgbClr val="0F172A"/>
                </a:solidFill>
                <a:latin typeface="微软雅黑"/>
                <a:ea typeface="微软雅黑"/>
                <a:cs typeface="微软雅黑"/>
              </a:rPr>
              <a:t>explain the flop</a:t>
            </a:r>
          </a:p>
          <a:p>
            <a:pPr algn="l"/>
            <a:r>
              <a:rPr sz="2100" b="1">
                <a:solidFill>
                  <a:srgbClr val="0F172A"/>
                </a:solidFill>
                <a:latin typeface="微软雅黑"/>
                <a:ea typeface="微软雅黑"/>
                <a:cs typeface="微软雅黑"/>
              </a:rPr>
              <a:t>模型只负责解释</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Q12｜too ... to 的否定含义</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65</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That understanding took the later analysis of biomechanics specialists, who put their minds to comprehending something that was too complex and unorthodox ever to have been invented through their own mathematical simulations.</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The understanding took the later analysis of biomechanics specialists.</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500" b="0">
                <a:solidFill>
                  <a:srgbClr val="0F172A"/>
                </a:solidFill>
                <a:latin typeface="微软雅黑"/>
                <a:ea typeface="微软雅黑"/>
                <a:cs typeface="微软雅黑"/>
              </a:rPr>
              <a:t>· who ... 定语从句说明专家做了什么：comprehending（理解）。</a:t>
            </a:r>
          </a:p>
          <a:p>
            <a:pPr algn="l"/>
            <a:r>
              <a:rPr sz="1500" b="0">
                <a:solidFill>
                  <a:srgbClr val="0F172A"/>
                </a:solidFill>
                <a:latin typeface="微软雅黑"/>
                <a:ea typeface="微软雅黑"/>
                <a:cs typeface="微软雅黑"/>
              </a:rPr>
              <a:t>· something that was too ... to have been invented：太复杂，不可能被发明出来。</a:t>
            </a:r>
          </a:p>
          <a:p>
            <a:pPr algn="l"/>
            <a:r>
              <a:rPr sz="1500" b="0">
                <a:solidFill>
                  <a:srgbClr val="0F172A"/>
                </a:solidFill>
                <a:latin typeface="微软雅黑"/>
                <a:ea typeface="微软雅黑"/>
                <a:cs typeface="微软雅黑"/>
              </a:rPr>
              <a:t>· too ... to 结构本身就是否定，别读成肯定。</a:t>
            </a:r>
          </a:p>
          <a:p>
            <a:pPr algn="l"/>
            <a:r>
              <a:rPr sz="1500" b="0">
                <a:solidFill>
                  <a:srgbClr val="0F172A"/>
                </a:solidFill>
                <a:latin typeface="微软雅黑"/>
                <a:ea typeface="微软雅黑"/>
                <a:cs typeface="微软雅黑"/>
              </a:rPr>
              <a:t>· invented 的主体是模型，不是 Fosbury。</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20" b="0">
                <a:solidFill>
                  <a:srgbClr val="0F172A"/>
                </a:solidFill>
                <a:latin typeface="微软雅黑"/>
                <a:ea typeface="微软雅黑"/>
                <a:cs typeface="微软雅黑"/>
              </a:rPr>
              <a:t>这种理解要靠后来生物力学专家的分析，他们努力去理解一个过于复杂、过于反常规、根本不可能由他们自己的数学模拟发明出来的动作。</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comprehend 理解 ↔ understand / explain；unorthodox 非常规的 ↔ unusual</a:t>
            </a:r>
          </a:p>
          <a:p>
            <a:pPr algn="l"/>
            <a:r>
              <a:rPr sz="1850" b="1">
                <a:solidFill>
                  <a:srgbClr val="0F172A"/>
                </a:solidFill>
                <a:latin typeface="微软雅黑"/>
                <a:ea typeface="微软雅黑"/>
                <a:cs typeface="微软雅黑"/>
              </a:rPr>
              <a:t>too ... ever to have been invented ＝ 不可能被发明出来</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Q13｜Raglin 认为目前的认识处于什么水平</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66</a:t>
            </a:r>
          </a:p>
        </p:txBody>
      </p:sp>
      <p:sp>
        <p:nvSpPr>
          <p:cNvPr id="8" name="Rectangle 7"/>
          <p:cNvSpPr/>
          <p:nvPr/>
        </p:nvSpPr>
        <p:spPr>
          <a:xfrm>
            <a:off x="658368" y="1280160"/>
            <a:ext cx="10881360" cy="530352"/>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John S. Raglin believes our current knowledge of athletics is</a:t>
            </a:r>
          </a:p>
        </p:txBody>
      </p:sp>
      <p:sp>
        <p:nvSpPr>
          <p:cNvPr id="9" name="Rectangle 8"/>
          <p:cNvSpPr/>
          <p:nvPr/>
        </p:nvSpPr>
        <p:spPr>
          <a:xfrm>
            <a:off x="658368" y="1883664"/>
            <a:ext cx="10881360" cy="1225296"/>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0">
                <a:solidFill>
                  <a:srgbClr val="0F172A"/>
                </a:solidFill>
                <a:latin typeface="微软雅黑"/>
                <a:ea typeface="微软雅黑"/>
                <a:cs typeface="微软雅黑"/>
              </a:rPr>
              <a:t>A  mistaken.</a:t>
            </a:r>
          </a:p>
          <a:p>
            <a:pPr algn="l"/>
            <a:r>
              <a:rPr sz="1800" b="0">
                <a:solidFill>
                  <a:srgbClr val="0F172A"/>
                </a:solidFill>
                <a:latin typeface="微软雅黑"/>
                <a:ea typeface="微软雅黑"/>
                <a:cs typeface="微软雅黑"/>
              </a:rPr>
              <a:t>B  basic.</a:t>
            </a:r>
          </a:p>
          <a:p>
            <a:pPr algn="l"/>
            <a:r>
              <a:rPr sz="1800" b="0">
                <a:solidFill>
                  <a:srgbClr val="0F172A"/>
                </a:solidFill>
                <a:latin typeface="微软雅黑"/>
                <a:ea typeface="微软雅黑"/>
                <a:cs typeface="微软雅黑"/>
              </a:rPr>
              <a:t>C  diverse.</a:t>
            </a:r>
          </a:p>
          <a:p>
            <a:pPr algn="l"/>
            <a:r>
              <a:rPr sz="1800" b="0">
                <a:solidFill>
                  <a:srgbClr val="0F172A"/>
                </a:solidFill>
                <a:latin typeface="微软雅黑"/>
                <a:ea typeface="微软雅黑"/>
                <a:cs typeface="微软雅黑"/>
              </a:rPr>
              <a:t>D  theoretical.</a:t>
            </a:r>
          </a:p>
        </p:txBody>
      </p:sp>
      <p:sp>
        <p:nvSpPr>
          <p:cNvPr id="10" name="Rectangle 9"/>
          <p:cNvSpPr/>
          <p:nvPr/>
        </p:nvSpPr>
        <p:spPr>
          <a:xfrm>
            <a:off x="713232" y="325526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1" name="Rectangle 10"/>
          <p:cNvSpPr/>
          <p:nvPr/>
        </p:nvSpPr>
        <p:spPr>
          <a:xfrm>
            <a:off x="713232" y="3566160"/>
            <a:ext cx="3246120" cy="1170432"/>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0">
                <a:solidFill>
                  <a:srgbClr val="0F172A"/>
                </a:solidFill>
                <a:latin typeface="微软雅黑"/>
                <a:ea typeface="微软雅黑"/>
                <a:cs typeface="微软雅黑"/>
              </a:rPr>
              <a:t>锚点：Raglin / our understanding。</a:t>
            </a:r>
          </a:p>
          <a:p>
            <a:pPr algn="l"/>
            <a:r>
              <a:rPr sz="1800" b="0">
                <a:solidFill>
                  <a:srgbClr val="0F172A"/>
                </a:solidFill>
                <a:latin typeface="微软雅黑"/>
                <a:ea typeface="微软雅黑"/>
                <a:cs typeface="微软雅黑"/>
              </a:rPr>
              <a:t>找他对“认知水平”的定性词。</a:t>
            </a:r>
          </a:p>
        </p:txBody>
      </p:sp>
      <p:sp>
        <p:nvSpPr>
          <p:cNvPr id="12" name="Rectangle 11"/>
          <p:cNvSpPr/>
          <p:nvPr/>
        </p:nvSpPr>
        <p:spPr>
          <a:xfrm>
            <a:off x="4297680" y="325526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3" name="Rectangle 12"/>
          <p:cNvSpPr/>
          <p:nvPr/>
        </p:nvSpPr>
        <p:spPr>
          <a:xfrm>
            <a:off x="4297680" y="3566160"/>
            <a:ext cx="7178040" cy="1170432"/>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P9 S4: So many variables enter into the equation, and our understanding in many cases is fundamental. We've got a long way to go.</a:t>
            </a:r>
          </a:p>
        </p:txBody>
      </p:sp>
      <p:sp>
        <p:nvSpPr>
          <p:cNvPr id="14" name="Rectangle 13"/>
          <p:cNvSpPr/>
          <p:nvPr/>
        </p:nvSpPr>
        <p:spPr>
          <a:xfrm>
            <a:off x="713232" y="4919472"/>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5" name="Rectangle 14"/>
          <p:cNvSpPr/>
          <p:nvPr/>
        </p:nvSpPr>
        <p:spPr>
          <a:xfrm>
            <a:off x="713232" y="5230368"/>
            <a:ext cx="6675120" cy="1060704"/>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0">
                <a:solidFill>
                  <a:srgbClr val="0F172A"/>
                </a:solidFill>
                <a:latin typeface="微软雅黑"/>
                <a:ea typeface="微软雅黑"/>
                <a:cs typeface="微软雅黑"/>
              </a:rPr>
              <a:t>fundamental 在此指“还停留在基础阶段”，不是“根本重要”。</a:t>
            </a:r>
          </a:p>
          <a:p>
            <a:pPr algn="l"/>
            <a:r>
              <a:rPr sz="1800" b="0">
                <a:solidFill>
                  <a:srgbClr val="0F172A"/>
                </a:solidFill>
                <a:latin typeface="微软雅黑"/>
                <a:ea typeface="微软雅黑"/>
                <a:cs typeface="微软雅黑"/>
              </a:rPr>
              <a:t>下一句 a long way to go 印证：路还很长。</a:t>
            </a:r>
          </a:p>
          <a:p>
            <a:pPr algn="l"/>
            <a:r>
              <a:rPr sz="1800" b="0">
                <a:solidFill>
                  <a:srgbClr val="0F172A"/>
                </a:solidFill>
                <a:latin typeface="微软雅黑"/>
                <a:ea typeface="微软雅黑"/>
                <a:cs typeface="微软雅黑"/>
              </a:rPr>
              <a:t>他没有说认识是错的（A）、多样的（C）或纯理论的（D）。</a:t>
            </a:r>
          </a:p>
        </p:txBody>
      </p:sp>
      <p:sp>
        <p:nvSpPr>
          <p:cNvPr id="16" name="Rectangle 15"/>
          <p:cNvSpPr/>
          <p:nvPr/>
        </p:nvSpPr>
        <p:spPr>
          <a:xfrm>
            <a:off x="7726679" y="4919472"/>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7" name="Rectangle 16"/>
          <p:cNvSpPr/>
          <p:nvPr/>
        </p:nvSpPr>
        <p:spPr>
          <a:xfrm>
            <a:off x="7726679" y="5230368"/>
            <a:ext cx="3749039" cy="1060704"/>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100" b="1">
                <a:solidFill>
                  <a:srgbClr val="0F172A"/>
                </a:solidFill>
                <a:latin typeface="微软雅黑"/>
                <a:ea typeface="微软雅黑"/>
                <a:cs typeface="微软雅黑"/>
              </a:rPr>
              <a:t>Answer: B</a:t>
            </a:r>
          </a:p>
          <a:p>
            <a:pPr algn="l"/>
            <a:r>
              <a:rPr sz="2100" b="1">
                <a:solidFill>
                  <a:srgbClr val="0F172A"/>
                </a:solidFill>
                <a:latin typeface="微软雅黑"/>
                <a:ea typeface="微软雅黑"/>
                <a:cs typeface="微软雅黑"/>
              </a:rPr>
              <a:t>basic 基础的</a:t>
            </a:r>
          </a:p>
          <a:p>
            <a:pPr algn="l"/>
            <a:r>
              <a:rPr sz="2100" b="1">
                <a:solidFill>
                  <a:srgbClr val="0F172A"/>
                </a:solidFill>
                <a:latin typeface="微软雅黑"/>
                <a:ea typeface="微软雅黑"/>
                <a:cs typeface="微软雅黑"/>
              </a:rPr>
              <a:t>fundamental = basic</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P1 Q13｜fundamental 的语境义要由下一句锁定</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1 · How much higher? How much faster?</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67</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50" b="1">
                <a:solidFill>
                  <a:srgbClr val="0F172A"/>
                </a:solidFill>
                <a:latin typeface="微软雅黑"/>
                <a:ea typeface="微软雅黑"/>
                <a:cs typeface="微软雅黑"/>
              </a:rPr>
              <a:t>So many variables enter into the equation, and our understanding in many cases is fundamental. We've got a long way to go.</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Our understanding is fundamental (basic).</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 So many variables ... 说明影响因素太多。</a:t>
            </a:r>
          </a:p>
          <a:p>
            <a:pPr algn="l"/>
            <a:r>
              <a:rPr sz="1700" b="0">
                <a:solidFill>
                  <a:srgbClr val="0F172A"/>
                </a:solidFill>
                <a:latin typeface="微软雅黑"/>
                <a:ea typeface="微软雅黑"/>
                <a:cs typeface="微软雅黑"/>
              </a:rPr>
              <a:t>· and 连接的第二个分句才是结论句。</a:t>
            </a:r>
          </a:p>
          <a:p>
            <a:pPr algn="l"/>
            <a:r>
              <a:rPr sz="1700" b="0">
                <a:solidFill>
                  <a:srgbClr val="0F172A"/>
                </a:solidFill>
                <a:latin typeface="微软雅黑"/>
                <a:ea typeface="微软雅黑"/>
                <a:cs typeface="微软雅黑"/>
              </a:rPr>
              <a:t>· in many cases 是范围限定，不影响判断。</a:t>
            </a:r>
          </a:p>
          <a:p>
            <a:pPr algn="l"/>
            <a:r>
              <a:rPr sz="1700" b="0">
                <a:solidFill>
                  <a:srgbClr val="0F172A"/>
                </a:solidFill>
                <a:latin typeface="微软雅黑"/>
                <a:ea typeface="微软雅黑"/>
                <a:cs typeface="微软雅黑"/>
              </a:rPr>
              <a:t>· 下一句 a long way to go 是关键佐证，必须连读。</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太多变量进入这个方程，我们在很多情况下的理解还很初步。我们要走的路还很长。</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variable 变量 ↔ factor；fundamental 基础的 ↔ basic</a:t>
            </a:r>
          </a:p>
          <a:p>
            <a:pPr algn="l"/>
            <a:r>
              <a:rPr sz="1850" b="1">
                <a:solidFill>
                  <a:srgbClr val="0F172A"/>
                </a:solidFill>
                <a:latin typeface="微软雅黑"/>
                <a:ea typeface="微软雅黑"/>
                <a:cs typeface="微软雅黑"/>
              </a:rPr>
              <a:t>have a long way to go = 还差得远</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小结</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Passage 1 小结：判断 + 填空 + 选择三件套</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68</a:t>
            </a:r>
          </a:p>
        </p:txBody>
      </p:sp>
      <p:sp>
        <p:nvSpPr>
          <p:cNvPr id="8" name="Rectangle 7"/>
          <p:cNvSpPr/>
          <p:nvPr/>
        </p:nvSpPr>
        <p:spPr>
          <a:xfrm>
            <a:off x="658368"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判断三陷阱</a:t>
            </a:r>
          </a:p>
        </p:txBody>
      </p:sp>
      <p:sp>
        <p:nvSpPr>
          <p:cNvPr id="9" name="Rectangle 8"/>
          <p:cNvSpPr/>
          <p:nvPr/>
        </p:nvSpPr>
        <p:spPr>
          <a:xfrm>
            <a:off x="658368" y="1828800"/>
            <a:ext cx="3429000" cy="3611880"/>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most greatly 比较级</a:t>
            </a:r>
          </a:p>
          <a:p>
            <a:pPr algn="l"/>
            <a:r>
              <a:rPr sz="2200" b="1">
                <a:solidFill>
                  <a:srgbClr val="0F172A"/>
                </a:solidFill>
                <a:latin typeface="微软雅黑"/>
                <a:ea typeface="微软雅黑"/>
                <a:cs typeface="微软雅黑"/>
              </a:rPr>
              <a:t>· fully 全称词</a:t>
            </a:r>
          </a:p>
          <a:p>
            <a:pPr algn="l"/>
            <a:r>
              <a:rPr sz="2200" b="1">
                <a:solidFill>
                  <a:srgbClr val="0F172A"/>
                </a:solidFill>
                <a:latin typeface="微软雅黑"/>
                <a:ea typeface="微软雅黑"/>
                <a:cs typeface="微软雅黑"/>
              </a:rPr>
              <a:t>· 时间范围之外</a:t>
            </a:r>
          </a:p>
        </p:txBody>
      </p:sp>
      <p:sp>
        <p:nvSpPr>
          <p:cNvPr id="10" name="Rectangle 9"/>
          <p:cNvSpPr/>
          <p:nvPr/>
        </p:nvSpPr>
        <p:spPr>
          <a:xfrm>
            <a:off x="4334256"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填空定位点</a:t>
            </a:r>
          </a:p>
        </p:txBody>
      </p:sp>
      <p:sp>
        <p:nvSpPr>
          <p:cNvPr id="11" name="Rectangle 10"/>
          <p:cNvSpPr/>
          <p:nvPr/>
        </p:nvSpPr>
        <p:spPr>
          <a:xfrm>
            <a:off x="4334256" y="1828800"/>
            <a:ext cx="3429000" cy="3611880"/>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running on their</a:t>
            </a:r>
          </a:p>
          <a:p>
            <a:pPr algn="l"/>
            <a:r>
              <a:rPr sz="2200" b="1">
                <a:solidFill>
                  <a:srgbClr val="0F172A"/>
                </a:solidFill>
                <a:latin typeface="微软雅黑"/>
                <a:ea typeface="微软雅黑"/>
                <a:cs typeface="微软雅黑"/>
              </a:rPr>
              <a:t>· increasing power</a:t>
            </a:r>
          </a:p>
          <a:p>
            <a:pPr algn="l"/>
            <a:r>
              <a:rPr sz="2200" b="1">
                <a:solidFill>
                  <a:srgbClr val="0F172A"/>
                </a:solidFill>
                <a:latin typeface="微软雅黑"/>
                <a:ea typeface="微软雅黑"/>
                <a:cs typeface="微软雅黑"/>
              </a:rPr>
              <a:t>· lead to injuries</a:t>
            </a:r>
          </a:p>
        </p:txBody>
      </p:sp>
      <p:sp>
        <p:nvSpPr>
          <p:cNvPr id="12" name="Rectangle 11"/>
          <p:cNvSpPr/>
          <p:nvPr/>
        </p:nvSpPr>
        <p:spPr>
          <a:xfrm>
            <a:off x="8010144"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选择题动作</a:t>
            </a:r>
          </a:p>
        </p:txBody>
      </p:sp>
      <p:sp>
        <p:nvSpPr>
          <p:cNvPr id="13" name="Rectangle 12"/>
          <p:cNvSpPr/>
          <p:nvPr/>
        </p:nvSpPr>
        <p:spPr>
          <a:xfrm>
            <a:off x="8010144" y="1828800"/>
            <a:ext cx="3429000" cy="3611880"/>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题干先限定</a:t>
            </a:r>
          </a:p>
          <a:p>
            <a:pPr algn="l"/>
            <a:r>
              <a:rPr sz="2200" b="1">
                <a:solidFill>
                  <a:srgbClr val="0F172A"/>
                </a:solidFill>
                <a:latin typeface="微软雅黑"/>
                <a:ea typeface="微软雅黑"/>
                <a:cs typeface="微软雅黑"/>
              </a:rPr>
              <a:t>· 原文找唯一句</a:t>
            </a:r>
          </a:p>
          <a:p>
            <a:pPr algn="l"/>
            <a:r>
              <a:rPr sz="2200" b="1">
                <a:solidFill>
                  <a:srgbClr val="0F172A"/>
                </a:solidFill>
                <a:latin typeface="微软雅黑"/>
                <a:ea typeface="微软雅黑"/>
                <a:cs typeface="微软雅黑"/>
              </a:rPr>
              <a:t>· 选项逐个排除</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文章地图</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PASSAGE 2 · What Do Whales Feel?</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69</a:t>
            </a:r>
          </a:p>
        </p:txBody>
      </p:sp>
      <p:sp>
        <p:nvSpPr>
          <p:cNvPr id="8" name="Rectangle 7"/>
          <p:cNvSpPr/>
          <p:nvPr/>
        </p:nvSpPr>
        <p:spPr>
          <a:xfrm>
            <a:off x="658368"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P1–P2</a:t>
            </a:r>
          </a:p>
        </p:txBody>
      </p:sp>
      <p:sp>
        <p:nvSpPr>
          <p:cNvPr id="9" name="Rectangle 8"/>
          <p:cNvSpPr/>
          <p:nvPr/>
        </p:nvSpPr>
        <p:spPr>
          <a:xfrm>
            <a:off x="658368" y="1828800"/>
            <a:ext cx="3429000" cy="3611880"/>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嗅觉：齿鲸没有</a:t>
            </a:r>
          </a:p>
          <a:p>
            <a:pPr algn="l"/>
            <a:r>
              <a:rPr sz="2200" b="1">
                <a:solidFill>
                  <a:srgbClr val="0F172A"/>
                </a:solidFill>
                <a:latin typeface="微软雅黑"/>
                <a:ea typeface="微软雅黑"/>
                <a:cs typeface="微软雅黑"/>
              </a:rPr>
              <a:t>· 味觉：神经退化</a:t>
            </a:r>
          </a:p>
          <a:p>
            <a:pPr algn="l"/>
            <a:r>
              <a:rPr sz="2200" b="1">
                <a:solidFill>
                  <a:srgbClr val="0F172A"/>
                </a:solidFill>
                <a:latin typeface="微软雅黑"/>
                <a:ea typeface="微软雅黑"/>
                <a:cs typeface="微软雅黑"/>
              </a:rPr>
              <a:t>· 触觉：其实很强</a:t>
            </a:r>
          </a:p>
        </p:txBody>
      </p:sp>
      <p:sp>
        <p:nvSpPr>
          <p:cNvPr id="10" name="Rectangle 9"/>
          <p:cNvSpPr/>
          <p:nvPr/>
        </p:nvSpPr>
        <p:spPr>
          <a:xfrm>
            <a:off x="4334256"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P3–P5</a:t>
            </a:r>
          </a:p>
        </p:txBody>
      </p:sp>
      <p:sp>
        <p:nvSpPr>
          <p:cNvPr id="11" name="Rectangle 10"/>
          <p:cNvSpPr/>
          <p:nvPr/>
        </p:nvSpPr>
        <p:spPr>
          <a:xfrm>
            <a:off x="4334256" y="1828800"/>
            <a:ext cx="3429000" cy="3611880"/>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视觉因种而异</a:t>
            </a:r>
          </a:p>
          <a:p>
            <a:pPr algn="l"/>
            <a:r>
              <a:rPr sz="2200" b="1">
                <a:solidFill>
                  <a:srgbClr val="0F172A"/>
                </a:solidFill>
                <a:latin typeface="微软雅黑"/>
                <a:ea typeface="微软雅黑"/>
                <a:cs typeface="微软雅黑"/>
              </a:rPr>
              <a:t>· 立体视觉的方向</a:t>
            </a:r>
          </a:p>
          <a:p>
            <a:pPr algn="l"/>
            <a:r>
              <a:rPr sz="2200" b="1">
                <a:solidFill>
                  <a:srgbClr val="0F172A"/>
                </a:solidFill>
                <a:latin typeface="微软雅黑"/>
                <a:ea typeface="微软雅黑"/>
                <a:cs typeface="微软雅黑"/>
              </a:rPr>
              <a:t>· 栖息地决定视力</a:t>
            </a:r>
          </a:p>
        </p:txBody>
      </p:sp>
      <p:sp>
        <p:nvSpPr>
          <p:cNvPr id="12" name="Rectangle 11"/>
          <p:cNvSpPr/>
          <p:nvPr/>
        </p:nvSpPr>
        <p:spPr>
          <a:xfrm>
            <a:off x="8010144"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P6</a:t>
            </a:r>
          </a:p>
        </p:txBody>
      </p:sp>
      <p:sp>
        <p:nvSpPr>
          <p:cNvPr id="13" name="Rectangle 12"/>
          <p:cNvSpPr/>
          <p:nvPr/>
        </p:nvSpPr>
        <p:spPr>
          <a:xfrm>
            <a:off x="8010144" y="1828800"/>
            <a:ext cx="3429000" cy="3611880"/>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听觉最发达</a:t>
            </a:r>
          </a:p>
          <a:p>
            <a:pPr algn="l"/>
            <a:r>
              <a:rPr sz="2200" b="1">
                <a:solidFill>
                  <a:srgbClr val="0F172A"/>
                </a:solidFill>
                <a:latin typeface="微软雅黑"/>
                <a:ea typeface="微软雅黑"/>
                <a:cs typeface="微软雅黑"/>
              </a:rPr>
              <a:t>· 低频 / 曲调式叫声</a:t>
            </a:r>
          </a:p>
          <a:p>
            <a:pPr algn="l"/>
            <a:r>
              <a:rPr sz="2200" b="1">
                <a:solidFill>
                  <a:srgbClr val="0F172A"/>
                </a:solidFill>
                <a:latin typeface="微软雅黑"/>
                <a:ea typeface="微软雅黑"/>
                <a:cs typeface="微软雅黑"/>
              </a:rPr>
              <a:t>· 齿鲸频谱更宽</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题型策略</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Passage 2 题型策略</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70</a:t>
            </a:r>
          </a:p>
        </p:txBody>
      </p:sp>
      <p:sp>
        <p:nvSpPr>
          <p:cNvPr id="8" name="Rectangle 7"/>
          <p:cNvSpPr/>
          <p:nvPr/>
        </p:nvSpPr>
        <p:spPr>
          <a:xfrm>
            <a:off x="731520" y="1417320"/>
            <a:ext cx="10744200" cy="148132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Q15–21 表格填空：表格是“原文顺序的地图”，先读行标题（SENSE/SPECIES）再回段。</a:t>
            </a:r>
          </a:p>
        </p:txBody>
      </p:sp>
      <p:sp>
        <p:nvSpPr>
          <p:cNvPr id="9" name="Rectangle 8"/>
          <p:cNvSpPr/>
          <p:nvPr/>
        </p:nvSpPr>
        <p:spPr>
          <a:xfrm>
            <a:off x="731520" y="3099815"/>
            <a:ext cx="10744200" cy="14813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答案词数 NO MORE THAN THREE WORDS，先判断该填“物种名”还是“方向/频率”。</a:t>
            </a:r>
          </a:p>
        </p:txBody>
      </p:sp>
      <p:sp>
        <p:nvSpPr>
          <p:cNvPr id="10" name="Rectangle 9"/>
          <p:cNvSpPr/>
          <p:nvPr/>
        </p:nvSpPr>
        <p:spPr>
          <a:xfrm>
            <a:off x="731520" y="4782312"/>
            <a:ext cx="10744200" cy="148132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Q22–26 简答题：题干疑问词决定答案词性——Which sense→感官名，Which species→物种名。</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P2 Q15｜Taste 行：神经连接的是什么</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2 · What Do Whales Feel?</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71</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Taste｜some types｜poor｜nerves linked to their 15 …………… are underdeveloped</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nerves linked to their + 空格 → 名词。</a:t>
            </a:r>
          </a:p>
          <a:p>
            <a:pPr algn="l"/>
            <a:r>
              <a:rPr sz="1900" b="0">
                <a:solidFill>
                  <a:srgbClr val="0F172A"/>
                </a:solidFill>
                <a:latin typeface="微软雅黑"/>
                <a:ea typeface="微软雅黑"/>
                <a:cs typeface="微软雅黑"/>
              </a:rPr>
              <a:t>锚点：Taste（味觉）。</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P1 S5: Similarly, although at least some cetaceans have taste buds, the nerves serving these have degenerated or are rudimentary.</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linked to ↔ serving（连接／服务于）。</a:t>
            </a:r>
          </a:p>
          <a:p>
            <a:pPr algn="l"/>
            <a:r>
              <a:rPr sz="1900" b="0">
                <a:solidFill>
                  <a:srgbClr val="0F172A"/>
                </a:solidFill>
                <a:latin typeface="微软雅黑"/>
                <a:ea typeface="微软雅黑"/>
                <a:cs typeface="微软雅黑"/>
              </a:rPr>
              <a:t>underdeveloped ↔ degenerated or are rudimentary（退化、发育不全）。</a:t>
            </a:r>
          </a:p>
          <a:p>
            <a:pPr algn="l"/>
            <a:r>
              <a:rPr sz="1900" b="0">
                <a:solidFill>
                  <a:srgbClr val="0F172A"/>
                </a:solidFill>
                <a:latin typeface="微软雅黑"/>
                <a:ea typeface="微软雅黑"/>
                <a:cs typeface="微软雅黑"/>
              </a:rPr>
              <a:t>these 回指 taste buds，把代词还原就是答案。</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taste buds</a:t>
            </a:r>
          </a:p>
          <a:p>
            <a:pPr algn="l"/>
            <a:r>
              <a:rPr sz="2100" b="1">
                <a:solidFill>
                  <a:srgbClr val="0F172A"/>
                </a:solidFill>
                <a:latin typeface="微软雅黑"/>
                <a:ea typeface="微软雅黑"/>
                <a:cs typeface="微软雅黑"/>
              </a:rPr>
              <a:t>两词，符合≤3词。</a:t>
            </a:r>
          </a:p>
          <a:p>
            <a:pPr algn="l"/>
            <a:r>
              <a:rPr sz="2100" b="1">
                <a:solidFill>
                  <a:srgbClr val="0F172A"/>
                </a:solidFill>
                <a:latin typeface="微软雅黑"/>
                <a:ea typeface="微软雅黑"/>
                <a:cs typeface="微软雅黑"/>
              </a:rPr>
              <a:t>代词还原题。</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P2 Q15｜although 让步 + these 的回指</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2 · What Do Whales Feel?</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72</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50" b="1">
                <a:solidFill>
                  <a:srgbClr val="0F172A"/>
                </a:solidFill>
                <a:latin typeface="微软雅黑"/>
                <a:ea typeface="微软雅黑"/>
                <a:cs typeface="微软雅黑"/>
              </a:rPr>
              <a:t>Similarly, although at least some cetaceans have taste buds, the nerves serving these have degenerated or are rudimentary.</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The nerves have degenerated or are rudimentary.</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600" b="0">
                <a:solidFill>
                  <a:srgbClr val="0F172A"/>
                </a:solidFill>
                <a:latin typeface="微软雅黑"/>
                <a:ea typeface="微软雅黑"/>
                <a:cs typeface="微软雅黑"/>
              </a:rPr>
              <a:t>· although ... 是让步从句：有味蕾。</a:t>
            </a:r>
          </a:p>
          <a:p>
            <a:pPr algn="l"/>
            <a:r>
              <a:rPr sz="1600" b="0">
                <a:solidFill>
                  <a:srgbClr val="0F172A"/>
                </a:solidFill>
                <a:latin typeface="微软雅黑"/>
                <a:ea typeface="微软雅黑"/>
                <a:cs typeface="微软雅黑"/>
              </a:rPr>
              <a:t>· 主句主语 the nerves，谓语 have degenerated / are。</a:t>
            </a:r>
          </a:p>
          <a:p>
            <a:pPr algn="l"/>
            <a:r>
              <a:rPr sz="1600" b="0">
                <a:solidFill>
                  <a:srgbClr val="0F172A"/>
                </a:solidFill>
                <a:latin typeface="微软雅黑"/>
                <a:ea typeface="微软雅黑"/>
                <a:cs typeface="微软雅黑"/>
              </a:rPr>
              <a:t>· serving these 是现在分词后置定语，修饰 nerves。</a:t>
            </a:r>
          </a:p>
          <a:p>
            <a:pPr algn="l"/>
            <a:r>
              <a:rPr sz="1600" b="0">
                <a:solidFill>
                  <a:srgbClr val="0F172A"/>
                </a:solidFill>
                <a:latin typeface="微软雅黑"/>
                <a:ea typeface="微软雅黑"/>
                <a:cs typeface="微软雅黑"/>
              </a:rPr>
              <a:t>· these = taste buds，这是本题的答案来源。</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同样，尽管至少有些鲸类拥有味蕾，但为这些味蕾服务的神经已经退化或发育不全。</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degenerate 退化 ↔ deteriorate；rudimentary 未发育的 ↔ underdeveloped</a:t>
            </a:r>
          </a:p>
          <a:p>
            <a:pPr algn="l"/>
            <a:r>
              <a:rPr sz="1850" b="1">
                <a:solidFill>
                  <a:srgbClr val="0F172A"/>
                </a:solidFill>
                <a:latin typeface="微软雅黑"/>
                <a:ea typeface="微软雅黑"/>
                <a:cs typeface="微软雅黑"/>
              </a:rPr>
              <a:t>serve = be linked to（此处指神经连接）</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P2 Q16｜Vision 行：谁没有立体视觉</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2 · What Do Whales Feel?</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73</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400" b="1">
                <a:solidFill>
                  <a:srgbClr val="0F172A"/>
                </a:solidFill>
                <a:latin typeface="微软雅黑"/>
                <a:ea typeface="微软雅黑"/>
                <a:cs typeface="微软雅黑"/>
              </a:rPr>
              <a:t>Vision｜16 ……………｜yes｜probably do not have stereoscopic vision</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空格在 SPECIES 列 → 填物种名。</a:t>
            </a:r>
          </a:p>
          <a:p>
            <a:pPr algn="l"/>
            <a:r>
              <a:rPr sz="1900" b="0">
                <a:solidFill>
                  <a:srgbClr val="0F172A"/>
                </a:solidFill>
                <a:latin typeface="微软雅黑"/>
                <a:ea typeface="微软雅黑"/>
                <a:cs typeface="微软雅黑"/>
              </a:rPr>
              <a:t>锚点：do not have stereoscopic vision。</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P3 S3: However, the position of the eyes so restricts the field of vision in baleen whales that they probably do not have stereoscopic vision.</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表格 COMMENTS 与原文后半句逐词对应。</a:t>
            </a:r>
          </a:p>
          <a:p>
            <a:pPr algn="l"/>
            <a:r>
              <a:rPr sz="1900" b="0">
                <a:solidFill>
                  <a:srgbClr val="0F172A"/>
                </a:solidFill>
                <a:latin typeface="微软雅黑"/>
                <a:ea typeface="微软雅黑"/>
                <a:cs typeface="微软雅黑"/>
              </a:rPr>
              <a:t>so ... that 结果状语从句里的主语就是答案主体。</a:t>
            </a:r>
          </a:p>
          <a:p>
            <a:pPr algn="l"/>
            <a:r>
              <a:rPr sz="1900" b="0">
                <a:solidFill>
                  <a:srgbClr val="0F172A"/>
                </a:solidFill>
                <a:latin typeface="微软雅黑"/>
                <a:ea typeface="微软雅黑"/>
                <a:cs typeface="微软雅黑"/>
              </a:rPr>
              <a:t>in baleen whales → 填 baleen whales。</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baleen whales</a:t>
            </a:r>
          </a:p>
          <a:p>
            <a:pPr algn="l"/>
            <a:r>
              <a:rPr sz="2100" b="1">
                <a:solidFill>
                  <a:srgbClr val="0F172A"/>
                </a:solidFill>
                <a:latin typeface="微软雅黑"/>
                <a:ea typeface="微软雅黑"/>
                <a:cs typeface="微软雅黑"/>
              </a:rPr>
              <a:t>也可写 baleen species。</a:t>
            </a:r>
          </a:p>
          <a:p>
            <a:pPr algn="l"/>
            <a:r>
              <a:rPr sz="2100" b="1">
                <a:solidFill>
                  <a:srgbClr val="0F172A"/>
                </a:solidFill>
                <a:latin typeface="微软雅黑"/>
                <a:ea typeface="微软雅黑"/>
                <a:cs typeface="微软雅黑"/>
              </a:rPr>
              <a:t>≤3 词。</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P2 Q16｜so ... that 结果状语从句</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2 · What Do Whales Feel?</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74</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50" b="1">
                <a:solidFill>
                  <a:srgbClr val="0F172A"/>
                </a:solidFill>
                <a:latin typeface="微软雅黑"/>
                <a:ea typeface="微软雅黑"/>
                <a:cs typeface="微软雅黑"/>
              </a:rPr>
              <a:t>However, the position of the eyes so restricts the field of vision in baleen whales that they probably do not have stereoscopic vision.</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The position of the eyes restricts the field of vision.</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 主语是 the position of the eyes，不是 whales。</a:t>
            </a:r>
          </a:p>
          <a:p>
            <a:pPr algn="l"/>
            <a:r>
              <a:rPr sz="1700" b="0">
                <a:solidFill>
                  <a:srgbClr val="0F172A"/>
                </a:solidFill>
                <a:latin typeface="微软雅黑"/>
                <a:ea typeface="微软雅黑"/>
                <a:cs typeface="微软雅黑"/>
              </a:rPr>
              <a:t>· so + 动词 ... that ... 是“如此……以至于……”。</a:t>
            </a:r>
          </a:p>
          <a:p>
            <a:pPr algn="l"/>
            <a:r>
              <a:rPr sz="1700" b="0">
                <a:solidFill>
                  <a:srgbClr val="0F172A"/>
                </a:solidFill>
                <a:latin typeface="微软雅黑"/>
                <a:ea typeface="微软雅黑"/>
                <a:cs typeface="微软雅黑"/>
              </a:rPr>
              <a:t>· that 从句是结果，表格考的正是这个结果。</a:t>
            </a:r>
          </a:p>
          <a:p>
            <a:pPr algn="l"/>
            <a:r>
              <a:rPr sz="1700" b="0">
                <a:solidFill>
                  <a:srgbClr val="0F172A"/>
                </a:solidFill>
                <a:latin typeface="微软雅黑"/>
                <a:ea typeface="微软雅黑"/>
                <a:cs typeface="微软雅黑"/>
              </a:rPr>
              <a:t>· they 回指 baleen whales。</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然而，眼睛的位置极大地限制了须鲸的视野，以至于它们很可能没有立体视觉。</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restrict 限制 ↔ limit；field of vision 视野</a:t>
            </a:r>
          </a:p>
          <a:p>
            <a:pPr algn="l"/>
            <a:r>
              <a:rPr sz="1850" b="1">
                <a:solidFill>
                  <a:srgbClr val="0F172A"/>
                </a:solidFill>
                <a:latin typeface="微软雅黑"/>
                <a:ea typeface="微软雅黑"/>
                <a:cs typeface="微软雅黑"/>
              </a:rPr>
              <a:t>stereoscopic vision 立体视觉；baleen 须鲸的</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P2 Q17｜海豚与鼠海豚的立体视觉方向</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2 · What Do Whales Feel?</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75</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dolphins, porpoises｜yes｜probably have stereoscopic vision 17 …………… and ……………</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空格填方向词，两个并列。</a:t>
            </a:r>
          </a:p>
          <a:p>
            <a:pPr algn="l"/>
            <a:r>
              <a:rPr sz="1900" b="0">
                <a:solidFill>
                  <a:srgbClr val="0F172A"/>
                </a:solidFill>
                <a:latin typeface="微软雅黑"/>
                <a:ea typeface="微软雅黑"/>
                <a:cs typeface="微软雅黑"/>
              </a:rPr>
              <a:t>锚点：dolphins, porpoises。</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P4 S1: On the other hand, the position of the eyes in most dolphins and porpoises suggests that they have stereoscopic vision forward and downward.</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表格物种与原文 most dolphins and porpoises 对应。</a:t>
            </a:r>
          </a:p>
          <a:p>
            <a:pPr algn="l"/>
            <a:r>
              <a:rPr sz="1900" b="0">
                <a:solidFill>
                  <a:srgbClr val="0F172A"/>
                </a:solidFill>
                <a:latin typeface="微软雅黑"/>
                <a:ea typeface="微软雅黑"/>
                <a:cs typeface="微软雅黑"/>
              </a:rPr>
              <a:t>stereoscopic vision 后直接跟方向词。</a:t>
            </a:r>
          </a:p>
          <a:p>
            <a:pPr algn="l"/>
            <a:r>
              <a:rPr sz="1900" b="0">
                <a:solidFill>
                  <a:srgbClr val="0F172A"/>
                </a:solidFill>
                <a:latin typeface="微软雅黑"/>
                <a:ea typeface="微软雅黑"/>
                <a:cs typeface="微软雅黑"/>
              </a:rPr>
              <a:t>照抄 forward and downward，注意不要与下一行的 upward 混。</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100" b="1">
                <a:solidFill>
                  <a:srgbClr val="0F172A"/>
                </a:solidFill>
                <a:latin typeface="微软雅黑"/>
                <a:ea typeface="微软雅黑"/>
                <a:cs typeface="微软雅黑"/>
              </a:rPr>
              <a:t>Answer: forward and downward</a:t>
            </a:r>
          </a:p>
          <a:p>
            <a:pPr algn="l"/>
            <a:r>
              <a:rPr sz="2100" b="1">
                <a:solidFill>
                  <a:srgbClr val="0F172A"/>
                </a:solidFill>
                <a:latin typeface="微软雅黑"/>
                <a:ea typeface="微软雅黑"/>
                <a:cs typeface="微软雅黑"/>
              </a:rPr>
              <a:t>三词，刚好≤3。</a:t>
            </a:r>
          </a:p>
          <a:p>
            <a:pPr algn="l"/>
            <a:r>
              <a:rPr sz="2100" b="1">
                <a:solidFill>
                  <a:srgbClr val="0F172A"/>
                </a:solidFill>
                <a:latin typeface="微软雅黑"/>
                <a:ea typeface="微软雅黑"/>
                <a:cs typeface="微软雅黑"/>
              </a:rPr>
              <a:t>别写成 upward。</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P2 Q17｜suggests that 引出推断</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2 · What Do Whales Feel?</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76</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50" b="1">
                <a:solidFill>
                  <a:srgbClr val="0F172A"/>
                </a:solidFill>
                <a:latin typeface="微软雅黑"/>
                <a:ea typeface="微软雅黑"/>
                <a:cs typeface="微软雅黑"/>
              </a:rPr>
              <a:t>On the other hand, the position of the eyes in most dolphins and porpoises suggests that they have stereoscopic vision forward and downward.</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The position of the eyes suggests that they have stereoscopic vision.</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500" b="0">
                <a:solidFill>
                  <a:srgbClr val="0F172A"/>
                </a:solidFill>
                <a:latin typeface="微软雅黑"/>
                <a:ea typeface="微软雅黑"/>
                <a:cs typeface="微软雅黑"/>
              </a:rPr>
              <a:t>· On the other hand 表示与上段须鲸对比。</a:t>
            </a:r>
          </a:p>
          <a:p>
            <a:pPr algn="l"/>
            <a:r>
              <a:rPr sz="1500" b="0">
                <a:solidFill>
                  <a:srgbClr val="0F172A"/>
                </a:solidFill>
                <a:latin typeface="微软雅黑"/>
                <a:ea typeface="微软雅黑"/>
                <a:cs typeface="微软雅黑"/>
              </a:rPr>
              <a:t>· 主语仍是 the position of the eyes。</a:t>
            </a:r>
          </a:p>
          <a:p>
            <a:pPr algn="l"/>
            <a:r>
              <a:rPr sz="1500" b="0">
                <a:solidFill>
                  <a:srgbClr val="0F172A"/>
                </a:solidFill>
                <a:latin typeface="微软雅黑"/>
                <a:ea typeface="微软雅黑"/>
                <a:cs typeface="微软雅黑"/>
              </a:rPr>
              <a:t>· suggests that ... 是宾语从句，内容是推断结论。</a:t>
            </a:r>
          </a:p>
          <a:p>
            <a:pPr algn="l"/>
            <a:r>
              <a:rPr sz="1500" b="0">
                <a:solidFill>
                  <a:srgbClr val="0F172A"/>
                </a:solidFill>
                <a:latin typeface="微软雅黑"/>
                <a:ea typeface="微软雅黑"/>
                <a:cs typeface="微软雅黑"/>
              </a:rPr>
              <a:t>· forward and downward 是方向状语，本题考点。</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另一方面，大多数海豚和鼠海豚的眼睛位置表明，它们拥有向前和向下的立体视觉。</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porpoise 鼠海豚；suggest 表明 ↔ indicate / imply</a:t>
            </a:r>
          </a:p>
          <a:p>
            <a:pPr algn="l"/>
            <a:r>
              <a:rPr sz="1850" b="1">
                <a:solidFill>
                  <a:srgbClr val="0F172A"/>
                </a:solidFill>
                <a:latin typeface="微软雅黑"/>
                <a:ea typeface="微软雅黑"/>
                <a:cs typeface="微软雅黑"/>
              </a:rPr>
              <a:t>forward and downward 向前和向下</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P2 Q18｜向前向上立体视觉属于哪一类</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2 · What Do Whales Feel?</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77</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18 ……………｜yes｜probably have stereoscopic vision forward and upward</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空格在 SPECIES 列 → 物种名。</a:t>
            </a:r>
          </a:p>
          <a:p>
            <a:pPr algn="l"/>
            <a:r>
              <a:rPr sz="1900" b="0">
                <a:solidFill>
                  <a:srgbClr val="0F172A"/>
                </a:solidFill>
                <a:latin typeface="微软雅黑"/>
                <a:ea typeface="微软雅黑"/>
                <a:cs typeface="微软雅黑"/>
              </a:rPr>
              <a:t>锚点：forward and upward。</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P4 S2: Eye position in freshwater dolphins, which often swim on their side or upside down while feeding, suggests that what vision they have is stereoscopic forward and upward.</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用 forward and upward 反向定位，一句命中。</a:t>
            </a:r>
          </a:p>
          <a:p>
            <a:pPr algn="l"/>
            <a:r>
              <a:rPr sz="1900" b="0">
                <a:solidFill>
                  <a:srgbClr val="0F172A"/>
                </a:solidFill>
                <a:latin typeface="微软雅黑"/>
                <a:ea typeface="微软雅黑"/>
                <a:cs typeface="微软雅黑"/>
              </a:rPr>
              <a:t>该句主语是 Eye position in freshwater dolphins。</a:t>
            </a:r>
          </a:p>
          <a:p>
            <a:pPr algn="l"/>
            <a:r>
              <a:rPr sz="1900" b="0">
                <a:solidFill>
                  <a:srgbClr val="0F172A"/>
                </a:solidFill>
                <a:latin typeface="微软雅黑"/>
                <a:ea typeface="微软雅黑"/>
                <a:cs typeface="微软雅黑"/>
              </a:rPr>
              <a:t>填 freshwater dolphins，不能只写 dolphins（会与上一行混）。</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100" b="1">
                <a:solidFill>
                  <a:srgbClr val="0F172A"/>
                </a:solidFill>
                <a:latin typeface="微软雅黑"/>
                <a:ea typeface="微软雅黑"/>
                <a:cs typeface="微软雅黑"/>
              </a:rPr>
              <a:t>Answer: freshwater dolphins</a:t>
            </a:r>
          </a:p>
          <a:p>
            <a:pPr algn="l"/>
            <a:r>
              <a:rPr sz="2100" b="1">
                <a:solidFill>
                  <a:srgbClr val="0F172A"/>
                </a:solidFill>
                <a:latin typeface="微软雅黑"/>
                <a:ea typeface="微软雅黑"/>
                <a:cs typeface="微软雅黑"/>
              </a:rPr>
              <a:t>必须带 freshwater。</a:t>
            </a:r>
          </a:p>
          <a:p>
            <a:pPr algn="l"/>
            <a:r>
              <a:rPr sz="2100" b="1">
                <a:solidFill>
                  <a:srgbClr val="0F172A"/>
                </a:solidFill>
                <a:latin typeface="微软雅黑"/>
                <a:ea typeface="微软雅黑"/>
                <a:cs typeface="微软雅黑"/>
              </a:rPr>
              <a:t>两词。</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P2 Q18｜which 非限定定从 + what 名词性从句</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2 · What Do Whales Feel?</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78</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Eye position in freshwater dolphins, which often swim on their side or upside down while feeding, suggests that what vision they have is stereoscopic forward and upward.</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Eye position suggests that their vision is stereoscopic forward and upward.</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500" b="0">
                <a:solidFill>
                  <a:srgbClr val="0F172A"/>
                </a:solidFill>
                <a:latin typeface="微软雅黑"/>
                <a:ea typeface="微软雅黑"/>
                <a:cs typeface="微软雅黑"/>
              </a:rPr>
              <a:t>· which ... feeding 是插入的非限定定语从句，先盖住。</a:t>
            </a:r>
          </a:p>
          <a:p>
            <a:pPr algn="l"/>
            <a:r>
              <a:rPr sz="1500" b="0">
                <a:solidFill>
                  <a:srgbClr val="0F172A"/>
                </a:solidFill>
                <a:latin typeface="微软雅黑"/>
                <a:ea typeface="微软雅黑"/>
                <a:cs typeface="微软雅黑"/>
              </a:rPr>
              <a:t>· 盖住后主干立刻显形：Eye position suggests that ...。</a:t>
            </a:r>
          </a:p>
          <a:p>
            <a:pPr algn="l"/>
            <a:r>
              <a:rPr sz="1500" b="0">
                <a:solidFill>
                  <a:srgbClr val="0F172A"/>
                </a:solidFill>
                <a:latin typeface="微软雅黑"/>
                <a:ea typeface="微软雅黑"/>
                <a:cs typeface="微软雅黑"/>
              </a:rPr>
              <a:t>· what vision they have 是 that 从句里的主语（名词性从句）。</a:t>
            </a:r>
          </a:p>
          <a:p>
            <a:pPr algn="l"/>
            <a:r>
              <a:rPr sz="1500" b="0">
                <a:solidFill>
                  <a:srgbClr val="0F172A"/>
                </a:solidFill>
                <a:latin typeface="微软雅黑"/>
                <a:ea typeface="微软雅黑"/>
                <a:cs typeface="微软雅黑"/>
              </a:rPr>
              <a:t>· while feeding 是时间状语，Q23 会再用到。</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淡水海豚的眼睛位置表明，它们所具有的视觉是向前和向上的立体视觉；它们进食时常侧游或倒着游。</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freshwater 淡水的；upside down 上下颠倒地</a:t>
            </a:r>
          </a:p>
          <a:p>
            <a:pPr algn="l"/>
            <a:r>
              <a:rPr sz="1850" b="1">
                <a:solidFill>
                  <a:srgbClr val="0F172A"/>
                </a:solidFill>
                <a:latin typeface="微软雅黑"/>
                <a:ea typeface="微软雅黑"/>
                <a:cs typeface="微软雅黑"/>
              </a:rPr>
              <a:t>feed 进食 ↔ eat；on their side 侧着身体</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P2 Q19｜宽吻海豚在哪种介质中视力出众</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2 · What Do Whales Feel?</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79</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bottlenose dolphins｜yes｜exceptional in 19 …………… and good in air-water interface</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exceptional in + 空格 → 名词。</a:t>
            </a:r>
          </a:p>
          <a:p>
            <a:pPr algn="l"/>
            <a:r>
              <a:rPr sz="1900" b="0">
                <a:solidFill>
                  <a:srgbClr val="0F172A"/>
                </a:solidFill>
                <a:latin typeface="微软雅黑"/>
                <a:ea typeface="微软雅黑"/>
                <a:cs typeface="微软雅黑"/>
              </a:rPr>
              <a:t>与后半句 air-water interface 并列。</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P4 S3: By comparison, the bottlenose dolphin has extremely keen vision in water.</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exceptional ↔ extremely keen（极其敏锐）。</a:t>
            </a:r>
          </a:p>
          <a:p>
            <a:pPr algn="l"/>
            <a:r>
              <a:rPr sz="1900" b="0">
                <a:solidFill>
                  <a:srgbClr val="0F172A"/>
                </a:solidFill>
                <a:latin typeface="微软雅黑"/>
                <a:ea typeface="微软雅黑"/>
                <a:cs typeface="微软雅黑"/>
              </a:rPr>
              <a:t>in + 空格 与原文 in water 完全对应。</a:t>
            </a:r>
          </a:p>
          <a:p>
            <a:pPr algn="l"/>
            <a:r>
              <a:rPr sz="1900" b="0">
                <a:solidFill>
                  <a:srgbClr val="0F172A"/>
                </a:solidFill>
                <a:latin typeface="微软雅黑"/>
                <a:ea typeface="微软雅黑"/>
                <a:cs typeface="微软雅黑"/>
              </a:rPr>
              <a:t>答案就是 water，一词即可。</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water</a:t>
            </a:r>
          </a:p>
          <a:p>
            <a:pPr algn="l"/>
            <a:r>
              <a:rPr sz="2100" b="1">
                <a:solidFill>
                  <a:srgbClr val="0F172A"/>
                </a:solidFill>
                <a:latin typeface="微软雅黑"/>
                <a:ea typeface="微软雅黑"/>
                <a:cs typeface="微软雅黑"/>
              </a:rPr>
              <a:t>ONE WORD 足够。</a:t>
            </a:r>
          </a:p>
          <a:p>
            <a:pPr algn="l"/>
            <a:r>
              <a:rPr sz="2100" b="1">
                <a:solidFill>
                  <a:srgbClr val="0F172A"/>
                </a:solidFill>
                <a:latin typeface="微软雅黑"/>
                <a:ea typeface="微软雅黑"/>
                <a:cs typeface="微软雅黑"/>
              </a:rPr>
              <a:t>别写 in water。</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P2 Q19｜By comparison 的对比信号</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2 · What Do Whales Feel?</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80</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By comparison, the bottlenose dolphin has extremely keen vision in water. Judging from the way it watches and tracks airborne flying fish, it can apparently see fairly well through the air-water interface as well.</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The bottlenose dolphin has extremely keen vision in water.</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600" b="0">
                <a:solidFill>
                  <a:srgbClr val="0F172A"/>
                </a:solidFill>
                <a:latin typeface="微软雅黑"/>
                <a:ea typeface="微软雅黑"/>
                <a:cs typeface="微软雅黑"/>
              </a:rPr>
              <a:t>· By comparison 提示：与前面几种海豚做对比。</a:t>
            </a:r>
          </a:p>
          <a:p>
            <a:pPr algn="l"/>
            <a:r>
              <a:rPr sz="1600" b="0">
                <a:solidFill>
                  <a:srgbClr val="0F172A"/>
                </a:solidFill>
                <a:latin typeface="微软雅黑"/>
                <a:ea typeface="微软雅黑"/>
                <a:cs typeface="微软雅黑"/>
              </a:rPr>
              <a:t>· 第一句是水中视力，第二句是水气交界视力。</a:t>
            </a:r>
          </a:p>
          <a:p>
            <a:pPr algn="l"/>
            <a:r>
              <a:rPr sz="1600" b="0">
                <a:solidFill>
                  <a:srgbClr val="0F172A"/>
                </a:solidFill>
                <a:latin typeface="微软雅黑"/>
                <a:ea typeface="微软雅黑"/>
                <a:cs typeface="微软雅黑"/>
              </a:rPr>
              <a:t>· 表格把两句压成一行，所以要连读两句。</a:t>
            </a:r>
          </a:p>
          <a:p>
            <a:pPr algn="l"/>
            <a:r>
              <a:rPr sz="1600" b="0">
                <a:solidFill>
                  <a:srgbClr val="0F172A"/>
                </a:solidFill>
                <a:latin typeface="微软雅黑"/>
                <a:ea typeface="微软雅黑"/>
                <a:cs typeface="微软雅黑"/>
              </a:rPr>
              <a:t>· Judging from ... 是分词状语，表判断依据。</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20" b="0">
                <a:solidFill>
                  <a:srgbClr val="0F172A"/>
                </a:solidFill>
                <a:latin typeface="微软雅黑"/>
                <a:ea typeface="微软雅黑"/>
                <a:cs typeface="微软雅黑"/>
              </a:rPr>
              <a:t>相比之下，宽吻海豚在水中视力极其敏锐。从它观察并追踪空中飞鱼的方式判断，它显然也能较好地透过水气交界面看东西。</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keen 敏锐的 ↔ sharp / exceptional；airborne 空中的</a:t>
            </a:r>
          </a:p>
          <a:p>
            <a:pPr algn="l"/>
            <a:r>
              <a:rPr sz="1850" b="1">
                <a:solidFill>
                  <a:srgbClr val="0F172A"/>
                </a:solidFill>
                <a:latin typeface="微软雅黑"/>
                <a:ea typeface="微软雅黑"/>
                <a:cs typeface="微软雅黑"/>
              </a:rPr>
              <a:t>by comparison 相比之下；interface 交界面</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P2 Q20｜大型须鲸主要使用什么</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2 · What Do Whales Feel?</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81</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400" b="1">
                <a:solidFill>
                  <a:srgbClr val="0F172A"/>
                </a:solidFill>
                <a:latin typeface="微软雅黑"/>
                <a:ea typeface="微软雅黑"/>
                <a:cs typeface="微软雅黑"/>
              </a:rPr>
              <a:t>most large baleen｜yes｜usually use 20 ……………; repertoire limited</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usually use + 空格 → 名词。</a:t>
            </a:r>
          </a:p>
          <a:p>
            <a:pPr algn="l"/>
            <a:r>
              <a:rPr sz="1900" b="0">
                <a:solidFill>
                  <a:srgbClr val="0F172A"/>
                </a:solidFill>
                <a:latin typeface="微软雅黑"/>
                <a:ea typeface="微软雅黑"/>
                <a:cs typeface="微软雅黑"/>
              </a:rPr>
              <a:t>锚点：Hearing 行 + large baleen。</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P6 S3: Large baleen whales primarily use the lower frequencies and are often limited in their repertoire.</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usually ↔ primarily（主要地）。</a:t>
            </a:r>
          </a:p>
          <a:p>
            <a:pPr algn="l"/>
            <a:r>
              <a:rPr sz="1900" b="0">
                <a:solidFill>
                  <a:srgbClr val="0F172A"/>
                </a:solidFill>
                <a:latin typeface="微软雅黑"/>
                <a:ea typeface="微软雅黑"/>
                <a:cs typeface="微软雅黑"/>
              </a:rPr>
              <a:t>repertoire limited ↔ are often limited in their repertoire。</a:t>
            </a:r>
          </a:p>
          <a:p>
            <a:pPr algn="l"/>
            <a:r>
              <a:rPr sz="1900" b="0">
                <a:solidFill>
                  <a:srgbClr val="0F172A"/>
                </a:solidFill>
                <a:latin typeface="微软雅黑"/>
                <a:ea typeface="微软雅黑"/>
                <a:cs typeface="微软雅黑"/>
              </a:rPr>
              <a:t>取 use 的宾语：lower frequencies，注意复数。</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100" b="1">
                <a:solidFill>
                  <a:srgbClr val="0F172A"/>
                </a:solidFill>
                <a:latin typeface="微软雅黑"/>
                <a:ea typeface="微软雅黑"/>
                <a:cs typeface="微软雅黑"/>
              </a:rPr>
              <a:t>Answer: lower frequencies</a:t>
            </a:r>
          </a:p>
          <a:p>
            <a:pPr algn="l"/>
            <a:r>
              <a:rPr sz="2100" b="1">
                <a:solidFill>
                  <a:srgbClr val="0F172A"/>
                </a:solidFill>
                <a:latin typeface="微软雅黑"/>
                <a:ea typeface="微软雅黑"/>
                <a:cs typeface="微软雅黑"/>
              </a:rPr>
              <a:t>两词，保留复数。</a:t>
            </a:r>
          </a:p>
          <a:p>
            <a:pPr algn="l"/>
            <a:r>
              <a:rPr sz="2100" b="1">
                <a:solidFill>
                  <a:srgbClr val="0F172A"/>
                </a:solidFill>
                <a:latin typeface="微软雅黑"/>
                <a:ea typeface="微软雅黑"/>
                <a:cs typeface="微软雅黑"/>
              </a:rPr>
              <a:t>比较级 lower 不能丢。</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P2 Q20｜and 并列两个谓语</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2 · What Do Whales Feel?</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82</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50" b="1">
                <a:solidFill>
                  <a:srgbClr val="0F172A"/>
                </a:solidFill>
                <a:latin typeface="微软雅黑"/>
                <a:ea typeface="微软雅黑"/>
                <a:cs typeface="微软雅黑"/>
              </a:rPr>
              <a:t>Large baleen whales primarily use the lower frequencies and are often limited in their repertoire.</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00" b="1">
                <a:solidFill>
                  <a:srgbClr val="0F172A"/>
                </a:solidFill>
                <a:latin typeface="微软雅黑"/>
                <a:ea typeface="微软雅黑"/>
                <a:cs typeface="微软雅黑"/>
              </a:rPr>
              <a:t>Large baleen whales use the lower frequencies and are limited in their repertoire.</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 一个主语带两个并列谓语：use ... and are ...。</a:t>
            </a:r>
          </a:p>
          <a:p>
            <a:pPr algn="l"/>
            <a:r>
              <a:rPr sz="1700" b="0">
                <a:solidFill>
                  <a:srgbClr val="0F172A"/>
                </a:solidFill>
                <a:latin typeface="微软雅黑"/>
                <a:ea typeface="微软雅黑"/>
                <a:cs typeface="微软雅黑"/>
              </a:rPr>
              <a:t>· primarily / often 是频率副词，对应表格的 usually。</a:t>
            </a:r>
          </a:p>
          <a:p>
            <a:pPr algn="l"/>
            <a:r>
              <a:rPr sz="1700" b="0">
                <a:solidFill>
                  <a:srgbClr val="0F172A"/>
                </a:solidFill>
                <a:latin typeface="微软雅黑"/>
                <a:ea typeface="微软雅黑"/>
                <a:cs typeface="微软雅黑"/>
              </a:rPr>
              <a:t>· lower 是比较级，隐含“比齿鲸低”。</a:t>
            </a:r>
          </a:p>
          <a:p>
            <a:pPr algn="l"/>
            <a:r>
              <a:rPr sz="1700" b="0">
                <a:solidFill>
                  <a:srgbClr val="0F172A"/>
                </a:solidFill>
                <a:latin typeface="微软雅黑"/>
                <a:ea typeface="微软雅黑"/>
                <a:cs typeface="微软雅黑"/>
              </a:rPr>
              <a:t>· repertoire 指“声音种类的范围”。</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大型须鲸主要使用较低的频率，而且其发声种类往往有限。</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primarily 主要地 ↔ mainly / usually；repertoire 曲目、声音范围</a:t>
            </a:r>
          </a:p>
          <a:p>
            <a:pPr algn="l"/>
            <a:r>
              <a:rPr sz="1850" b="1">
                <a:solidFill>
                  <a:srgbClr val="0F172A"/>
                </a:solidFill>
                <a:latin typeface="微软雅黑"/>
                <a:ea typeface="微软雅黑"/>
                <a:cs typeface="微软雅黑"/>
              </a:rPr>
              <a:t>frequency 频率（复数 frequencies）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P2 Q21｜哪种鲸的叫声近乎歌唱</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2 · What Do Whales Feel?</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83</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400" b="1">
                <a:solidFill>
                  <a:srgbClr val="0F172A"/>
                </a:solidFill>
                <a:latin typeface="微软雅黑"/>
                <a:ea typeface="微软雅黑"/>
                <a:cs typeface="微软雅黑"/>
              </a:rPr>
              <a:t>21 …………… whales and …………… whales｜yes｜song-like</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空格 + whales → 物种前缀名。</a:t>
            </a:r>
          </a:p>
          <a:p>
            <a:pPr algn="l"/>
            <a:r>
              <a:rPr sz="1900" b="0">
                <a:solidFill>
                  <a:srgbClr val="0F172A"/>
                </a:solidFill>
                <a:latin typeface="微软雅黑"/>
                <a:ea typeface="微软雅黑"/>
                <a:cs typeface="微软雅黑"/>
              </a:rPr>
              <a:t>锚点：song-like（近似歌唱）。</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P6 S4: Notable exceptions are the nearly song-like choruses of bowhead whales in summer and the complex, haunting utterances of the humpback whales.</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song-like ↔ nearly song-like choruses，一词命中。</a:t>
            </a:r>
          </a:p>
          <a:p>
            <a:pPr algn="l"/>
            <a:r>
              <a:rPr sz="1900" b="0">
                <a:solidFill>
                  <a:srgbClr val="0F172A"/>
                </a:solidFill>
                <a:latin typeface="微软雅黑"/>
                <a:ea typeface="微软雅黑"/>
                <a:cs typeface="微软雅黑"/>
              </a:rPr>
              <a:t>原表印作 bowhead whales and humpback whales。</a:t>
            </a:r>
          </a:p>
          <a:p>
            <a:pPr algn="l"/>
            <a:r>
              <a:rPr sz="1900" b="0">
                <a:solidFill>
                  <a:srgbClr val="0F172A"/>
                </a:solidFill>
                <a:latin typeface="微软雅黑"/>
                <a:ea typeface="微软雅黑"/>
                <a:cs typeface="微软雅黑"/>
              </a:rPr>
              <a:t>编号空 21 只考第一个：bowhead。</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100" b="1">
                <a:solidFill>
                  <a:srgbClr val="0F172A"/>
                </a:solidFill>
                <a:latin typeface="微软雅黑"/>
                <a:ea typeface="微软雅黑"/>
                <a:cs typeface="微软雅黑"/>
              </a:rPr>
              <a:t>Answer: bowhead</a:t>
            </a:r>
          </a:p>
          <a:p>
            <a:pPr algn="l"/>
            <a:r>
              <a:rPr sz="2100" b="1">
                <a:solidFill>
                  <a:srgbClr val="0F172A"/>
                </a:solidFill>
                <a:latin typeface="微软雅黑"/>
                <a:ea typeface="微软雅黑"/>
                <a:cs typeface="微软雅黑"/>
              </a:rPr>
              <a:t>ONE WORD。</a:t>
            </a:r>
          </a:p>
          <a:p>
            <a:pPr algn="l"/>
            <a:r>
              <a:rPr sz="2100" b="1">
                <a:solidFill>
                  <a:srgbClr val="0F172A"/>
                </a:solidFill>
                <a:latin typeface="微软雅黑"/>
                <a:ea typeface="微软雅黑"/>
                <a:cs typeface="微软雅黑"/>
              </a:rPr>
              <a:t>第二处为 humpback（非考点）。</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P2 Q21｜Notable exceptions are ... 的表语并列</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2 · What Do Whales Feel?</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84</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50" b="1">
                <a:solidFill>
                  <a:srgbClr val="0F172A"/>
                </a:solidFill>
                <a:latin typeface="微软雅黑"/>
                <a:ea typeface="微软雅黑"/>
                <a:cs typeface="微软雅黑"/>
              </a:rPr>
              <a:t>Notable exceptions are the nearly song-like choruses of bowhead whales in summer and the complex, haunting utterances of the humpback whales.</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00" b="1">
                <a:solidFill>
                  <a:srgbClr val="0F172A"/>
                </a:solidFill>
                <a:latin typeface="微软雅黑"/>
                <a:ea typeface="微软雅黑"/>
                <a:cs typeface="微软雅黑"/>
              </a:rPr>
              <a:t>Notable exceptions are the choruses of bowhead whales and the utterances of humpback whales.</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500" b="0">
                <a:solidFill>
                  <a:srgbClr val="0F172A"/>
                </a:solidFill>
                <a:latin typeface="微软雅黑"/>
                <a:ea typeface="微软雅黑"/>
                <a:cs typeface="微软雅黑"/>
              </a:rPr>
              <a:t>· exceptions 指“上一句 limited repertoire 的例外”。</a:t>
            </a:r>
          </a:p>
          <a:p>
            <a:pPr algn="l"/>
            <a:r>
              <a:rPr sz="1500" b="0">
                <a:solidFill>
                  <a:srgbClr val="0F172A"/>
                </a:solidFill>
                <a:latin typeface="微软雅黑"/>
                <a:ea typeface="微软雅黑"/>
                <a:cs typeface="微软雅黑"/>
              </a:rPr>
              <a:t>· are 后面是两个并列的名词短语作表语。</a:t>
            </a:r>
          </a:p>
          <a:p>
            <a:pPr algn="l"/>
            <a:r>
              <a:rPr sz="1500" b="0">
                <a:solidFill>
                  <a:srgbClr val="0F172A"/>
                </a:solidFill>
                <a:latin typeface="微软雅黑"/>
                <a:ea typeface="微软雅黑"/>
                <a:cs typeface="微软雅黑"/>
              </a:rPr>
              <a:t>· of bowhead whales / of the humpback whales 是所属修饰。</a:t>
            </a:r>
          </a:p>
          <a:p>
            <a:pPr algn="l"/>
            <a:r>
              <a:rPr sz="1500" b="0">
                <a:solidFill>
                  <a:srgbClr val="0F172A"/>
                </a:solidFill>
                <a:latin typeface="微软雅黑"/>
                <a:ea typeface="微软雅黑"/>
                <a:cs typeface="微软雅黑"/>
              </a:rPr>
              <a:t>· 先找 and 两边的对称结构，答案自然浮现。</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值得注意的例外是弓头鲸夏季近乎歌唱的合唱，以及座头鲸复杂而萦绕人心的鸣叫。</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chorus 合唱 ↔ song-like sounds；utterance 发声 ↔ sound / call</a:t>
            </a:r>
          </a:p>
          <a:p>
            <a:pPr algn="l"/>
            <a:r>
              <a:rPr sz="1850" b="1">
                <a:solidFill>
                  <a:srgbClr val="0F172A"/>
                </a:solidFill>
                <a:latin typeface="微软雅黑"/>
                <a:ea typeface="微软雅黑"/>
                <a:cs typeface="微软雅黑"/>
              </a:rPr>
              <a:t>notable exception 显著的例外；haunting 萦绕人心的</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P2 Q22｜哪种感官与求偶有关</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2 · What Do Whales Feel?</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85</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Which of the senses is described here as being involved in mating?</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Which sense → 答案是感官名词。</a:t>
            </a:r>
          </a:p>
          <a:p>
            <a:pPr algn="l"/>
            <a:r>
              <a:rPr sz="1900" b="0">
                <a:solidFill>
                  <a:srgbClr val="0F172A"/>
                </a:solidFill>
                <a:latin typeface="微软雅黑"/>
                <a:ea typeface="微软雅黑"/>
                <a:cs typeface="微软雅黑"/>
              </a:rPr>
              <a:t>锚点：mating（交配／求偶）。</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P2 S3: This contact may help to maintain order within a group, and stroking or touching are part of the courtship ritual in most species.</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mating ↔ courtship ritual（求偶仪式）。</a:t>
            </a:r>
          </a:p>
          <a:p>
            <a:pPr algn="l"/>
            <a:r>
              <a:rPr sz="1900" b="0">
                <a:solidFill>
                  <a:srgbClr val="0F172A"/>
                </a:solidFill>
                <a:latin typeface="微软雅黑"/>
                <a:ea typeface="微软雅黑"/>
                <a:cs typeface="微软雅黑"/>
              </a:rPr>
              <a:t>该句主语是 stroking or touching，属于触觉。</a:t>
            </a:r>
          </a:p>
          <a:p>
            <a:pPr algn="l"/>
            <a:r>
              <a:rPr sz="1900" b="0">
                <a:solidFill>
                  <a:srgbClr val="0F172A"/>
                </a:solidFill>
                <a:latin typeface="微软雅黑"/>
                <a:ea typeface="微软雅黑"/>
                <a:cs typeface="微软雅黑"/>
              </a:rPr>
              <a:t>答案写感官名 touch，不要抄 stroking。</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touch</a:t>
            </a:r>
          </a:p>
          <a:p>
            <a:pPr algn="l"/>
            <a:r>
              <a:rPr sz="2100" b="1">
                <a:solidFill>
                  <a:srgbClr val="0F172A"/>
                </a:solidFill>
                <a:latin typeface="微软雅黑"/>
                <a:ea typeface="微软雅黑"/>
                <a:cs typeface="微软雅黑"/>
              </a:rPr>
              <a:t>ONE WORD。</a:t>
            </a:r>
          </a:p>
          <a:p>
            <a:pPr algn="l"/>
            <a:r>
              <a:rPr sz="2100" b="1">
                <a:solidFill>
                  <a:srgbClr val="0F172A"/>
                </a:solidFill>
                <a:latin typeface="微软雅黑"/>
                <a:ea typeface="微软雅黑"/>
                <a:cs typeface="微软雅黑"/>
              </a:rPr>
              <a:t>写感官名，不写动作。</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P2 Q22｜and 并列两个功能</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2 · What Do Whales Feel?</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86</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50" b="1">
                <a:solidFill>
                  <a:srgbClr val="0F172A"/>
                </a:solidFill>
                <a:latin typeface="微软雅黑"/>
                <a:ea typeface="微软雅黑"/>
                <a:cs typeface="微软雅黑"/>
              </a:rPr>
              <a:t>This contact may help to maintain order within a group, and stroking or touching are part of the courtship ritual in most species.</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Stroking or touching are part of the courtship ritual.</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 and 前讲“维持群体秩序”，and 后讲“求偶”。</a:t>
            </a:r>
          </a:p>
          <a:p>
            <a:pPr algn="l"/>
            <a:r>
              <a:rPr sz="1700" b="0">
                <a:solidFill>
                  <a:srgbClr val="0F172A"/>
                </a:solidFill>
                <a:latin typeface="微软雅黑"/>
                <a:ea typeface="微软雅黑"/>
                <a:cs typeface="微软雅黑"/>
              </a:rPr>
              <a:t>· 题干只问求偶，所以只取 and 之后。</a:t>
            </a:r>
          </a:p>
          <a:p>
            <a:pPr algn="l"/>
            <a:r>
              <a:rPr sz="1700" b="0">
                <a:solidFill>
                  <a:srgbClr val="0F172A"/>
                </a:solidFill>
                <a:latin typeface="微软雅黑"/>
                <a:ea typeface="微软雅黑"/>
                <a:cs typeface="微软雅黑"/>
              </a:rPr>
              <a:t>· stroking or touching 是并列动名词主语。</a:t>
            </a:r>
          </a:p>
          <a:p>
            <a:pPr algn="l"/>
            <a:r>
              <a:rPr sz="1700" b="0">
                <a:solidFill>
                  <a:srgbClr val="0F172A"/>
                </a:solidFill>
                <a:latin typeface="微软雅黑"/>
                <a:ea typeface="微软雅黑"/>
                <a:cs typeface="微软雅黑"/>
              </a:rPr>
              <a:t>· in most species 是范围限定，不影响答案。</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这种接触可能有助于维持群体内部秩序，而抚摸或触碰在多数物种中是求偶仪式的一部分。</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courtship 求偶 ↔ mating behaviour；stroke 抚摸</a:t>
            </a:r>
          </a:p>
          <a:p>
            <a:pPr algn="l"/>
            <a:r>
              <a:rPr sz="1850" b="1">
                <a:solidFill>
                  <a:srgbClr val="0F172A"/>
                </a:solidFill>
                <a:latin typeface="微软雅黑"/>
                <a:ea typeface="微软雅黑"/>
                <a:cs typeface="微软雅黑"/>
              </a:rPr>
              <a:t>maintain order 维持秩序；ritual 仪式</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P2 Q23｜哪种海豚进食时倒着游</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2 · What Do Whales Feel?</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87</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400" b="1">
                <a:solidFill>
                  <a:srgbClr val="0F172A"/>
                </a:solidFill>
                <a:latin typeface="微软雅黑"/>
                <a:ea typeface="微软雅黑"/>
                <a:cs typeface="微软雅黑"/>
              </a:rPr>
              <a:t>Which species swims upside down while eating?</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Which species → 答案是物种名。</a:t>
            </a:r>
          </a:p>
          <a:p>
            <a:pPr algn="l"/>
            <a:r>
              <a:rPr sz="1900" b="0">
                <a:solidFill>
                  <a:srgbClr val="0F172A"/>
                </a:solidFill>
                <a:latin typeface="微软雅黑"/>
                <a:ea typeface="微软雅黑"/>
                <a:cs typeface="微软雅黑"/>
              </a:rPr>
              <a:t>锚点：upside down + eating。</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P4 S2: Eye position in freshwater dolphins, which often swim on their side or upside down while feeding, suggests that ...</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eating ↔ feeding（进食）。</a:t>
            </a:r>
          </a:p>
          <a:p>
            <a:pPr algn="l"/>
            <a:r>
              <a:rPr sz="1900" b="0">
                <a:solidFill>
                  <a:srgbClr val="0F172A"/>
                </a:solidFill>
                <a:latin typeface="微软雅黑"/>
                <a:ea typeface="微软雅黑"/>
                <a:cs typeface="微软雅黑"/>
              </a:rPr>
              <a:t>upside down 原词复现，直接锁定定语从句。</a:t>
            </a:r>
          </a:p>
          <a:p>
            <a:pPr algn="l"/>
            <a:r>
              <a:rPr sz="1900" b="0">
                <a:solidFill>
                  <a:srgbClr val="0F172A"/>
                </a:solidFill>
                <a:latin typeface="微软雅黑"/>
                <a:ea typeface="微软雅黑"/>
                <a:cs typeface="微软雅黑"/>
              </a:rPr>
              <a:t>从句修饰的主体是 freshwater dolphins。</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100" b="1">
                <a:solidFill>
                  <a:srgbClr val="0F172A"/>
                </a:solidFill>
                <a:latin typeface="微软雅黑"/>
                <a:ea typeface="微软雅黑"/>
                <a:cs typeface="微软雅黑"/>
              </a:rPr>
              <a:t>Answer: freshwater dolphins</a:t>
            </a:r>
          </a:p>
          <a:p>
            <a:pPr algn="l"/>
            <a:r>
              <a:rPr sz="2100" b="1">
                <a:solidFill>
                  <a:srgbClr val="0F172A"/>
                </a:solidFill>
                <a:latin typeface="微软雅黑"/>
                <a:ea typeface="微软雅黑"/>
                <a:cs typeface="微软雅黑"/>
              </a:rPr>
              <a:t>两词。</a:t>
            </a:r>
          </a:p>
          <a:p>
            <a:pPr algn="l"/>
            <a:r>
              <a:rPr sz="2100" b="1">
                <a:solidFill>
                  <a:srgbClr val="0F172A"/>
                </a:solidFill>
                <a:latin typeface="微软雅黑"/>
                <a:ea typeface="微软雅黑"/>
                <a:cs typeface="微软雅黑"/>
              </a:rPr>
              <a:t>与 Q18 同句不同考点。</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P2 Q23｜同一句的第二个考点：定语从句内部信息</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2 · What Do Whales Feel?</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88</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Eye position in freshwater dolphins, which often swim on their side or upside down while feeding, suggests that what vision they have is stereoscopic forward and upward.</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Freshwater dolphins often swim upside down while feeding.</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 Q18 考的是主句 suggests 的内容。</a:t>
            </a:r>
          </a:p>
          <a:p>
            <a:pPr algn="l"/>
            <a:r>
              <a:rPr sz="1700" b="0">
                <a:solidFill>
                  <a:srgbClr val="0F172A"/>
                </a:solidFill>
                <a:latin typeface="微软雅黑"/>
                <a:ea typeface="微软雅黑"/>
                <a:cs typeface="微软雅黑"/>
              </a:rPr>
              <a:t>· Q23 考的是插入的定语从句本身。</a:t>
            </a:r>
          </a:p>
          <a:p>
            <a:pPr algn="l"/>
            <a:r>
              <a:rPr sz="1700" b="0">
                <a:solidFill>
                  <a:srgbClr val="0F172A"/>
                </a:solidFill>
                <a:latin typeface="微软雅黑"/>
                <a:ea typeface="微软雅黑"/>
                <a:cs typeface="微软雅黑"/>
              </a:rPr>
              <a:t>· 同一个长句可以出两道题——这就是拆句的价值。</a:t>
            </a:r>
          </a:p>
          <a:p>
            <a:pPr algn="l"/>
            <a:r>
              <a:rPr sz="1700" b="0">
                <a:solidFill>
                  <a:srgbClr val="0F172A"/>
                </a:solidFill>
                <a:latin typeface="微软雅黑"/>
                <a:ea typeface="微软雅黑"/>
                <a:cs typeface="微软雅黑"/>
              </a:rPr>
              <a:t>· which 的先行词是 freshwater dolphins。</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淡水海豚常常侧游或倒着游进食，它们的眼睛位置表明其视觉是向前向上的立体视觉。</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feeding = eating；upside down 倒置地</a:t>
            </a:r>
          </a:p>
          <a:p>
            <a:pPr algn="l"/>
            <a:r>
              <a:rPr sz="1850" b="1">
                <a:solidFill>
                  <a:srgbClr val="0F172A"/>
                </a:solidFill>
                <a:latin typeface="微软雅黑"/>
                <a:ea typeface="微软雅黑"/>
                <a:cs typeface="微软雅黑"/>
              </a:rPr>
              <a:t>先行词 antecedent：which 指代 freshwater dolphins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P2 Q24｜宽吻海豚能从水下追踪什么</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2 · What Do Whales Feel?</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89</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400" b="1">
                <a:solidFill>
                  <a:srgbClr val="0F172A"/>
                </a:solidFill>
                <a:latin typeface="微软雅黑"/>
                <a:ea typeface="微软雅黑"/>
                <a:cs typeface="微软雅黑"/>
              </a:rPr>
              <a:t>What can bottlenose dolphins follow from under the water?</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What → 答案是名词。</a:t>
            </a:r>
          </a:p>
          <a:p>
            <a:pPr algn="l"/>
            <a:r>
              <a:rPr sz="1900" b="0">
                <a:solidFill>
                  <a:srgbClr val="0F172A"/>
                </a:solidFill>
                <a:latin typeface="微软雅黑"/>
                <a:ea typeface="微软雅黑"/>
                <a:cs typeface="微软雅黑"/>
              </a:rPr>
              <a:t>锚点：bottlenose + from under the water。</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P4 S4: Judging from the way it watches and tracks airborne flying fish, it can apparently see fairly well through the air-water interface as well.</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follow ↔ tracks（追踪）。</a:t>
            </a:r>
          </a:p>
          <a:p>
            <a:pPr algn="l"/>
            <a:r>
              <a:rPr sz="1900" b="0">
                <a:solidFill>
                  <a:srgbClr val="0F172A"/>
                </a:solidFill>
                <a:latin typeface="微软雅黑"/>
                <a:ea typeface="微软雅黑"/>
                <a:cs typeface="微软雅黑"/>
              </a:rPr>
              <a:t>from under the water ↔ through the air-water interface。</a:t>
            </a:r>
          </a:p>
          <a:p>
            <a:pPr algn="l"/>
            <a:r>
              <a:rPr sz="1900" b="0">
                <a:solidFill>
                  <a:srgbClr val="0F172A"/>
                </a:solidFill>
                <a:latin typeface="微软雅黑"/>
                <a:ea typeface="微软雅黑"/>
                <a:cs typeface="微软雅黑"/>
              </a:rPr>
              <a:t>取 tracks 的宾语：(airborne) flying fish。</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100" b="1">
                <a:solidFill>
                  <a:srgbClr val="0F172A"/>
                </a:solidFill>
                <a:latin typeface="微软雅黑"/>
                <a:ea typeface="微软雅黑"/>
                <a:cs typeface="微软雅黑"/>
              </a:rPr>
              <a:t>Answer: (airborne) flying fish</a:t>
            </a:r>
          </a:p>
          <a:p>
            <a:pPr algn="l"/>
            <a:r>
              <a:rPr sz="2100" b="1">
                <a:solidFill>
                  <a:srgbClr val="0F172A"/>
                </a:solidFill>
                <a:latin typeface="微软雅黑"/>
                <a:ea typeface="微软雅黑"/>
                <a:cs typeface="微软雅黑"/>
              </a:rPr>
              <a:t>≤3 词。</a:t>
            </a:r>
          </a:p>
          <a:p>
            <a:pPr algn="l"/>
            <a:r>
              <a:rPr sz="2100" b="1">
                <a:solidFill>
                  <a:srgbClr val="0F172A"/>
                </a:solidFill>
                <a:latin typeface="微软雅黑"/>
                <a:ea typeface="微软雅黑"/>
                <a:cs typeface="微软雅黑"/>
              </a:rPr>
              <a:t>airborne 可写可不写。</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P2 Q24｜Judging from 分词状语引出证据</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2 · What Do Whales Feel?</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90</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50" b="1">
                <a:solidFill>
                  <a:srgbClr val="0F172A"/>
                </a:solidFill>
                <a:latin typeface="微软雅黑"/>
                <a:ea typeface="微软雅黑"/>
                <a:cs typeface="微软雅黑"/>
              </a:rPr>
              <a:t>Judging from the way it watches and tracks airborne flying fish, it can apparently see fairly well through the air-water interface as well.</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It can see fairly well through the air-water interface.</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 Judging from ... 是分词状语，说明“依据什么判断”。</a:t>
            </a:r>
          </a:p>
          <a:p>
            <a:pPr algn="l"/>
            <a:r>
              <a:rPr sz="1700" b="0">
                <a:solidFill>
                  <a:srgbClr val="0F172A"/>
                </a:solidFill>
                <a:latin typeface="微软雅黑"/>
                <a:ea typeface="微软雅黑"/>
                <a:cs typeface="微软雅黑"/>
              </a:rPr>
              <a:t>· the way (that) it watches and tracks ... 是方式定语从句。</a:t>
            </a:r>
          </a:p>
          <a:p>
            <a:pPr algn="l"/>
            <a:r>
              <a:rPr sz="1700" b="0">
                <a:solidFill>
                  <a:srgbClr val="0F172A"/>
                </a:solidFill>
                <a:latin typeface="微软雅黑"/>
                <a:ea typeface="微软雅黑"/>
                <a:cs typeface="微软雅黑"/>
              </a:rPr>
              <a:t>· 主句主语 it 指 the bottlenose dolphin。</a:t>
            </a:r>
          </a:p>
          <a:p>
            <a:pPr algn="l"/>
            <a:r>
              <a:rPr sz="1700" b="0">
                <a:solidFill>
                  <a:srgbClr val="0F172A"/>
                </a:solidFill>
                <a:latin typeface="微软雅黑"/>
                <a:ea typeface="微软雅黑"/>
                <a:cs typeface="微软雅黑"/>
              </a:rPr>
              <a:t>· 答案藏在状语里，不在主句里。</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从它观察并追踪空中飞鱼的方式判断，它显然也能较好地透过水气交界面看东西。</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track 追踪 ↔ follow；airborne 在空中的</a:t>
            </a:r>
          </a:p>
          <a:p>
            <a:pPr algn="l"/>
            <a:r>
              <a:rPr sz="1850" b="1">
                <a:solidFill>
                  <a:srgbClr val="0F172A"/>
                </a:solidFill>
                <a:latin typeface="微软雅黑"/>
                <a:ea typeface="微软雅黑"/>
                <a:cs typeface="微软雅黑"/>
              </a:rPr>
              <a:t>judging from 根据……判断</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P2 Q25｜哪种栖息地对应良好视力</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2 · What Do Whales Feel?</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91</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400" b="1">
                <a:solidFill>
                  <a:srgbClr val="0F172A"/>
                </a:solidFill>
                <a:latin typeface="微软雅黑"/>
                <a:ea typeface="微软雅黑"/>
                <a:cs typeface="微软雅黑"/>
              </a:rPr>
              <a:t>Which type of habitat is related to good visual ability?</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Which habitat → 答案是环境名词。</a:t>
            </a:r>
          </a:p>
          <a:p>
            <a:pPr algn="l"/>
            <a:r>
              <a:rPr sz="1900" b="0">
                <a:solidFill>
                  <a:srgbClr val="0F172A"/>
                </a:solidFill>
                <a:latin typeface="微软雅黑"/>
                <a:ea typeface="微软雅黑"/>
                <a:cs typeface="微软雅黑"/>
              </a:rPr>
              <a:t>锚点：habitat + good vision。</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P5 S2: For example, vision is obviously more useful to species inhabiting clear open waters than to those living in turbid rivers and flooded plains.</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0">
                <a:solidFill>
                  <a:srgbClr val="0F172A"/>
                </a:solidFill>
                <a:latin typeface="微软雅黑"/>
                <a:ea typeface="微软雅黑"/>
                <a:cs typeface="微软雅黑"/>
              </a:rPr>
              <a:t>good visual ability ↔ vision is more useful（比较级的高端）。</a:t>
            </a:r>
          </a:p>
          <a:p>
            <a:pPr algn="l"/>
            <a:r>
              <a:rPr sz="1800" b="0">
                <a:solidFill>
                  <a:srgbClr val="0F172A"/>
                </a:solidFill>
                <a:latin typeface="微软雅黑"/>
                <a:ea typeface="微软雅黑"/>
                <a:cs typeface="微软雅黑"/>
              </a:rPr>
              <a:t>more useful to A than to B：A＝clear open waters。</a:t>
            </a:r>
          </a:p>
          <a:p>
            <a:pPr algn="l"/>
            <a:r>
              <a:rPr sz="1800" b="0">
                <a:solidFill>
                  <a:srgbClr val="0F172A"/>
                </a:solidFill>
                <a:latin typeface="微软雅黑"/>
                <a:ea typeface="微软雅黑"/>
                <a:cs typeface="微软雅黑"/>
              </a:rPr>
              <a:t>比较方向决定取哪一边，别抄 turbid rivers。</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100" b="1">
                <a:solidFill>
                  <a:srgbClr val="0F172A"/>
                </a:solidFill>
                <a:latin typeface="微软雅黑"/>
                <a:ea typeface="微软雅黑"/>
                <a:cs typeface="微软雅黑"/>
              </a:rPr>
              <a:t>Answer: clear open waters</a:t>
            </a:r>
          </a:p>
          <a:p>
            <a:pPr algn="l"/>
            <a:r>
              <a:rPr sz="2100" b="1">
                <a:solidFill>
                  <a:srgbClr val="0F172A"/>
                </a:solidFill>
                <a:latin typeface="微软雅黑"/>
                <a:ea typeface="微软雅黑"/>
                <a:cs typeface="微软雅黑"/>
              </a:rPr>
              <a:t>三词，保留复数。</a:t>
            </a:r>
          </a:p>
          <a:p>
            <a:pPr algn="l"/>
            <a:r>
              <a:rPr sz="2100" b="1">
                <a:solidFill>
                  <a:srgbClr val="0F172A"/>
                </a:solidFill>
                <a:latin typeface="微软雅黑"/>
                <a:ea typeface="微软雅黑"/>
                <a:cs typeface="微软雅黑"/>
              </a:rPr>
              <a:t>取比较级“高”的一端。</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P2 Q25｜more useful to A than to B 的方向</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2 · What Do Whales Feel?</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92</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50" b="1">
                <a:solidFill>
                  <a:srgbClr val="0F172A"/>
                </a:solidFill>
                <a:latin typeface="微软雅黑"/>
                <a:ea typeface="微软雅黑"/>
                <a:cs typeface="微软雅黑"/>
              </a:rPr>
              <a:t>For example, vision is obviously more useful to species inhabiting clear open waters than to those living in turbid rivers and flooded plains.</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Vision is more useful to species inhabiting clear open waters.</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600" b="0">
                <a:solidFill>
                  <a:srgbClr val="0F172A"/>
                </a:solidFill>
                <a:latin typeface="微软雅黑"/>
                <a:ea typeface="微软雅黑"/>
                <a:cs typeface="微软雅黑"/>
              </a:rPr>
              <a:t>· more ... than 把两类栖息地放在天平两端。</a:t>
            </a:r>
          </a:p>
          <a:p>
            <a:pPr algn="l"/>
            <a:r>
              <a:rPr sz="1600" b="0">
                <a:solidFill>
                  <a:srgbClr val="0F172A"/>
                </a:solidFill>
                <a:latin typeface="微软雅黑"/>
                <a:ea typeface="微软雅黑"/>
                <a:cs typeface="微软雅黑"/>
              </a:rPr>
              <a:t>· inhabiting / living 都是现在分词后置定语。</a:t>
            </a:r>
          </a:p>
          <a:p>
            <a:pPr algn="l"/>
            <a:r>
              <a:rPr sz="1600" b="0">
                <a:solidFill>
                  <a:srgbClr val="0F172A"/>
                </a:solidFill>
                <a:latin typeface="微软雅黑"/>
                <a:ea typeface="微软雅黑"/>
                <a:cs typeface="微软雅黑"/>
              </a:rPr>
              <a:t>· those = species，回指前面的名词。</a:t>
            </a:r>
          </a:p>
          <a:p>
            <a:pPr algn="l"/>
            <a:r>
              <a:rPr sz="1600" b="0">
                <a:solidFill>
                  <a:srgbClr val="0F172A"/>
                </a:solidFill>
                <a:latin typeface="微软雅黑"/>
                <a:ea typeface="微软雅黑"/>
                <a:cs typeface="微软雅黑"/>
              </a:rPr>
              <a:t>· 画 clear open waters &gt; turbid rivers，答案即定。</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例如，视觉显然对栖息于清澈开阔水域的物种更有用，而对生活在浑浊河流和泛滥平原中的物种用处较小。</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inhabit 栖息于 ↔ live in；turbid 浑浊的 ↔ muddy / cloudy</a:t>
            </a:r>
          </a:p>
          <a:p>
            <a:pPr algn="l"/>
            <a:r>
              <a:rPr sz="1850" b="1">
                <a:solidFill>
                  <a:srgbClr val="0F172A"/>
                </a:solidFill>
                <a:latin typeface="微软雅黑"/>
                <a:ea typeface="微软雅黑"/>
                <a:cs typeface="微软雅黑"/>
              </a:rPr>
              <a:t>flooded plains 泛滥平原；habitat 栖息地</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P2 Q26｜鲸类哪种感官最发达</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2 · What Do Whales Feel?</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93</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400" b="1">
                <a:solidFill>
                  <a:srgbClr val="0F172A"/>
                </a:solidFill>
                <a:latin typeface="微软雅黑"/>
                <a:ea typeface="微软雅黑"/>
                <a:cs typeface="微软雅黑"/>
              </a:rPr>
              <a:t>Which of the senses is best developed in cetaceans?</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Which sense → 感官名词。</a:t>
            </a:r>
          </a:p>
          <a:p>
            <a:pPr algn="l"/>
            <a:r>
              <a:rPr sz="1900" b="0">
                <a:solidFill>
                  <a:srgbClr val="0F172A"/>
                </a:solidFill>
                <a:latin typeface="微软雅黑"/>
                <a:ea typeface="微软雅黑"/>
                <a:cs typeface="微软雅黑"/>
              </a:rPr>
              <a:t>锚点：best developed（最发达）。</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P6 S1: Although the senses of taste and smell appear to have deteriorated, and vision in water appears to be uncertain, such weaknesses are more than compensated for by cetaceans' well-developed acoustic sense.</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best developed ↔ well-developed。</a:t>
            </a:r>
          </a:p>
          <a:p>
            <a:pPr algn="l"/>
            <a:r>
              <a:rPr sz="1900" b="0">
                <a:solidFill>
                  <a:srgbClr val="0F172A"/>
                </a:solidFill>
                <a:latin typeface="微软雅黑"/>
                <a:ea typeface="微软雅黑"/>
                <a:cs typeface="微软雅黑"/>
              </a:rPr>
              <a:t>Although 之前是弱项，之后才是强项。</a:t>
            </a:r>
          </a:p>
          <a:p>
            <a:pPr algn="l"/>
            <a:r>
              <a:rPr sz="1900" b="0">
                <a:solidFill>
                  <a:srgbClr val="0F172A"/>
                </a:solidFill>
                <a:latin typeface="微软雅黑"/>
                <a:ea typeface="微软雅黑"/>
                <a:cs typeface="微软雅黑"/>
              </a:rPr>
              <a:t>acoustic sense ＝ 听觉，答案写 hearing 或 acoustic sense。</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100" b="1">
                <a:solidFill>
                  <a:srgbClr val="0F172A"/>
                </a:solidFill>
                <a:latin typeface="微软雅黑"/>
                <a:ea typeface="微软雅黑"/>
                <a:cs typeface="微软雅黑"/>
              </a:rPr>
              <a:t>Answer: hearing / acoustic sense</a:t>
            </a:r>
          </a:p>
          <a:p>
            <a:pPr algn="l"/>
            <a:r>
              <a:rPr sz="2100" b="1">
                <a:solidFill>
                  <a:srgbClr val="0F172A"/>
                </a:solidFill>
                <a:latin typeface="微软雅黑"/>
                <a:ea typeface="微软雅黑"/>
                <a:cs typeface="微软雅黑"/>
              </a:rPr>
              <a:t>两种写法均可。</a:t>
            </a:r>
          </a:p>
          <a:p>
            <a:pPr algn="l"/>
            <a:r>
              <a:rPr sz="2100" b="1">
                <a:solidFill>
                  <a:srgbClr val="0F172A"/>
                </a:solidFill>
                <a:latin typeface="微软雅黑"/>
                <a:ea typeface="微软雅黑"/>
                <a:cs typeface="微软雅黑"/>
              </a:rPr>
              <a:t>≤3 词。</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P2 Q26｜Although 让步把“弱”与“强”分开</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2 · What Do Whales Feel?</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94</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Although the senses of taste and smell appear to have deteriorated, and vision in water appears to be uncertain, such weaknesses are more than compensated for by cetaceans' well-developed acoustic sense.</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Such weaknesses are compensated for by their well-developed acoustic sense.</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500" b="0">
                <a:solidFill>
                  <a:srgbClr val="0F172A"/>
                </a:solidFill>
                <a:latin typeface="微软雅黑"/>
                <a:ea typeface="微软雅黑"/>
                <a:cs typeface="微软雅黑"/>
              </a:rPr>
              <a:t>· Although 引导的让步从句里有两个并列分句（味嗅觉、视觉）。</a:t>
            </a:r>
          </a:p>
          <a:p>
            <a:pPr algn="l"/>
            <a:r>
              <a:rPr sz="1500" b="0">
                <a:solidFill>
                  <a:srgbClr val="0F172A"/>
                </a:solidFill>
                <a:latin typeface="微软雅黑"/>
                <a:ea typeface="微软雅黑"/>
                <a:cs typeface="微软雅黑"/>
              </a:rPr>
              <a:t>· 主句从 such weaknesses 开始，才是重点。</a:t>
            </a:r>
          </a:p>
          <a:p>
            <a:pPr algn="l"/>
            <a:r>
              <a:rPr sz="1500" b="0">
                <a:solidFill>
                  <a:srgbClr val="0F172A"/>
                </a:solidFill>
                <a:latin typeface="微软雅黑"/>
                <a:ea typeface="微软雅黑"/>
                <a:cs typeface="微软雅黑"/>
              </a:rPr>
              <a:t>· be compensated for by ... 是被动＋介词，by 后是“补偿者”。</a:t>
            </a:r>
          </a:p>
          <a:p>
            <a:pPr algn="l"/>
            <a:r>
              <a:rPr sz="1500" b="0">
                <a:solidFill>
                  <a:srgbClr val="0F172A"/>
                </a:solidFill>
                <a:latin typeface="微软雅黑"/>
                <a:ea typeface="微软雅黑"/>
                <a:cs typeface="微软雅黑"/>
              </a:rPr>
              <a:t>· more than compensated ＝ 不止补偿，绰绰有余。</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尽管味觉和嗅觉似乎已退化、水中视觉也不确定，但这些弱点被鲸类高度发达的听觉充分弥补了。</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deteriorate 退化 ↔ get worse；compensate for 弥补 ↔ make up for</a:t>
            </a:r>
          </a:p>
          <a:p>
            <a:pPr algn="l"/>
            <a:r>
              <a:rPr sz="1850" b="1">
                <a:solidFill>
                  <a:srgbClr val="0F172A"/>
                </a:solidFill>
                <a:latin typeface="微软雅黑"/>
                <a:ea typeface="微软雅黑"/>
                <a:cs typeface="微软雅黑"/>
              </a:rPr>
              <a:t>acoustic 听觉的 ↔ hearing；well-developed 发达的</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小结</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Passage 2 小结：表格与简答的定位纪律</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95</a:t>
            </a:r>
          </a:p>
        </p:txBody>
      </p:sp>
      <p:sp>
        <p:nvSpPr>
          <p:cNvPr id="8" name="Rectangle 7"/>
          <p:cNvSpPr/>
          <p:nvPr/>
        </p:nvSpPr>
        <p:spPr>
          <a:xfrm>
            <a:off x="658368"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表格题动作</a:t>
            </a:r>
          </a:p>
        </p:txBody>
      </p:sp>
      <p:sp>
        <p:nvSpPr>
          <p:cNvPr id="9" name="Rectangle 8"/>
          <p:cNvSpPr/>
          <p:nvPr/>
        </p:nvSpPr>
        <p:spPr>
          <a:xfrm>
            <a:off x="658368" y="1828800"/>
            <a:ext cx="3429000" cy="3611880"/>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按行找段</a:t>
            </a:r>
          </a:p>
          <a:p>
            <a:pPr algn="l"/>
            <a:r>
              <a:rPr sz="2200" b="1">
                <a:solidFill>
                  <a:srgbClr val="0F172A"/>
                </a:solidFill>
                <a:latin typeface="微软雅黑"/>
                <a:ea typeface="微软雅黑"/>
                <a:cs typeface="微软雅黑"/>
              </a:rPr>
              <a:t>· 按列定词性</a:t>
            </a:r>
          </a:p>
          <a:p>
            <a:pPr algn="l"/>
            <a:r>
              <a:rPr sz="2200" b="1">
                <a:solidFill>
                  <a:srgbClr val="0F172A"/>
                </a:solidFill>
                <a:latin typeface="微软雅黑"/>
                <a:ea typeface="微软雅黑"/>
                <a:cs typeface="微软雅黑"/>
              </a:rPr>
              <a:t>· 抄原文形式</a:t>
            </a:r>
          </a:p>
        </p:txBody>
      </p:sp>
      <p:sp>
        <p:nvSpPr>
          <p:cNvPr id="10" name="Rectangle 9"/>
          <p:cNvSpPr/>
          <p:nvPr/>
        </p:nvSpPr>
        <p:spPr>
          <a:xfrm>
            <a:off x="4334256"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易错点</a:t>
            </a:r>
          </a:p>
        </p:txBody>
      </p:sp>
      <p:sp>
        <p:nvSpPr>
          <p:cNvPr id="11" name="Rectangle 10"/>
          <p:cNvSpPr/>
          <p:nvPr/>
        </p:nvSpPr>
        <p:spPr>
          <a:xfrm>
            <a:off x="4334256" y="1828800"/>
            <a:ext cx="3429000" cy="3611880"/>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baleen vs toothed</a:t>
            </a:r>
          </a:p>
          <a:p>
            <a:pPr algn="l"/>
            <a:r>
              <a:rPr sz="2200" b="1">
                <a:solidFill>
                  <a:srgbClr val="0F172A"/>
                </a:solidFill>
                <a:latin typeface="微软雅黑"/>
                <a:ea typeface="微软雅黑"/>
                <a:cs typeface="微软雅黑"/>
              </a:rPr>
              <a:t>· forward and downward</a:t>
            </a:r>
          </a:p>
          <a:p>
            <a:pPr algn="l"/>
            <a:r>
              <a:rPr sz="2200" b="1">
                <a:solidFill>
                  <a:srgbClr val="0F172A"/>
                </a:solidFill>
                <a:latin typeface="微软雅黑"/>
                <a:ea typeface="微软雅黑"/>
                <a:cs typeface="微软雅黑"/>
              </a:rPr>
              <a:t>· 复数 waters</a:t>
            </a:r>
          </a:p>
        </p:txBody>
      </p:sp>
      <p:sp>
        <p:nvSpPr>
          <p:cNvPr id="12" name="Rectangle 11"/>
          <p:cNvSpPr/>
          <p:nvPr/>
        </p:nvSpPr>
        <p:spPr>
          <a:xfrm>
            <a:off x="8010144"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简答题</a:t>
            </a:r>
          </a:p>
        </p:txBody>
      </p:sp>
      <p:sp>
        <p:nvSpPr>
          <p:cNvPr id="13" name="Rectangle 12"/>
          <p:cNvSpPr/>
          <p:nvPr/>
        </p:nvSpPr>
        <p:spPr>
          <a:xfrm>
            <a:off x="8010144" y="1828800"/>
            <a:ext cx="3429000" cy="3611880"/>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疑问词定词性</a:t>
            </a:r>
          </a:p>
          <a:p>
            <a:pPr algn="l"/>
            <a:r>
              <a:rPr sz="2200" b="1">
                <a:solidFill>
                  <a:srgbClr val="0F172A"/>
                </a:solidFill>
                <a:latin typeface="微软雅黑"/>
                <a:ea typeface="微软雅黑"/>
                <a:cs typeface="微软雅黑"/>
              </a:rPr>
              <a:t>· ≤3 词</a:t>
            </a:r>
          </a:p>
          <a:p>
            <a:pPr algn="l"/>
            <a:r>
              <a:rPr sz="2200" b="1">
                <a:solidFill>
                  <a:srgbClr val="0F172A"/>
                </a:solidFill>
                <a:latin typeface="微软雅黑"/>
                <a:ea typeface="微软雅黑"/>
                <a:cs typeface="微软雅黑"/>
              </a:rPr>
              <a:t>· 不改写原文</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文章地图</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PASSAGE 3 · Visual Symbols and the Blind</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96</a:t>
            </a:r>
          </a:p>
        </p:txBody>
      </p:sp>
      <p:sp>
        <p:nvSpPr>
          <p:cNvPr id="8" name="Rectangle 7"/>
          <p:cNvSpPr/>
          <p:nvPr/>
        </p:nvSpPr>
        <p:spPr>
          <a:xfrm>
            <a:off x="658368"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Part 1 · P1–P3</a:t>
            </a:r>
          </a:p>
        </p:txBody>
      </p:sp>
      <p:sp>
        <p:nvSpPr>
          <p:cNvPr id="9" name="Rectangle 8"/>
          <p:cNvSpPr/>
          <p:nvPr/>
        </p:nvSpPr>
        <p:spPr>
          <a:xfrm>
            <a:off x="658368" y="1828800"/>
            <a:ext cx="3429000" cy="3611880"/>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盲人能懂轮廓与透视</a:t>
            </a:r>
          </a:p>
          <a:p>
            <a:pPr algn="l"/>
            <a:r>
              <a:rPr sz="2200" b="1">
                <a:solidFill>
                  <a:srgbClr val="0F172A"/>
                </a:solidFill>
                <a:latin typeface="微软雅黑"/>
                <a:ea typeface="微软雅黑"/>
                <a:cs typeface="微软雅黑"/>
              </a:rPr>
              <a:t>· 盲女画出运动线</a:t>
            </a:r>
          </a:p>
          <a:p>
            <a:pPr algn="l"/>
            <a:r>
              <a:rPr sz="2200" b="1">
                <a:solidFill>
                  <a:srgbClr val="0F172A"/>
                </a:solidFill>
                <a:latin typeface="微软雅黑"/>
                <a:ea typeface="微软雅黑"/>
                <a:cs typeface="微软雅黑"/>
              </a:rPr>
              <a:t>· 五种轮辐实验设计</a:t>
            </a:r>
          </a:p>
        </p:txBody>
      </p:sp>
      <p:sp>
        <p:nvSpPr>
          <p:cNvPr id="10" name="Rectangle 9"/>
          <p:cNvSpPr/>
          <p:nvPr/>
        </p:nvSpPr>
        <p:spPr>
          <a:xfrm>
            <a:off x="4334256"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Part 1 · P4–P5</a:t>
            </a:r>
          </a:p>
        </p:txBody>
      </p:sp>
      <p:sp>
        <p:nvSpPr>
          <p:cNvPr id="11" name="Rectangle 10"/>
          <p:cNvSpPr/>
          <p:nvPr/>
        </p:nvSpPr>
        <p:spPr>
          <a:xfrm>
            <a:off x="4334256" y="1828800"/>
            <a:ext cx="3429000" cy="3611880"/>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五种轮辐 → 五种运动</a:t>
            </a:r>
          </a:p>
          <a:p>
            <a:pPr algn="l"/>
            <a:r>
              <a:rPr sz="2200" b="1">
                <a:solidFill>
                  <a:srgbClr val="0F172A"/>
                </a:solidFill>
                <a:latin typeface="微软雅黑"/>
                <a:ea typeface="微软雅黑"/>
                <a:cs typeface="微软雅黑"/>
              </a:rPr>
              <a:t>· 明眼人与盲人首选一致</a:t>
            </a:r>
          </a:p>
          <a:p>
            <a:pPr algn="l"/>
            <a:r>
              <a:rPr sz="2200" b="1">
                <a:solidFill>
                  <a:srgbClr val="0F172A"/>
                </a:solidFill>
                <a:latin typeface="微软雅黑"/>
                <a:ea typeface="微软雅黑"/>
                <a:cs typeface="微软雅黑"/>
              </a:rPr>
              <a:t>· 共识度几乎相同</a:t>
            </a:r>
          </a:p>
        </p:txBody>
      </p:sp>
      <p:sp>
        <p:nvSpPr>
          <p:cNvPr id="12" name="Rectangle 11"/>
          <p:cNvSpPr/>
          <p:nvPr/>
        </p:nvSpPr>
        <p:spPr>
          <a:xfrm>
            <a:off x="8010144"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Part 2 · P6–P8</a:t>
            </a:r>
          </a:p>
        </p:txBody>
      </p:sp>
      <p:sp>
        <p:nvSpPr>
          <p:cNvPr id="13" name="Rectangle 12"/>
          <p:cNvSpPr/>
          <p:nvPr/>
        </p:nvSpPr>
        <p:spPr>
          <a:xfrm>
            <a:off x="8010144" y="1828800"/>
            <a:ext cx="3429000" cy="3611880"/>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圆/方与20组词</a:t>
            </a:r>
          </a:p>
          <a:p>
            <a:pPr algn="l"/>
            <a:r>
              <a:rPr sz="2200" b="1">
                <a:solidFill>
                  <a:srgbClr val="0F172A"/>
                </a:solidFill>
                <a:latin typeface="微软雅黑"/>
                <a:ea typeface="微软雅黑"/>
                <a:cs typeface="微软雅黑"/>
              </a:rPr>
              <a:t>· 51% 只在 deep-shallow</a:t>
            </a:r>
          </a:p>
          <a:p>
            <a:pPr algn="l"/>
            <a:r>
              <a:rPr sz="2200" b="1">
                <a:solidFill>
                  <a:srgbClr val="0F172A"/>
                </a:solidFill>
                <a:latin typeface="微软雅黑"/>
                <a:ea typeface="微软雅黑"/>
                <a:cs typeface="微软雅黑"/>
              </a:rPr>
              <a:t>· 结论：理解方式相同</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题型策略</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Passage 3 题型策略</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97</a:t>
            </a:r>
          </a:p>
        </p:txBody>
      </p:sp>
      <p:sp>
        <p:nvSpPr>
          <p:cNvPr id="8" name="Rectangle 7"/>
          <p:cNvSpPr/>
          <p:nvPr/>
        </p:nvSpPr>
        <p:spPr>
          <a:xfrm>
            <a:off x="731520" y="1417320"/>
            <a:ext cx="10744200" cy="148132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Q27–29、Q40 选择题：题干先划限定（first paragraph / surprised / Part 1），再回原文找唯一句。</a:t>
            </a:r>
          </a:p>
        </p:txBody>
      </p:sp>
      <p:sp>
        <p:nvSpPr>
          <p:cNvPr id="9" name="Rectangle 8"/>
          <p:cNvSpPr/>
          <p:nvPr/>
        </p:nvSpPr>
        <p:spPr>
          <a:xfrm>
            <a:off x="731520" y="3099815"/>
            <a:ext cx="10744200" cy="14813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Q30–32 图形配对：先把五种轮辐画法与五种运动在原文里配好，再看图选。</a:t>
            </a:r>
          </a:p>
        </p:txBody>
      </p:sp>
      <p:sp>
        <p:nvSpPr>
          <p:cNvPr id="10" name="Rectangle 9"/>
          <p:cNvSpPr/>
          <p:nvPr/>
        </p:nvSpPr>
        <p:spPr>
          <a:xfrm>
            <a:off x="731520" y="4782312"/>
            <a:ext cx="10744200" cy="148132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Q33–39 词库摘要：先判断每个空的词性与单复数，再从词库里挑；同一个词可以重复使用。</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P3 Q27｜第一段对盲人下了什么结论</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98</a:t>
            </a:r>
          </a:p>
        </p:txBody>
      </p:sp>
      <p:sp>
        <p:nvSpPr>
          <p:cNvPr id="8" name="Rectangle 7"/>
          <p:cNvSpPr/>
          <p:nvPr/>
        </p:nvSpPr>
        <p:spPr>
          <a:xfrm>
            <a:off x="658368" y="1280160"/>
            <a:ext cx="10881360" cy="530352"/>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In the first paragraph the writer makes the point that blind people</a:t>
            </a:r>
          </a:p>
        </p:txBody>
      </p:sp>
      <p:sp>
        <p:nvSpPr>
          <p:cNvPr id="9" name="Rectangle 8"/>
          <p:cNvSpPr/>
          <p:nvPr/>
        </p:nvSpPr>
        <p:spPr>
          <a:xfrm>
            <a:off x="658368" y="1883664"/>
            <a:ext cx="10881360" cy="1225296"/>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0">
                <a:solidFill>
                  <a:srgbClr val="0F172A"/>
                </a:solidFill>
                <a:latin typeface="微软雅黑"/>
                <a:ea typeface="微软雅黑"/>
                <a:cs typeface="微软雅黑"/>
              </a:rPr>
              <a:t>A  may be interested in studying art.</a:t>
            </a:r>
          </a:p>
          <a:p>
            <a:pPr algn="l"/>
            <a:r>
              <a:rPr sz="1800" b="0">
                <a:solidFill>
                  <a:srgbClr val="0F172A"/>
                </a:solidFill>
                <a:latin typeface="微软雅黑"/>
                <a:ea typeface="微软雅黑"/>
                <a:cs typeface="微软雅黑"/>
              </a:rPr>
              <a:t>B  can draw outlines of different objects and surfaces.</a:t>
            </a:r>
          </a:p>
          <a:p>
            <a:pPr algn="l"/>
            <a:r>
              <a:rPr sz="1800" b="0">
                <a:solidFill>
                  <a:srgbClr val="0F172A"/>
                </a:solidFill>
                <a:latin typeface="微软雅黑"/>
                <a:ea typeface="微软雅黑"/>
                <a:cs typeface="微软雅黑"/>
              </a:rPr>
              <a:t>C  can recognise conventions such as perspective.</a:t>
            </a:r>
          </a:p>
          <a:p>
            <a:pPr algn="l"/>
            <a:r>
              <a:rPr sz="1800" b="0">
                <a:solidFill>
                  <a:srgbClr val="0F172A"/>
                </a:solidFill>
                <a:latin typeface="微软雅黑"/>
                <a:ea typeface="微软雅黑"/>
                <a:cs typeface="微软雅黑"/>
              </a:rPr>
              <a:t>D  can draw accurately.</a:t>
            </a:r>
          </a:p>
        </p:txBody>
      </p:sp>
      <p:sp>
        <p:nvSpPr>
          <p:cNvPr id="10" name="Rectangle 9"/>
          <p:cNvSpPr/>
          <p:nvPr/>
        </p:nvSpPr>
        <p:spPr>
          <a:xfrm>
            <a:off x="713232" y="325526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1" name="Rectangle 10"/>
          <p:cNvSpPr/>
          <p:nvPr/>
        </p:nvSpPr>
        <p:spPr>
          <a:xfrm>
            <a:off x="713232" y="3566160"/>
            <a:ext cx="3246120" cy="1170432"/>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0">
                <a:solidFill>
                  <a:srgbClr val="0F172A"/>
                </a:solidFill>
                <a:latin typeface="微软雅黑"/>
                <a:ea typeface="微软雅黑"/>
                <a:cs typeface="微软雅黑"/>
              </a:rPr>
              <a:t>限定：the first paragraph。</a:t>
            </a:r>
          </a:p>
          <a:p>
            <a:pPr algn="l"/>
            <a:r>
              <a:rPr sz="1800" b="0">
                <a:solidFill>
                  <a:srgbClr val="0F172A"/>
                </a:solidFill>
                <a:latin typeface="微软雅黑"/>
                <a:ea typeface="微软雅黑"/>
                <a:cs typeface="微软雅黑"/>
              </a:rPr>
              <a:t>只在 P1 找作者的“论点句”。</a:t>
            </a:r>
          </a:p>
        </p:txBody>
      </p:sp>
      <p:sp>
        <p:nvSpPr>
          <p:cNvPr id="12" name="Rectangle 11"/>
          <p:cNvSpPr/>
          <p:nvPr/>
        </p:nvSpPr>
        <p:spPr>
          <a:xfrm>
            <a:off x="4297680" y="325526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3" name="Rectangle 12"/>
          <p:cNvSpPr/>
          <p:nvPr/>
        </p:nvSpPr>
        <p:spPr>
          <a:xfrm>
            <a:off x="4297680" y="3566160"/>
            <a:ext cx="7178040" cy="1170432"/>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0">
                <a:solidFill>
                  <a:srgbClr val="0F172A"/>
                </a:solidFill>
                <a:latin typeface="微软雅黑"/>
                <a:ea typeface="微软雅黑"/>
                <a:cs typeface="微软雅黑"/>
              </a:rPr>
              <a:t>P1 S1: ... it has become clear that blind people can appreciate the use of outlines and perspectives to describe the arrangement of objects and other surfaces in space.</a:t>
            </a:r>
          </a:p>
        </p:txBody>
      </p:sp>
      <p:sp>
        <p:nvSpPr>
          <p:cNvPr id="14" name="Rectangle 13"/>
          <p:cNvSpPr/>
          <p:nvPr/>
        </p:nvSpPr>
        <p:spPr>
          <a:xfrm>
            <a:off x="713232" y="4919472"/>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5" name="Rectangle 14"/>
          <p:cNvSpPr/>
          <p:nvPr/>
        </p:nvSpPr>
        <p:spPr>
          <a:xfrm>
            <a:off x="713232" y="5230368"/>
            <a:ext cx="6675120" cy="1060704"/>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600" b="0">
                <a:solidFill>
                  <a:srgbClr val="0F172A"/>
                </a:solidFill>
                <a:latin typeface="微软雅黑"/>
                <a:ea typeface="微软雅黑"/>
                <a:cs typeface="微软雅黑"/>
              </a:rPr>
              <a:t>appreciate the use of outlines and perspectives ＝ 能理解这些惯例。</a:t>
            </a:r>
          </a:p>
          <a:p>
            <a:pPr algn="l"/>
            <a:r>
              <a:rPr sz="1600" b="0">
                <a:solidFill>
                  <a:srgbClr val="0F172A"/>
                </a:solidFill>
                <a:latin typeface="微软雅黑"/>
                <a:ea typeface="微软雅黑"/>
                <a:cs typeface="微软雅黑"/>
              </a:rPr>
              <a:t>原文说的是“理解/欣赏”，不是“画得准” → B、D 排除。</a:t>
            </a:r>
          </a:p>
          <a:p>
            <a:pPr algn="l"/>
            <a:r>
              <a:rPr sz="1600" b="0">
                <a:solidFill>
                  <a:srgbClr val="0F172A"/>
                </a:solidFill>
                <a:latin typeface="微软雅黑"/>
                <a:ea typeface="微软雅黑"/>
                <a:cs typeface="微软雅黑"/>
              </a:rPr>
              <a:t>学艺术兴趣未提 → A 排除。perspective 原词复现 → C。</a:t>
            </a:r>
          </a:p>
        </p:txBody>
      </p:sp>
      <p:sp>
        <p:nvSpPr>
          <p:cNvPr id="16" name="Rectangle 15"/>
          <p:cNvSpPr/>
          <p:nvPr/>
        </p:nvSpPr>
        <p:spPr>
          <a:xfrm>
            <a:off x="7726679" y="4919472"/>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7" name="Rectangle 16"/>
          <p:cNvSpPr/>
          <p:nvPr/>
        </p:nvSpPr>
        <p:spPr>
          <a:xfrm>
            <a:off x="7726679" y="5230368"/>
            <a:ext cx="3749039" cy="1060704"/>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100" b="1">
                <a:solidFill>
                  <a:srgbClr val="0F172A"/>
                </a:solidFill>
                <a:latin typeface="微软雅黑"/>
                <a:ea typeface="微软雅黑"/>
                <a:cs typeface="微软雅黑"/>
              </a:rPr>
              <a:t>Answer: C</a:t>
            </a:r>
          </a:p>
          <a:p>
            <a:pPr algn="l"/>
            <a:r>
              <a:rPr sz="2100" b="1">
                <a:solidFill>
                  <a:srgbClr val="0F172A"/>
                </a:solidFill>
                <a:latin typeface="微软雅黑"/>
                <a:ea typeface="微软雅黑"/>
                <a:cs typeface="微软雅黑"/>
              </a:rPr>
              <a:t>recognise conventions</a:t>
            </a:r>
          </a:p>
          <a:p>
            <a:pPr algn="l"/>
            <a:r>
              <a:rPr sz="2100" b="1">
                <a:solidFill>
                  <a:srgbClr val="0F172A"/>
                </a:solidFill>
                <a:latin typeface="微软雅黑"/>
                <a:ea typeface="微软雅黑"/>
                <a:cs typeface="微软雅黑"/>
              </a:rPr>
              <a:t>appreciate = recognise</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P3 Q27｜it has become clear that ... 形式主语</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99</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From a number of recent studies, it has become clear that blind people can appreciate the use of outlines and perspectives to describe the arrangement of objects and other surfaces in space.</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It has become clear that blind people can appreciate outlines and perspectives.</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600" b="0">
                <a:solidFill>
                  <a:srgbClr val="0F172A"/>
                </a:solidFill>
                <a:latin typeface="微软雅黑"/>
                <a:ea typeface="微软雅黑"/>
                <a:cs typeface="微软雅黑"/>
              </a:rPr>
              <a:t>· From ... studies 是来源状语，先跳过。</a:t>
            </a:r>
          </a:p>
          <a:p>
            <a:pPr algn="l"/>
            <a:r>
              <a:rPr sz="1600" b="0">
                <a:solidFill>
                  <a:srgbClr val="0F172A"/>
                </a:solidFill>
                <a:latin typeface="微软雅黑"/>
                <a:ea typeface="微软雅黑"/>
                <a:cs typeface="微软雅黑"/>
              </a:rPr>
              <a:t>· it 是形式主语，真主语是 that 从句。</a:t>
            </a:r>
          </a:p>
          <a:p>
            <a:pPr algn="l"/>
            <a:r>
              <a:rPr sz="1600" b="0">
                <a:solidFill>
                  <a:srgbClr val="0F172A"/>
                </a:solidFill>
                <a:latin typeface="微软雅黑"/>
                <a:ea typeface="微软雅黑"/>
                <a:cs typeface="微软雅黑"/>
              </a:rPr>
              <a:t>· 从句主干：blind people can appreciate the use of ...。</a:t>
            </a:r>
          </a:p>
          <a:p>
            <a:pPr algn="l"/>
            <a:r>
              <a:rPr sz="1600" b="0">
                <a:solidFill>
                  <a:srgbClr val="0F172A"/>
                </a:solidFill>
                <a:latin typeface="微软雅黑"/>
                <a:ea typeface="微软雅黑"/>
                <a:cs typeface="微软雅黑"/>
              </a:rPr>
              <a:t>· to describe ... 是目的状语，说明这些手法的用途。</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从近来的一些研究可以清楚看出，盲人能够理解用轮廓和透视来描述物体及其他表面在空间中排列的方式。</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appreciate 理解、领会 ↔ recognise / understand；outline 轮廓</a:t>
            </a:r>
          </a:p>
          <a:p>
            <a:pPr algn="l"/>
            <a:r>
              <a:rPr sz="1850" b="1">
                <a:solidFill>
                  <a:srgbClr val="0F172A"/>
                </a:solidFill>
                <a:latin typeface="微软雅黑"/>
                <a:ea typeface="微软雅黑"/>
                <a:cs typeface="微软雅黑"/>
              </a:rPr>
              <a:t>perspective 透视法 ＝ convention（绘画惯例）</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P3 Q28｜作者为什么感到吃惊</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100</a:t>
            </a:r>
          </a:p>
        </p:txBody>
      </p:sp>
      <p:sp>
        <p:nvSpPr>
          <p:cNvPr id="8" name="Rectangle 7"/>
          <p:cNvSpPr/>
          <p:nvPr/>
        </p:nvSpPr>
        <p:spPr>
          <a:xfrm>
            <a:off x="658368" y="1280160"/>
            <a:ext cx="10881360" cy="530352"/>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The writer was surprised because the blind woman</a:t>
            </a:r>
          </a:p>
        </p:txBody>
      </p:sp>
      <p:sp>
        <p:nvSpPr>
          <p:cNvPr id="9" name="Rectangle 8"/>
          <p:cNvSpPr/>
          <p:nvPr/>
        </p:nvSpPr>
        <p:spPr>
          <a:xfrm>
            <a:off x="658368" y="1883664"/>
            <a:ext cx="10881360" cy="1225296"/>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0">
                <a:solidFill>
                  <a:srgbClr val="0F172A"/>
                </a:solidFill>
                <a:latin typeface="微软雅黑"/>
                <a:ea typeface="微软雅黑"/>
                <a:cs typeface="微软雅黑"/>
              </a:rPr>
              <a:t>A  drew a circle on her own initiative.</a:t>
            </a:r>
          </a:p>
          <a:p>
            <a:pPr algn="l"/>
            <a:r>
              <a:rPr sz="1800" b="0">
                <a:solidFill>
                  <a:srgbClr val="0F172A"/>
                </a:solidFill>
                <a:latin typeface="微软雅黑"/>
                <a:ea typeface="微软雅黑"/>
                <a:cs typeface="微软雅黑"/>
              </a:rPr>
              <a:t>B  did not understand what a wheel looked like.</a:t>
            </a:r>
          </a:p>
          <a:p>
            <a:pPr algn="l"/>
            <a:r>
              <a:rPr sz="1800" b="0">
                <a:solidFill>
                  <a:srgbClr val="0F172A"/>
                </a:solidFill>
                <a:latin typeface="微软雅黑"/>
                <a:ea typeface="微软雅黑"/>
                <a:cs typeface="微软雅黑"/>
              </a:rPr>
              <a:t>C  included a symbol representing movement.</a:t>
            </a:r>
          </a:p>
          <a:p>
            <a:pPr algn="l"/>
            <a:r>
              <a:rPr sz="1800" b="0">
                <a:solidFill>
                  <a:srgbClr val="0F172A"/>
                </a:solidFill>
                <a:latin typeface="微软雅黑"/>
                <a:ea typeface="微软雅黑"/>
                <a:cs typeface="微软雅黑"/>
              </a:rPr>
              <a:t>D  was the first person to use lines of motion.</a:t>
            </a:r>
          </a:p>
        </p:txBody>
      </p:sp>
      <p:sp>
        <p:nvSpPr>
          <p:cNvPr id="10" name="Rectangle 9"/>
          <p:cNvSpPr/>
          <p:nvPr/>
        </p:nvSpPr>
        <p:spPr>
          <a:xfrm>
            <a:off x="713232" y="325526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1" name="Rectangle 10"/>
          <p:cNvSpPr/>
          <p:nvPr/>
        </p:nvSpPr>
        <p:spPr>
          <a:xfrm>
            <a:off x="713232" y="3566160"/>
            <a:ext cx="3246120" cy="1170432"/>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锚点：surprised ↔ I was taken aback。</a:t>
            </a:r>
          </a:p>
          <a:p>
            <a:pPr algn="l"/>
            <a:r>
              <a:rPr sz="1900" b="0">
                <a:solidFill>
                  <a:srgbClr val="0F172A"/>
                </a:solidFill>
                <a:latin typeface="微软雅黑"/>
                <a:ea typeface="微软雅黑"/>
                <a:cs typeface="微软雅黑"/>
              </a:rPr>
              <a:t>找“吃惊”前后各一句。</a:t>
            </a:r>
          </a:p>
        </p:txBody>
      </p:sp>
      <p:sp>
        <p:nvSpPr>
          <p:cNvPr id="12" name="Rectangle 11"/>
          <p:cNvSpPr/>
          <p:nvPr/>
        </p:nvSpPr>
        <p:spPr>
          <a:xfrm>
            <a:off x="4297680" y="325526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3" name="Rectangle 12"/>
          <p:cNvSpPr/>
          <p:nvPr/>
        </p:nvSpPr>
        <p:spPr>
          <a:xfrm>
            <a:off x="4297680" y="3566160"/>
            <a:ext cx="7178040" cy="1170432"/>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0">
                <a:solidFill>
                  <a:srgbClr val="0F172A"/>
                </a:solidFill>
                <a:latin typeface="微软雅黑"/>
                <a:ea typeface="微软雅黑"/>
                <a:cs typeface="微软雅黑"/>
              </a:rPr>
              <a:t>P1 S3–S6: ... decided on her own initiative to draw a wheel as it was spinning. To show this motion, she traced a curve inside the circle. I was taken aback. Lines of motion ... are a very recent invention.</a:t>
            </a:r>
          </a:p>
        </p:txBody>
      </p:sp>
      <p:sp>
        <p:nvSpPr>
          <p:cNvPr id="14" name="Rectangle 13"/>
          <p:cNvSpPr/>
          <p:nvPr/>
        </p:nvSpPr>
        <p:spPr>
          <a:xfrm>
            <a:off x="713232" y="4919472"/>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5" name="Rectangle 14"/>
          <p:cNvSpPr/>
          <p:nvPr/>
        </p:nvSpPr>
        <p:spPr>
          <a:xfrm>
            <a:off x="713232" y="5230368"/>
            <a:ext cx="6675120" cy="1060704"/>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她画的是 a curve to show this motion ＝ 表示运动的符号。</a:t>
            </a:r>
          </a:p>
          <a:p>
            <a:pPr algn="l"/>
            <a:r>
              <a:rPr sz="1700" b="0">
                <a:solidFill>
                  <a:srgbClr val="0F172A"/>
                </a:solidFill>
                <a:latin typeface="微软雅黑"/>
                <a:ea typeface="微软雅黑"/>
                <a:cs typeface="微软雅黑"/>
              </a:rPr>
              <a:t>吃惊的原因是“运动线是很晚才出现的发明”，她却自发用了。</a:t>
            </a:r>
          </a:p>
          <a:p>
            <a:pPr algn="l"/>
            <a:r>
              <a:rPr sz="1700" b="0">
                <a:solidFill>
                  <a:srgbClr val="0F172A"/>
                </a:solidFill>
                <a:latin typeface="微软雅黑"/>
                <a:ea typeface="微软雅黑"/>
                <a:cs typeface="微软雅黑"/>
              </a:rPr>
              <a:t>D 说她是第一个使用者，原文只说这种线很新 → 过度推断。</a:t>
            </a:r>
          </a:p>
        </p:txBody>
      </p:sp>
      <p:sp>
        <p:nvSpPr>
          <p:cNvPr id="16" name="Rectangle 15"/>
          <p:cNvSpPr/>
          <p:nvPr/>
        </p:nvSpPr>
        <p:spPr>
          <a:xfrm>
            <a:off x="7726679" y="4919472"/>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7" name="Rectangle 16"/>
          <p:cNvSpPr/>
          <p:nvPr/>
        </p:nvSpPr>
        <p:spPr>
          <a:xfrm>
            <a:off x="7726679" y="5230368"/>
            <a:ext cx="3749039" cy="1060704"/>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100" b="1">
                <a:solidFill>
                  <a:srgbClr val="0F172A"/>
                </a:solidFill>
                <a:latin typeface="微软雅黑"/>
                <a:ea typeface="微软雅黑"/>
                <a:cs typeface="微软雅黑"/>
              </a:rPr>
              <a:t>Answer: C</a:t>
            </a:r>
          </a:p>
          <a:p>
            <a:pPr algn="l"/>
            <a:r>
              <a:rPr sz="2100" b="1">
                <a:solidFill>
                  <a:srgbClr val="0F172A"/>
                </a:solidFill>
                <a:latin typeface="微软雅黑"/>
                <a:ea typeface="微软雅黑"/>
                <a:cs typeface="微软雅黑"/>
              </a:rPr>
              <a:t>symbol of movement</a:t>
            </a:r>
          </a:p>
          <a:p>
            <a:pPr algn="l"/>
            <a:r>
              <a:rPr sz="2100" b="1">
                <a:solidFill>
                  <a:srgbClr val="0F172A"/>
                </a:solidFill>
                <a:latin typeface="微软雅黑"/>
                <a:ea typeface="微软雅黑"/>
                <a:cs typeface="微软雅黑"/>
              </a:rPr>
              <a:t>运动线是新发明</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P3 Q28｜when 从句 + on her own initiative</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101</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This fact was drawn to my attention dramatically when a blind woman in one of my investigations decided on her own initiative to draw a wheel as it was spinning.</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00" b="1">
                <a:solidFill>
                  <a:srgbClr val="0F172A"/>
                </a:solidFill>
                <a:latin typeface="微软雅黑"/>
                <a:ea typeface="微软雅黑"/>
                <a:cs typeface="微软雅黑"/>
              </a:rPr>
              <a:t>This fact was drawn to my attention when a blind woman decided to draw a spinning wheel.</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600" b="0">
                <a:solidFill>
                  <a:srgbClr val="0F172A"/>
                </a:solidFill>
                <a:latin typeface="微软雅黑"/>
                <a:ea typeface="微软雅黑"/>
                <a:cs typeface="微软雅黑"/>
              </a:rPr>
              <a:t>· 主句是被动：This fact was drawn to my attention。</a:t>
            </a:r>
          </a:p>
          <a:p>
            <a:pPr algn="l"/>
            <a:r>
              <a:rPr sz="1600" b="0">
                <a:solidFill>
                  <a:srgbClr val="0F172A"/>
                </a:solidFill>
                <a:latin typeface="微软雅黑"/>
                <a:ea typeface="微软雅黑"/>
                <a:cs typeface="微软雅黑"/>
              </a:rPr>
              <a:t>· when 引导时间状语从句，讲具体事件。</a:t>
            </a:r>
          </a:p>
          <a:p>
            <a:pPr algn="l"/>
            <a:r>
              <a:rPr sz="1600" b="0">
                <a:solidFill>
                  <a:srgbClr val="0F172A"/>
                </a:solidFill>
                <a:latin typeface="微软雅黑"/>
                <a:ea typeface="微软雅黑"/>
                <a:cs typeface="微软雅黑"/>
              </a:rPr>
              <a:t>· on her own initiative 是插入的介词短语：自发地。</a:t>
            </a:r>
          </a:p>
          <a:p>
            <a:pPr algn="l"/>
            <a:r>
              <a:rPr sz="1600" b="0">
                <a:solidFill>
                  <a:srgbClr val="0F172A"/>
                </a:solidFill>
                <a:latin typeface="微软雅黑"/>
                <a:ea typeface="微软雅黑"/>
                <a:cs typeface="微软雅黑"/>
              </a:rPr>
              <a:t>· as it was spinning 又是一层时间状语。</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当我研究中的一位盲人女性自发决定画一个正在旋转的轮子时，这一事实戏剧性地引起了我的注意。</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initiative 主动 ↔ of her own accord；taken aback 吃惊 ↔ surprised</a:t>
            </a:r>
          </a:p>
          <a:p>
            <a:pPr algn="l"/>
            <a:r>
              <a:rPr sz="1850" b="1">
                <a:solidFill>
                  <a:srgbClr val="0F172A"/>
                </a:solidFill>
                <a:latin typeface="微软雅黑"/>
                <a:ea typeface="微软雅黑"/>
                <a:cs typeface="微软雅黑"/>
              </a:rPr>
              <a:t>trace a curve 描出一条曲线；lines of motion 运动线</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P3 Q29｜Part 1 实验得出什么发现</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102</a:t>
            </a:r>
          </a:p>
        </p:txBody>
      </p:sp>
      <p:sp>
        <p:nvSpPr>
          <p:cNvPr id="8" name="Rectangle 7"/>
          <p:cNvSpPr/>
          <p:nvPr/>
        </p:nvSpPr>
        <p:spPr>
          <a:xfrm>
            <a:off x="658368" y="1280160"/>
            <a:ext cx="10881360" cy="530352"/>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1">
                <a:solidFill>
                  <a:srgbClr val="0F172A"/>
                </a:solidFill>
                <a:latin typeface="微软雅黑"/>
                <a:ea typeface="微软雅黑"/>
                <a:cs typeface="微软雅黑"/>
              </a:rPr>
              <a:t>From the experiment described in Part 1, the writer found that the blind subjects</a:t>
            </a:r>
          </a:p>
        </p:txBody>
      </p:sp>
      <p:sp>
        <p:nvSpPr>
          <p:cNvPr id="9" name="Rectangle 8"/>
          <p:cNvSpPr/>
          <p:nvPr/>
        </p:nvSpPr>
        <p:spPr>
          <a:xfrm>
            <a:off x="658368" y="1883664"/>
            <a:ext cx="10881360" cy="1225296"/>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0">
                <a:solidFill>
                  <a:srgbClr val="0F172A"/>
                </a:solidFill>
                <a:latin typeface="微软雅黑"/>
                <a:ea typeface="微软雅黑"/>
                <a:cs typeface="微软雅黑"/>
              </a:rPr>
              <a:t>A  had good understanding of symbols representing movement.</a:t>
            </a:r>
          </a:p>
          <a:p>
            <a:pPr algn="l"/>
            <a:r>
              <a:rPr sz="1800" b="0">
                <a:solidFill>
                  <a:srgbClr val="0F172A"/>
                </a:solidFill>
                <a:latin typeface="微软雅黑"/>
                <a:ea typeface="微软雅黑"/>
                <a:cs typeface="微软雅黑"/>
              </a:rPr>
              <a:t>B  could control the movement of wheels very accurately.</a:t>
            </a:r>
          </a:p>
          <a:p>
            <a:pPr algn="l"/>
            <a:r>
              <a:rPr sz="1800" b="0">
                <a:solidFill>
                  <a:srgbClr val="0F172A"/>
                </a:solidFill>
                <a:latin typeface="微软雅黑"/>
                <a:ea typeface="微软雅黑"/>
                <a:cs typeface="微软雅黑"/>
              </a:rPr>
              <a:t>C  worked together well as a group in solving problems.</a:t>
            </a:r>
          </a:p>
          <a:p>
            <a:pPr algn="l"/>
            <a:r>
              <a:rPr sz="1800" b="0">
                <a:solidFill>
                  <a:srgbClr val="0F172A"/>
                </a:solidFill>
                <a:latin typeface="微软雅黑"/>
                <a:ea typeface="微软雅黑"/>
                <a:cs typeface="微软雅黑"/>
              </a:rPr>
              <a:t>D  got better results than the sighted undergraduates.</a:t>
            </a:r>
          </a:p>
        </p:txBody>
      </p:sp>
      <p:sp>
        <p:nvSpPr>
          <p:cNvPr id="10" name="Rectangle 9"/>
          <p:cNvSpPr/>
          <p:nvPr/>
        </p:nvSpPr>
        <p:spPr>
          <a:xfrm>
            <a:off x="713232" y="325526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1" name="Rectangle 10"/>
          <p:cNvSpPr/>
          <p:nvPr/>
        </p:nvSpPr>
        <p:spPr>
          <a:xfrm>
            <a:off x="713232" y="3566160"/>
            <a:ext cx="3246120" cy="1170432"/>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限定：Part 1 的实验结论。</a:t>
            </a:r>
          </a:p>
          <a:p>
            <a:pPr algn="l"/>
            <a:r>
              <a:rPr sz="1900" b="0">
                <a:solidFill>
                  <a:srgbClr val="0F172A"/>
                </a:solidFill>
                <a:latin typeface="微软雅黑"/>
                <a:ea typeface="微软雅黑"/>
                <a:cs typeface="微软雅黑"/>
              </a:rPr>
              <a:t>结论句在 P4–P5。</a:t>
            </a:r>
          </a:p>
        </p:txBody>
      </p:sp>
      <p:sp>
        <p:nvSpPr>
          <p:cNvPr id="12" name="Rectangle 11"/>
          <p:cNvSpPr/>
          <p:nvPr/>
        </p:nvSpPr>
        <p:spPr>
          <a:xfrm>
            <a:off x="4297680" y="325526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3" name="Rectangle 12"/>
          <p:cNvSpPr/>
          <p:nvPr/>
        </p:nvSpPr>
        <p:spPr>
          <a:xfrm>
            <a:off x="4297680" y="3566160"/>
            <a:ext cx="7178040" cy="1170432"/>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500" b="0">
                <a:solidFill>
                  <a:srgbClr val="0F172A"/>
                </a:solidFill>
                <a:latin typeface="微软雅黑"/>
                <a:ea typeface="微软雅黑"/>
                <a:cs typeface="微软雅黑"/>
              </a:rPr>
              <a:t>P4 S1: All but one of the blind subjects assigned distinctive motions to each wheel. P5 S4: ... the blind not only figured out meanings for each line of motion, but as a group they generally came up with the same meaning at least as frequently as did sighted subjects.</a:t>
            </a:r>
          </a:p>
        </p:txBody>
      </p:sp>
      <p:sp>
        <p:nvSpPr>
          <p:cNvPr id="14" name="Rectangle 13"/>
          <p:cNvSpPr/>
          <p:nvPr/>
        </p:nvSpPr>
        <p:spPr>
          <a:xfrm>
            <a:off x="713232" y="4919472"/>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5" name="Rectangle 14"/>
          <p:cNvSpPr/>
          <p:nvPr/>
        </p:nvSpPr>
        <p:spPr>
          <a:xfrm>
            <a:off x="713232" y="5230368"/>
            <a:ext cx="6675120" cy="1060704"/>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600" b="0">
                <a:solidFill>
                  <a:srgbClr val="0F172A"/>
                </a:solidFill>
                <a:latin typeface="微软雅黑"/>
                <a:ea typeface="微软雅黑"/>
                <a:cs typeface="微软雅黑"/>
              </a:rPr>
              <a:t>figured out meanings for each line of motion ＝ 理解了运动符号 → A。</a:t>
            </a:r>
          </a:p>
          <a:p>
            <a:pPr algn="l"/>
            <a:r>
              <a:rPr sz="1600" b="0">
                <a:solidFill>
                  <a:srgbClr val="0F172A"/>
                </a:solidFill>
                <a:latin typeface="微软雅黑"/>
                <a:ea typeface="微软雅黑"/>
                <a:cs typeface="微软雅黑"/>
              </a:rPr>
              <a:t>at least as frequently as ＝ 不低于，不是“更好” → D 排除。</a:t>
            </a:r>
          </a:p>
          <a:p>
            <a:pPr algn="l"/>
            <a:r>
              <a:rPr sz="1600" b="0">
                <a:solidFill>
                  <a:srgbClr val="0F172A"/>
                </a:solidFill>
                <a:latin typeface="微软雅黑"/>
                <a:ea typeface="微软雅黑"/>
                <a:cs typeface="微软雅黑"/>
              </a:rPr>
              <a:t>as a group 指统计口径，不是“合作解题” → C 排除。</a:t>
            </a:r>
          </a:p>
        </p:txBody>
      </p:sp>
      <p:sp>
        <p:nvSpPr>
          <p:cNvPr id="16" name="Rectangle 15"/>
          <p:cNvSpPr/>
          <p:nvPr/>
        </p:nvSpPr>
        <p:spPr>
          <a:xfrm>
            <a:off x="7726679" y="4919472"/>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7" name="Rectangle 16"/>
          <p:cNvSpPr/>
          <p:nvPr/>
        </p:nvSpPr>
        <p:spPr>
          <a:xfrm>
            <a:off x="7726679" y="5230368"/>
            <a:ext cx="3749039" cy="1060704"/>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100" b="1">
                <a:solidFill>
                  <a:srgbClr val="0F172A"/>
                </a:solidFill>
                <a:latin typeface="微软雅黑"/>
                <a:ea typeface="微软雅黑"/>
                <a:cs typeface="微软雅黑"/>
              </a:rPr>
              <a:t>Answer: A</a:t>
            </a:r>
          </a:p>
          <a:p>
            <a:pPr algn="l"/>
            <a:r>
              <a:rPr sz="2100" b="1">
                <a:solidFill>
                  <a:srgbClr val="0F172A"/>
                </a:solidFill>
                <a:latin typeface="微软雅黑"/>
                <a:ea typeface="微软雅黑"/>
                <a:cs typeface="微软雅黑"/>
              </a:rPr>
              <a:t>good understanding</a:t>
            </a:r>
          </a:p>
          <a:p>
            <a:pPr algn="l"/>
            <a:r>
              <a:rPr sz="2100" b="1">
                <a:solidFill>
                  <a:srgbClr val="0F172A"/>
                </a:solidFill>
                <a:latin typeface="微软雅黑"/>
                <a:ea typeface="微软雅黑"/>
                <a:cs typeface="微软雅黑"/>
              </a:rPr>
              <a:t>figured out meanings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2700" b="1">
                <a:solidFill>
                  <a:srgbClr val="FFFFFF"/>
                </a:solidFill>
                <a:latin typeface="微软雅黑"/>
                <a:ea typeface="微软雅黑"/>
                <a:cs typeface="微软雅黑"/>
              </a:rPr>
              <a:t>P3 Q29｜not only ... but ... at least as ... as 的比较</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103</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Evidently, however, the blind not only figured out meanings for each line of motion, but as a group they generally came up with the same meaning at least as frequently as did sighted subjects.</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00" b="1">
                <a:solidFill>
                  <a:srgbClr val="0F172A"/>
                </a:solidFill>
                <a:latin typeface="微软雅黑"/>
                <a:ea typeface="微软雅黑"/>
                <a:cs typeface="微软雅黑"/>
              </a:rPr>
              <a:t>The blind figured out meanings and came up with the same meaning as frequently as sighted subjects.</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600" b="0">
                <a:solidFill>
                  <a:srgbClr val="0F172A"/>
                </a:solidFill>
                <a:latin typeface="微软雅黑"/>
                <a:ea typeface="微软雅黑"/>
                <a:cs typeface="微软雅黑"/>
              </a:rPr>
              <a:t>· not only ... but ... 并列两个谓语，都是盲人做到的事。</a:t>
            </a:r>
          </a:p>
          <a:p>
            <a:pPr algn="l"/>
            <a:r>
              <a:rPr sz="1600" b="0">
                <a:solidFill>
                  <a:srgbClr val="0F172A"/>
                </a:solidFill>
                <a:latin typeface="微软雅黑"/>
                <a:ea typeface="微软雅黑"/>
                <a:cs typeface="微软雅黑"/>
              </a:rPr>
              <a:t>· as a group 是插入语，说明统计层面。</a:t>
            </a:r>
          </a:p>
          <a:p>
            <a:pPr algn="l"/>
            <a:r>
              <a:rPr sz="1600" b="0">
                <a:solidFill>
                  <a:srgbClr val="0F172A"/>
                </a:solidFill>
                <a:latin typeface="微软雅黑"/>
                <a:ea typeface="微软雅黑"/>
                <a:cs typeface="微软雅黑"/>
              </a:rPr>
              <a:t>· at least as frequently as ＝ 至少和……一样频繁（＝不低于）。</a:t>
            </a:r>
          </a:p>
          <a:p>
            <a:pPr algn="l"/>
            <a:r>
              <a:rPr sz="1600" b="0">
                <a:solidFill>
                  <a:srgbClr val="0F172A"/>
                </a:solidFill>
                <a:latin typeface="微软雅黑"/>
                <a:ea typeface="微软雅黑"/>
                <a:cs typeface="微软雅黑"/>
              </a:rPr>
              <a:t>· as did sighted subjects 是倒装的比较从句。</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20" b="0">
                <a:solidFill>
                  <a:srgbClr val="0F172A"/>
                </a:solidFill>
                <a:latin typeface="微软雅黑"/>
                <a:ea typeface="微软雅黑"/>
                <a:cs typeface="微软雅黑"/>
              </a:rPr>
              <a:t>然而显然，盲人不仅弄清了每种运动线的含义，而且作为一个群体，他们得出相同含义的频率至少不低于明眼受试者。</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figure out 弄清 ↔ work out / understand；evidently 显然</a:t>
            </a:r>
          </a:p>
          <a:p>
            <a:pPr algn="l"/>
            <a:r>
              <a:rPr sz="1850" b="1">
                <a:solidFill>
                  <a:srgbClr val="0F172A"/>
                </a:solidFill>
                <a:latin typeface="微软雅黑"/>
                <a:ea typeface="微软雅黑"/>
                <a:cs typeface="微软雅黑"/>
              </a:rPr>
              <a:t>at least as ... as ＝ 不低于（不是“超过”）</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Q30–32 图形对照</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先看清三个轮子：轮辐画法决定运动类型</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104</a:t>
            </a:r>
          </a:p>
        </p:txBody>
      </p:sp>
      <p:sp>
        <p:nvSpPr>
          <p:cNvPr id="8" name="Rectangle 7"/>
          <p:cNvSpPr/>
          <p:nvPr/>
        </p:nvSpPr>
        <p:spPr>
          <a:xfrm>
            <a:off x="713232" y="1298448"/>
            <a:ext cx="10762488" cy="548640"/>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1">
                <a:solidFill>
                  <a:srgbClr val="0F172A"/>
                </a:solidFill>
                <a:latin typeface="微软雅黑"/>
                <a:ea typeface="微软雅黑"/>
                <a:cs typeface="微软雅黑"/>
              </a:rPr>
              <a:t>原文 P4 列出五种画法；题目只考三个图，另外两种正是干扰项的来源。</a:t>
            </a:r>
          </a:p>
        </p:txBody>
      </p:sp>
      <p:sp>
        <p:nvSpPr>
          <p:cNvPr id="9" name="Rectangle 8"/>
          <p:cNvSpPr/>
          <p:nvPr/>
        </p:nvSpPr>
        <p:spPr>
          <a:xfrm>
            <a:off x="713232" y="2011680"/>
            <a:ext cx="10762488" cy="2788920"/>
          </a:xfrm>
          <a:prstGeom prst="rect">
            <a:avLst/>
          </a:prstGeom>
          <a:solidFill>
            <a:srgbClr val="F8FAFC"/>
          </a:solidFill>
          <a:ln w="1270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01952" y="2414015"/>
            <a:ext cx="1426464" cy="1426464"/>
          </a:xfrm>
          <a:prstGeom prst="ellipse">
            <a:avLst/>
          </a:prstGeom>
          <a:noFill/>
          <a:ln w="22225">
            <a:solidFill>
              <a:srgbClr val="0F1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2615184" y="3127248"/>
            <a:ext cx="955730" cy="0"/>
          </a:xfrm>
          <a:prstGeom prst="line">
            <a:avLst/>
          </a:prstGeom>
          <a:ln w="22225">
            <a:solidFill>
              <a:srgbClr val="0F172A"/>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615184" y="3127248"/>
            <a:ext cx="477865" cy="827687"/>
          </a:xfrm>
          <a:prstGeom prst="line">
            <a:avLst/>
          </a:prstGeom>
          <a:ln w="22225">
            <a:solidFill>
              <a:srgbClr val="0F172A"/>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2137318" y="3127248"/>
            <a:ext cx="477866" cy="827687"/>
          </a:xfrm>
          <a:prstGeom prst="line">
            <a:avLst/>
          </a:prstGeom>
          <a:ln w="22225">
            <a:solidFill>
              <a:srgbClr val="0F172A"/>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1659453" y="3127248"/>
            <a:ext cx="955731" cy="0"/>
          </a:xfrm>
          <a:prstGeom prst="line">
            <a:avLst/>
          </a:prstGeom>
          <a:ln w="22225">
            <a:solidFill>
              <a:srgbClr val="0F172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2137318" y="2299560"/>
            <a:ext cx="477866" cy="827688"/>
          </a:xfrm>
          <a:prstGeom prst="line">
            <a:avLst/>
          </a:prstGeom>
          <a:ln w="22225">
            <a:solidFill>
              <a:srgbClr val="0F172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615184" y="2299560"/>
            <a:ext cx="477865" cy="827688"/>
          </a:xfrm>
          <a:prstGeom prst="line">
            <a:avLst/>
          </a:prstGeom>
          <a:ln w="22225">
            <a:solidFill>
              <a:srgbClr val="0F172A"/>
            </a:solidFill>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1197863" y="4041648"/>
            <a:ext cx="283464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900" b="1">
                <a:solidFill>
                  <a:srgbClr val="0F172A"/>
                </a:solidFill>
                <a:latin typeface="微软雅黑"/>
                <a:ea typeface="微软雅黑"/>
                <a:cs typeface="微软雅黑"/>
              </a:rPr>
              <a:t>30　直线且伸出轮圈</a:t>
            </a:r>
          </a:p>
        </p:txBody>
      </p:sp>
      <p:sp>
        <p:nvSpPr>
          <p:cNvPr id="18" name="Oval 17"/>
          <p:cNvSpPr/>
          <p:nvPr/>
        </p:nvSpPr>
        <p:spPr>
          <a:xfrm>
            <a:off x="5376672" y="2414015"/>
            <a:ext cx="1426464" cy="1426464"/>
          </a:xfrm>
          <a:prstGeom prst="ellipse">
            <a:avLst/>
          </a:prstGeom>
          <a:noFill/>
          <a:ln w="22225">
            <a:solidFill>
              <a:srgbClr val="0F1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6089904" y="3127248"/>
            <a:ext cx="713232" cy="0"/>
          </a:xfrm>
          <a:prstGeom prst="line">
            <a:avLst/>
          </a:prstGeom>
          <a:ln w="22225">
            <a:solidFill>
              <a:srgbClr val="0F172A"/>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89904" y="3127248"/>
            <a:ext cx="356616" cy="617677"/>
          </a:xfrm>
          <a:prstGeom prst="line">
            <a:avLst/>
          </a:prstGeom>
          <a:ln w="22225">
            <a:solidFill>
              <a:srgbClr val="0F172A"/>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5733288" y="3127248"/>
            <a:ext cx="356616" cy="617677"/>
          </a:xfrm>
          <a:prstGeom prst="line">
            <a:avLst/>
          </a:prstGeom>
          <a:ln w="22225">
            <a:solidFill>
              <a:srgbClr val="0F172A"/>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5376672" y="3127248"/>
            <a:ext cx="713232" cy="0"/>
          </a:xfrm>
          <a:prstGeom prst="line">
            <a:avLst/>
          </a:prstGeom>
          <a:ln w="22225">
            <a:solidFill>
              <a:srgbClr val="0F172A"/>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5733288" y="2509570"/>
            <a:ext cx="356616" cy="617678"/>
          </a:xfrm>
          <a:prstGeom prst="line">
            <a:avLst/>
          </a:prstGeom>
          <a:ln w="22225">
            <a:solidFill>
              <a:srgbClr val="0F172A"/>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6089904" y="2509570"/>
            <a:ext cx="356616" cy="617678"/>
          </a:xfrm>
          <a:prstGeom prst="line">
            <a:avLst/>
          </a:prstGeom>
          <a:ln w="22225">
            <a:solidFill>
              <a:srgbClr val="0F172A"/>
            </a:solidFill>
            <a:prstDash val="dash"/>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4672584" y="4041648"/>
            <a:ext cx="283464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900" b="1">
                <a:solidFill>
                  <a:srgbClr val="0F172A"/>
                </a:solidFill>
                <a:latin typeface="微软雅黑"/>
                <a:ea typeface="微软雅黑"/>
                <a:cs typeface="微软雅黑"/>
              </a:rPr>
              <a:t>31　虚线／断续线</a:t>
            </a:r>
          </a:p>
        </p:txBody>
      </p:sp>
      <p:sp>
        <p:nvSpPr>
          <p:cNvPr id="26" name="Oval 25"/>
          <p:cNvSpPr/>
          <p:nvPr/>
        </p:nvSpPr>
        <p:spPr>
          <a:xfrm>
            <a:off x="8851392" y="2414015"/>
            <a:ext cx="1426464" cy="1426464"/>
          </a:xfrm>
          <a:prstGeom prst="ellipse">
            <a:avLst/>
          </a:prstGeom>
          <a:noFill/>
          <a:ln w="22225">
            <a:solidFill>
              <a:srgbClr val="0F1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9564624" y="3127248"/>
            <a:ext cx="580484" cy="414412"/>
          </a:xfrm>
          <a:custGeom>
            <a:avLst/>
            <a:gdLst/>
            <a:ahLst/>
            <a:cxnLst/>
            <a:rect l="l" t="t" r="r" b="b"/>
            <a:pathLst>
              <a:path w="580484" h="414412">
                <a:moveTo>
                  <a:pt x="0" y="0"/>
                </a:moveTo>
                <a:lnTo>
                  <a:pt x="71186" y="4419"/>
                </a:lnTo>
                <a:lnTo>
                  <a:pt x="141551" y="17642"/>
                </a:lnTo>
                <a:lnTo>
                  <a:pt x="210279" y="39569"/>
                </a:lnTo>
                <a:lnTo>
                  <a:pt x="276564" y="70029"/>
                </a:lnTo>
                <a:lnTo>
                  <a:pt x="339617" y="108788"/>
                </a:lnTo>
                <a:lnTo>
                  <a:pt x="398669" y="155547"/>
                </a:lnTo>
                <a:lnTo>
                  <a:pt x="452976" y="209941"/>
                </a:lnTo>
                <a:lnTo>
                  <a:pt x="501826" y="271548"/>
                </a:lnTo>
                <a:lnTo>
                  <a:pt x="544541" y="339884"/>
                </a:lnTo>
                <a:lnTo>
                  <a:pt x="580484" y="414412"/>
                </a:lnTo>
              </a:path>
            </a:pathLst>
          </a:custGeom>
          <a:noFill/>
          <a:ln w="22225">
            <a:solidFill>
              <a:srgbClr val="0F1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9495974" y="3127248"/>
            <a:ext cx="146284" cy="709920"/>
          </a:xfrm>
          <a:custGeom>
            <a:avLst/>
            <a:gdLst/>
            <a:ahLst/>
            <a:cxnLst/>
            <a:rect l="l" t="t" r="r" b="b"/>
            <a:pathLst>
              <a:path w="146284" h="709920">
                <a:moveTo>
                  <a:pt x="68650" y="0"/>
                </a:moveTo>
                <a:lnTo>
                  <a:pt x="100415" y="63858"/>
                </a:lnTo>
                <a:lnTo>
                  <a:pt x="124146" y="131408"/>
                </a:lnTo>
                <a:lnTo>
                  <a:pt x="139521" y="201891"/>
                </a:lnTo>
                <a:lnTo>
                  <a:pt x="146284" y="274526"/>
                </a:lnTo>
                <a:lnTo>
                  <a:pt x="144244" y="348511"/>
                </a:lnTo>
                <a:lnTo>
                  <a:pt x="133276" y="423031"/>
                </a:lnTo>
                <a:lnTo>
                  <a:pt x="113323" y="497259"/>
                </a:lnTo>
                <a:lnTo>
                  <a:pt x="84395" y="570368"/>
                </a:lnTo>
                <a:lnTo>
                  <a:pt x="46571" y="641529"/>
                </a:lnTo>
                <a:lnTo>
                  <a:pt x="0" y="709920"/>
                </a:lnTo>
              </a:path>
            </a:pathLst>
          </a:custGeom>
          <a:noFill/>
          <a:ln w="22225">
            <a:solidFill>
              <a:srgbClr val="0F1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8915489" y="3127248"/>
            <a:ext cx="649135" cy="301644"/>
          </a:xfrm>
          <a:custGeom>
            <a:avLst/>
            <a:gdLst/>
            <a:ahLst/>
            <a:cxnLst/>
            <a:rect l="l" t="t" r="r" b="b"/>
            <a:pathLst>
              <a:path w="649135" h="301644">
                <a:moveTo>
                  <a:pt x="649135" y="0"/>
                </a:moveTo>
                <a:lnTo>
                  <a:pt x="609714" y="59439"/>
                </a:lnTo>
                <a:lnTo>
                  <a:pt x="563080" y="113765"/>
                </a:lnTo>
                <a:lnTo>
                  <a:pt x="509727" y="162322"/>
                </a:lnTo>
                <a:lnTo>
                  <a:pt x="450205" y="204496"/>
                </a:lnTo>
                <a:lnTo>
                  <a:pt x="385112" y="239722"/>
                </a:lnTo>
                <a:lnTo>
                  <a:pt x="315092" y="267484"/>
                </a:lnTo>
                <a:lnTo>
                  <a:pt x="240832" y="287318"/>
                </a:lnTo>
                <a:lnTo>
                  <a:pt x="163054" y="298820"/>
                </a:lnTo>
                <a:lnTo>
                  <a:pt x="82515" y="301644"/>
                </a:lnTo>
                <a:lnTo>
                  <a:pt x="0" y="295507"/>
                </a:lnTo>
              </a:path>
            </a:pathLst>
          </a:custGeom>
          <a:noFill/>
          <a:ln w="22225">
            <a:solidFill>
              <a:srgbClr val="0F1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8984139" y="2712835"/>
            <a:ext cx="580485" cy="414413"/>
          </a:xfrm>
          <a:custGeom>
            <a:avLst/>
            <a:gdLst/>
            <a:ahLst/>
            <a:cxnLst/>
            <a:rect l="l" t="t" r="r" b="b"/>
            <a:pathLst>
              <a:path w="580485" h="414413">
                <a:moveTo>
                  <a:pt x="580485" y="414413"/>
                </a:moveTo>
                <a:lnTo>
                  <a:pt x="509298" y="409993"/>
                </a:lnTo>
                <a:lnTo>
                  <a:pt x="438933" y="396770"/>
                </a:lnTo>
                <a:lnTo>
                  <a:pt x="370205" y="374843"/>
                </a:lnTo>
                <a:lnTo>
                  <a:pt x="303920" y="344383"/>
                </a:lnTo>
                <a:lnTo>
                  <a:pt x="240867" y="305624"/>
                </a:lnTo>
                <a:lnTo>
                  <a:pt x="181815" y="258865"/>
                </a:lnTo>
                <a:lnTo>
                  <a:pt x="127508" y="204471"/>
                </a:lnTo>
                <a:lnTo>
                  <a:pt x="78658" y="142864"/>
                </a:lnTo>
                <a:lnTo>
                  <a:pt x="35943" y="74528"/>
                </a:lnTo>
                <a:lnTo>
                  <a:pt x="0" y="0"/>
                </a:lnTo>
              </a:path>
            </a:pathLst>
          </a:custGeom>
          <a:noFill/>
          <a:ln w="22225">
            <a:solidFill>
              <a:srgbClr val="0F1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9486989" y="2417327"/>
            <a:ext cx="146284" cy="709921"/>
          </a:xfrm>
          <a:custGeom>
            <a:avLst/>
            <a:gdLst/>
            <a:ahLst/>
            <a:cxnLst/>
            <a:rect l="l" t="t" r="r" b="b"/>
            <a:pathLst>
              <a:path w="146284" h="709921">
                <a:moveTo>
                  <a:pt x="77635" y="709921"/>
                </a:moveTo>
                <a:lnTo>
                  <a:pt x="45869" y="646062"/>
                </a:lnTo>
                <a:lnTo>
                  <a:pt x="22138" y="578512"/>
                </a:lnTo>
                <a:lnTo>
                  <a:pt x="6763" y="508029"/>
                </a:lnTo>
                <a:lnTo>
                  <a:pt x="0" y="435394"/>
                </a:lnTo>
                <a:lnTo>
                  <a:pt x="2040" y="361409"/>
                </a:lnTo>
                <a:lnTo>
                  <a:pt x="13008" y="286889"/>
                </a:lnTo>
                <a:lnTo>
                  <a:pt x="32961" y="212661"/>
                </a:lnTo>
                <a:lnTo>
                  <a:pt x="61889" y="139552"/>
                </a:lnTo>
                <a:lnTo>
                  <a:pt x="99713" y="68391"/>
                </a:lnTo>
                <a:lnTo>
                  <a:pt x="146284" y="0"/>
                </a:lnTo>
              </a:path>
            </a:pathLst>
          </a:custGeom>
          <a:noFill/>
          <a:ln w="22225">
            <a:solidFill>
              <a:srgbClr val="0F1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9564624" y="2825603"/>
            <a:ext cx="649134" cy="301645"/>
          </a:xfrm>
          <a:custGeom>
            <a:avLst/>
            <a:gdLst/>
            <a:ahLst/>
            <a:cxnLst/>
            <a:rect l="l" t="t" r="r" b="b"/>
            <a:pathLst>
              <a:path w="649134" h="301645">
                <a:moveTo>
                  <a:pt x="0" y="301645"/>
                </a:moveTo>
                <a:lnTo>
                  <a:pt x="39420" y="242205"/>
                </a:lnTo>
                <a:lnTo>
                  <a:pt x="86054" y="187879"/>
                </a:lnTo>
                <a:lnTo>
                  <a:pt x="139407" y="139322"/>
                </a:lnTo>
                <a:lnTo>
                  <a:pt x="198929" y="97148"/>
                </a:lnTo>
                <a:lnTo>
                  <a:pt x="264022" y="61922"/>
                </a:lnTo>
                <a:lnTo>
                  <a:pt x="334042" y="34160"/>
                </a:lnTo>
                <a:lnTo>
                  <a:pt x="408302" y="14326"/>
                </a:lnTo>
                <a:lnTo>
                  <a:pt x="486080" y="2824"/>
                </a:lnTo>
                <a:lnTo>
                  <a:pt x="566619" y="0"/>
                </a:lnTo>
                <a:lnTo>
                  <a:pt x="649134" y="6137"/>
                </a:lnTo>
              </a:path>
            </a:pathLst>
          </a:custGeom>
          <a:noFill/>
          <a:ln w="22225">
            <a:solidFill>
              <a:srgbClr val="0F1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47304" y="4041648"/>
            <a:ext cx="2834640"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900" b="1">
                <a:solidFill>
                  <a:srgbClr val="0F172A"/>
                </a:solidFill>
                <a:latin typeface="微软雅黑"/>
                <a:ea typeface="微软雅黑"/>
                <a:cs typeface="微软雅黑"/>
              </a:rPr>
              <a:t>32　弧形弯曲</a:t>
            </a:r>
          </a:p>
        </p:txBody>
      </p:sp>
      <p:sp>
        <p:nvSpPr>
          <p:cNvPr id="34" name="Rectangle 33"/>
          <p:cNvSpPr/>
          <p:nvPr/>
        </p:nvSpPr>
        <p:spPr>
          <a:xfrm>
            <a:off x="713232" y="4983480"/>
            <a:ext cx="10762488" cy="1005840"/>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1">
                <a:solidFill>
                  <a:srgbClr val="0F172A"/>
                </a:solidFill>
                <a:latin typeface="微软雅黑"/>
                <a:ea typeface="微软雅黑"/>
                <a:cs typeface="微软雅黑"/>
              </a:rPr>
              <a:t>五组对照（原文顺序）：curved → steady spinning；wavy → wobbling；bent → jerking；</a:t>
            </a:r>
          </a:p>
          <a:p>
            <a:pPr algn="l"/>
            <a:r>
              <a:rPr sz="1900" b="1">
                <a:solidFill>
                  <a:srgbClr val="0F172A"/>
                </a:solidFill>
                <a:latin typeface="微软雅黑"/>
                <a:ea typeface="微软雅黑"/>
                <a:cs typeface="微软雅黑"/>
              </a:rPr>
              <a:t>extending beyond perimeter → use of brakes；dashed → rapid spinning。</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P3 Q30｜轮辐伸出轮圈之外＝什么运动</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105</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Diagram 30：轮辐为直线，且伸出轮圈之外（spokes extending beyond the rim）</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先在原文找五种画法的对照。</a:t>
            </a:r>
          </a:p>
          <a:p>
            <a:pPr algn="l"/>
            <a:r>
              <a:rPr sz="1900" b="0">
                <a:solidFill>
                  <a:srgbClr val="0F172A"/>
                </a:solidFill>
                <a:latin typeface="微软雅黑"/>
                <a:ea typeface="微软雅黑"/>
                <a:cs typeface="微软雅黑"/>
              </a:rPr>
              <a:t>本图特征：超出轮圈。</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P4 S3: Subjects assumed that spokes extending beyond the wheel's perimeter signified that the wheel had its brakes on and that dashed spokes indicated the wheel was spinning quickly.</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extending beyond the rim ↔ extending beyond the wheel's perimeter。</a:t>
            </a:r>
          </a:p>
          <a:p>
            <a:pPr algn="l"/>
            <a:r>
              <a:rPr sz="1900" b="0">
                <a:solidFill>
                  <a:srgbClr val="0F172A"/>
                </a:solidFill>
                <a:latin typeface="微软雅黑"/>
                <a:ea typeface="微软雅黑"/>
                <a:cs typeface="微软雅黑"/>
              </a:rPr>
              <a:t>had its brakes on ↔ 选项 E use of brakes。</a:t>
            </a:r>
          </a:p>
          <a:p>
            <a:pPr algn="l"/>
            <a:r>
              <a:rPr sz="1900" b="0">
                <a:solidFill>
                  <a:srgbClr val="0F172A"/>
                </a:solidFill>
                <a:latin typeface="微软雅黑"/>
                <a:ea typeface="微软雅黑"/>
                <a:cs typeface="微软雅黑"/>
              </a:rPr>
              <a:t>原词几乎复现，属送分题，前提是看懂图。</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E</a:t>
            </a:r>
          </a:p>
          <a:p>
            <a:pPr algn="l"/>
            <a:r>
              <a:rPr sz="2100" b="1">
                <a:solidFill>
                  <a:srgbClr val="0F172A"/>
                </a:solidFill>
                <a:latin typeface="微软雅黑"/>
                <a:ea typeface="微软雅黑"/>
                <a:cs typeface="微软雅黑"/>
              </a:rPr>
              <a:t>use of brakes</a:t>
            </a:r>
          </a:p>
          <a:p>
            <a:pPr algn="l"/>
            <a:r>
              <a:rPr sz="2100" b="1">
                <a:solidFill>
                  <a:srgbClr val="0F172A"/>
                </a:solidFill>
                <a:latin typeface="微软雅黑"/>
                <a:ea typeface="微软雅黑"/>
                <a:cs typeface="微软雅黑"/>
              </a:rPr>
              <a:t>perimeter ＝ rim</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2700" b="1">
                <a:solidFill>
                  <a:srgbClr val="FFFFFF"/>
                </a:solidFill>
                <a:latin typeface="微软雅黑"/>
                <a:ea typeface="微软雅黑"/>
                <a:cs typeface="微软雅黑"/>
              </a:rPr>
              <a:t>P3 Q30｜Subjects assumed that ... and that ... 双宾语从句</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106</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Subjects assumed that spokes extending beyond the wheel's perimeter signified that the wheel had its brakes on and that dashed spokes indicated the wheel was spinning quickly.</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00" b="1">
                <a:solidFill>
                  <a:srgbClr val="0F172A"/>
                </a:solidFill>
                <a:latin typeface="微软雅黑"/>
                <a:ea typeface="微软雅黑"/>
                <a:cs typeface="微软雅黑"/>
              </a:rPr>
              <a:t>Subjects assumed that extending spokes signified braking and dashed spokes indicated fast spinning.</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 assumed 后接两个并列的 that 从句（and that ... 是第二个）。</a:t>
            </a:r>
          </a:p>
          <a:p>
            <a:pPr algn="l"/>
            <a:r>
              <a:rPr sz="1700" b="0">
                <a:solidFill>
                  <a:srgbClr val="0F172A"/>
                </a:solidFill>
                <a:latin typeface="微软雅黑"/>
                <a:ea typeface="微软雅黑"/>
                <a:cs typeface="微软雅黑"/>
              </a:rPr>
              <a:t>· 第一个从句里还套了一个 that：signified that ...。</a:t>
            </a:r>
          </a:p>
          <a:p>
            <a:pPr algn="l"/>
            <a:r>
              <a:rPr sz="1700" b="0">
                <a:solidFill>
                  <a:srgbClr val="0F172A"/>
                </a:solidFill>
                <a:latin typeface="微软雅黑"/>
                <a:ea typeface="微软雅黑"/>
                <a:cs typeface="微软雅黑"/>
              </a:rPr>
              <a:t>· extending beyond ... 是现在分词后置定语，修饰 spokes。</a:t>
            </a:r>
          </a:p>
          <a:p>
            <a:pPr algn="l"/>
            <a:r>
              <a:rPr sz="1700" b="0">
                <a:solidFill>
                  <a:srgbClr val="0F172A"/>
                </a:solidFill>
                <a:latin typeface="微软雅黑"/>
                <a:ea typeface="微软雅黑"/>
                <a:cs typeface="微软雅黑"/>
              </a:rPr>
              <a:t>· 两个从句分别对应 Q30 和 Q31。</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受试者认为，伸出轮圈之外的轮辐表示轮子正在刹车，而虚线轮辐则表示轮子在快速旋转。</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perimeter 周边、轮圈 ↔ rim / edge；signify 表示 ↔ indicate / mean</a:t>
            </a:r>
          </a:p>
          <a:p>
            <a:pPr algn="l"/>
            <a:r>
              <a:rPr sz="1850" b="1">
                <a:solidFill>
                  <a:srgbClr val="0F172A"/>
                </a:solidFill>
                <a:latin typeface="微软雅黑"/>
                <a:ea typeface="微软雅黑"/>
                <a:cs typeface="微软雅黑"/>
              </a:rPr>
              <a:t>have the brakes on 刹车中</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P3 Q31｜虚线轮辐＝什么运动</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107</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400" b="1">
                <a:solidFill>
                  <a:srgbClr val="0F172A"/>
                </a:solidFill>
                <a:latin typeface="微软雅黑"/>
                <a:ea typeface="微软雅黑"/>
                <a:cs typeface="微软雅黑"/>
              </a:rPr>
              <a:t>Diagram 31：轮辐为虚线／断续线（dashed spokes）</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本图特征：线是断开的。</a:t>
            </a:r>
          </a:p>
          <a:p>
            <a:pPr algn="l"/>
            <a:r>
              <a:rPr sz="1900" b="0">
                <a:solidFill>
                  <a:srgbClr val="0F172A"/>
                </a:solidFill>
                <a:latin typeface="微软雅黑"/>
                <a:ea typeface="微软雅黑"/>
                <a:cs typeface="微软雅黑"/>
              </a:rPr>
              <a:t>在同一句里找 dashed。</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P4 S3: ... and that dashed spokes indicated the wheel was spinning quickly.</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dashed spokes 原词复现。</a:t>
            </a:r>
          </a:p>
          <a:p>
            <a:pPr algn="l"/>
            <a:r>
              <a:rPr sz="1900" b="0">
                <a:solidFill>
                  <a:srgbClr val="0F172A"/>
                </a:solidFill>
                <a:latin typeface="微软雅黑"/>
                <a:ea typeface="微软雅黑"/>
                <a:cs typeface="微软雅黑"/>
              </a:rPr>
              <a:t>spinning quickly ↔ 选项 C rapid spinning。</a:t>
            </a:r>
          </a:p>
          <a:p>
            <a:pPr algn="l"/>
            <a:r>
              <a:rPr sz="1900" b="0">
                <a:solidFill>
                  <a:srgbClr val="0F172A"/>
                </a:solidFill>
                <a:latin typeface="微软雅黑"/>
                <a:ea typeface="微软雅黑"/>
                <a:cs typeface="微软雅黑"/>
              </a:rPr>
              <a:t>注意与 A steady spinning 区分：quickly≠steadily。</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C</a:t>
            </a:r>
          </a:p>
          <a:p>
            <a:pPr algn="l"/>
            <a:r>
              <a:rPr sz="2100" b="1">
                <a:solidFill>
                  <a:srgbClr val="0F172A"/>
                </a:solidFill>
                <a:latin typeface="微软雅黑"/>
                <a:ea typeface="微软雅黑"/>
                <a:cs typeface="微软雅黑"/>
              </a:rPr>
              <a:t>rapid spinning</a:t>
            </a:r>
          </a:p>
          <a:p>
            <a:pPr algn="l"/>
            <a:r>
              <a:rPr sz="2100" b="1">
                <a:solidFill>
                  <a:srgbClr val="0F172A"/>
                </a:solidFill>
                <a:latin typeface="微软雅黑"/>
                <a:ea typeface="微软雅黑"/>
                <a:cs typeface="微软雅黑"/>
              </a:rPr>
              <a:t>quickly ＝ rapid</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P3 Q31｜五种画法与五种运动的完整对照</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108</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1">
                <a:solidFill>
                  <a:srgbClr val="0F172A"/>
                </a:solidFill>
                <a:latin typeface="微软雅黑"/>
                <a:ea typeface="微软雅黑"/>
                <a:cs typeface="微软雅黑"/>
              </a:rPr>
              <a:t>Most guessed that the curved spokes indicated ... spinning steadily; the wavy spokes ... wobbling; and the bent spokes ... jerking. Subjects assumed that spokes extending beyond the perimeter signified brakes and that dashed spokes indicated ... spinning quickly.</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curved→steady；wavy→wobbling；bent→jerky；extending→brakes；dashed→rapid.</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80" b="0">
                <a:solidFill>
                  <a:srgbClr val="0F172A"/>
                </a:solidFill>
                <a:latin typeface="微软雅黑"/>
                <a:ea typeface="微软雅黑"/>
                <a:cs typeface="微软雅黑"/>
              </a:rPr>
              <a:t>· 原文用分号把三组并列在一句里。</a:t>
            </a:r>
          </a:p>
          <a:p>
            <a:pPr algn="l"/>
            <a:r>
              <a:rPr sz="1880" b="0">
                <a:solidFill>
                  <a:srgbClr val="0F172A"/>
                </a:solidFill>
                <a:latin typeface="微软雅黑"/>
                <a:ea typeface="微软雅黑"/>
                <a:cs typeface="微软雅黑"/>
              </a:rPr>
              <a:t>· 第二句再补两组，一共五组。</a:t>
            </a:r>
          </a:p>
          <a:p>
            <a:pPr algn="l"/>
            <a:r>
              <a:rPr sz="1880" b="0">
                <a:solidFill>
                  <a:srgbClr val="0F172A"/>
                </a:solidFill>
                <a:latin typeface="微软雅黑"/>
                <a:ea typeface="微软雅黑"/>
                <a:cs typeface="微软雅黑"/>
              </a:rPr>
              <a:t>· 配对题先把五组全画成表，再回头看图。</a:t>
            </a:r>
          </a:p>
          <a:p>
            <a:pPr algn="l"/>
            <a:r>
              <a:rPr sz="1880" b="0">
                <a:solidFill>
                  <a:srgbClr val="0F172A"/>
                </a:solidFill>
                <a:latin typeface="微软雅黑"/>
                <a:ea typeface="微软雅黑"/>
                <a:cs typeface="微软雅黑"/>
              </a:rPr>
              <a:t>· 题目只考三个图，另两组是干扰项来源。</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多数人猜测：弯曲轮辐＝平稳旋转；波浪轮辐＝摇晃；折线轮辐＝顿挫；伸出轮圈＝刹车；虚线轮辐＝快速旋转。</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dashed 虚线的；wavy 波浪形的；bent 弯折的</a:t>
            </a:r>
          </a:p>
          <a:p>
            <a:pPr algn="l"/>
            <a:r>
              <a:rPr sz="1850" b="1">
                <a:solidFill>
                  <a:srgbClr val="0F172A"/>
                </a:solidFill>
                <a:latin typeface="微软雅黑"/>
                <a:ea typeface="微软雅黑"/>
                <a:cs typeface="微软雅黑"/>
              </a:rPr>
              <a:t>wobble 摇晃；jerk 顿挫、急动</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P3 Q32｜弧形轮辐＝什么运动</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109</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400" b="1">
                <a:solidFill>
                  <a:srgbClr val="0F172A"/>
                </a:solidFill>
                <a:latin typeface="微软雅黑"/>
                <a:ea typeface="微软雅黑"/>
                <a:cs typeface="微软雅黑"/>
              </a:rPr>
              <a:t>Diagram 32：轮辐为弯曲的弧线（curved spokes）</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本图特征：线是弯的。</a:t>
            </a:r>
          </a:p>
          <a:p>
            <a:pPr algn="l"/>
            <a:r>
              <a:rPr sz="1900" b="0">
                <a:solidFill>
                  <a:srgbClr val="0F172A"/>
                </a:solidFill>
                <a:latin typeface="微软雅黑"/>
                <a:ea typeface="微软雅黑"/>
                <a:cs typeface="微软雅黑"/>
              </a:rPr>
              <a:t>回到 P4 S2 找 curved。</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P4 S2: Most guessed that the curved spokes indicated that the wheel was spinning steadily; the wavy spokes, they thought, suggested that the wheel was wobbling; and the bent spokes were taken as a sign that the wheel was jerking.</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curved spokes 原词复现。</a:t>
            </a:r>
          </a:p>
          <a:p>
            <a:pPr algn="l"/>
            <a:r>
              <a:rPr sz="1900" b="0">
                <a:solidFill>
                  <a:srgbClr val="0F172A"/>
                </a:solidFill>
                <a:latin typeface="微软雅黑"/>
                <a:ea typeface="微软雅黑"/>
                <a:cs typeface="微软雅黑"/>
              </a:rPr>
              <a:t>spinning steadily ↔ 选项 A steady spinning。</a:t>
            </a:r>
          </a:p>
          <a:p>
            <a:pPr algn="l"/>
            <a:r>
              <a:rPr sz="1900" b="0">
                <a:solidFill>
                  <a:srgbClr val="0F172A"/>
                </a:solidFill>
                <a:latin typeface="微软雅黑"/>
                <a:ea typeface="微软雅黑"/>
                <a:cs typeface="微软雅黑"/>
              </a:rPr>
              <a:t>别被 D wobbling 干扰：那是 wavy（波浪）不是 curved（弧形）。</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A</a:t>
            </a:r>
          </a:p>
          <a:p>
            <a:pPr algn="l"/>
            <a:r>
              <a:rPr sz="2100" b="1">
                <a:solidFill>
                  <a:srgbClr val="0F172A"/>
                </a:solidFill>
                <a:latin typeface="微软雅黑"/>
                <a:ea typeface="微软雅黑"/>
                <a:cs typeface="微软雅黑"/>
              </a:rPr>
              <a:t>steady spinning</a:t>
            </a:r>
          </a:p>
          <a:p>
            <a:pPr algn="l"/>
            <a:r>
              <a:rPr sz="2100" b="1">
                <a:solidFill>
                  <a:srgbClr val="0F172A"/>
                </a:solidFill>
                <a:latin typeface="微软雅黑"/>
                <a:ea typeface="微软雅黑"/>
                <a:cs typeface="微软雅黑"/>
              </a:rPr>
              <a:t>curved ≠ wavy</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P3 Q32｜分号并列三组 + 插入语 they thought</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110</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Most guessed that the curved spokes indicated that the wheel was spinning steadily; the wavy spokes, they thought, suggested that the wheel was wobbling; and the bent spokes were taken as a sign that the wheel was jerking.</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00" b="1">
                <a:solidFill>
                  <a:srgbClr val="0F172A"/>
                </a:solidFill>
                <a:latin typeface="微软雅黑"/>
                <a:ea typeface="微软雅黑"/>
                <a:cs typeface="微软雅黑"/>
              </a:rPr>
              <a:t>Curved spokes indicated steady spinning; wavy spokes suggested wobbling; bent spokes meant jerking.</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600" b="0">
                <a:solidFill>
                  <a:srgbClr val="0F172A"/>
                </a:solidFill>
                <a:latin typeface="微软雅黑"/>
                <a:ea typeface="微软雅黑"/>
                <a:cs typeface="微软雅黑"/>
              </a:rPr>
              <a:t>· 分号把三组“画法→运动”并列起来，结构完全对称。</a:t>
            </a:r>
          </a:p>
          <a:p>
            <a:pPr algn="l"/>
            <a:r>
              <a:rPr sz="1600" b="0">
                <a:solidFill>
                  <a:srgbClr val="0F172A"/>
                </a:solidFill>
                <a:latin typeface="微软雅黑"/>
                <a:ea typeface="微软雅黑"/>
                <a:cs typeface="微软雅黑"/>
              </a:rPr>
              <a:t>· they thought 是插入语，去掉不影响主干。</a:t>
            </a:r>
          </a:p>
          <a:p>
            <a:pPr algn="l"/>
            <a:r>
              <a:rPr sz="1600" b="0">
                <a:solidFill>
                  <a:srgbClr val="0F172A"/>
                </a:solidFill>
                <a:latin typeface="微软雅黑"/>
                <a:ea typeface="微软雅黑"/>
                <a:cs typeface="微软雅黑"/>
              </a:rPr>
              <a:t>· were taken as a sign that ... 是被动的“被视为……的标志”。</a:t>
            </a:r>
          </a:p>
          <a:p>
            <a:pPr algn="l"/>
            <a:r>
              <a:rPr sz="1600" b="0">
                <a:solidFill>
                  <a:srgbClr val="0F172A"/>
                </a:solidFill>
                <a:latin typeface="微软雅黑"/>
                <a:ea typeface="微软雅黑"/>
                <a:cs typeface="微软雅黑"/>
              </a:rPr>
              <a:t>· 对称结构一旦看出，三组关系一次读完。</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20" b="0">
                <a:solidFill>
                  <a:srgbClr val="0F172A"/>
                </a:solidFill>
                <a:latin typeface="微软雅黑"/>
                <a:ea typeface="微软雅黑"/>
                <a:cs typeface="微软雅黑"/>
              </a:rPr>
              <a:t>多数人猜测：弯曲的轮辐表示轮子在平稳旋转；他们认为波浪形轮辐表示轮子在摇晃；折线轮辐则被视为轮子在顿挫的标志。</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steadily 平稳地 ↔ evenly；be taken as 被视为 ↔ be regarded as</a:t>
            </a:r>
          </a:p>
          <a:p>
            <a:pPr algn="l"/>
            <a:r>
              <a:rPr sz="1850" b="1">
                <a:solidFill>
                  <a:srgbClr val="0F172A"/>
                </a:solidFill>
                <a:latin typeface="微软雅黑"/>
                <a:ea typeface="微软雅黑"/>
                <a:cs typeface="微软雅黑"/>
              </a:rPr>
              <a:t>curved 弧形的（≠ wavy 波浪形）</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P3 Q33｜a set of word ____ was used</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111</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 a set of word 33 …… was used to investigate whether blind and sighted people ...</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word + 空格 → 名词，作复合名词后半。</a:t>
            </a:r>
          </a:p>
          <a:p>
            <a:pPr algn="l"/>
            <a:r>
              <a:rPr sz="1900" b="0">
                <a:solidFill>
                  <a:srgbClr val="0F172A"/>
                </a:solidFill>
                <a:latin typeface="微软雅黑"/>
                <a:ea typeface="微软雅黑"/>
                <a:cs typeface="微软雅黑"/>
              </a:rPr>
              <a:t>词库里可选：pairs / words / associations。</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P7 S1: We gave a list of twenty pairs of words to sighted subjects and asked them to pick from each pair the term that best related to a circle ...</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原文是 twenty pairs of words＝二十组词对。</a:t>
            </a:r>
          </a:p>
          <a:p>
            <a:pPr algn="l"/>
            <a:r>
              <a:rPr sz="1900" b="0">
                <a:solidFill>
                  <a:srgbClr val="0F172A"/>
                </a:solidFill>
                <a:latin typeface="微软雅黑"/>
                <a:ea typeface="微软雅黑"/>
                <a:cs typeface="微软雅黑"/>
              </a:rPr>
              <a:t>word pairs 正是“词对”的复合说法。</a:t>
            </a:r>
          </a:p>
          <a:p>
            <a:pPr algn="l"/>
            <a:r>
              <a:rPr sz="1900" b="0">
                <a:solidFill>
                  <a:srgbClr val="0F172A"/>
                </a:solidFill>
                <a:latin typeface="微软雅黑"/>
                <a:ea typeface="微软雅黑"/>
                <a:cs typeface="微软雅黑"/>
              </a:rPr>
              <a:t>选 associations 会与后文“联想”混淆，不合语法搭配。</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pairs</a:t>
            </a:r>
          </a:p>
          <a:p>
            <a:pPr algn="l"/>
            <a:r>
              <a:rPr sz="2100" b="1">
                <a:solidFill>
                  <a:srgbClr val="0F172A"/>
                </a:solidFill>
                <a:latin typeface="微软雅黑"/>
                <a:ea typeface="微软雅黑"/>
                <a:cs typeface="微软雅黑"/>
              </a:rPr>
              <a:t>word pairs 词对。</a:t>
            </a:r>
          </a:p>
          <a:p>
            <a:pPr algn="l"/>
            <a:r>
              <a:rPr sz="2100" b="1">
                <a:solidFill>
                  <a:srgbClr val="0F172A"/>
                </a:solidFill>
                <a:latin typeface="微软雅黑"/>
                <a:ea typeface="微软雅黑"/>
                <a:cs typeface="微软雅黑"/>
              </a:rPr>
              <a:t>词库原词，勿改形。</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P3 Q33｜a list of twenty pairs of words 的层级</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112</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We gave a list of twenty pairs of words to sighted subjects and asked them to pick from each pair the term that best related to a circle and the term that best related to a square.</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We gave a list of word pairs to sighted subjects and asked them to pick the term.</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500" b="0">
                <a:solidFill>
                  <a:srgbClr val="0F172A"/>
                </a:solidFill>
                <a:latin typeface="微软雅黑"/>
                <a:ea typeface="微软雅黑"/>
                <a:cs typeface="微软雅黑"/>
              </a:rPr>
              <a:t>· a list of twenty pairs of words 是三层 of 结构：清单→词对→词。</a:t>
            </a:r>
          </a:p>
          <a:p>
            <a:pPr algn="l"/>
            <a:r>
              <a:rPr sz="1500" b="0">
                <a:solidFill>
                  <a:srgbClr val="0F172A"/>
                </a:solidFill>
                <a:latin typeface="微软雅黑"/>
                <a:ea typeface="微软雅黑"/>
                <a:cs typeface="微软雅黑"/>
              </a:rPr>
              <a:t>· gave ... and asked ... 是并列谓语。</a:t>
            </a:r>
          </a:p>
          <a:p>
            <a:pPr algn="l"/>
            <a:r>
              <a:rPr sz="1500" b="0">
                <a:solidFill>
                  <a:srgbClr val="0F172A"/>
                </a:solidFill>
                <a:latin typeface="微软雅黑"/>
                <a:ea typeface="微软雅黑"/>
                <a:cs typeface="微软雅黑"/>
              </a:rPr>
              <a:t>· pick from each pair the term ... 是宾语后置（term 被定语从句拉长）。</a:t>
            </a:r>
          </a:p>
          <a:p>
            <a:pPr algn="l"/>
            <a:r>
              <a:rPr sz="1500" b="0">
                <a:solidFill>
                  <a:srgbClr val="0F172A"/>
                </a:solidFill>
                <a:latin typeface="微软雅黑"/>
                <a:ea typeface="微软雅黑"/>
                <a:cs typeface="微软雅黑"/>
              </a:rPr>
              <a:t>· 两个 that 从句结构对称，分别指圆和方。</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我们给明眼受试者一份包含二十组词对的清单，让他们从每一对中挑出最贴合圆形的词和最贴合方形的词。</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pair 一对 ↔ two-word set；term 词语 ↔ word</a:t>
            </a:r>
          </a:p>
          <a:p>
            <a:pPr algn="l"/>
            <a:r>
              <a:rPr sz="1850" b="1">
                <a:solidFill>
                  <a:srgbClr val="0F172A"/>
                </a:solidFill>
                <a:latin typeface="微软雅黑"/>
                <a:ea typeface="微软雅黑"/>
                <a:cs typeface="微软雅黑"/>
              </a:rPr>
              <a:t>relate to 与……相关 ↔ go with / fit</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P3 Q34｜the symbolism in abstract ____</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113</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400" b="1">
                <a:solidFill>
                  <a:srgbClr val="0F172A"/>
                </a:solidFill>
                <a:latin typeface="微软雅黑"/>
                <a:ea typeface="微软雅黑"/>
                <a:cs typeface="微软雅黑"/>
              </a:rPr>
              <a:t>... perceived the symbolism in abstract 34 …… in the same way.</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abstract + 空格 → 可被“抽象”修饰的名词。</a:t>
            </a:r>
          </a:p>
          <a:p>
            <a:pPr algn="l"/>
            <a:r>
              <a:rPr sz="1900" b="0">
                <a:solidFill>
                  <a:srgbClr val="0F172A"/>
                </a:solidFill>
                <a:latin typeface="微软雅黑"/>
                <a:ea typeface="微软雅黑"/>
                <a:cs typeface="微软雅黑"/>
              </a:rPr>
              <a:t>词库里可选：shapes。</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P6 S3: ... I have begun exploring how well blind people understand the symbolism behind shapes such as hearts that do not directly represent their meaning.</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symbolism 原词复现，后面接的是 shapes。</a:t>
            </a:r>
          </a:p>
          <a:p>
            <a:pPr algn="l"/>
            <a:r>
              <a:rPr sz="1900" b="0">
                <a:solidFill>
                  <a:srgbClr val="0F172A"/>
                </a:solidFill>
                <a:latin typeface="微软雅黑"/>
                <a:ea typeface="微软雅黑"/>
                <a:cs typeface="微软雅黑"/>
              </a:rPr>
              <a:t>整个实验就是圆形与方形＝抽象形状。</a:t>
            </a:r>
          </a:p>
          <a:p>
            <a:pPr algn="l"/>
            <a:r>
              <a:rPr sz="1900" b="0">
                <a:solidFill>
                  <a:srgbClr val="0F172A"/>
                </a:solidFill>
                <a:latin typeface="微软雅黑"/>
                <a:ea typeface="微软雅黑"/>
                <a:cs typeface="微软雅黑"/>
              </a:rPr>
              <a:t>填 shapes，复数与 abstract 搭配自然。</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shapes</a:t>
            </a:r>
          </a:p>
          <a:p>
            <a:pPr algn="l"/>
            <a:r>
              <a:rPr sz="2100" b="1">
                <a:solidFill>
                  <a:srgbClr val="0F172A"/>
                </a:solidFill>
                <a:latin typeface="微软雅黑"/>
                <a:ea typeface="微软雅黑"/>
                <a:cs typeface="微软雅黑"/>
              </a:rPr>
              <a:t>复数 shapes。</a:t>
            </a:r>
          </a:p>
          <a:p>
            <a:pPr algn="l"/>
            <a:r>
              <a:rPr sz="2100" b="1">
                <a:solidFill>
                  <a:srgbClr val="0F172A"/>
                </a:solidFill>
                <a:latin typeface="微软雅黑"/>
                <a:ea typeface="微软雅黑"/>
                <a:cs typeface="微软雅黑"/>
              </a:rPr>
              <a:t>圆与方＝抽象形状。</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P3 Q34｜such as + that 定语从句</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114</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With Chang Hong Liu, a doctoral student from China, I have begun exploring how well blind people understand the symbolism behind shapes such as hearts that do not directly represent their meaning.</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00" b="1">
                <a:solidFill>
                  <a:srgbClr val="0F172A"/>
                </a:solidFill>
                <a:latin typeface="微软雅黑"/>
                <a:ea typeface="微软雅黑"/>
                <a:cs typeface="微软雅黑"/>
              </a:rPr>
              <a:t>I have begun exploring how well blind people understand the symbolism behind shapes.</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500" b="0">
                <a:solidFill>
                  <a:srgbClr val="0F172A"/>
                </a:solidFill>
                <a:latin typeface="微软雅黑"/>
                <a:ea typeface="微软雅黑"/>
                <a:cs typeface="微软雅黑"/>
              </a:rPr>
              <a:t>· With ... China 是伴随状语＋同位语，先盖住。</a:t>
            </a:r>
          </a:p>
          <a:p>
            <a:pPr algn="l"/>
            <a:r>
              <a:rPr sz="1500" b="0">
                <a:solidFill>
                  <a:srgbClr val="0F172A"/>
                </a:solidFill>
                <a:latin typeface="微软雅黑"/>
                <a:ea typeface="微软雅黑"/>
                <a:cs typeface="微软雅黑"/>
              </a:rPr>
              <a:t>· exploring 后接 how well ... 名词性从句。</a:t>
            </a:r>
          </a:p>
          <a:p>
            <a:pPr algn="l"/>
            <a:r>
              <a:rPr sz="1500" b="0">
                <a:solidFill>
                  <a:srgbClr val="0F172A"/>
                </a:solidFill>
                <a:latin typeface="微软雅黑"/>
                <a:ea typeface="微软雅黑"/>
                <a:cs typeface="微软雅黑"/>
              </a:rPr>
              <a:t>· such as hearts 是举例，that 从句修饰 shapes/hearts。</a:t>
            </a:r>
          </a:p>
          <a:p>
            <a:pPr algn="l"/>
            <a:r>
              <a:rPr sz="1500" b="0">
                <a:solidFill>
                  <a:srgbClr val="0F172A"/>
                </a:solidFill>
                <a:latin typeface="微软雅黑"/>
                <a:ea typeface="微软雅黑"/>
                <a:cs typeface="微软雅黑"/>
              </a:rPr>
              <a:t>· do not directly represent their meaning ＝ “抽象”的定义。</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20" b="0">
                <a:solidFill>
                  <a:srgbClr val="0F172A"/>
                </a:solidFill>
                <a:latin typeface="微软雅黑"/>
                <a:ea typeface="微软雅黑"/>
                <a:cs typeface="微软雅黑"/>
              </a:rPr>
              <a:t>我与来自中国的博士生刘长虹一起，开始研究盲人在多大程度上理解心形这类并不直接表示其含义的形状背后的象征意义。</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symbolism 象征意义；abstract 抽象的 ↔ not literal</a:t>
            </a:r>
          </a:p>
          <a:p>
            <a:pPr algn="l"/>
            <a:r>
              <a:rPr sz="1850" b="1">
                <a:solidFill>
                  <a:srgbClr val="0F172A"/>
                </a:solidFill>
                <a:latin typeface="微软雅黑"/>
                <a:ea typeface="微软雅黑"/>
                <a:cs typeface="微软雅黑"/>
              </a:rPr>
              <a:t>represent 表示 ↔ stand for</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2700" b="1">
                <a:solidFill>
                  <a:srgbClr val="FFFFFF"/>
                </a:solidFill>
                <a:latin typeface="微软雅黑"/>
                <a:ea typeface="微软雅黑"/>
                <a:cs typeface="微软雅黑"/>
              </a:rPr>
              <a:t>P3 Q35｜From the ____ volunteers, everyone thought ...</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115</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From the 35 …… volunteers, everyone thought a circle fitted 'soft' while a square fitted 'hard'.</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空格修饰 volunteers → 人群类别。</a:t>
            </a:r>
          </a:p>
          <a:p>
            <a:pPr algn="l"/>
            <a:r>
              <a:rPr sz="1900" b="0">
                <a:solidFill>
                  <a:srgbClr val="0F172A"/>
                </a:solidFill>
                <a:latin typeface="微软雅黑"/>
                <a:ea typeface="微软雅黑"/>
                <a:cs typeface="微软雅黑"/>
              </a:rPr>
              <a:t>词库里可选：blind / sighted。</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P7 S1: We gave a list of twenty pairs of words to sighted subjects ... P8 S1: All our subjects deemed the circle soft and the square hard.</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第一轮实验的对象是 sighted subjects（明眼人）。</a:t>
            </a:r>
          </a:p>
          <a:p>
            <a:pPr algn="l"/>
            <a:r>
              <a:rPr sz="1900" b="0">
                <a:solidFill>
                  <a:srgbClr val="0F172A"/>
                </a:solidFill>
                <a:latin typeface="微软雅黑"/>
                <a:ea typeface="微软雅黑"/>
                <a:cs typeface="微软雅黑"/>
              </a:rPr>
              <a:t>All our subjects ＝ 全体明眼受试者都选了 soft/hard。</a:t>
            </a:r>
          </a:p>
          <a:p>
            <a:pPr algn="l"/>
            <a:r>
              <a:rPr sz="1900" b="0">
                <a:solidFill>
                  <a:srgbClr val="0F172A"/>
                </a:solidFill>
                <a:latin typeface="微软雅黑"/>
                <a:ea typeface="微软雅黑"/>
                <a:cs typeface="微软雅黑"/>
              </a:rPr>
              <a:t>盲人是后来才测的（见 P8 S5），所以此处是 sighted。</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sighted</a:t>
            </a:r>
          </a:p>
          <a:p>
            <a:pPr algn="l"/>
            <a:r>
              <a:rPr sz="2100" b="1">
                <a:solidFill>
                  <a:srgbClr val="0F172A"/>
                </a:solidFill>
                <a:latin typeface="微软雅黑"/>
                <a:ea typeface="微软雅黑"/>
                <a:cs typeface="微软雅黑"/>
              </a:rPr>
              <a:t>第一轮＝明眼人。</a:t>
            </a:r>
          </a:p>
          <a:p>
            <a:pPr algn="l"/>
            <a:r>
              <a:rPr sz="2100" b="1">
                <a:solidFill>
                  <a:srgbClr val="0F172A"/>
                </a:solidFill>
                <a:latin typeface="微软雅黑"/>
                <a:ea typeface="微软雅黑"/>
                <a:cs typeface="微软雅黑"/>
              </a:rPr>
              <a:t>与 38 blind 对照。</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P3 Q35｜All our subjects 的指代范围</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116</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50" b="1">
                <a:solidFill>
                  <a:srgbClr val="0F172A"/>
                </a:solidFill>
                <a:latin typeface="微软雅黑"/>
                <a:ea typeface="微软雅黑"/>
                <a:cs typeface="微软雅黑"/>
              </a:rPr>
              <a:t>We gave a list of twenty pairs of words to sighted subjects ... All our subjects deemed the circle soft and the square hard.</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All our (sighted) subjects deemed the circle soft and the square hard.</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600" b="0">
                <a:solidFill>
                  <a:srgbClr val="0F172A"/>
                </a:solidFill>
                <a:latin typeface="微软雅黑"/>
                <a:ea typeface="微软雅黑"/>
                <a:cs typeface="微软雅黑"/>
              </a:rPr>
              <a:t>· our subjects 回指上一段的 sighted subjects。</a:t>
            </a:r>
          </a:p>
          <a:p>
            <a:pPr algn="l"/>
            <a:r>
              <a:rPr sz="1600" b="0">
                <a:solidFill>
                  <a:srgbClr val="0F172A"/>
                </a:solidFill>
                <a:latin typeface="微软雅黑"/>
                <a:ea typeface="微软雅黑"/>
                <a:cs typeface="微软雅黑"/>
              </a:rPr>
              <a:t>· deem A B 是“认为 A 是 B”的双宾结构。</a:t>
            </a:r>
          </a:p>
          <a:p>
            <a:pPr algn="l"/>
            <a:r>
              <a:rPr sz="1600" b="0">
                <a:solidFill>
                  <a:srgbClr val="0F172A"/>
                </a:solidFill>
                <a:latin typeface="微软雅黑"/>
                <a:ea typeface="微软雅黑"/>
                <a:cs typeface="微软雅黑"/>
              </a:rPr>
              <a:t>· 摘要题的人群词必须靠上下文回指确定。</a:t>
            </a:r>
          </a:p>
          <a:p>
            <a:pPr algn="l"/>
            <a:r>
              <a:rPr sz="1600" b="0">
                <a:solidFill>
                  <a:srgbClr val="0F172A"/>
                </a:solidFill>
                <a:latin typeface="微软雅黑"/>
                <a:ea typeface="微软雅黑"/>
                <a:cs typeface="微软雅黑"/>
              </a:rPr>
              <a:t>· 100% 的共识对应 everyone thought。</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我们把二十组词对给了明眼受试者……我们所有的受试者都认为圆形是柔软的，方形是坚硬的。</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deem 认为 ↔ consider / regard；sighted 有视力的</a:t>
            </a:r>
          </a:p>
          <a:p>
            <a:pPr algn="l"/>
            <a:r>
              <a:rPr sz="1850" b="1">
                <a:solidFill>
                  <a:srgbClr val="0F172A"/>
                </a:solidFill>
                <a:latin typeface="微软雅黑"/>
                <a:ea typeface="微软雅黑"/>
                <a:cs typeface="微软雅黑"/>
              </a:rPr>
              <a:t>volunteer 志愿者 ↔ subject 受试者</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P3 Q36｜only 51% of the ____ volunteers</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117</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However, only 51% of the 36 …… volunteers assigned a circle to 37 …….</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空格仍修饰 volunteers。</a:t>
            </a:r>
          </a:p>
          <a:p>
            <a:pPr algn="l"/>
            <a:r>
              <a:rPr sz="1900" b="0">
                <a:solidFill>
                  <a:srgbClr val="0F172A"/>
                </a:solidFill>
                <a:latin typeface="微软雅黑"/>
                <a:ea typeface="微软雅黑"/>
                <a:cs typeface="微软雅黑"/>
              </a:rPr>
              <a:t>看 51% 这个数字属于哪一组人。</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P8 S4: And only 51% linked deep to circle and shallow to square. (See Fig. 2.)</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Fig. 2 的百分比是 consensus among sighted subjects。</a:t>
            </a:r>
          </a:p>
          <a:p>
            <a:pPr algn="l"/>
            <a:r>
              <a:rPr sz="1900" b="0">
                <a:solidFill>
                  <a:srgbClr val="0F172A"/>
                </a:solidFill>
                <a:latin typeface="微软雅黑"/>
                <a:ea typeface="微软雅黑"/>
                <a:cs typeface="微软雅黑"/>
              </a:rPr>
              <a:t>51% 属于明眼人这一组的统计结果。</a:t>
            </a:r>
          </a:p>
          <a:p>
            <a:pPr algn="l"/>
            <a:r>
              <a:rPr sz="1900" b="0">
                <a:solidFill>
                  <a:srgbClr val="0F172A"/>
                </a:solidFill>
                <a:latin typeface="微软雅黑"/>
                <a:ea typeface="微软雅黑"/>
                <a:cs typeface="微软雅黑"/>
              </a:rPr>
              <a:t>盲人只有四人，不会用百分比表达。</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sighted</a:t>
            </a:r>
          </a:p>
          <a:p>
            <a:pPr algn="l"/>
            <a:r>
              <a:rPr sz="2100" b="1">
                <a:solidFill>
                  <a:srgbClr val="0F172A"/>
                </a:solidFill>
                <a:latin typeface="微软雅黑"/>
                <a:ea typeface="微软雅黑"/>
                <a:cs typeface="微软雅黑"/>
              </a:rPr>
              <a:t>与 35 同词，可重复。</a:t>
            </a:r>
          </a:p>
          <a:p>
            <a:pPr algn="l"/>
            <a:r>
              <a:rPr sz="2100" b="1">
                <a:solidFill>
                  <a:srgbClr val="0F172A"/>
                </a:solidFill>
                <a:latin typeface="微软雅黑"/>
                <a:ea typeface="微软雅黑"/>
                <a:cs typeface="微软雅黑"/>
              </a:rPr>
              <a:t>NB 允许重复使用。</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P3 Q36｜百分比归属靠图注锁定</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118</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And only 51% linked deep to circle and shallow to square. (See Fig. 2.) — Fig. 2: These percentages show the level of consensus among sighted subjects.</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Only 51% of sighted subjects linked deep to circle.</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 主句省略了主语范围，靠图注补全。</a:t>
            </a:r>
          </a:p>
          <a:p>
            <a:pPr algn="l"/>
            <a:r>
              <a:rPr sz="1700" b="0">
                <a:solidFill>
                  <a:srgbClr val="0F172A"/>
                </a:solidFill>
                <a:latin typeface="微软雅黑"/>
                <a:ea typeface="微软雅黑"/>
                <a:cs typeface="微软雅黑"/>
              </a:rPr>
              <a:t>· linked A to B 是“把 A 与 B 联系起来”。</a:t>
            </a:r>
          </a:p>
          <a:p>
            <a:pPr algn="l"/>
            <a:r>
              <a:rPr sz="1700" b="0">
                <a:solidFill>
                  <a:srgbClr val="0F172A"/>
                </a:solidFill>
                <a:latin typeface="微软雅黑"/>
                <a:ea typeface="微软雅黑"/>
                <a:cs typeface="微软雅黑"/>
              </a:rPr>
              <a:t>· and 后半句是对称结构：shallow to square。</a:t>
            </a:r>
          </a:p>
          <a:p>
            <a:pPr algn="l"/>
            <a:r>
              <a:rPr sz="1700" b="0">
                <a:solidFill>
                  <a:srgbClr val="0F172A"/>
                </a:solidFill>
                <a:latin typeface="微软雅黑"/>
                <a:ea typeface="微软雅黑"/>
                <a:cs typeface="微软雅黑"/>
              </a:rPr>
              <a:t>· 图注是本题唯一的归属证据，不能跳过。</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20" b="0">
                <a:solidFill>
                  <a:srgbClr val="0F172A"/>
                </a:solidFill>
                <a:latin typeface="微软雅黑"/>
                <a:ea typeface="微软雅黑"/>
                <a:cs typeface="微软雅黑"/>
              </a:rPr>
              <a:t>而只有51%的人把 deep 与圆形、shallow 与方形联系起来。（见图2；图注说明这些百分比是明眼受试者的共识度。）</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link A to B 把A与B联系 ↔ assign / match</a:t>
            </a:r>
          </a:p>
          <a:p>
            <a:pPr algn="l"/>
            <a:r>
              <a:rPr sz="1850" b="1">
                <a:solidFill>
                  <a:srgbClr val="0F172A"/>
                </a:solidFill>
                <a:latin typeface="微软雅黑"/>
                <a:ea typeface="微软雅黑"/>
                <a:cs typeface="微软雅黑"/>
              </a:rPr>
              <a:t>consensus 共识；percentage 百分比</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P3 Q37｜assigned a circle to ____</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119</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 only 51% of the sighted volunteers assigned a circle to 37 …….</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assigned a circle to + 空格 → 形容词。</a:t>
            </a:r>
          </a:p>
          <a:p>
            <a:pPr algn="l"/>
            <a:r>
              <a:rPr sz="1900" b="0">
                <a:solidFill>
                  <a:srgbClr val="0F172A"/>
                </a:solidFill>
                <a:latin typeface="微软雅黑"/>
                <a:ea typeface="微软雅黑"/>
                <a:cs typeface="微软雅黑"/>
              </a:rPr>
              <a:t>词库里可选：deep / shallow / soft / hard。</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P8 S4: And only 51% linked deep to circle and shallow to square.</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assigned a circle to ↔ linked ... to circle。</a:t>
            </a:r>
          </a:p>
          <a:p>
            <a:pPr algn="l"/>
            <a:r>
              <a:rPr sz="1900" b="0">
                <a:solidFill>
                  <a:srgbClr val="0F172A"/>
                </a:solidFill>
                <a:latin typeface="微软雅黑"/>
                <a:ea typeface="微软雅黑"/>
                <a:cs typeface="微软雅黑"/>
              </a:rPr>
              <a:t>与 circle 配对的是 deep，与 square 配对的是 shallow。</a:t>
            </a:r>
          </a:p>
          <a:p>
            <a:pPr algn="l"/>
            <a:r>
              <a:rPr sz="1900" b="0">
                <a:solidFill>
                  <a:srgbClr val="0F172A"/>
                </a:solidFill>
                <a:latin typeface="微软雅黑"/>
                <a:ea typeface="微软雅黑"/>
                <a:cs typeface="微软雅黑"/>
              </a:rPr>
              <a:t>方向不能反：填 shallow 就错了。</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deep</a:t>
            </a:r>
          </a:p>
          <a:p>
            <a:pPr algn="l"/>
            <a:r>
              <a:rPr sz="2100" b="1">
                <a:solidFill>
                  <a:srgbClr val="0F172A"/>
                </a:solidFill>
                <a:latin typeface="微软雅黑"/>
                <a:ea typeface="微软雅黑"/>
                <a:cs typeface="微软雅黑"/>
              </a:rPr>
              <a:t>圆↔deep。</a:t>
            </a:r>
          </a:p>
          <a:p>
            <a:pPr algn="l"/>
            <a:r>
              <a:rPr sz="2100" b="1">
                <a:solidFill>
                  <a:srgbClr val="0F172A"/>
                </a:solidFill>
                <a:latin typeface="微软雅黑"/>
                <a:ea typeface="微软雅黑"/>
                <a:cs typeface="微软雅黑"/>
              </a:rPr>
              <a:t>方↔shallow。</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P3 Q37｜A to B 与 B to A 的方向陷阱</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120</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50" b="1">
                <a:solidFill>
                  <a:srgbClr val="0F172A"/>
                </a:solidFill>
                <a:latin typeface="微软雅黑"/>
                <a:ea typeface="微软雅黑"/>
                <a:cs typeface="微软雅黑"/>
              </a:rPr>
              <a:t>And only 51% linked deep to circle and shallow to square.</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51% linked deep to circle.</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600" b="0">
                <a:solidFill>
                  <a:srgbClr val="0F172A"/>
                </a:solidFill>
                <a:latin typeface="微软雅黑"/>
                <a:ea typeface="微软雅黑"/>
                <a:cs typeface="微软雅黑"/>
              </a:rPr>
              <a:t>· 原文语序是 linked [deep] to [circle]。</a:t>
            </a:r>
          </a:p>
          <a:p>
            <a:pPr algn="l"/>
            <a:r>
              <a:rPr sz="1600" b="0">
                <a:solidFill>
                  <a:srgbClr val="0F172A"/>
                </a:solidFill>
                <a:latin typeface="微软雅黑"/>
                <a:ea typeface="微软雅黑"/>
                <a:cs typeface="微软雅黑"/>
              </a:rPr>
              <a:t>· 摘要语序是 assigned [a circle] to [___]。</a:t>
            </a:r>
          </a:p>
          <a:p>
            <a:pPr algn="l"/>
            <a:r>
              <a:rPr sz="1600" b="0">
                <a:solidFill>
                  <a:srgbClr val="0F172A"/>
                </a:solidFill>
                <a:latin typeface="微软雅黑"/>
                <a:ea typeface="微软雅黑"/>
                <a:cs typeface="微软雅黑"/>
              </a:rPr>
              <a:t>· 两句的介词方向被调换了，必须重新对位。</a:t>
            </a:r>
          </a:p>
          <a:p>
            <a:pPr algn="l"/>
            <a:r>
              <a:rPr sz="1600" b="0">
                <a:solidFill>
                  <a:srgbClr val="0F172A"/>
                </a:solidFill>
                <a:latin typeface="微软雅黑"/>
                <a:ea typeface="微软雅黑"/>
                <a:cs typeface="微软雅黑"/>
              </a:rPr>
              <a:t>· 画箭头 deep → circle，再填空最稳。</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而只有51%的人把“深”与圆形、“浅”与方形联系起来。</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deep 深的（↔ shallow 浅的）</a:t>
            </a:r>
          </a:p>
          <a:p>
            <a:pPr algn="l"/>
            <a:r>
              <a:rPr sz="1850" b="1">
                <a:solidFill>
                  <a:srgbClr val="0F172A"/>
                </a:solidFill>
                <a:latin typeface="微软雅黑"/>
                <a:ea typeface="微软雅黑"/>
                <a:cs typeface="微软雅黑"/>
              </a:rPr>
              <a:t>assign A to B ＝ link A to B（注意 A、B 的位置会被改写）</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P3 Q38｜test repeated with ____ volunteers</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121</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400" b="1">
                <a:solidFill>
                  <a:srgbClr val="0F172A"/>
                </a:solidFill>
                <a:latin typeface="微软雅黑"/>
                <a:ea typeface="微软雅黑"/>
                <a:cs typeface="微软雅黑"/>
              </a:rPr>
              <a:t>When the test was later repeated with 38 …… volunteers, ...</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later repeated → 第二轮实验对象。</a:t>
            </a:r>
          </a:p>
          <a:p>
            <a:pPr algn="l"/>
            <a:r>
              <a:rPr sz="1900" b="0">
                <a:solidFill>
                  <a:srgbClr val="0F172A"/>
                </a:solidFill>
                <a:latin typeface="微软雅黑"/>
                <a:ea typeface="微软雅黑"/>
                <a:cs typeface="微软雅黑"/>
              </a:rPr>
              <a:t>与 35/36 的人群相对。</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P8 S5: When we tested four totally blind volunteers using the same list, we found that their choices closely resembled those made by the sighted subjects.</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later / repeated ↔ tested ... using the same list。</a:t>
            </a:r>
          </a:p>
          <a:p>
            <a:pPr algn="l"/>
            <a:r>
              <a:rPr sz="1900" b="0">
                <a:solidFill>
                  <a:srgbClr val="0F172A"/>
                </a:solidFill>
                <a:latin typeface="微软雅黑"/>
                <a:ea typeface="微软雅黑"/>
                <a:cs typeface="微软雅黑"/>
              </a:rPr>
              <a:t>第二轮的对象是 four totally blind volunteers。</a:t>
            </a:r>
          </a:p>
          <a:p>
            <a:pPr algn="l"/>
            <a:r>
              <a:rPr sz="1900" b="0">
                <a:solidFill>
                  <a:srgbClr val="0F172A"/>
                </a:solidFill>
                <a:latin typeface="微软雅黑"/>
                <a:ea typeface="微软雅黑"/>
                <a:cs typeface="微软雅黑"/>
              </a:rPr>
              <a:t>volunteers 原词复现，直接填 blind。</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blind</a:t>
            </a:r>
          </a:p>
          <a:p>
            <a:pPr algn="l"/>
            <a:r>
              <a:rPr sz="2100" b="1">
                <a:solidFill>
                  <a:srgbClr val="0F172A"/>
                </a:solidFill>
                <a:latin typeface="微软雅黑"/>
                <a:ea typeface="微软雅黑"/>
                <a:cs typeface="微软雅黑"/>
              </a:rPr>
              <a:t>第二轮＝盲人。</a:t>
            </a:r>
          </a:p>
          <a:p>
            <a:pPr algn="l"/>
            <a:r>
              <a:rPr sz="2100" b="1">
                <a:solidFill>
                  <a:srgbClr val="0F172A"/>
                </a:solidFill>
                <a:latin typeface="微软雅黑"/>
                <a:ea typeface="微软雅黑"/>
                <a:cs typeface="微软雅黑"/>
              </a:rPr>
              <a:t>四位全盲志愿者。</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P3 Q38｜When ... , we found that ... 的双层结构</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122</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50" b="1">
                <a:solidFill>
                  <a:srgbClr val="0F172A"/>
                </a:solidFill>
                <a:latin typeface="微软雅黑"/>
                <a:ea typeface="微软雅黑"/>
                <a:cs typeface="微软雅黑"/>
              </a:rPr>
              <a:t>When we tested four totally blind volunteers using the same list, we found that their choices closely resembled those made by the sighted subjects.</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We found that their choices closely resembled those of the sighted subjects.</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600" b="0">
                <a:solidFill>
                  <a:srgbClr val="0F172A"/>
                </a:solidFill>
                <a:latin typeface="微软雅黑"/>
                <a:ea typeface="微软雅黑"/>
                <a:cs typeface="微软雅黑"/>
              </a:rPr>
              <a:t>· When 从句交代实验条件（对象＋工具）。</a:t>
            </a:r>
          </a:p>
          <a:p>
            <a:pPr algn="l"/>
            <a:r>
              <a:rPr sz="1600" b="0">
                <a:solidFill>
                  <a:srgbClr val="0F172A"/>
                </a:solidFill>
                <a:latin typeface="微软雅黑"/>
                <a:ea typeface="微软雅黑"/>
                <a:cs typeface="微软雅黑"/>
              </a:rPr>
              <a:t>· using the same list 是分词状语，保证可比性。</a:t>
            </a:r>
          </a:p>
          <a:p>
            <a:pPr algn="l"/>
            <a:r>
              <a:rPr sz="1600" b="0">
                <a:solidFill>
                  <a:srgbClr val="0F172A"/>
                </a:solidFill>
                <a:latin typeface="微软雅黑"/>
                <a:ea typeface="微软雅黑"/>
                <a:cs typeface="微软雅黑"/>
              </a:rPr>
              <a:t>· 主句 we found that ... 才是结论。</a:t>
            </a:r>
          </a:p>
          <a:p>
            <a:pPr algn="l"/>
            <a:r>
              <a:rPr sz="1600" b="0">
                <a:solidFill>
                  <a:srgbClr val="0F172A"/>
                </a:solidFill>
                <a:latin typeface="微软雅黑"/>
                <a:ea typeface="微软雅黑"/>
                <a:cs typeface="微软雅黑"/>
              </a:rPr>
              <a:t>· those = the choices，made by ... 是过去分词后置定语。</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当我们用同一份清单测试四位全盲志愿者时，我们发现他们的选择与明眼受试者的选择非常相似。</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totally blind 全盲的；resemble 相似 ↔ be similar to</a:t>
            </a:r>
          </a:p>
          <a:p>
            <a:pPr algn="l"/>
            <a:r>
              <a:rPr sz="1850" b="1">
                <a:solidFill>
                  <a:srgbClr val="0F172A"/>
                </a:solidFill>
                <a:latin typeface="微软雅黑"/>
                <a:ea typeface="微软雅黑"/>
                <a:cs typeface="微软雅黑"/>
              </a:rPr>
              <a:t>repeat the test 重做实验</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P3 Q39｜they made ____ choices</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123</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400" b="1">
                <a:solidFill>
                  <a:srgbClr val="0F172A"/>
                </a:solidFill>
                <a:latin typeface="微软雅黑"/>
                <a:ea typeface="微软雅黑"/>
                <a:cs typeface="微软雅黑"/>
              </a:rPr>
              <a:t>... it was found that they made 39 …… choices.</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空格修饰 choices → 形容词。</a:t>
            </a:r>
          </a:p>
          <a:p>
            <a:pPr algn="l"/>
            <a:r>
              <a:rPr sz="1900" b="0">
                <a:solidFill>
                  <a:srgbClr val="0F172A"/>
                </a:solidFill>
                <a:latin typeface="微软雅黑"/>
                <a:ea typeface="微软雅黑"/>
                <a:cs typeface="微软雅黑"/>
              </a:rPr>
              <a:t>词库里可选：identical / similar。</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P8 S5: ... we found that their choices closely resembled those made by the sighted subjects. P8 S7: He made only one match differing from the consensus ...</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closely resembled ＝ 非常相似，但不是完全相同。</a:t>
            </a:r>
          </a:p>
          <a:p>
            <a:pPr algn="l"/>
            <a:r>
              <a:rPr sz="1900" b="0">
                <a:solidFill>
                  <a:srgbClr val="0F172A"/>
                </a:solidFill>
                <a:latin typeface="微软雅黑"/>
                <a:ea typeface="微软雅黑"/>
                <a:cs typeface="微软雅黑"/>
              </a:rPr>
              <a:t>P8 S7 明确说有一处不同 → identical（完全相同）过强。</a:t>
            </a:r>
          </a:p>
          <a:p>
            <a:pPr algn="l"/>
            <a:r>
              <a:rPr sz="1900" b="0">
                <a:solidFill>
                  <a:srgbClr val="0F172A"/>
                </a:solidFill>
                <a:latin typeface="微软雅黑"/>
                <a:ea typeface="微软雅黑"/>
                <a:cs typeface="微软雅黑"/>
              </a:rPr>
              <a:t>选 similar，程度刚好。</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similar</a:t>
            </a:r>
          </a:p>
          <a:p>
            <a:pPr algn="l"/>
            <a:r>
              <a:rPr sz="2100" b="1">
                <a:solidFill>
                  <a:srgbClr val="0F172A"/>
                </a:solidFill>
                <a:latin typeface="微软雅黑"/>
                <a:ea typeface="微软雅黑"/>
                <a:cs typeface="微软雅黑"/>
              </a:rPr>
              <a:t>不能选 identical。</a:t>
            </a:r>
          </a:p>
          <a:p>
            <a:pPr algn="l"/>
            <a:r>
              <a:rPr sz="2100" b="1">
                <a:solidFill>
                  <a:srgbClr val="0F172A"/>
                </a:solidFill>
                <a:latin typeface="微软雅黑"/>
                <a:ea typeface="微软雅黑"/>
                <a:cs typeface="微软雅黑"/>
              </a:rPr>
              <a:t>有一处不一致。</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P3 Q39｜resembled ≠ identical 的程度差</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124</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 their choices closely resembled those made by the sighted subjects. ... He made only one match differing from the consensus, assigning 'far' to square and 'near' to circle.</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Their choices resembled those of the sighted, with one match differing.</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500" b="0">
                <a:solidFill>
                  <a:srgbClr val="0F172A"/>
                </a:solidFill>
                <a:latin typeface="微软雅黑"/>
                <a:ea typeface="微软雅黑"/>
                <a:cs typeface="微软雅黑"/>
              </a:rPr>
              <a:t>· closely resembled 是“很像”，仍留有差异空间。</a:t>
            </a:r>
          </a:p>
          <a:p>
            <a:pPr algn="l"/>
            <a:r>
              <a:rPr sz="1500" b="0">
                <a:solidFill>
                  <a:srgbClr val="0F172A"/>
                </a:solidFill>
                <a:latin typeface="微软雅黑"/>
                <a:ea typeface="微软雅黑"/>
                <a:cs typeface="微软雅黑"/>
              </a:rPr>
              <a:t>· only one match differing 是具体的反证。</a:t>
            </a:r>
          </a:p>
          <a:p>
            <a:pPr algn="l"/>
            <a:r>
              <a:rPr sz="1500" b="0">
                <a:solidFill>
                  <a:srgbClr val="0F172A"/>
                </a:solidFill>
                <a:latin typeface="微软雅黑"/>
                <a:ea typeface="微软雅黑"/>
                <a:cs typeface="微软雅黑"/>
              </a:rPr>
              <a:t>· differing from ... 是现在分词后置定语。</a:t>
            </a:r>
          </a:p>
          <a:p>
            <a:pPr algn="l"/>
            <a:r>
              <a:rPr sz="1500" b="0">
                <a:solidFill>
                  <a:srgbClr val="0F172A"/>
                </a:solidFill>
                <a:latin typeface="微软雅黑"/>
                <a:ea typeface="微软雅黑"/>
                <a:cs typeface="微软雅黑"/>
              </a:rPr>
              <a:t>· 词库题最后一步永远是核对“程度是否被放大”。</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他们的选择与明眼受试者非常相似……那位受试者只有一处与共识不同，他把“远”配给方形、“近”配给圆形。</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resemble 相似 ↔ be similar to（≠ identical 完全相同）</a:t>
            </a:r>
          </a:p>
          <a:p>
            <a:pPr algn="l"/>
            <a:r>
              <a:rPr sz="1850" b="1">
                <a:solidFill>
                  <a:srgbClr val="0F172A"/>
                </a:solidFill>
                <a:latin typeface="微软雅黑"/>
                <a:ea typeface="微软雅黑"/>
                <a:cs typeface="微软雅黑"/>
              </a:rPr>
              <a:t>differ from 不同于；consensus 共识</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P3 Q40｜全文结论是什么</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125</a:t>
            </a:r>
          </a:p>
        </p:txBody>
      </p:sp>
      <p:sp>
        <p:nvSpPr>
          <p:cNvPr id="8" name="Rectangle 7"/>
          <p:cNvSpPr/>
          <p:nvPr/>
        </p:nvSpPr>
        <p:spPr>
          <a:xfrm>
            <a:off x="658368" y="1280160"/>
            <a:ext cx="10881360" cy="530352"/>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00" b="1">
                <a:solidFill>
                  <a:srgbClr val="0F172A"/>
                </a:solidFill>
                <a:latin typeface="微软雅黑"/>
                <a:ea typeface="微软雅黑"/>
                <a:cs typeface="微软雅黑"/>
              </a:rPr>
              <a:t>Which of the following statements best summarises the writer's general conclusion?</a:t>
            </a:r>
          </a:p>
        </p:txBody>
      </p:sp>
      <p:sp>
        <p:nvSpPr>
          <p:cNvPr id="9" name="Rectangle 8"/>
          <p:cNvSpPr/>
          <p:nvPr/>
        </p:nvSpPr>
        <p:spPr>
          <a:xfrm>
            <a:off x="658368" y="1883664"/>
            <a:ext cx="10881360" cy="1225296"/>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0">
                <a:solidFill>
                  <a:srgbClr val="0F172A"/>
                </a:solidFill>
                <a:latin typeface="微软雅黑"/>
                <a:ea typeface="微软雅黑"/>
                <a:cs typeface="微软雅黑"/>
              </a:rPr>
              <a:t>A  The blind represent some aspects of reality differently from sighted people.</a:t>
            </a:r>
          </a:p>
          <a:p>
            <a:pPr algn="l"/>
            <a:r>
              <a:rPr sz="1800" b="0">
                <a:solidFill>
                  <a:srgbClr val="0F172A"/>
                </a:solidFill>
                <a:latin typeface="微软雅黑"/>
                <a:ea typeface="微软雅黑"/>
                <a:cs typeface="微软雅黑"/>
              </a:rPr>
              <a:t>B  The blind comprehend visual metaphors in similar ways to sighted people.</a:t>
            </a:r>
          </a:p>
          <a:p>
            <a:pPr algn="l"/>
            <a:r>
              <a:rPr sz="1800" b="0">
                <a:solidFill>
                  <a:srgbClr val="0F172A"/>
                </a:solidFill>
                <a:latin typeface="微软雅黑"/>
                <a:ea typeface="微软雅黑"/>
                <a:cs typeface="微软雅黑"/>
              </a:rPr>
              <a:t>C  The blind may create unusual and effective symbols to represent reality.</a:t>
            </a:r>
          </a:p>
          <a:p>
            <a:pPr algn="l"/>
            <a:r>
              <a:rPr sz="1800" b="0">
                <a:solidFill>
                  <a:srgbClr val="0F172A"/>
                </a:solidFill>
                <a:latin typeface="微软雅黑"/>
                <a:ea typeface="微软雅黑"/>
                <a:cs typeface="微软雅黑"/>
              </a:rPr>
              <a:t>D  The blind may be successful artists if given the right training.</a:t>
            </a:r>
          </a:p>
        </p:txBody>
      </p:sp>
      <p:sp>
        <p:nvSpPr>
          <p:cNvPr id="10" name="Rectangle 9"/>
          <p:cNvSpPr/>
          <p:nvPr/>
        </p:nvSpPr>
        <p:spPr>
          <a:xfrm>
            <a:off x="713232" y="325526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1" name="Rectangle 10"/>
          <p:cNvSpPr/>
          <p:nvPr/>
        </p:nvSpPr>
        <p:spPr>
          <a:xfrm>
            <a:off x="713232" y="3566160"/>
            <a:ext cx="3246120" cy="1170432"/>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0">
                <a:solidFill>
                  <a:srgbClr val="0F172A"/>
                </a:solidFill>
                <a:latin typeface="微软雅黑"/>
                <a:ea typeface="微软雅黑"/>
                <a:cs typeface="微软雅黑"/>
              </a:rPr>
              <a:t>主旨题：找作者自己写的结论句。</a:t>
            </a:r>
          </a:p>
          <a:p>
            <a:pPr algn="l"/>
            <a:r>
              <a:rPr sz="1800" b="0">
                <a:solidFill>
                  <a:srgbClr val="0F172A"/>
                </a:solidFill>
                <a:latin typeface="微软雅黑"/>
                <a:ea typeface="微软雅黑"/>
                <a:cs typeface="微软雅黑"/>
              </a:rPr>
              <a:t>锚点：Thus, we concluded that ...。</a:t>
            </a:r>
          </a:p>
        </p:txBody>
      </p:sp>
      <p:sp>
        <p:nvSpPr>
          <p:cNvPr id="12" name="Rectangle 11"/>
          <p:cNvSpPr/>
          <p:nvPr/>
        </p:nvSpPr>
        <p:spPr>
          <a:xfrm>
            <a:off x="4297680" y="325526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3" name="Rectangle 12"/>
          <p:cNvSpPr/>
          <p:nvPr/>
        </p:nvSpPr>
        <p:spPr>
          <a:xfrm>
            <a:off x="4297680" y="3566160"/>
            <a:ext cx="7178040" cy="1170432"/>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0">
                <a:solidFill>
                  <a:srgbClr val="0F172A"/>
                </a:solidFill>
                <a:latin typeface="微软雅黑"/>
                <a:ea typeface="微软雅黑"/>
                <a:cs typeface="微软雅黑"/>
              </a:rPr>
              <a:t>P8 S9: Thus, we concluded that the blind interpret abstract shapes as sighted people do. （P6 S1: the blind understand other kinds of visual metaphors as well）</a:t>
            </a:r>
          </a:p>
        </p:txBody>
      </p:sp>
      <p:sp>
        <p:nvSpPr>
          <p:cNvPr id="14" name="Rectangle 13"/>
          <p:cNvSpPr/>
          <p:nvPr/>
        </p:nvSpPr>
        <p:spPr>
          <a:xfrm>
            <a:off x="713232" y="4919472"/>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5" name="Rectangle 14"/>
          <p:cNvSpPr/>
          <p:nvPr/>
        </p:nvSpPr>
        <p:spPr>
          <a:xfrm>
            <a:off x="713232" y="5230368"/>
            <a:ext cx="6675120" cy="1060704"/>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600" b="0">
                <a:solidFill>
                  <a:srgbClr val="0F172A"/>
                </a:solidFill>
                <a:latin typeface="微软雅黑"/>
                <a:ea typeface="微软雅黑"/>
                <a:cs typeface="微软雅黑"/>
              </a:rPr>
              <a:t>interpret ... as sighted people do ＝ 与明眼人理解方式相同 → B。</a:t>
            </a:r>
          </a:p>
          <a:p>
            <a:pPr algn="l"/>
            <a:r>
              <a:rPr sz="1600" b="0">
                <a:solidFill>
                  <a:srgbClr val="0F172A"/>
                </a:solidFill>
                <a:latin typeface="微软雅黑"/>
                <a:ea typeface="微软雅黑"/>
                <a:cs typeface="微软雅黑"/>
              </a:rPr>
              <a:t>A 说“不同”，与结论相反。</a:t>
            </a:r>
          </a:p>
          <a:p>
            <a:pPr algn="l"/>
            <a:r>
              <a:rPr sz="1600" b="0">
                <a:solidFill>
                  <a:srgbClr val="0F172A"/>
                </a:solidFill>
                <a:latin typeface="微软雅黑"/>
                <a:ea typeface="微软雅黑"/>
                <a:cs typeface="微软雅黑"/>
              </a:rPr>
              <a:t>C、D 是文中细节或未提内容，不是全文结论。</a:t>
            </a:r>
          </a:p>
        </p:txBody>
      </p:sp>
      <p:sp>
        <p:nvSpPr>
          <p:cNvPr id="16" name="Rectangle 15"/>
          <p:cNvSpPr/>
          <p:nvPr/>
        </p:nvSpPr>
        <p:spPr>
          <a:xfrm>
            <a:off x="7726679" y="4919472"/>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7" name="Rectangle 16"/>
          <p:cNvSpPr/>
          <p:nvPr/>
        </p:nvSpPr>
        <p:spPr>
          <a:xfrm>
            <a:off x="7726679" y="5230368"/>
            <a:ext cx="3749039" cy="1060704"/>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100" b="1">
                <a:solidFill>
                  <a:srgbClr val="0F172A"/>
                </a:solidFill>
                <a:latin typeface="微软雅黑"/>
                <a:ea typeface="微软雅黑"/>
                <a:cs typeface="微软雅黑"/>
              </a:rPr>
              <a:t>Answer: B</a:t>
            </a:r>
          </a:p>
          <a:p>
            <a:pPr algn="l"/>
            <a:r>
              <a:rPr sz="2100" b="1">
                <a:solidFill>
                  <a:srgbClr val="0F172A"/>
                </a:solidFill>
                <a:latin typeface="微软雅黑"/>
                <a:ea typeface="微软雅黑"/>
                <a:cs typeface="微软雅黑"/>
              </a:rPr>
              <a:t>similar ways</a:t>
            </a:r>
          </a:p>
          <a:p>
            <a:pPr algn="l"/>
            <a:r>
              <a:rPr sz="2100" b="1">
                <a:solidFill>
                  <a:srgbClr val="0F172A"/>
                </a:solidFill>
                <a:latin typeface="微软雅黑"/>
                <a:ea typeface="微软雅黑"/>
                <a:cs typeface="微软雅黑"/>
              </a:rPr>
              <a:t>全文结论句 Thus ...</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P3 Q40｜Thus 引出的总结句</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3 · Visual Symbols and the Blind</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126</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50" b="1">
                <a:solidFill>
                  <a:srgbClr val="0F172A"/>
                </a:solidFill>
                <a:latin typeface="微软雅黑"/>
                <a:ea typeface="微软雅黑"/>
                <a:cs typeface="微软雅黑"/>
              </a:rPr>
              <a:t>Thus, we concluded that the blind interpret abstract shapes as sighted people do.</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The blind interpret abstract shapes as sighted people do.</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 Thus 是明确的结论信号词，主旨题优先找它。</a:t>
            </a:r>
          </a:p>
          <a:p>
            <a:pPr algn="l"/>
            <a:r>
              <a:rPr sz="1700" b="0">
                <a:solidFill>
                  <a:srgbClr val="0F172A"/>
                </a:solidFill>
                <a:latin typeface="微软雅黑"/>
                <a:ea typeface="微软雅黑"/>
                <a:cs typeface="微软雅黑"/>
              </a:rPr>
              <a:t>· concluded that ... 后面就是作者的立场。</a:t>
            </a:r>
          </a:p>
          <a:p>
            <a:pPr algn="l"/>
            <a:r>
              <a:rPr sz="1700" b="0">
                <a:solidFill>
                  <a:srgbClr val="0F172A"/>
                </a:solidFill>
                <a:latin typeface="微软雅黑"/>
                <a:ea typeface="微软雅黑"/>
                <a:cs typeface="微软雅黑"/>
              </a:rPr>
              <a:t>· as sighted people do 是方式状语从句，do 代替 interpret。</a:t>
            </a:r>
          </a:p>
          <a:p>
            <a:pPr algn="l"/>
            <a:r>
              <a:rPr sz="1700" b="0">
                <a:solidFill>
                  <a:srgbClr val="0F172A"/>
                </a:solidFill>
                <a:latin typeface="微软雅黑"/>
                <a:ea typeface="微软雅黑"/>
                <a:cs typeface="微软雅黑"/>
              </a:rPr>
              <a:t>· 主旨题不要选“只覆盖一段”的选项。</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因此我们得出结论：盲人解读抽象形状的方式与明眼人相同。</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interpret 解读 ↔ comprehend / understand；conclude 得出结论</a:t>
            </a:r>
          </a:p>
          <a:p>
            <a:pPr algn="l"/>
            <a:r>
              <a:rPr sz="1850" b="1">
                <a:solidFill>
                  <a:srgbClr val="0F172A"/>
                </a:solidFill>
                <a:latin typeface="微软雅黑"/>
                <a:ea typeface="微软雅黑"/>
                <a:cs typeface="微软雅黑"/>
              </a:rPr>
              <a:t>visual metaphor 视觉隐喻；as ... do 与……一样</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小结</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Passage 3 小结：选择 / 配对 / 词库摘要</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127</a:t>
            </a:r>
          </a:p>
        </p:txBody>
      </p:sp>
      <p:sp>
        <p:nvSpPr>
          <p:cNvPr id="8" name="Rectangle 7"/>
          <p:cNvSpPr/>
          <p:nvPr/>
        </p:nvSpPr>
        <p:spPr>
          <a:xfrm>
            <a:off x="658368"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选择题</a:t>
            </a:r>
          </a:p>
        </p:txBody>
      </p:sp>
      <p:sp>
        <p:nvSpPr>
          <p:cNvPr id="9" name="Rectangle 8"/>
          <p:cNvSpPr/>
          <p:nvPr/>
        </p:nvSpPr>
        <p:spPr>
          <a:xfrm>
            <a:off x="658368" y="1828800"/>
            <a:ext cx="3429000" cy="3611880"/>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题干限定优先</a:t>
            </a:r>
          </a:p>
          <a:p>
            <a:pPr algn="l"/>
            <a:r>
              <a:rPr sz="2200" b="1">
                <a:solidFill>
                  <a:srgbClr val="0F172A"/>
                </a:solidFill>
                <a:latin typeface="微软雅黑"/>
                <a:ea typeface="微软雅黑"/>
                <a:cs typeface="微软雅黑"/>
              </a:rPr>
              <a:t>· 找唯一支持句</a:t>
            </a:r>
          </a:p>
          <a:p>
            <a:pPr algn="l"/>
            <a:r>
              <a:rPr sz="2200" b="1">
                <a:solidFill>
                  <a:srgbClr val="0F172A"/>
                </a:solidFill>
                <a:latin typeface="微软雅黑"/>
                <a:ea typeface="微软雅黑"/>
                <a:cs typeface="微软雅黑"/>
              </a:rPr>
              <a:t>· 别选“太强”的选项</a:t>
            </a:r>
          </a:p>
        </p:txBody>
      </p:sp>
      <p:sp>
        <p:nvSpPr>
          <p:cNvPr id="10" name="Rectangle 9"/>
          <p:cNvSpPr/>
          <p:nvPr/>
        </p:nvSpPr>
        <p:spPr>
          <a:xfrm>
            <a:off x="4334256"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图形配对</a:t>
            </a:r>
          </a:p>
        </p:txBody>
      </p:sp>
      <p:sp>
        <p:nvSpPr>
          <p:cNvPr id="11" name="Rectangle 10"/>
          <p:cNvSpPr/>
          <p:nvPr/>
        </p:nvSpPr>
        <p:spPr>
          <a:xfrm>
            <a:off x="4334256" y="1828800"/>
            <a:ext cx="3429000" cy="3611880"/>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先配原文</a:t>
            </a:r>
          </a:p>
          <a:p>
            <a:pPr algn="l"/>
            <a:r>
              <a:rPr sz="2200" b="1">
                <a:solidFill>
                  <a:srgbClr val="0F172A"/>
                </a:solidFill>
                <a:latin typeface="微软雅黑"/>
                <a:ea typeface="微软雅黑"/>
                <a:cs typeface="微软雅黑"/>
              </a:rPr>
              <a:t>· 再看图</a:t>
            </a:r>
          </a:p>
          <a:p>
            <a:pPr algn="l"/>
            <a:r>
              <a:rPr sz="2200" b="1">
                <a:solidFill>
                  <a:srgbClr val="0F172A"/>
                </a:solidFill>
                <a:latin typeface="微软雅黑"/>
                <a:ea typeface="微软雅黑"/>
                <a:cs typeface="微软雅黑"/>
              </a:rPr>
              <a:t>· 五配三有干扰</a:t>
            </a:r>
          </a:p>
        </p:txBody>
      </p:sp>
      <p:sp>
        <p:nvSpPr>
          <p:cNvPr id="12" name="Rectangle 11"/>
          <p:cNvSpPr/>
          <p:nvPr/>
        </p:nvSpPr>
        <p:spPr>
          <a:xfrm>
            <a:off x="8010144"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词库摘要</a:t>
            </a:r>
          </a:p>
        </p:txBody>
      </p:sp>
      <p:sp>
        <p:nvSpPr>
          <p:cNvPr id="13" name="Rectangle 12"/>
          <p:cNvSpPr/>
          <p:nvPr/>
        </p:nvSpPr>
        <p:spPr>
          <a:xfrm>
            <a:off x="8010144" y="1828800"/>
            <a:ext cx="3429000" cy="3611880"/>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先定词性</a:t>
            </a:r>
          </a:p>
          <a:p>
            <a:pPr algn="l"/>
            <a:r>
              <a:rPr sz="2200" b="1">
                <a:solidFill>
                  <a:srgbClr val="0F172A"/>
                </a:solidFill>
                <a:latin typeface="微软雅黑"/>
                <a:ea typeface="微软雅黑"/>
                <a:cs typeface="微软雅黑"/>
              </a:rPr>
              <a:t>· 可重复使用</a:t>
            </a:r>
          </a:p>
          <a:p>
            <a:pPr algn="l"/>
            <a:r>
              <a:rPr sz="2200" b="1">
                <a:solidFill>
                  <a:srgbClr val="0F172A"/>
                </a:solidFill>
                <a:latin typeface="微软雅黑"/>
                <a:ea typeface="微软雅黑"/>
                <a:cs typeface="微软雅黑"/>
              </a:rPr>
              <a:t>· 数字回原文核对</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HOMEWORK</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课后作业：The Origins of Weather Forecasting</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128</a:t>
            </a:r>
          </a:p>
        </p:txBody>
      </p:sp>
      <p:sp>
        <p:nvSpPr>
          <p:cNvPr id="8" name="Rectangle 7"/>
          <p:cNvSpPr/>
          <p:nvPr/>
        </p:nvSpPr>
        <p:spPr>
          <a:xfrm>
            <a:off x="731520" y="1417320"/>
            <a:ext cx="10744200" cy="148132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限时 15 分钟完成 Q1–13，先做题，再用四步拆句法订正，最后核对答案。</a:t>
            </a:r>
          </a:p>
        </p:txBody>
      </p:sp>
      <p:sp>
        <p:nvSpPr>
          <p:cNvPr id="9" name="Rectangle 8"/>
          <p:cNvSpPr/>
          <p:nvPr/>
        </p:nvSpPr>
        <p:spPr>
          <a:xfrm>
            <a:off x="731520" y="3099815"/>
            <a:ext cx="1074420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300" b="1">
                <a:solidFill>
                  <a:srgbClr val="0F172A"/>
                </a:solidFill>
                <a:latin typeface="微软雅黑"/>
                <a:ea typeface="微软雅黑"/>
                <a:cs typeface="微软雅黑"/>
              </a:rPr>
              <a:t>订正要求</a:t>
            </a:r>
          </a:p>
          <a:p>
            <a:pPr algn="l"/>
            <a:r>
              <a:rPr sz="2300" b="1">
                <a:solidFill>
                  <a:srgbClr val="0F172A"/>
                </a:solidFill>
                <a:latin typeface="微软雅黑"/>
                <a:ea typeface="微软雅黑"/>
                <a:cs typeface="微软雅黑"/>
              </a:rPr>
              <a:t>1 每题写出 P/S 定位与题干↔原文的同义替换。</a:t>
            </a:r>
          </a:p>
          <a:p>
            <a:pPr algn="l"/>
            <a:r>
              <a:rPr sz="2300" b="1">
                <a:solidFill>
                  <a:srgbClr val="0F172A"/>
                </a:solidFill>
                <a:latin typeface="微软雅黑"/>
                <a:ea typeface="微软雅黑"/>
                <a:cs typeface="微软雅黑"/>
              </a:rPr>
              <a:t>2 判断题写清“支持 / 矛盾 / 未提”，NOT GIVEN 要说明缺了哪一层关系。</a:t>
            </a:r>
          </a:p>
          <a:p>
            <a:pPr algn="l"/>
            <a:r>
              <a:rPr sz="2300" b="1">
                <a:solidFill>
                  <a:srgbClr val="0F172A"/>
                </a:solidFill>
                <a:latin typeface="微软雅黑"/>
                <a:ea typeface="微软雅黑"/>
                <a:cs typeface="微软雅黑"/>
              </a:rPr>
              <a:t>3 填空题检查 ONE WORD ONLY、单复数与原文拼写。</a:t>
            </a:r>
          </a:p>
        </p:txBody>
      </p:sp>
      <p:sp>
        <p:nvSpPr>
          <p:cNvPr id="10" name="Rectangle 9"/>
          <p:cNvSpPr/>
          <p:nvPr/>
        </p:nvSpPr>
        <p:spPr>
          <a:xfrm>
            <a:off x="731520" y="4782312"/>
            <a:ext cx="10744200" cy="148132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以下逐题精讲用于自主订正；先做完再看，不要边做边翻。</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文章地图</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PASSAGE 4 · The Origins of Weather Forecasting</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129</a:t>
            </a:r>
          </a:p>
        </p:txBody>
      </p:sp>
      <p:sp>
        <p:nvSpPr>
          <p:cNvPr id="8" name="Rectangle 7"/>
          <p:cNvSpPr/>
          <p:nvPr/>
        </p:nvSpPr>
        <p:spPr>
          <a:xfrm>
            <a:off x="658368"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P1–P3</a:t>
            </a:r>
          </a:p>
        </p:txBody>
      </p:sp>
      <p:sp>
        <p:nvSpPr>
          <p:cNvPr id="9" name="Rectangle 8"/>
          <p:cNvSpPr/>
          <p:nvPr/>
        </p:nvSpPr>
        <p:spPr>
          <a:xfrm>
            <a:off x="658368" y="1828800"/>
            <a:ext cx="3429000" cy="3611880"/>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第一份公开预报</a:t>
            </a:r>
          </a:p>
          <a:p>
            <a:pPr algn="l"/>
            <a:r>
              <a:rPr sz="2200" b="1">
                <a:solidFill>
                  <a:srgbClr val="0F172A"/>
                </a:solidFill>
                <a:latin typeface="微软雅黑"/>
                <a:ea typeface="微软雅黑"/>
                <a:cs typeface="微软雅黑"/>
              </a:rPr>
              <a:t>· FitzRoy 的背景</a:t>
            </a:r>
          </a:p>
          <a:p>
            <a:pPr algn="l"/>
            <a:r>
              <a:rPr sz="2200" b="1">
                <a:solidFill>
                  <a:srgbClr val="0F172A"/>
                </a:solidFill>
                <a:latin typeface="微软雅黑"/>
                <a:ea typeface="微软雅黑"/>
                <a:cs typeface="微软雅黑"/>
              </a:rPr>
              <a:t>· 议会并不支持</a:t>
            </a:r>
          </a:p>
        </p:txBody>
      </p:sp>
      <p:sp>
        <p:nvSpPr>
          <p:cNvPr id="10" name="Rectangle 9"/>
          <p:cNvSpPr/>
          <p:nvPr/>
        </p:nvSpPr>
        <p:spPr>
          <a:xfrm>
            <a:off x="4334256"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P4–P6</a:t>
            </a:r>
          </a:p>
        </p:txBody>
      </p:sp>
      <p:sp>
        <p:nvSpPr>
          <p:cNvPr id="11" name="Rectangle 10"/>
          <p:cNvSpPr/>
          <p:nvPr/>
        </p:nvSpPr>
        <p:spPr>
          <a:xfrm>
            <a:off x="4334256" y="1828800"/>
            <a:ext cx="3429000" cy="3611880"/>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Royal Charter 沉船</a:t>
            </a:r>
          </a:p>
          <a:p>
            <a:pPr algn="l"/>
            <a:r>
              <a:rPr sz="2200" b="1">
                <a:solidFill>
                  <a:srgbClr val="0F172A"/>
                </a:solidFill>
                <a:latin typeface="微软雅黑"/>
                <a:ea typeface="微软雅黑"/>
                <a:cs typeface="微软雅黑"/>
              </a:rPr>
              <a:t>· 技术条件成熟</a:t>
            </a:r>
          </a:p>
          <a:p>
            <a:pPr algn="l"/>
            <a:r>
              <a:rPr sz="2200" b="1">
                <a:solidFill>
                  <a:srgbClr val="0F172A"/>
                </a:solidFill>
                <a:latin typeface="微软雅黑"/>
                <a:ea typeface="微软雅黑"/>
                <a:cs typeface="微软雅黑"/>
              </a:rPr>
              <a:t>· 风暴预警系统</a:t>
            </a:r>
          </a:p>
        </p:txBody>
      </p:sp>
      <p:sp>
        <p:nvSpPr>
          <p:cNvPr id="12" name="Rectangle 11"/>
          <p:cNvSpPr/>
          <p:nvPr/>
        </p:nvSpPr>
        <p:spPr>
          <a:xfrm>
            <a:off x="8010144"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P7–P8</a:t>
            </a:r>
          </a:p>
        </p:txBody>
      </p:sp>
      <p:sp>
        <p:nvSpPr>
          <p:cNvPr id="13" name="Rectangle 12"/>
          <p:cNvSpPr/>
          <p:nvPr/>
        </p:nvSpPr>
        <p:spPr>
          <a:xfrm>
            <a:off x="8010144" y="1828800"/>
            <a:ext cx="3429000" cy="3611880"/>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公开预报服务</a:t>
            </a:r>
          </a:p>
          <a:p>
            <a:pPr algn="l"/>
            <a:r>
              <a:rPr sz="2200" b="1">
                <a:solidFill>
                  <a:srgbClr val="0F172A"/>
                </a:solidFill>
                <a:latin typeface="微软雅黑"/>
                <a:ea typeface="微软雅黑"/>
                <a:cs typeface="微软雅黑"/>
              </a:rPr>
              <a:t>· 渔民 vs 船主</a:t>
            </a:r>
          </a:p>
          <a:p>
            <a:pPr algn="l"/>
            <a:r>
              <a:rPr sz="2200" b="1">
                <a:solidFill>
                  <a:srgbClr val="0F172A"/>
                </a:solidFill>
                <a:latin typeface="微软雅黑"/>
                <a:ea typeface="微软雅黑"/>
                <a:cs typeface="微软雅黑"/>
              </a:rPr>
              <a:t>· 身后被承认</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题型策略</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Passage 4 题型策略</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130</a:t>
            </a:r>
          </a:p>
        </p:txBody>
      </p:sp>
      <p:sp>
        <p:nvSpPr>
          <p:cNvPr id="8" name="Rectangle 7"/>
          <p:cNvSpPr/>
          <p:nvPr/>
        </p:nvSpPr>
        <p:spPr>
          <a:xfrm>
            <a:off x="731520" y="1417320"/>
            <a:ext cx="10744200" cy="148132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Q1–5 判断题：本篇陷阱集中在“评价词”（respected / supported）与“是否真的提到”。</a:t>
            </a:r>
          </a:p>
        </p:txBody>
      </p:sp>
      <p:sp>
        <p:nvSpPr>
          <p:cNvPr id="9" name="Rectangle 8"/>
          <p:cNvSpPr/>
          <p:nvPr/>
        </p:nvSpPr>
        <p:spPr>
          <a:xfrm>
            <a:off x="731520" y="3099815"/>
            <a:ext cx="10744200" cy="14813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Q6–13 笔记填空：ONE WORD ONLY，笔记按时间分两块，顺序与原文 P6→P8 完全一致。</a:t>
            </a:r>
          </a:p>
        </p:txBody>
      </p:sp>
      <p:sp>
        <p:nvSpPr>
          <p:cNvPr id="10" name="Rectangle 9"/>
          <p:cNvSpPr/>
          <p:nvPr/>
        </p:nvSpPr>
        <p:spPr>
          <a:xfrm>
            <a:off x="731520" y="4782312"/>
            <a:ext cx="10744200" cy="148132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300" b="1">
                <a:solidFill>
                  <a:srgbClr val="0F172A"/>
                </a:solidFill>
                <a:latin typeface="微软雅黑"/>
                <a:ea typeface="微软雅黑"/>
                <a:cs typeface="微软雅黑"/>
              </a:rPr>
              <a:t>作业要求：先限时 15 分钟做，再用本节课的四步拆句法订正，最后核对答案。</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P4 Q1｜respected skill：评价词被原文否定</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131</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In Robert FitzRoy's time, weather forecasting was a respected skill.</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锚点：respected（受尊敬的）。</a:t>
            </a:r>
          </a:p>
          <a:p>
            <a:pPr algn="l"/>
            <a:r>
              <a:rPr sz="1900" b="0">
                <a:solidFill>
                  <a:srgbClr val="0F172A"/>
                </a:solidFill>
                <a:latin typeface="微软雅黑"/>
                <a:ea typeface="微软雅黑"/>
                <a:cs typeface="微软雅黑"/>
              </a:rPr>
              <a:t>找原文对当时预报的评价。</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0">
                <a:solidFill>
                  <a:srgbClr val="0F172A"/>
                </a:solidFill>
                <a:latin typeface="微软雅黑"/>
                <a:ea typeface="微软雅黑"/>
                <a:cs typeface="微软雅黑"/>
              </a:rPr>
              <a:t>P2 S2–S3: ... in those days predicting the weather had gained a reputation similar to astrology or fortune-telling. The few people who attempted it had become a national joke when their forecasts inevitably went wrong.</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原文把预报比作占星、算命，并说成了 national joke。</a:t>
            </a:r>
          </a:p>
          <a:p>
            <a:pPr algn="l"/>
            <a:r>
              <a:rPr sz="1900" b="0">
                <a:solidFill>
                  <a:srgbClr val="0F172A"/>
                </a:solidFill>
                <a:latin typeface="微软雅黑"/>
                <a:ea typeface="微软雅黑"/>
                <a:cs typeface="微软雅黑"/>
              </a:rPr>
              <a:t>这是明确的负面评价，与 respected 正好相反。</a:t>
            </a:r>
          </a:p>
          <a:p>
            <a:pPr algn="l"/>
            <a:r>
              <a:rPr sz="1900" b="0">
                <a:solidFill>
                  <a:srgbClr val="0F172A"/>
                </a:solidFill>
                <a:latin typeface="微软雅黑"/>
                <a:ea typeface="微软雅黑"/>
                <a:cs typeface="微软雅黑"/>
              </a:rPr>
              <a:t>有明确相反信息 → FALSE，不是 NOT GIVEN。</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FALSE</a:t>
            </a:r>
          </a:p>
          <a:p>
            <a:pPr algn="l"/>
            <a:r>
              <a:rPr sz="2100" b="1">
                <a:solidFill>
                  <a:srgbClr val="0F172A"/>
                </a:solidFill>
                <a:latin typeface="微软雅黑"/>
                <a:ea typeface="微软雅黑"/>
                <a:cs typeface="微软雅黑"/>
              </a:rPr>
              <a:t>评价方向相反。</a:t>
            </a:r>
          </a:p>
          <a:p>
            <a:pPr algn="l"/>
            <a:r>
              <a:rPr sz="2100" b="1">
                <a:solidFill>
                  <a:srgbClr val="0F172A"/>
                </a:solidFill>
                <a:latin typeface="微软雅黑"/>
                <a:ea typeface="微软雅黑"/>
                <a:cs typeface="微软雅黑"/>
              </a:rPr>
              <a:t>有明确矛盾句。</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P4 Q1｜because 原因状语 + similar to 的比喻</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132</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50" b="1">
                <a:solidFill>
                  <a:srgbClr val="0F172A"/>
                </a:solidFill>
                <a:latin typeface="微软雅黑"/>
                <a:ea typeface="微软雅黑"/>
                <a:cs typeface="微软雅黑"/>
              </a:rPr>
              <a:t>It was a brave undertaking, because in those days predicting the weather had gained a reputation similar to astrology or fortune-telling.</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00" b="1">
                <a:solidFill>
                  <a:srgbClr val="0F172A"/>
                </a:solidFill>
                <a:latin typeface="微软雅黑"/>
                <a:ea typeface="微软雅黑"/>
                <a:cs typeface="微软雅黑"/>
              </a:rPr>
              <a:t>It was a brave undertaking because predicting the weather had gained a bad reputation.</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500" b="0">
                <a:solidFill>
                  <a:srgbClr val="0F172A"/>
                </a:solidFill>
                <a:latin typeface="微软雅黑"/>
                <a:ea typeface="微软雅黑"/>
                <a:cs typeface="微软雅黑"/>
              </a:rPr>
              <a:t>· 主句 It was a brave undertaking 已暗示“当时不被看好”。</a:t>
            </a:r>
          </a:p>
          <a:p>
            <a:pPr algn="l"/>
            <a:r>
              <a:rPr sz="1500" b="0">
                <a:solidFill>
                  <a:srgbClr val="0F172A"/>
                </a:solidFill>
                <a:latin typeface="微软雅黑"/>
                <a:ea typeface="微软雅黑"/>
                <a:cs typeface="微软雅黑"/>
              </a:rPr>
              <a:t>· because 引导原因状语从句，给出具体原因。</a:t>
            </a:r>
          </a:p>
          <a:p>
            <a:pPr algn="l"/>
            <a:r>
              <a:rPr sz="1500" b="0">
                <a:solidFill>
                  <a:srgbClr val="0F172A"/>
                </a:solidFill>
                <a:latin typeface="微软雅黑"/>
                <a:ea typeface="微软雅黑"/>
                <a:cs typeface="微软雅黑"/>
              </a:rPr>
              <a:t>· a reputation similar to ... 是名词＋后置形容词短语。</a:t>
            </a:r>
          </a:p>
          <a:p>
            <a:pPr algn="l"/>
            <a:r>
              <a:rPr sz="1500" b="0">
                <a:solidFill>
                  <a:srgbClr val="0F172A"/>
                </a:solidFill>
                <a:latin typeface="微软雅黑"/>
                <a:ea typeface="微软雅黑"/>
                <a:cs typeface="微软雅黑"/>
              </a:rPr>
              <a:t>· astrology / fortune-telling 是贬义参照物。</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这是一项勇敢的尝试，因为在那个年代，预测天气已经落得与占星术或算命相似的名声。</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undertaking 事业、尝试 ↔ venture；reputation 名声</a:t>
            </a:r>
          </a:p>
          <a:p>
            <a:pPr algn="l"/>
            <a:r>
              <a:rPr sz="1850" b="1">
                <a:solidFill>
                  <a:srgbClr val="0F172A"/>
                </a:solidFill>
                <a:latin typeface="微软雅黑"/>
                <a:ea typeface="微软雅黑"/>
                <a:cs typeface="微软雅黑"/>
              </a:rPr>
              <a:t>astrology 占星术；fortune-telling 算命</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P4 Q2｜successful career at sea：由履历推出</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133</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When FitzRoy retired from the navy, he had already had a successful career at sea.</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锚点：retired from the navy + career at sea。</a:t>
            </a:r>
          </a:p>
          <a:p>
            <a:pPr algn="l"/>
            <a:r>
              <a:rPr sz="1900" b="0">
                <a:solidFill>
                  <a:srgbClr val="0F172A"/>
                </a:solidFill>
                <a:latin typeface="微软雅黑"/>
                <a:ea typeface="微软雅黑"/>
                <a:cs typeface="微软雅黑"/>
              </a:rPr>
              <a:t>找退役前的经历。</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P3 S2–S3: His background was faultless, most famously his captaining of the ship HMS Beagle on Charles Darwin's voyage around the world ... When FitzRoy retired from active service as an admiral in Britain's navy, he was looking for a new direction.</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faultless background ＋ 担任小猎犬号船长 ＋ 军衔 admiral。</a:t>
            </a:r>
          </a:p>
          <a:p>
            <a:pPr algn="l"/>
            <a:r>
              <a:rPr sz="1900" b="0">
                <a:solidFill>
                  <a:srgbClr val="0F172A"/>
                </a:solidFill>
                <a:latin typeface="微软雅黑"/>
                <a:ea typeface="微软雅黑"/>
                <a:cs typeface="微软雅黑"/>
              </a:rPr>
              <a:t>这些都属于“海上事业成功”的具体证据。</a:t>
            </a:r>
          </a:p>
          <a:p>
            <a:pPr algn="l"/>
            <a:r>
              <a:rPr sz="1900" b="0">
                <a:solidFill>
                  <a:srgbClr val="0F172A"/>
                </a:solidFill>
                <a:latin typeface="微软雅黑"/>
                <a:ea typeface="微软雅黑"/>
                <a:cs typeface="微软雅黑"/>
              </a:rPr>
              <a:t>时间顺序也对：退役发生在这些经历之后。</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TRUE</a:t>
            </a:r>
          </a:p>
          <a:p>
            <a:pPr algn="l"/>
            <a:r>
              <a:rPr sz="2100" b="1">
                <a:solidFill>
                  <a:srgbClr val="0F172A"/>
                </a:solidFill>
                <a:latin typeface="微软雅黑"/>
                <a:ea typeface="微软雅黑"/>
                <a:cs typeface="微软雅黑"/>
              </a:rPr>
              <a:t>履历＋军衔双证据。</a:t>
            </a:r>
          </a:p>
          <a:p>
            <a:pPr algn="l"/>
            <a:r>
              <a:rPr sz="2100" b="1">
                <a:solidFill>
                  <a:srgbClr val="0F172A"/>
                </a:solidFill>
                <a:latin typeface="微软雅黑"/>
                <a:ea typeface="微软雅黑"/>
                <a:cs typeface="微软雅黑"/>
              </a:rPr>
              <a:t>时间关系一致。</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P4 Q2｜同位语 + which 非限定定语从句</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134</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His background was faultless, most famously his captaining of the ship HMS Beagle on Charles Darwin's voyage around the world, which eventually led to the publication of Darwin's well-known book On the Origin of Species.</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His background was faultless.</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500" b="0">
                <a:solidFill>
                  <a:srgbClr val="0F172A"/>
                </a:solidFill>
                <a:latin typeface="微软雅黑"/>
                <a:ea typeface="微软雅黑"/>
                <a:cs typeface="微软雅黑"/>
              </a:rPr>
              <a:t>· 主干极短：His background was faultless。</a:t>
            </a:r>
          </a:p>
          <a:p>
            <a:pPr algn="l"/>
            <a:r>
              <a:rPr sz="1500" b="0">
                <a:solidFill>
                  <a:srgbClr val="0F172A"/>
                </a:solidFill>
                <a:latin typeface="微软雅黑"/>
                <a:ea typeface="微软雅黑"/>
                <a:cs typeface="微软雅黑"/>
              </a:rPr>
              <a:t>· most famously ... 是同位补充，举最著名的例子。</a:t>
            </a:r>
          </a:p>
          <a:p>
            <a:pPr algn="l"/>
            <a:r>
              <a:rPr sz="1500" b="0">
                <a:solidFill>
                  <a:srgbClr val="0F172A"/>
                </a:solidFill>
                <a:latin typeface="微软雅黑"/>
                <a:ea typeface="微软雅黑"/>
                <a:cs typeface="微软雅黑"/>
              </a:rPr>
              <a:t>· which 指代前面整件事（那次环球航行）。</a:t>
            </a:r>
          </a:p>
          <a:p>
            <a:pPr algn="l"/>
            <a:r>
              <a:rPr sz="1500" b="0">
                <a:solidFill>
                  <a:srgbClr val="0F172A"/>
                </a:solidFill>
                <a:latin typeface="微软雅黑"/>
                <a:ea typeface="微软雅黑"/>
                <a:cs typeface="微软雅黑"/>
              </a:rPr>
              <a:t>· led to the publication 是结果，属背景信息。</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20" b="0">
                <a:solidFill>
                  <a:srgbClr val="0F172A"/>
                </a:solidFill>
                <a:latin typeface="微软雅黑"/>
                <a:ea typeface="微软雅黑"/>
                <a:cs typeface="微软雅黑"/>
              </a:rPr>
              <a:t>他的履历无可挑剔，最著名的是他在达尔文环球航行中担任小猎犬号船长，那次航行最终促成了达尔文名著《物种起源》的出版。</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faultless 无可挑剔的 ↔ perfect / excellent；captain (v.) 担任船长</a:t>
            </a:r>
          </a:p>
          <a:p>
            <a:pPr algn="l"/>
            <a:r>
              <a:rPr sz="1850" b="1">
                <a:solidFill>
                  <a:srgbClr val="0F172A"/>
                </a:solidFill>
                <a:latin typeface="微软雅黑"/>
                <a:ea typeface="微软雅黑"/>
                <a:cs typeface="微软雅黑"/>
              </a:rPr>
              <a:t>voyage 航行 ↔ journey by sea；admiral 海军上将</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P4 Q3｜competition：原文只说“得到了这份工作”</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135</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FitzRoy faced competition from other applicants for the chief statistician's job.</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锚点：competition / other applicants。</a:t>
            </a:r>
          </a:p>
          <a:p>
            <a:pPr algn="l"/>
            <a:r>
              <a:rPr sz="1900" b="0">
                <a:solidFill>
                  <a:srgbClr val="0F172A"/>
                </a:solidFill>
                <a:latin typeface="微软雅黑"/>
                <a:ea typeface="微软雅黑"/>
                <a:cs typeface="微软雅黑"/>
              </a:rPr>
              <a:t>问的是“有没有别的申请人”。</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P3 S4: He subsequently secured a job as chief statistician at the Meteorological Department, part of the Board of Trade.</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原文只说他“获得了”这份工作。</a:t>
            </a:r>
          </a:p>
          <a:p>
            <a:pPr algn="l"/>
            <a:r>
              <a:rPr sz="1900" b="0">
                <a:solidFill>
                  <a:srgbClr val="0F172A"/>
                </a:solidFill>
                <a:latin typeface="微软雅黑"/>
                <a:ea typeface="微软雅黑"/>
                <a:cs typeface="微软雅黑"/>
              </a:rPr>
              <a:t>关于竞争者、面试、选拔过程，全文一字未提。</a:t>
            </a:r>
          </a:p>
          <a:p>
            <a:pPr algn="l"/>
            <a:r>
              <a:rPr sz="1900" b="0">
                <a:solidFill>
                  <a:srgbClr val="0F172A"/>
                </a:solidFill>
                <a:latin typeface="微软雅黑"/>
                <a:ea typeface="微软雅黑"/>
                <a:cs typeface="微软雅黑"/>
              </a:rPr>
              <a:t>职位名原词复现，但关系信息缺失 → NOT GIVEN。</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NOT GIVEN</a:t>
            </a:r>
          </a:p>
          <a:p>
            <a:pPr algn="l"/>
            <a:r>
              <a:rPr sz="2100" b="1">
                <a:solidFill>
                  <a:srgbClr val="0F172A"/>
                </a:solidFill>
                <a:latin typeface="微软雅黑"/>
                <a:ea typeface="微软雅黑"/>
                <a:cs typeface="微软雅黑"/>
              </a:rPr>
              <a:t>关键词在，关系不在。</a:t>
            </a:r>
          </a:p>
          <a:p>
            <a:pPr algn="l"/>
            <a:r>
              <a:rPr sz="2100" b="1">
                <a:solidFill>
                  <a:srgbClr val="0F172A"/>
                </a:solidFill>
                <a:latin typeface="微软雅黑"/>
                <a:ea typeface="微软雅黑"/>
                <a:cs typeface="微软雅黑"/>
              </a:rPr>
              <a:t>缺失≠矛盾。</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P4 Q3｜secured a job 与信息缺口</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136</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50" b="1">
                <a:solidFill>
                  <a:srgbClr val="0F172A"/>
                </a:solidFill>
                <a:latin typeface="微软雅黑"/>
                <a:ea typeface="微软雅黑"/>
                <a:cs typeface="微软雅黑"/>
              </a:rPr>
              <a:t>He subsequently secured a job as chief statistician at the Meteorological Department, part of the Board of Trade.</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He secured a job as chief statistician.</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 subsequently 是时间副词：随后。</a:t>
            </a:r>
          </a:p>
          <a:p>
            <a:pPr algn="l"/>
            <a:r>
              <a:rPr sz="1700" b="0">
                <a:solidFill>
                  <a:srgbClr val="0F172A"/>
                </a:solidFill>
                <a:latin typeface="微软雅黑"/>
                <a:ea typeface="微软雅黑"/>
                <a:cs typeface="微软雅黑"/>
              </a:rPr>
              <a:t>· as chief statistician 说明职位。</a:t>
            </a:r>
          </a:p>
          <a:p>
            <a:pPr algn="l"/>
            <a:r>
              <a:rPr sz="1700" b="0">
                <a:solidFill>
                  <a:srgbClr val="0F172A"/>
                </a:solidFill>
                <a:latin typeface="微软雅黑"/>
                <a:ea typeface="微软雅黑"/>
                <a:cs typeface="微软雅黑"/>
              </a:rPr>
              <a:t>· part of the Board of Trade 是机构的同位语。</a:t>
            </a:r>
          </a:p>
          <a:p>
            <a:pPr algn="l"/>
            <a:r>
              <a:rPr sz="1700" b="0">
                <a:solidFill>
                  <a:srgbClr val="0F172A"/>
                </a:solidFill>
                <a:latin typeface="微软雅黑"/>
                <a:ea typeface="微软雅黑"/>
                <a:cs typeface="微软雅黑"/>
              </a:rPr>
              <a:t>· 整句没有任何“竞争”语义成分——这就是判定依据。</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他随后在贸易委员会下属的气象部门获得了首席统计员的职位。</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secure a job 谋得职位 ↔ get / obtain a job</a:t>
            </a:r>
          </a:p>
          <a:p>
            <a:pPr algn="l"/>
            <a:r>
              <a:rPr sz="1850" b="1">
                <a:solidFill>
                  <a:srgbClr val="0F172A"/>
                </a:solidFill>
                <a:latin typeface="微软雅黑"/>
                <a:ea typeface="微软雅黑"/>
                <a:cs typeface="微软雅黑"/>
              </a:rPr>
              <a:t>statistician 统计员；subsequently 随后 ↔ later</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P4 Q4｜supported：议会支持的是“部门”不是“预报”</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137</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The British Parliament supported the idea of regular weather forecasts in 1854.</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锚点：Parliament / 1854 / forecasts。</a:t>
            </a:r>
          </a:p>
          <a:p>
            <a:pPr algn="l"/>
            <a:r>
              <a:rPr sz="1900" b="0">
                <a:solidFill>
                  <a:srgbClr val="0F172A"/>
                </a:solidFill>
                <a:latin typeface="微软雅黑"/>
                <a:ea typeface="微软雅黑"/>
                <a:cs typeface="微软雅黑"/>
              </a:rPr>
              <a:t>注意“支持什么”这一层。</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P3 S5–S6: Parliament had voted to set up and fund the Meteorological Department on June 30, 1854, to chart the safest sailing routes ... However, the British Government was not impressed with the idea of collecting weather reports and establishing a weather forecast ...</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1854年议会支持的是“设立气象部门、绘制航线”。</a:t>
            </a:r>
          </a:p>
          <a:p>
            <a:pPr algn="l"/>
            <a:r>
              <a:rPr sz="1900" b="0">
                <a:solidFill>
                  <a:srgbClr val="0F172A"/>
                </a:solidFill>
                <a:latin typeface="微软雅黑"/>
                <a:ea typeface="微软雅黑"/>
                <a:cs typeface="微软雅黑"/>
              </a:rPr>
              <a:t>对“建立天气预报”这一想法，政府 was not impressed，还遭到嘲笑。</a:t>
            </a:r>
          </a:p>
          <a:p>
            <a:pPr algn="l"/>
            <a:r>
              <a:rPr sz="1900" b="0">
                <a:solidFill>
                  <a:srgbClr val="0F172A"/>
                </a:solidFill>
                <a:latin typeface="微软雅黑"/>
                <a:ea typeface="微软雅黑"/>
                <a:cs typeface="微软雅黑"/>
              </a:rPr>
              <a:t>题干把支持对象偷换成了 forecasts → 与原文相反。</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FALSE</a:t>
            </a:r>
          </a:p>
          <a:p>
            <a:pPr algn="l"/>
            <a:r>
              <a:rPr sz="2100" b="1">
                <a:solidFill>
                  <a:srgbClr val="0F172A"/>
                </a:solidFill>
                <a:latin typeface="微软雅黑"/>
                <a:ea typeface="微软雅黑"/>
                <a:cs typeface="微软雅黑"/>
              </a:rPr>
              <a:t>支持对象被偷换。</a:t>
            </a:r>
          </a:p>
          <a:p>
            <a:pPr algn="l"/>
            <a:r>
              <a:rPr sz="2100" b="1">
                <a:solidFill>
                  <a:srgbClr val="0F172A"/>
                </a:solidFill>
                <a:latin typeface="微软雅黑"/>
                <a:ea typeface="微软雅黑"/>
                <a:cs typeface="微软雅黑"/>
              </a:rPr>
              <a:t>However 后是关键。</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P4 Q4｜However 转折切开两个对象</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138</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1">
                <a:solidFill>
                  <a:srgbClr val="0F172A"/>
                </a:solidFill>
                <a:latin typeface="微软雅黑"/>
                <a:ea typeface="微软雅黑"/>
                <a:cs typeface="微软雅黑"/>
              </a:rPr>
              <a:t>However, the British Government was not impressed with the idea of collecting weather reports and establishing a weather forecast, and the suggestion by one Member of Parliament for this was met with laughter from the other MPs.</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00" b="1">
                <a:solidFill>
                  <a:srgbClr val="0F172A"/>
                </a:solidFill>
                <a:latin typeface="微软雅黑"/>
                <a:ea typeface="微软雅黑"/>
                <a:cs typeface="微软雅黑"/>
              </a:rPr>
              <a:t>The Government was not impressed with the idea of establishing a weather forecast.</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600" b="0">
                <a:solidFill>
                  <a:srgbClr val="0F172A"/>
                </a:solidFill>
                <a:latin typeface="微软雅黑"/>
                <a:ea typeface="微软雅黑"/>
                <a:cs typeface="微软雅黑"/>
              </a:rPr>
              <a:t>· However 提示：与上一句的“支持”形成对比。</a:t>
            </a:r>
          </a:p>
          <a:p>
            <a:pPr algn="l"/>
            <a:r>
              <a:rPr sz="1600" b="0">
                <a:solidFill>
                  <a:srgbClr val="0F172A"/>
                </a:solidFill>
                <a:latin typeface="微软雅黑"/>
                <a:ea typeface="微软雅黑"/>
                <a:cs typeface="微软雅黑"/>
              </a:rPr>
              <a:t>· was not impressed with ＝ 不感兴趣、不看好。</a:t>
            </a:r>
          </a:p>
          <a:p>
            <a:pPr algn="l"/>
            <a:r>
              <a:rPr sz="1600" b="0">
                <a:solidFill>
                  <a:srgbClr val="0F172A"/>
                </a:solidFill>
                <a:latin typeface="微软雅黑"/>
                <a:ea typeface="微软雅黑"/>
                <a:cs typeface="微软雅黑"/>
              </a:rPr>
              <a:t>· and 后并列第二个分句：提议被嘲笑。</a:t>
            </a:r>
          </a:p>
          <a:p>
            <a:pPr algn="l"/>
            <a:r>
              <a:rPr sz="1600" b="0">
                <a:solidFill>
                  <a:srgbClr val="0F172A"/>
                </a:solidFill>
                <a:latin typeface="微软雅黑"/>
                <a:ea typeface="微软雅黑"/>
                <a:cs typeface="微软雅黑"/>
              </a:rPr>
              <a:t>· was met with laughter 是被动结构。</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20" b="0">
                <a:solidFill>
                  <a:srgbClr val="0F172A"/>
                </a:solidFill>
                <a:latin typeface="微软雅黑"/>
                <a:ea typeface="微软雅黑"/>
                <a:cs typeface="微软雅黑"/>
              </a:rPr>
              <a:t>然而，英国政府对收集天气报告、建立天气预报的想法并不感兴趣，一位议员就此提出的建议还遭到其他议员的哄笑。</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be not impressed with 不看好 ↔ not support；fund 资助</a:t>
            </a:r>
          </a:p>
          <a:p>
            <a:pPr algn="l"/>
            <a:r>
              <a:rPr sz="1850" b="1">
                <a:solidFill>
                  <a:srgbClr val="0F172A"/>
                </a:solidFill>
                <a:latin typeface="微软雅黑"/>
                <a:ea typeface="微软雅黑"/>
                <a:cs typeface="微软雅黑"/>
              </a:rPr>
              <a:t>be met with laughter 遭到嘲笑；chart 绘制（航线）</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P4 Q5｜progress in technology：三项技术条件</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139</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Progress in technology made it a good time for publicly available weather forecasting to begin.</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锚点：technology / good time。</a:t>
            </a:r>
          </a:p>
          <a:p>
            <a:pPr algn="l"/>
            <a:r>
              <a:rPr sz="1900" b="0">
                <a:solidFill>
                  <a:srgbClr val="0F172A"/>
                </a:solidFill>
                <a:latin typeface="微软雅黑"/>
                <a:ea typeface="微软雅黑"/>
                <a:cs typeface="微软雅黑"/>
              </a:rPr>
              <a:t>找“时机成熟”的原因句。</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P5 S2–S3: This was just the right moment for a national forecasting service. Knowledge of the weather was improving, barometer readings gave warning of approaching storms, and the invention of the electric telegraph and Morse code in 1844 gave instant communication for the first time.</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good time ↔ just the right moment。</a:t>
            </a:r>
          </a:p>
          <a:p>
            <a:pPr algn="l"/>
            <a:r>
              <a:rPr sz="1900" b="0">
                <a:solidFill>
                  <a:srgbClr val="0F172A"/>
                </a:solidFill>
                <a:latin typeface="微软雅黑"/>
                <a:ea typeface="微软雅黑"/>
                <a:cs typeface="微软雅黑"/>
              </a:rPr>
              <a:t>progress in technology ↔ barometer readings ＋ electric telegraph ＋ Morse code。</a:t>
            </a:r>
          </a:p>
          <a:p>
            <a:pPr algn="l"/>
            <a:r>
              <a:rPr sz="1900" b="0">
                <a:solidFill>
                  <a:srgbClr val="0F172A"/>
                </a:solidFill>
                <a:latin typeface="微软雅黑"/>
                <a:ea typeface="微软雅黑"/>
                <a:cs typeface="微软雅黑"/>
              </a:rPr>
              <a:t>两句连读，题干概括成立 → TRUE。</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TRUE</a:t>
            </a:r>
          </a:p>
          <a:p>
            <a:pPr algn="l"/>
            <a:r>
              <a:rPr sz="2100" b="1">
                <a:solidFill>
                  <a:srgbClr val="0F172A"/>
                </a:solidFill>
                <a:latin typeface="微软雅黑"/>
                <a:ea typeface="微软雅黑"/>
                <a:cs typeface="微软雅黑"/>
              </a:rPr>
              <a:t>概括题干，逐项有据。</a:t>
            </a:r>
          </a:p>
          <a:p>
            <a:pPr algn="l"/>
            <a:r>
              <a:rPr sz="2100" b="1">
                <a:solidFill>
                  <a:srgbClr val="0F172A"/>
                </a:solidFill>
                <a:latin typeface="微软雅黑"/>
                <a:ea typeface="微软雅黑"/>
                <a:cs typeface="微软雅黑"/>
              </a:rPr>
              <a:t>两句连读。</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P4 Q5｜三个并列分句撑起一个结论</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140</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Knowledge of the weather was improving, barometer readings gave warning of approaching storms, and the invention of the electric telegraph and Morse code in 1844 gave instant communication for the first time.</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00" b="1">
                <a:solidFill>
                  <a:srgbClr val="0F172A"/>
                </a:solidFill>
                <a:latin typeface="微软雅黑"/>
                <a:ea typeface="微软雅黑"/>
                <a:cs typeface="微软雅黑"/>
              </a:rPr>
              <a:t>Knowledge was improving; barometers gave warning; the telegraph gave instant communication.</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 三个分句并列，用逗号＋and 连接。</a:t>
            </a:r>
          </a:p>
          <a:p>
            <a:pPr algn="l"/>
            <a:r>
              <a:rPr sz="1700" b="0">
                <a:solidFill>
                  <a:srgbClr val="0F172A"/>
                </a:solidFill>
                <a:latin typeface="微软雅黑"/>
                <a:ea typeface="微软雅黑"/>
                <a:cs typeface="微软雅黑"/>
              </a:rPr>
              <a:t>· 每个分句都是完整的 S + V + O。</a:t>
            </a:r>
          </a:p>
          <a:p>
            <a:pPr algn="l"/>
            <a:r>
              <a:rPr sz="1700" b="0">
                <a:solidFill>
                  <a:srgbClr val="0F172A"/>
                </a:solidFill>
                <a:latin typeface="微软雅黑"/>
                <a:ea typeface="微软雅黑"/>
                <a:cs typeface="微软雅黑"/>
              </a:rPr>
              <a:t>· 三项合起来正是题干说的 progress in technology。</a:t>
            </a:r>
          </a:p>
          <a:p>
            <a:pPr algn="l"/>
            <a:r>
              <a:rPr sz="1700" b="0">
                <a:solidFill>
                  <a:srgbClr val="0F172A"/>
                </a:solidFill>
                <a:latin typeface="微软雅黑"/>
                <a:ea typeface="微软雅黑"/>
                <a:cs typeface="微软雅黑"/>
              </a:rPr>
              <a:t>· 上一句 This was just the right moment 是这三项的结论。</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20" b="0">
                <a:solidFill>
                  <a:srgbClr val="0F172A"/>
                </a:solidFill>
                <a:latin typeface="微软雅黑"/>
                <a:ea typeface="微软雅黑"/>
                <a:cs typeface="微软雅黑"/>
              </a:rPr>
              <a:t>人们对天气的认识在提高，气压计读数能预警临近的风暴，1844年电报和摩尔斯电码的发明第一次带来了即时通信。</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barometer 气压计；telegraph 电报；instant 即时的</a:t>
            </a:r>
          </a:p>
          <a:p>
            <a:pPr algn="l"/>
            <a:r>
              <a:rPr sz="1850" b="1">
                <a:solidFill>
                  <a:srgbClr val="0F172A"/>
                </a:solidFill>
                <a:latin typeface="微软雅黑"/>
                <a:ea typeface="微软雅黑"/>
                <a:cs typeface="微软雅黑"/>
              </a:rPr>
              <a:t>approaching storms 逼近的风暴；give warning of 预警</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P4 Q6｜ships using reliable ____</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141</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FitzRoy received weather reports produced by ships using reliable 6 ………………</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using reliable + 空格 → 名词。</a:t>
            </a:r>
          </a:p>
          <a:p>
            <a:pPr algn="l"/>
            <a:r>
              <a:rPr sz="1900" b="0">
                <a:solidFill>
                  <a:srgbClr val="0F172A"/>
                </a:solidFill>
                <a:latin typeface="微软雅黑"/>
                <a:ea typeface="微软雅黑"/>
                <a:cs typeface="微软雅黑"/>
              </a:rPr>
              <a:t>锚点：February 1861 / 风暴预警。</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P6 S2: Previously, weather reports had been unreliable, but FitzRoy's innovation was to issue ships with standardised instruments which allowed for accurate weather reports.</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reliable ↔ standardised / accurate。</a:t>
            </a:r>
          </a:p>
          <a:p>
            <a:pPr algn="l"/>
            <a:r>
              <a:rPr sz="1900" b="0">
                <a:solidFill>
                  <a:srgbClr val="0F172A"/>
                </a:solidFill>
                <a:latin typeface="微软雅黑"/>
                <a:ea typeface="微软雅黑"/>
                <a:cs typeface="微软雅黑"/>
              </a:rPr>
              <a:t>issue ships with ... ＝ 给船只配发……。</a:t>
            </a:r>
          </a:p>
          <a:p>
            <a:pPr algn="l"/>
            <a:r>
              <a:rPr sz="1900" b="0">
                <a:solidFill>
                  <a:srgbClr val="0F172A"/>
                </a:solidFill>
                <a:latin typeface="微软雅黑"/>
                <a:ea typeface="微软雅黑"/>
                <a:cs typeface="微软雅黑"/>
              </a:rPr>
              <a:t>空格填被配发的东西：instruments（复数）。</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instruments</a:t>
            </a:r>
          </a:p>
          <a:p>
            <a:pPr algn="l"/>
            <a:r>
              <a:rPr sz="2100" b="1">
                <a:solidFill>
                  <a:srgbClr val="0F172A"/>
                </a:solidFill>
                <a:latin typeface="微软雅黑"/>
                <a:ea typeface="微软雅黑"/>
                <a:cs typeface="微软雅黑"/>
              </a:rPr>
              <a:t>ONE WORD ONLY。</a:t>
            </a:r>
          </a:p>
          <a:p>
            <a:pPr algn="l"/>
            <a:r>
              <a:rPr sz="2100" b="1">
                <a:solidFill>
                  <a:srgbClr val="0F172A"/>
                </a:solidFill>
                <a:latin typeface="微软雅黑"/>
                <a:ea typeface="微软雅黑"/>
                <a:cs typeface="微软雅黑"/>
              </a:rPr>
              <a:t>保留复数。</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P4 Q6｜Previously ... but ... which 定语从句</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142</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Previously, weather reports had been unreliable, but FitzRoy's innovation was to issue ships with standardised instruments which allowed for accurate weather reports.</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FitzRoy's innovation was to issue ships with standardised instruments.</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 Previously ... unreliable 是对比背景（过去不可靠）。</a:t>
            </a:r>
          </a:p>
          <a:p>
            <a:pPr algn="l"/>
            <a:r>
              <a:rPr sz="1700" b="0">
                <a:solidFill>
                  <a:srgbClr val="0F172A"/>
                </a:solidFill>
                <a:latin typeface="微软雅黑"/>
                <a:ea typeface="微软雅黑"/>
                <a:cs typeface="微软雅黑"/>
              </a:rPr>
              <a:t>· but 之后才是创新点，也是答案所在。</a:t>
            </a:r>
          </a:p>
          <a:p>
            <a:pPr algn="l"/>
            <a:r>
              <a:rPr sz="1700" b="0">
                <a:solidFill>
                  <a:srgbClr val="0F172A"/>
                </a:solidFill>
                <a:latin typeface="微软雅黑"/>
                <a:ea typeface="微软雅黑"/>
                <a:cs typeface="微软雅黑"/>
              </a:rPr>
              <a:t>· to issue ... 是不定式作表语。</a:t>
            </a:r>
          </a:p>
          <a:p>
            <a:pPr algn="l"/>
            <a:r>
              <a:rPr sz="1700" b="0">
                <a:solidFill>
                  <a:srgbClr val="0F172A"/>
                </a:solidFill>
                <a:latin typeface="微软雅黑"/>
                <a:ea typeface="微软雅黑"/>
                <a:cs typeface="微软雅黑"/>
              </a:rPr>
              <a:t>· which allowed for ... 定语从句说明效果。</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此前天气报告一直不可靠，而 FitzRoy 的创新是给船只配发标准化仪器，使准确的天气报告成为可能。</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standardised 标准化的 ↔ reliable；instrument 仪器</a:t>
            </a:r>
          </a:p>
          <a:p>
            <a:pPr algn="l"/>
            <a:r>
              <a:rPr sz="1850" b="1">
                <a:solidFill>
                  <a:srgbClr val="0F172A"/>
                </a:solidFill>
                <a:latin typeface="微软雅黑"/>
                <a:ea typeface="微软雅黑"/>
                <a:cs typeface="微软雅黑"/>
              </a:rPr>
              <a:t>issue sb with sth 给某人配发某物；allow for 使……成为可能</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P4 Q7｜telegraphed to ____ along the shore</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143</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400" b="1">
                <a:solidFill>
                  <a:srgbClr val="0F172A"/>
                </a:solidFill>
                <a:latin typeface="微软雅黑"/>
                <a:ea typeface="微软雅黑"/>
                <a:cs typeface="微软雅黑"/>
              </a:rPr>
              <a:t>storm warnings were telegraphed to 7 ……………… along the shore</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telegraphed to + 空格 → 地点名词。</a:t>
            </a:r>
          </a:p>
          <a:p>
            <a:pPr algn="l"/>
            <a:r>
              <a:rPr sz="1900" b="0">
                <a:solidFill>
                  <a:srgbClr val="0F172A"/>
                </a:solidFill>
                <a:latin typeface="微软雅黑"/>
                <a:ea typeface="微软雅黑"/>
                <a:cs typeface="微软雅黑"/>
              </a:rPr>
              <a:t>锚点：along the shore（沿岸）。</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P6 S4: The approach of an incoming storm could be recognised, and from London, FitzRoy could telegraph warnings to ports on the coast ...</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telegraphed to ↔ could telegraph warnings to。</a:t>
            </a:r>
          </a:p>
          <a:p>
            <a:pPr algn="l"/>
            <a:r>
              <a:rPr sz="1900" b="0">
                <a:solidFill>
                  <a:srgbClr val="0F172A"/>
                </a:solidFill>
                <a:latin typeface="微软雅黑"/>
                <a:ea typeface="微软雅黑"/>
                <a:cs typeface="微软雅黑"/>
              </a:rPr>
              <a:t>along the shore ↔ on the coast（沿海）。</a:t>
            </a:r>
          </a:p>
          <a:p>
            <a:pPr algn="l"/>
            <a:r>
              <a:rPr sz="1900" b="0">
                <a:solidFill>
                  <a:srgbClr val="0F172A"/>
                </a:solidFill>
                <a:latin typeface="微软雅黑"/>
                <a:ea typeface="微软雅黑"/>
                <a:cs typeface="微软雅黑"/>
              </a:rPr>
              <a:t>空格填接收方：ports（复数）。</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ports</a:t>
            </a:r>
          </a:p>
          <a:p>
            <a:pPr algn="l"/>
            <a:r>
              <a:rPr sz="2100" b="1">
                <a:solidFill>
                  <a:srgbClr val="0F172A"/>
                </a:solidFill>
                <a:latin typeface="微软雅黑"/>
                <a:ea typeface="微软雅黑"/>
                <a:cs typeface="微软雅黑"/>
              </a:rPr>
              <a:t>ONE WORD ONLY。</a:t>
            </a:r>
          </a:p>
          <a:p>
            <a:pPr algn="l"/>
            <a:r>
              <a:rPr sz="2100" b="1">
                <a:solidFill>
                  <a:srgbClr val="0F172A"/>
                </a:solidFill>
                <a:latin typeface="微软雅黑"/>
                <a:ea typeface="微软雅黑"/>
                <a:cs typeface="微软雅黑"/>
              </a:rPr>
              <a:t>复数 ports。</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P4 Q7｜and 并列 + where 定语从句</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144</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The approach of an incoming storm could be recognised, and from London, FitzRoy could telegraph warnings to ports on the coast, where an ingenious system of flags was hoisted up high for passing ships to read.</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FitzRoy could telegraph warnings to ports on the coast.</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 and 前后是两个独立分句。</a:t>
            </a:r>
          </a:p>
          <a:p>
            <a:pPr algn="l"/>
            <a:r>
              <a:rPr sz="1700" b="0">
                <a:solidFill>
                  <a:srgbClr val="0F172A"/>
                </a:solidFill>
                <a:latin typeface="微软雅黑"/>
                <a:ea typeface="微软雅黑"/>
                <a:cs typeface="微软雅黑"/>
              </a:rPr>
              <a:t>· from London 是地点状语，插在主语之前。</a:t>
            </a:r>
          </a:p>
          <a:p>
            <a:pPr algn="l"/>
            <a:r>
              <a:rPr sz="1700" b="0">
                <a:solidFill>
                  <a:srgbClr val="0F172A"/>
                </a:solidFill>
                <a:latin typeface="微软雅黑"/>
                <a:ea typeface="微软雅黑"/>
                <a:cs typeface="微软雅黑"/>
              </a:rPr>
              <a:t>· where 引导定语从句，修饰 ports——Q8 的答案在这里。</a:t>
            </a:r>
          </a:p>
          <a:p>
            <a:pPr algn="l"/>
            <a:r>
              <a:rPr sz="1700" b="0">
                <a:solidFill>
                  <a:srgbClr val="0F172A"/>
                </a:solidFill>
                <a:latin typeface="微软雅黑"/>
                <a:ea typeface="微软雅黑"/>
                <a:cs typeface="微软雅黑"/>
              </a:rPr>
              <a:t>· 一句话连出两个答案，必须读到句末。</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20" b="0">
                <a:solidFill>
                  <a:srgbClr val="0F172A"/>
                </a:solidFill>
                <a:latin typeface="微软雅黑"/>
                <a:ea typeface="微软雅黑"/>
                <a:cs typeface="微软雅黑"/>
              </a:rPr>
              <a:t>逼近风暴的到来可以被识别出来，FitzRoy 能从伦敦把警报电传到沿海各港口，那里会高高升起一套巧妙的旗语系统供过往船只识读。</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telegraph 电传 ↔ send by telegraph；port 港口</a:t>
            </a:r>
          </a:p>
          <a:p>
            <a:pPr algn="l"/>
            <a:r>
              <a:rPr sz="1850" b="1">
                <a:solidFill>
                  <a:srgbClr val="0F172A"/>
                </a:solidFill>
                <a:latin typeface="微软雅黑"/>
                <a:ea typeface="微软雅黑"/>
                <a:cs typeface="微软雅黑"/>
              </a:rPr>
              <a:t>coast＝shore 海岸；incoming 逼近的</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P4 Q8｜displayed using raised ____</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145</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400" b="1">
                <a:solidFill>
                  <a:srgbClr val="0F172A"/>
                </a:solidFill>
                <a:latin typeface="微软雅黑"/>
                <a:ea typeface="微软雅黑"/>
                <a:cs typeface="微软雅黑"/>
              </a:rPr>
              <a:t>signals for ships were displayed using raised 8 ………………</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raised + 空格 → 名词。</a:t>
            </a:r>
          </a:p>
          <a:p>
            <a:pPr algn="l"/>
            <a:r>
              <a:rPr sz="1900" b="0">
                <a:solidFill>
                  <a:srgbClr val="0F172A"/>
                </a:solidFill>
                <a:latin typeface="微软雅黑"/>
                <a:ea typeface="微软雅黑"/>
                <a:cs typeface="微软雅黑"/>
              </a:rPr>
              <a:t>锚点：signals for ships（给船的信号）。</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P6 S4: ... where an ingenious system of flags was hoisted up high for passing ships to read.</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signals for ships ↔ for passing ships to read。</a:t>
            </a:r>
          </a:p>
          <a:p>
            <a:pPr algn="l"/>
            <a:r>
              <a:rPr sz="1900" b="0">
                <a:solidFill>
                  <a:srgbClr val="0F172A"/>
                </a:solidFill>
                <a:latin typeface="微软雅黑"/>
                <a:ea typeface="微软雅黑"/>
                <a:cs typeface="微软雅黑"/>
              </a:rPr>
              <a:t>raised ↔ was hoisted up high（被高高升起）。</a:t>
            </a:r>
          </a:p>
          <a:p>
            <a:pPr algn="l"/>
            <a:r>
              <a:rPr sz="1900" b="0">
                <a:solidFill>
                  <a:srgbClr val="0F172A"/>
                </a:solidFill>
                <a:latin typeface="微软雅黑"/>
                <a:ea typeface="微软雅黑"/>
                <a:cs typeface="微软雅黑"/>
              </a:rPr>
              <a:t>空格填被升起的东西：flags。</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flags</a:t>
            </a:r>
          </a:p>
          <a:p>
            <a:pPr algn="l"/>
            <a:r>
              <a:rPr sz="2100" b="1">
                <a:solidFill>
                  <a:srgbClr val="0F172A"/>
                </a:solidFill>
                <a:latin typeface="微软雅黑"/>
                <a:ea typeface="微软雅黑"/>
                <a:cs typeface="微软雅黑"/>
              </a:rPr>
              <a:t>ONE WORD ONLY。</a:t>
            </a:r>
          </a:p>
          <a:p>
            <a:pPr algn="l"/>
            <a:r>
              <a:rPr sz="2100" b="1">
                <a:solidFill>
                  <a:srgbClr val="0F172A"/>
                </a:solidFill>
                <a:latin typeface="微软雅黑"/>
                <a:ea typeface="微软雅黑"/>
                <a:cs typeface="微软雅黑"/>
              </a:rPr>
              <a:t>复数 flags。</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P4 Q8｜被动语态 + for sb to do 目的</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146</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50" b="1">
                <a:solidFill>
                  <a:srgbClr val="0F172A"/>
                </a:solidFill>
                <a:latin typeface="微软雅黑"/>
                <a:ea typeface="微软雅黑"/>
                <a:cs typeface="微软雅黑"/>
              </a:rPr>
              <a:t>... where an ingenious system of flags was hoisted up high for passing ships to read.</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A system of flags was hoisted up high.</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 主语是 an ingenious system of flags。</a:t>
            </a:r>
          </a:p>
          <a:p>
            <a:pPr algn="l"/>
            <a:r>
              <a:rPr sz="1700" b="0">
                <a:solidFill>
                  <a:srgbClr val="0F172A"/>
                </a:solidFill>
                <a:latin typeface="微软雅黑"/>
                <a:ea typeface="微软雅黑"/>
                <a:cs typeface="微软雅黑"/>
              </a:rPr>
              <a:t>· was hoisted 是被动：被升起。</a:t>
            </a:r>
          </a:p>
          <a:p>
            <a:pPr algn="l"/>
            <a:r>
              <a:rPr sz="1700" b="0">
                <a:solidFill>
                  <a:srgbClr val="0F172A"/>
                </a:solidFill>
                <a:latin typeface="微软雅黑"/>
                <a:ea typeface="微软雅黑"/>
                <a:cs typeface="微软雅黑"/>
              </a:rPr>
              <a:t>· for passing ships to read 是目的状语（不定式复合结构）。</a:t>
            </a:r>
          </a:p>
          <a:p>
            <a:pPr algn="l"/>
            <a:r>
              <a:rPr sz="1700" b="0">
                <a:solidFill>
                  <a:srgbClr val="0F172A"/>
                </a:solidFill>
                <a:latin typeface="微软雅黑"/>
                <a:ea typeface="微软雅黑"/>
                <a:cs typeface="微软雅黑"/>
              </a:rPr>
              <a:t>· 答案要从 of 短语里取核心名词 flags。</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那里会把一套巧妙的旗语系统高高升起，供过往船只识读。</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hoist 升起 ↔ raise / put up；ingenious 巧妙的 ↔ clever</a:t>
            </a:r>
          </a:p>
          <a:p>
            <a:pPr algn="l"/>
            <a:r>
              <a:rPr sz="1850" b="1">
                <a:solidFill>
                  <a:srgbClr val="0F172A"/>
                </a:solidFill>
                <a:latin typeface="微软雅黑"/>
                <a:ea typeface="微软雅黑"/>
                <a:cs typeface="微软雅黑"/>
              </a:rPr>
              <a:t>passing ships 过往船只；signal 信号</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P4 Q9｜greatest development since the ____</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147</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the storm warning service was the greatest development in sea safety since the 9 ……………… was introduced</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since the + 空格 + was introduced → 名词。</a:t>
            </a:r>
          </a:p>
          <a:p>
            <a:pPr algn="l"/>
            <a:r>
              <a:rPr sz="1900" b="0">
                <a:solidFill>
                  <a:srgbClr val="0F172A"/>
                </a:solidFill>
                <a:latin typeface="微软雅黑"/>
                <a:ea typeface="微软雅黑"/>
                <a:cs typeface="微软雅黑"/>
              </a:rPr>
              <a:t>锚点：sea safety 的上一次重大进步。</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P6 S5: This represented the biggest advance in shipping safety after the introduction of the lifeboat, and in subsequent years the number of lives lost around Britain fell by about a third.</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greatest development ↔ the biggest advance。</a:t>
            </a:r>
          </a:p>
          <a:p>
            <a:pPr algn="l"/>
            <a:r>
              <a:rPr sz="1900" b="0">
                <a:solidFill>
                  <a:srgbClr val="0F172A"/>
                </a:solidFill>
                <a:latin typeface="微软雅黑"/>
                <a:ea typeface="微软雅黑"/>
                <a:cs typeface="微软雅黑"/>
              </a:rPr>
              <a:t>sea safety ↔ shipping safety。</a:t>
            </a:r>
          </a:p>
          <a:p>
            <a:pPr algn="l"/>
            <a:r>
              <a:rPr sz="1900" b="0">
                <a:solidFill>
                  <a:srgbClr val="0F172A"/>
                </a:solidFill>
                <a:latin typeface="微软雅黑"/>
                <a:ea typeface="微软雅黑"/>
                <a:cs typeface="微软雅黑"/>
              </a:rPr>
              <a:t>since ... was introduced ↔ after the introduction of ...，取 lifeboat。</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lifeboat</a:t>
            </a:r>
          </a:p>
          <a:p>
            <a:pPr algn="l"/>
            <a:r>
              <a:rPr sz="2100" b="1">
                <a:solidFill>
                  <a:srgbClr val="0F172A"/>
                </a:solidFill>
                <a:latin typeface="微软雅黑"/>
                <a:ea typeface="微软雅黑"/>
                <a:cs typeface="微软雅黑"/>
              </a:rPr>
              <a:t>ONE WORD ONLY。</a:t>
            </a:r>
          </a:p>
          <a:p>
            <a:pPr algn="l"/>
            <a:r>
              <a:rPr sz="2100" b="1">
                <a:solidFill>
                  <a:srgbClr val="0F172A"/>
                </a:solidFill>
                <a:latin typeface="微软雅黑"/>
                <a:ea typeface="微软雅黑"/>
                <a:cs typeface="微软雅黑"/>
              </a:rPr>
              <a:t>单数 lifeboat。</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P4 Q9｜名词化短语与从句的互换</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148</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This represented the biggest advance in shipping safety after the introduction of the lifeboat, and in subsequent years the number of lives lost around Britain fell by about a third.</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00" b="1">
                <a:solidFill>
                  <a:srgbClr val="0F172A"/>
                </a:solidFill>
                <a:latin typeface="微软雅黑"/>
                <a:ea typeface="微软雅黑"/>
                <a:cs typeface="微软雅黑"/>
              </a:rPr>
              <a:t>This represented the biggest advance in shipping safety after the introduction of the lifeboat.</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800" b="0">
                <a:solidFill>
                  <a:srgbClr val="0F172A"/>
                </a:solidFill>
                <a:latin typeface="微软雅黑"/>
                <a:ea typeface="微软雅黑"/>
                <a:cs typeface="微软雅黑"/>
              </a:rPr>
              <a:t>· This 回指上一句的旗语预警系统。</a:t>
            </a:r>
          </a:p>
          <a:p>
            <a:pPr algn="l"/>
            <a:r>
              <a:rPr sz="1800" b="0">
                <a:solidFill>
                  <a:srgbClr val="0F172A"/>
                </a:solidFill>
                <a:latin typeface="微软雅黑"/>
                <a:ea typeface="微软雅黑"/>
                <a:cs typeface="微软雅黑"/>
              </a:rPr>
              <a:t>· after the introduction of X 是名词化表达。</a:t>
            </a:r>
          </a:p>
          <a:p>
            <a:pPr algn="l"/>
            <a:r>
              <a:rPr sz="1800" b="0">
                <a:solidFill>
                  <a:srgbClr val="0F172A"/>
                </a:solidFill>
                <a:latin typeface="微软雅黑"/>
                <a:ea typeface="微软雅黑"/>
                <a:cs typeface="微软雅黑"/>
              </a:rPr>
              <a:t>· 题目改写成 since X was introduced，是“名词化↔从句”的转换。</a:t>
            </a:r>
          </a:p>
          <a:p>
            <a:pPr algn="l"/>
            <a:r>
              <a:rPr sz="1800" b="0">
                <a:solidFill>
                  <a:srgbClr val="0F172A"/>
                </a:solidFill>
                <a:latin typeface="微软雅黑"/>
                <a:ea typeface="微软雅黑"/>
                <a:cs typeface="微软雅黑"/>
              </a:rPr>
              <a:t>· and 后是补充数据，不是答案。</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这代表了自救生艇问世以来航运安全方面最大的进步；随后几年，英国周边海域的死亡人数下降了约三分之一。</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advance 进步 ↔ development；lifeboat 救生艇</a:t>
            </a:r>
          </a:p>
          <a:p>
            <a:pPr algn="l"/>
            <a:r>
              <a:rPr sz="1850" b="1">
                <a:solidFill>
                  <a:srgbClr val="0F172A"/>
                </a:solidFill>
                <a:latin typeface="微软雅黑"/>
                <a:ea typeface="微软雅黑"/>
                <a:cs typeface="微软雅黑"/>
              </a:rPr>
              <a:t>introduction of X ＝ X was introduced（名词化转换）</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P4 Q10｜safe trips to a favourite ____</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149</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frequently used by the English Queen for safe trips to a favourite 10 ………………</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to a favourite + 空格 → 地点名词。</a:t>
            </a:r>
          </a:p>
          <a:p>
            <a:pPr algn="l"/>
            <a:r>
              <a:rPr sz="1900" b="0">
                <a:solidFill>
                  <a:srgbClr val="0F172A"/>
                </a:solidFill>
                <a:latin typeface="微软雅黑"/>
                <a:ea typeface="微软雅黑"/>
                <a:cs typeface="微软雅黑"/>
              </a:rPr>
              <a:t>锚点：the English Queen。</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P7 S3: It attracted huge attention, including from Queen Victoria, who regularly sent messengers to FitzRoy's office to get a forecast for the sea crossing over the Solent to an island which she liked to visit off the south coast of England.</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English Queen ↔ Queen Victoria。</a:t>
            </a:r>
          </a:p>
          <a:p>
            <a:pPr algn="l"/>
            <a:r>
              <a:rPr sz="1900" b="0">
                <a:solidFill>
                  <a:srgbClr val="0F172A"/>
                </a:solidFill>
                <a:latin typeface="微软雅黑"/>
                <a:ea typeface="微软雅黑"/>
                <a:cs typeface="微软雅黑"/>
              </a:rPr>
              <a:t>safe trips ↔ the sea crossing（渡海）。</a:t>
            </a:r>
          </a:p>
          <a:p>
            <a:pPr algn="l"/>
            <a:r>
              <a:rPr sz="1900" b="0">
                <a:solidFill>
                  <a:srgbClr val="0F172A"/>
                </a:solidFill>
                <a:latin typeface="微软雅黑"/>
                <a:ea typeface="微软雅黑"/>
                <a:cs typeface="微软雅黑"/>
              </a:rPr>
              <a:t>favourite ↔ which she liked to visit，取 island。</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island</a:t>
            </a:r>
          </a:p>
          <a:p>
            <a:pPr algn="l"/>
            <a:r>
              <a:rPr sz="2100" b="1">
                <a:solidFill>
                  <a:srgbClr val="0F172A"/>
                </a:solidFill>
                <a:latin typeface="微软雅黑"/>
                <a:ea typeface="微软雅黑"/>
                <a:cs typeface="微软雅黑"/>
              </a:rPr>
              <a:t>ONE WORD ONLY。</a:t>
            </a:r>
          </a:p>
          <a:p>
            <a:pPr algn="l"/>
            <a:r>
              <a:rPr sz="2100" b="1">
                <a:solidFill>
                  <a:srgbClr val="0F172A"/>
                </a:solidFill>
                <a:latin typeface="微软雅黑"/>
                <a:ea typeface="微软雅黑"/>
                <a:cs typeface="微软雅黑"/>
              </a:rPr>
              <a:t>单数 island。</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P4 Q10｜who + which 两层定语从句</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150</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1">
                <a:solidFill>
                  <a:srgbClr val="0F172A"/>
                </a:solidFill>
                <a:latin typeface="微软雅黑"/>
                <a:ea typeface="微软雅黑"/>
                <a:cs typeface="微软雅黑"/>
              </a:rPr>
              <a:t>It attracted huge attention, including from Queen Victoria, who regularly sent messengers to FitzRoy's office to get a forecast for the sea crossing over the Solent to an island which she liked to visit off the south coast of England.</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Queen Victoria regularly sent messengers to get a forecast for the sea crossing.</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 who 修饰 Queen Victoria，讲她做了什么。</a:t>
            </a:r>
          </a:p>
          <a:p>
            <a:pPr algn="l"/>
            <a:r>
              <a:rPr sz="1700" b="0">
                <a:solidFill>
                  <a:srgbClr val="0F172A"/>
                </a:solidFill>
                <a:latin typeface="微软雅黑"/>
                <a:ea typeface="微软雅黑"/>
                <a:cs typeface="微软雅黑"/>
              </a:rPr>
              <a:t>· to get a forecast 是目的状语。</a:t>
            </a:r>
          </a:p>
          <a:p>
            <a:pPr algn="l"/>
            <a:r>
              <a:rPr sz="1700" b="0">
                <a:solidFill>
                  <a:srgbClr val="0F172A"/>
                </a:solidFill>
                <a:latin typeface="微软雅黑"/>
                <a:ea typeface="微软雅黑"/>
                <a:cs typeface="微软雅黑"/>
              </a:rPr>
              <a:t>· which she liked to visit 修饰 an island——favourite 的来源。</a:t>
            </a:r>
          </a:p>
          <a:p>
            <a:pPr algn="l"/>
            <a:r>
              <a:rPr sz="1700" b="0">
                <a:solidFill>
                  <a:srgbClr val="0F172A"/>
                </a:solidFill>
                <a:latin typeface="微软雅黑"/>
                <a:ea typeface="微软雅黑"/>
                <a:cs typeface="微软雅黑"/>
              </a:rPr>
              <a:t>· off the south coast 是地点补充，别误当答案。</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20" b="0">
                <a:solidFill>
                  <a:srgbClr val="0F172A"/>
                </a:solidFill>
                <a:latin typeface="微软雅黑"/>
                <a:ea typeface="微软雅黑"/>
                <a:cs typeface="微软雅黑"/>
              </a:rPr>
              <a:t>它引起了巨大关注，包括来自维多利亚女王的关注；她经常派信使到 FitzRoy 的办公室，索取穿越索伦特海峡前往英格兰南岸外一座她喜欢造访的岛屿的天气预报。</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messenger 信使；sea crossing 渡海航程</a:t>
            </a:r>
          </a:p>
          <a:p>
            <a:pPr algn="l"/>
            <a:r>
              <a:rPr sz="1850" b="1">
                <a:solidFill>
                  <a:srgbClr val="0F172A"/>
                </a:solidFill>
                <a:latin typeface="微软雅黑"/>
                <a:ea typeface="微软雅黑"/>
                <a:cs typeface="微软雅黑"/>
              </a:rPr>
              <a:t>favourite ↔ which she liked to visit；off the coast 离岸</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2700" b="1">
                <a:solidFill>
                  <a:srgbClr val="FFFFFF"/>
                </a:solidFill>
                <a:latin typeface="微软雅黑"/>
                <a:ea typeface="微软雅黑"/>
                <a:cs typeface="微软雅黑"/>
              </a:rPr>
              <a:t>P4 Q11｜popular with fishermen but not with boat ____</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151</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FitzRoy's forecasts were popular with fishermen but not with boat 11 ………………</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0">
                <a:solidFill>
                  <a:srgbClr val="0F172A"/>
                </a:solidFill>
                <a:latin typeface="微软雅黑"/>
                <a:ea typeface="微软雅黑"/>
                <a:cs typeface="微软雅黑"/>
              </a:rPr>
              <a:t>boat + 空格 → 人的名词。</a:t>
            </a:r>
          </a:p>
          <a:p>
            <a:pPr algn="l"/>
            <a:r>
              <a:rPr sz="1900" b="0">
                <a:solidFill>
                  <a:srgbClr val="0F172A"/>
                </a:solidFill>
                <a:latin typeface="微软雅黑"/>
                <a:ea typeface="微软雅黑"/>
                <a:cs typeface="微软雅黑"/>
              </a:rPr>
              <a:t>题干是对比结构：渔民 vs ？</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P7 S4–S5: He was also popular with ordinary fishermen ... The owners of fishing vessels, however, were not supportive of FitzRoy's forecasts, which often caused delays for them ...</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popular with fishermen 原句复现。</a:t>
            </a:r>
          </a:p>
          <a:p>
            <a:pPr algn="l"/>
            <a:r>
              <a:rPr sz="1900" b="0">
                <a:solidFill>
                  <a:srgbClr val="0F172A"/>
                </a:solidFill>
                <a:latin typeface="微软雅黑"/>
                <a:ea typeface="微软雅黑"/>
                <a:cs typeface="微软雅黑"/>
              </a:rPr>
              <a:t>but not with ↔ however, were not supportive of。</a:t>
            </a:r>
          </a:p>
          <a:p>
            <a:pPr algn="l"/>
            <a:r>
              <a:rPr sz="1900" b="0">
                <a:solidFill>
                  <a:srgbClr val="0F172A"/>
                </a:solidFill>
                <a:latin typeface="微软雅黑"/>
                <a:ea typeface="微软雅黑"/>
                <a:cs typeface="微软雅黑"/>
              </a:rPr>
              <a:t>boat owners ↔ the owners of fishing vessels，取 owners。</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owners</a:t>
            </a:r>
          </a:p>
          <a:p>
            <a:pPr algn="l"/>
            <a:r>
              <a:rPr sz="2100" b="1">
                <a:solidFill>
                  <a:srgbClr val="0F172A"/>
                </a:solidFill>
                <a:latin typeface="微软雅黑"/>
                <a:ea typeface="微软雅黑"/>
                <a:cs typeface="微软雅黑"/>
              </a:rPr>
              <a:t>ONE WORD ONLY。</a:t>
            </a:r>
          </a:p>
          <a:p>
            <a:pPr algn="l"/>
            <a:r>
              <a:rPr sz="2100" b="1">
                <a:solidFill>
                  <a:srgbClr val="0F172A"/>
                </a:solidFill>
                <a:latin typeface="微软雅黑"/>
                <a:ea typeface="微软雅黑"/>
                <a:cs typeface="微软雅黑"/>
              </a:rPr>
              <a:t>复数 owners。</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P4 Q11｜however 插入语造成的对比</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152</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50" b="1">
                <a:solidFill>
                  <a:srgbClr val="0F172A"/>
                </a:solidFill>
                <a:latin typeface="微软雅黑"/>
                <a:ea typeface="微软雅黑"/>
                <a:cs typeface="微软雅黑"/>
              </a:rPr>
              <a:t>The owners of fishing vessels, however, were not supportive of FitzRoy's forecasts, which often caused delays for them when bad weather was forecast.</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The owners of fishing vessels were not supportive of FitzRoy's forecasts.</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500" b="0">
                <a:solidFill>
                  <a:srgbClr val="0F172A"/>
                </a:solidFill>
                <a:latin typeface="微软雅黑"/>
                <a:ea typeface="微软雅黑"/>
                <a:cs typeface="微软雅黑"/>
              </a:rPr>
              <a:t>· however 插在主语与谓语之间，是对比信号。</a:t>
            </a:r>
          </a:p>
          <a:p>
            <a:pPr algn="l"/>
            <a:r>
              <a:rPr sz="1500" b="0">
                <a:solidFill>
                  <a:srgbClr val="0F172A"/>
                </a:solidFill>
                <a:latin typeface="微软雅黑"/>
                <a:ea typeface="微软雅黑"/>
                <a:cs typeface="微软雅黑"/>
              </a:rPr>
              <a:t>· 主语 The owners of fishing vessels 与上句 fishermen 是两拨人。</a:t>
            </a:r>
          </a:p>
          <a:p>
            <a:pPr algn="l"/>
            <a:r>
              <a:rPr sz="1500" b="0">
                <a:solidFill>
                  <a:srgbClr val="0F172A"/>
                </a:solidFill>
                <a:latin typeface="微软雅黑"/>
                <a:ea typeface="微软雅黑"/>
                <a:cs typeface="微软雅黑"/>
              </a:rPr>
              <a:t>· which 指代 forecasts，说明不支持的原因。</a:t>
            </a:r>
          </a:p>
          <a:p>
            <a:pPr algn="l"/>
            <a:r>
              <a:rPr sz="1500" b="0">
                <a:solidFill>
                  <a:srgbClr val="0F172A"/>
                </a:solidFill>
                <a:latin typeface="微软雅黑"/>
                <a:ea typeface="微软雅黑"/>
                <a:cs typeface="微软雅黑"/>
              </a:rPr>
              <a:t>· when bad weather was forecast 是时间状语。</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然而渔船船主并不支持 FitzRoy 的预报，因为预报到坏天气时常常给他们造成延误。</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vessel 船 ↔ boat / ship；owner 船主</a:t>
            </a:r>
          </a:p>
          <a:p>
            <a:pPr algn="l"/>
            <a:r>
              <a:rPr sz="1850" b="1">
                <a:solidFill>
                  <a:srgbClr val="0F172A"/>
                </a:solidFill>
                <a:latin typeface="微软雅黑"/>
                <a:ea typeface="微软雅黑"/>
                <a:cs typeface="微软雅黑"/>
              </a:rPr>
              <a:t>be supportive of 支持 ↔ support；delay 延误</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P4 Q12｜FitzRoy's ____ is used for a marine area</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153</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400" b="1">
                <a:solidFill>
                  <a:srgbClr val="0F172A"/>
                </a:solidFill>
                <a:latin typeface="微软雅黑"/>
                <a:ea typeface="微软雅黑"/>
                <a:cs typeface="微软雅黑"/>
              </a:rPr>
              <a:t>in modern times FitzRoy's 12 ……………… is used for a marine area</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FitzRoy's + 空格 → 名词。</a:t>
            </a:r>
          </a:p>
          <a:p>
            <a:pPr algn="l"/>
            <a:r>
              <a:rPr sz="1900" b="0">
                <a:solidFill>
                  <a:srgbClr val="0F172A"/>
                </a:solidFill>
                <a:latin typeface="微软雅黑"/>
                <a:ea typeface="微软雅黑"/>
                <a:cs typeface="微软雅黑"/>
              </a:rPr>
              <a:t>锚点：marine area（海域）。</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P8 S1: ... it is only in recent years that he has been recognised as a towering figure in meteorology, with the honour of an area of sea being given his name in the shipping forecast ...</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in modern times ↔ in recent years。</a:t>
            </a:r>
          </a:p>
          <a:p>
            <a:pPr algn="l"/>
            <a:r>
              <a:rPr sz="1900" b="0">
                <a:solidFill>
                  <a:srgbClr val="0F172A"/>
                </a:solidFill>
                <a:latin typeface="微软雅黑"/>
                <a:ea typeface="微软雅黑"/>
                <a:cs typeface="微软雅黑"/>
              </a:rPr>
              <a:t>marine area ↔ an area of sea。</a:t>
            </a:r>
          </a:p>
          <a:p>
            <a:pPr algn="l"/>
            <a:r>
              <a:rPr sz="1900" b="0">
                <a:solidFill>
                  <a:srgbClr val="0F172A"/>
                </a:solidFill>
                <a:latin typeface="微软雅黑"/>
                <a:ea typeface="微软雅黑"/>
                <a:cs typeface="微软雅黑"/>
              </a:rPr>
              <a:t>being given his name ＝ 用他的名字命名，空格填 name。</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name</a:t>
            </a:r>
          </a:p>
          <a:p>
            <a:pPr algn="l"/>
            <a:r>
              <a:rPr sz="2100" b="1">
                <a:solidFill>
                  <a:srgbClr val="0F172A"/>
                </a:solidFill>
                <a:latin typeface="微软雅黑"/>
                <a:ea typeface="微软雅黑"/>
                <a:cs typeface="微软雅黑"/>
              </a:rPr>
              <a:t>ONE WORD ONLY。</a:t>
            </a:r>
          </a:p>
          <a:p>
            <a:pPr algn="l"/>
            <a:r>
              <a:rPr sz="2100" b="1">
                <a:solidFill>
                  <a:srgbClr val="0F172A"/>
                </a:solidFill>
                <a:latin typeface="微软雅黑"/>
                <a:ea typeface="微软雅黑"/>
                <a:cs typeface="微软雅黑"/>
              </a:rPr>
              <a:t>单数 name。</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P4 Q12｜It is only ... that ... 强调句</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154</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1">
                <a:solidFill>
                  <a:srgbClr val="0F172A"/>
                </a:solidFill>
                <a:latin typeface="微软雅黑"/>
                <a:ea typeface="微软雅黑"/>
                <a:cs typeface="微软雅黑"/>
              </a:rPr>
              <a:t>It is indisputable that FitzRoy was way ahead of his time, but it is only in recent years that he has been recognised as a towering figure in meteorology, with the honour of an area of sea being given his name in the shipping forecast.</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It is only in recent years that he has been recognised as a towering figure.</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400" b="0">
                <a:solidFill>
                  <a:srgbClr val="0F172A"/>
                </a:solidFill>
                <a:latin typeface="微软雅黑"/>
                <a:ea typeface="微软雅黑"/>
                <a:cs typeface="微软雅黑"/>
              </a:rPr>
              <a:t>· 前半句 It is indisputable that ... 是形式主语句。</a:t>
            </a:r>
          </a:p>
          <a:p>
            <a:pPr algn="l"/>
            <a:r>
              <a:rPr sz="1400" b="0">
                <a:solidFill>
                  <a:srgbClr val="0F172A"/>
                </a:solidFill>
                <a:latin typeface="微软雅黑"/>
                <a:ea typeface="微软雅黑"/>
                <a:cs typeface="微软雅黑"/>
              </a:rPr>
              <a:t>· 后半句 it is only ... that ... 是强调句，强调时间。</a:t>
            </a:r>
          </a:p>
          <a:p>
            <a:pPr algn="l"/>
            <a:r>
              <a:rPr sz="1400" b="0">
                <a:solidFill>
                  <a:srgbClr val="0F172A"/>
                </a:solidFill>
                <a:latin typeface="微软雅黑"/>
                <a:ea typeface="微软雅黑"/>
                <a:cs typeface="微软雅黑"/>
              </a:rPr>
              <a:t>· 去掉 It is / that 后主干仍成立：he has been recognised only in recent years。</a:t>
            </a:r>
          </a:p>
          <a:p>
            <a:pPr algn="l"/>
            <a:r>
              <a:rPr sz="1400" b="0">
                <a:solidFill>
                  <a:srgbClr val="0F172A"/>
                </a:solidFill>
                <a:latin typeface="微软雅黑"/>
                <a:ea typeface="微软雅黑"/>
                <a:cs typeface="微软雅黑"/>
              </a:rPr>
              <a:t>· with ... being given his name 是独立主格，补充荣誉细节。</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20" b="0">
                <a:solidFill>
                  <a:srgbClr val="0F172A"/>
                </a:solidFill>
                <a:latin typeface="微软雅黑"/>
                <a:ea typeface="微软雅黑"/>
                <a:cs typeface="微软雅黑"/>
              </a:rPr>
              <a:t>毫无疑问，FitzRoy 远远走在时代前面，但直到近些年他才被公认为气象学中的杰出人物，并获得了航运预报中以他的名字命名一片海域的殊荣。</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indisputable 无可争辩的；towering figure 杰出人物</a:t>
            </a:r>
          </a:p>
          <a:p>
            <a:pPr algn="l"/>
            <a:r>
              <a:rPr sz="1850" b="1">
                <a:solidFill>
                  <a:srgbClr val="0F172A"/>
                </a:solidFill>
                <a:latin typeface="微软雅黑"/>
                <a:ea typeface="微软雅黑"/>
                <a:cs typeface="微软雅黑"/>
              </a:rPr>
              <a:t>way ahead of his time 远超时代；marine ＝ of the sea</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逐题标准精讲</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P4 Q13｜produced a ____ respected by scientists</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155</a:t>
            </a:r>
          </a:p>
        </p:txBody>
      </p:sp>
      <p:sp>
        <p:nvSpPr>
          <p:cNvPr id="8" name="Rectangle 7"/>
          <p:cNvSpPr/>
          <p:nvPr/>
        </p:nvSpPr>
        <p:spPr>
          <a:xfrm>
            <a:off x="658368" y="1298448"/>
            <a:ext cx="10881360" cy="93268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400" b="1">
                <a:solidFill>
                  <a:srgbClr val="0F172A"/>
                </a:solidFill>
                <a:latin typeface="微软雅黑"/>
                <a:ea typeface="微软雅黑"/>
                <a:cs typeface="微软雅黑"/>
              </a:rPr>
              <a:t>FitzRoy produced a 13 ……………… which was respected by the scientific community</a:t>
            </a:r>
          </a:p>
        </p:txBody>
      </p:sp>
      <p:sp>
        <p:nvSpPr>
          <p:cNvPr id="9" name="Rectangle 8"/>
          <p:cNvSpPr/>
          <p:nvPr/>
        </p:nvSpPr>
        <p:spPr>
          <a:xfrm>
            <a:off x="713232"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① 入口</a:t>
            </a:r>
          </a:p>
        </p:txBody>
      </p:sp>
      <p:sp>
        <p:nvSpPr>
          <p:cNvPr id="10" name="Rectangle 9"/>
          <p:cNvSpPr/>
          <p:nvPr/>
        </p:nvSpPr>
        <p:spPr>
          <a:xfrm>
            <a:off x="713232" y="2798064"/>
            <a:ext cx="3246120" cy="1389888"/>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produced a + 空格 → 单数可数名词。</a:t>
            </a:r>
          </a:p>
          <a:p>
            <a:pPr algn="l"/>
            <a:r>
              <a:rPr sz="1900" b="0">
                <a:solidFill>
                  <a:srgbClr val="0F172A"/>
                </a:solidFill>
                <a:latin typeface="微软雅黑"/>
                <a:ea typeface="微软雅黑"/>
                <a:cs typeface="微软雅黑"/>
              </a:rPr>
              <a:t>锚点：respected by scientists。</a:t>
            </a:r>
          </a:p>
        </p:txBody>
      </p:sp>
      <p:sp>
        <p:nvSpPr>
          <p:cNvPr id="11" name="Rectangle 10"/>
          <p:cNvSpPr/>
          <p:nvPr/>
        </p:nvSpPr>
        <p:spPr>
          <a:xfrm>
            <a:off x="4297680" y="2487168"/>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② 原文证据</a:t>
            </a:r>
          </a:p>
        </p:txBody>
      </p:sp>
      <p:sp>
        <p:nvSpPr>
          <p:cNvPr id="12" name="Rectangle 11"/>
          <p:cNvSpPr/>
          <p:nvPr/>
        </p:nvSpPr>
        <p:spPr>
          <a:xfrm>
            <a:off x="4297680" y="2798064"/>
            <a:ext cx="7178040" cy="138988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P8 S3: But his legacy lives on, because late in his life he published a book about weather forecasting which was recognised by other scientists to be well ahead of its time.</a:t>
            </a:r>
          </a:p>
        </p:txBody>
      </p:sp>
      <p:sp>
        <p:nvSpPr>
          <p:cNvPr id="13" name="Rectangle 12"/>
          <p:cNvSpPr/>
          <p:nvPr/>
        </p:nvSpPr>
        <p:spPr>
          <a:xfrm>
            <a:off x="713232" y="4443984"/>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③ 同义替换 / 判断逻辑</a:t>
            </a:r>
          </a:p>
        </p:txBody>
      </p:sp>
      <p:sp>
        <p:nvSpPr>
          <p:cNvPr id="14" name="Rectangle 13"/>
          <p:cNvSpPr/>
          <p:nvPr/>
        </p:nvSpPr>
        <p:spPr>
          <a:xfrm>
            <a:off x="713232" y="4754880"/>
            <a:ext cx="6675120" cy="14813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900" b="0">
                <a:solidFill>
                  <a:srgbClr val="0F172A"/>
                </a:solidFill>
                <a:latin typeface="微软雅黑"/>
                <a:ea typeface="微软雅黑"/>
                <a:cs typeface="微软雅黑"/>
              </a:rPr>
              <a:t>produced ↔ published。</a:t>
            </a:r>
          </a:p>
          <a:p>
            <a:pPr algn="l"/>
            <a:r>
              <a:rPr sz="1900" b="0">
                <a:solidFill>
                  <a:srgbClr val="0F172A"/>
                </a:solidFill>
                <a:latin typeface="微软雅黑"/>
                <a:ea typeface="微软雅黑"/>
                <a:cs typeface="微软雅黑"/>
              </a:rPr>
              <a:t>the scientific community ↔ other scientists。</a:t>
            </a:r>
          </a:p>
          <a:p>
            <a:pPr algn="l"/>
            <a:r>
              <a:rPr sz="1900" b="0">
                <a:solidFill>
                  <a:srgbClr val="0F172A"/>
                </a:solidFill>
                <a:latin typeface="微软雅黑"/>
                <a:ea typeface="微软雅黑"/>
                <a:cs typeface="微软雅黑"/>
              </a:rPr>
              <a:t>respected ↔ recognised ... to be well ahead of its time，取 book。</a:t>
            </a:r>
          </a:p>
        </p:txBody>
      </p:sp>
      <p:sp>
        <p:nvSpPr>
          <p:cNvPr id="15" name="Rectangle 14"/>
          <p:cNvSpPr/>
          <p:nvPr/>
        </p:nvSpPr>
        <p:spPr>
          <a:xfrm>
            <a:off x="7726679" y="4443984"/>
            <a:ext cx="21945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④ 答案</a:t>
            </a:r>
          </a:p>
        </p:txBody>
      </p:sp>
      <p:sp>
        <p:nvSpPr>
          <p:cNvPr id="16" name="Rectangle 15"/>
          <p:cNvSpPr/>
          <p:nvPr/>
        </p:nvSpPr>
        <p:spPr>
          <a:xfrm>
            <a:off x="7726679" y="4754880"/>
            <a:ext cx="3749039" cy="1481328"/>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100" b="1">
                <a:solidFill>
                  <a:srgbClr val="0F172A"/>
                </a:solidFill>
                <a:latin typeface="微软雅黑"/>
                <a:ea typeface="微软雅黑"/>
                <a:cs typeface="微软雅黑"/>
              </a:rPr>
              <a:t>Answer: book</a:t>
            </a:r>
          </a:p>
          <a:p>
            <a:pPr algn="l"/>
            <a:r>
              <a:rPr sz="2100" b="1">
                <a:solidFill>
                  <a:srgbClr val="0F172A"/>
                </a:solidFill>
                <a:latin typeface="微软雅黑"/>
                <a:ea typeface="微软雅黑"/>
                <a:cs typeface="微软雅黑"/>
              </a:rPr>
              <a:t>ONE WORD ONLY。</a:t>
            </a:r>
          </a:p>
          <a:p>
            <a:pPr algn="l"/>
            <a:r>
              <a:rPr sz="2100" b="1">
                <a:solidFill>
                  <a:srgbClr val="0F172A"/>
                </a:solidFill>
                <a:latin typeface="微软雅黑"/>
                <a:ea typeface="微软雅黑"/>
                <a:cs typeface="微软雅黑"/>
              </a:rPr>
              <a:t>单数 book。</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长难句拆解 + 随题词汇</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P4 Q13｜because 从句 + which 定语从句</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Passage 4 · The Origins of Weather Forecasting</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156</a:t>
            </a:r>
          </a:p>
        </p:txBody>
      </p:sp>
      <p:sp>
        <p:nvSpPr>
          <p:cNvPr id="8" name="Rectangle 7"/>
          <p:cNvSpPr/>
          <p:nvPr/>
        </p:nvSpPr>
        <p:spPr>
          <a:xfrm>
            <a:off x="658368" y="1298448"/>
            <a:ext cx="10881360" cy="1207008"/>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2050" b="1">
                <a:solidFill>
                  <a:srgbClr val="0F172A"/>
                </a:solidFill>
                <a:latin typeface="微软雅黑"/>
                <a:ea typeface="微软雅黑"/>
                <a:cs typeface="微软雅黑"/>
              </a:rPr>
              <a:t>But his legacy lives on, because late in his life he published a book about weather forecasting which was recognised by other scientists to be well ahead of its time.</a:t>
            </a:r>
          </a:p>
        </p:txBody>
      </p:sp>
      <p:sp>
        <p:nvSpPr>
          <p:cNvPr id="9" name="Rectangle 8"/>
          <p:cNvSpPr/>
          <p:nvPr/>
        </p:nvSpPr>
        <p:spPr>
          <a:xfrm>
            <a:off x="713232"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CA5A5"/>
                </a:solidFill>
                <a:latin typeface="微软雅黑"/>
                <a:ea typeface="微软雅黑"/>
                <a:cs typeface="微软雅黑"/>
              </a:rPr>
              <a:t>核心主干</a:t>
            </a:r>
          </a:p>
        </p:txBody>
      </p:sp>
      <p:sp>
        <p:nvSpPr>
          <p:cNvPr id="10" name="Rectangle 9"/>
          <p:cNvSpPr/>
          <p:nvPr/>
        </p:nvSpPr>
        <p:spPr>
          <a:xfrm>
            <a:off x="713232" y="2980944"/>
            <a:ext cx="2962656" cy="1938528"/>
          </a:xfrm>
          <a:prstGeom prst="rect">
            <a:avLst/>
          </a:prstGeom>
          <a:solidFill>
            <a:srgbClr val="FEE2E2"/>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000" b="1">
                <a:solidFill>
                  <a:srgbClr val="0F172A"/>
                </a:solidFill>
                <a:latin typeface="微软雅黑"/>
                <a:ea typeface="微软雅黑"/>
                <a:cs typeface="微软雅黑"/>
              </a:rPr>
              <a:t>He published a book about weather forecasting.</a:t>
            </a:r>
          </a:p>
        </p:txBody>
      </p:sp>
      <p:sp>
        <p:nvSpPr>
          <p:cNvPr id="11" name="Rectangle 10"/>
          <p:cNvSpPr/>
          <p:nvPr/>
        </p:nvSpPr>
        <p:spPr>
          <a:xfrm>
            <a:off x="3950208"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层层拆解</a:t>
            </a:r>
          </a:p>
        </p:txBody>
      </p:sp>
      <p:sp>
        <p:nvSpPr>
          <p:cNvPr id="12" name="Rectangle 11"/>
          <p:cNvSpPr/>
          <p:nvPr/>
        </p:nvSpPr>
        <p:spPr>
          <a:xfrm>
            <a:off x="3950208" y="2980944"/>
            <a:ext cx="4041648" cy="1938528"/>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sz="1700" b="0">
                <a:solidFill>
                  <a:srgbClr val="0F172A"/>
                </a:solidFill>
                <a:latin typeface="微软雅黑"/>
                <a:ea typeface="微软雅黑"/>
                <a:cs typeface="微软雅黑"/>
              </a:rPr>
              <a:t>· 主句 his legacy lives on 是评价，不是答案。</a:t>
            </a:r>
          </a:p>
          <a:p>
            <a:pPr algn="l"/>
            <a:r>
              <a:rPr sz="1700" b="0">
                <a:solidFill>
                  <a:srgbClr val="0F172A"/>
                </a:solidFill>
                <a:latin typeface="微软雅黑"/>
                <a:ea typeface="微软雅黑"/>
                <a:cs typeface="微软雅黑"/>
              </a:rPr>
              <a:t>· because 从句里才有具体事实。</a:t>
            </a:r>
          </a:p>
          <a:p>
            <a:pPr algn="l"/>
            <a:r>
              <a:rPr sz="1700" b="0">
                <a:solidFill>
                  <a:srgbClr val="0F172A"/>
                </a:solidFill>
                <a:latin typeface="微软雅黑"/>
                <a:ea typeface="微软雅黑"/>
                <a:cs typeface="微软雅黑"/>
              </a:rPr>
              <a:t>· late in his life 是时间状语，插在从句主语前。</a:t>
            </a:r>
          </a:p>
          <a:p>
            <a:pPr algn="l"/>
            <a:r>
              <a:rPr sz="1700" b="0">
                <a:solidFill>
                  <a:srgbClr val="0F172A"/>
                </a:solidFill>
                <a:latin typeface="微软雅黑"/>
                <a:ea typeface="微软雅黑"/>
                <a:cs typeface="微软雅黑"/>
              </a:rPr>
              <a:t>· which ... 定语从句修饰 book，对应题干的 respected。</a:t>
            </a:r>
          </a:p>
        </p:txBody>
      </p:sp>
      <p:sp>
        <p:nvSpPr>
          <p:cNvPr id="13" name="Rectangle 12"/>
          <p:cNvSpPr/>
          <p:nvPr/>
        </p:nvSpPr>
        <p:spPr>
          <a:xfrm>
            <a:off x="8266175" y="2670048"/>
            <a:ext cx="1828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课堂表达</a:t>
            </a:r>
          </a:p>
        </p:txBody>
      </p:sp>
      <p:sp>
        <p:nvSpPr>
          <p:cNvPr id="14" name="Rectangle 13"/>
          <p:cNvSpPr/>
          <p:nvPr/>
        </p:nvSpPr>
        <p:spPr>
          <a:xfrm>
            <a:off x="8266175" y="2980944"/>
            <a:ext cx="3209544" cy="1938528"/>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20" b="0">
                <a:solidFill>
                  <a:srgbClr val="0F172A"/>
                </a:solidFill>
                <a:latin typeface="微软雅黑"/>
                <a:ea typeface="微软雅黑"/>
                <a:cs typeface="微软雅黑"/>
              </a:rPr>
              <a:t>但他的遗产延续了下来，因为在晚年他出版了一本关于天气预报的书，被其他科学家认为远远超前于时代。</a:t>
            </a:r>
          </a:p>
        </p:txBody>
      </p:sp>
      <p:sp>
        <p:nvSpPr>
          <p:cNvPr id="15" name="Rectangle 14"/>
          <p:cNvSpPr/>
          <p:nvPr/>
        </p:nvSpPr>
        <p:spPr>
          <a:xfrm>
            <a:off x="713232" y="5074920"/>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FDE68A"/>
                </a:solidFill>
                <a:latin typeface="微软雅黑"/>
                <a:ea typeface="微软雅黑"/>
                <a:cs typeface="微软雅黑"/>
              </a:rPr>
              <a:t>随题词汇 / 同义替换</a:t>
            </a:r>
          </a:p>
        </p:txBody>
      </p:sp>
      <p:sp>
        <p:nvSpPr>
          <p:cNvPr id="16" name="Rectangle 15"/>
          <p:cNvSpPr/>
          <p:nvPr/>
        </p:nvSpPr>
        <p:spPr>
          <a:xfrm>
            <a:off x="713232" y="5385816"/>
            <a:ext cx="10762488" cy="914400"/>
          </a:xfrm>
          <a:prstGeom prst="rect">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50" b="1">
                <a:solidFill>
                  <a:srgbClr val="0F172A"/>
                </a:solidFill>
                <a:latin typeface="微软雅黑"/>
                <a:ea typeface="微软雅黑"/>
                <a:cs typeface="微软雅黑"/>
              </a:rPr>
              <a:t>legacy 遗产 ↔ what he left behind；publish 出版 ↔ produce</a:t>
            </a:r>
          </a:p>
          <a:p>
            <a:pPr algn="l"/>
            <a:r>
              <a:rPr sz="1850" b="1">
                <a:solidFill>
                  <a:srgbClr val="0F172A"/>
                </a:solidFill>
                <a:latin typeface="微软雅黑"/>
                <a:ea typeface="微软雅黑"/>
                <a:cs typeface="微软雅黑"/>
              </a:rPr>
              <a:t>be recognised by 被……认可 ↔ be respected by</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小结</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Passage 4 小结：判断题看评价词，填空题看名词化</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157</a:t>
            </a:r>
          </a:p>
        </p:txBody>
      </p:sp>
      <p:sp>
        <p:nvSpPr>
          <p:cNvPr id="8" name="Rectangle 7"/>
          <p:cNvSpPr/>
          <p:nvPr/>
        </p:nvSpPr>
        <p:spPr>
          <a:xfrm>
            <a:off x="658368"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判断题</a:t>
            </a:r>
          </a:p>
        </p:txBody>
      </p:sp>
      <p:sp>
        <p:nvSpPr>
          <p:cNvPr id="9" name="Rectangle 8"/>
          <p:cNvSpPr/>
          <p:nvPr/>
        </p:nvSpPr>
        <p:spPr>
          <a:xfrm>
            <a:off x="658368" y="1828800"/>
            <a:ext cx="3429000" cy="3611880"/>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respected 被否定</a:t>
            </a:r>
          </a:p>
          <a:p>
            <a:pPr algn="l"/>
            <a:r>
              <a:rPr sz="2200" b="1">
                <a:solidFill>
                  <a:srgbClr val="0F172A"/>
                </a:solidFill>
                <a:latin typeface="微软雅黑"/>
                <a:ea typeface="微软雅黑"/>
                <a:cs typeface="微软雅黑"/>
              </a:rPr>
              <a:t>· supported 被否定</a:t>
            </a:r>
          </a:p>
          <a:p>
            <a:pPr algn="l"/>
            <a:r>
              <a:rPr sz="2200" b="1">
                <a:solidFill>
                  <a:srgbClr val="0F172A"/>
                </a:solidFill>
                <a:latin typeface="微软雅黑"/>
                <a:ea typeface="微软雅黑"/>
                <a:cs typeface="微软雅黑"/>
              </a:rPr>
              <a:t>· competition 未提</a:t>
            </a:r>
          </a:p>
        </p:txBody>
      </p:sp>
      <p:sp>
        <p:nvSpPr>
          <p:cNvPr id="10" name="Rectangle 9"/>
          <p:cNvSpPr/>
          <p:nvPr/>
        </p:nvSpPr>
        <p:spPr>
          <a:xfrm>
            <a:off x="4334256"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填空定位</a:t>
            </a:r>
          </a:p>
        </p:txBody>
      </p:sp>
      <p:sp>
        <p:nvSpPr>
          <p:cNvPr id="11" name="Rectangle 10"/>
          <p:cNvSpPr/>
          <p:nvPr/>
        </p:nvSpPr>
        <p:spPr>
          <a:xfrm>
            <a:off x="4334256" y="1828800"/>
            <a:ext cx="3429000" cy="3611880"/>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P6 集中 6–9</a:t>
            </a:r>
          </a:p>
          <a:p>
            <a:pPr algn="l"/>
            <a:r>
              <a:rPr sz="2200" b="1">
                <a:solidFill>
                  <a:srgbClr val="0F172A"/>
                </a:solidFill>
                <a:latin typeface="微软雅黑"/>
                <a:ea typeface="微软雅黑"/>
                <a:cs typeface="微软雅黑"/>
              </a:rPr>
              <a:t>· P7 出 10–11</a:t>
            </a:r>
          </a:p>
          <a:p>
            <a:pPr algn="l"/>
            <a:r>
              <a:rPr sz="2200" b="1">
                <a:solidFill>
                  <a:srgbClr val="0F172A"/>
                </a:solidFill>
                <a:latin typeface="微软雅黑"/>
                <a:ea typeface="微软雅黑"/>
                <a:cs typeface="微软雅黑"/>
              </a:rPr>
              <a:t>· P8 出 12–13</a:t>
            </a:r>
          </a:p>
        </p:txBody>
      </p:sp>
      <p:sp>
        <p:nvSpPr>
          <p:cNvPr id="12" name="Rectangle 11"/>
          <p:cNvSpPr/>
          <p:nvPr/>
        </p:nvSpPr>
        <p:spPr>
          <a:xfrm>
            <a:off x="8010144"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形式检查</a:t>
            </a:r>
          </a:p>
        </p:txBody>
      </p:sp>
      <p:sp>
        <p:nvSpPr>
          <p:cNvPr id="13" name="Rectangle 12"/>
          <p:cNvSpPr/>
          <p:nvPr/>
        </p:nvSpPr>
        <p:spPr>
          <a:xfrm>
            <a:off x="8010144" y="1828800"/>
            <a:ext cx="3429000" cy="3611880"/>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ONE WORD ONLY</a:t>
            </a:r>
          </a:p>
          <a:p>
            <a:pPr algn="l"/>
            <a:r>
              <a:rPr sz="2200" b="1">
                <a:solidFill>
                  <a:srgbClr val="0F172A"/>
                </a:solidFill>
                <a:latin typeface="微软雅黑"/>
                <a:ea typeface="微软雅黑"/>
                <a:cs typeface="微软雅黑"/>
              </a:rPr>
              <a:t>· 单复数</a:t>
            </a:r>
          </a:p>
          <a:p>
            <a:pPr algn="l"/>
            <a:r>
              <a:rPr sz="2200" b="1">
                <a:solidFill>
                  <a:srgbClr val="0F172A"/>
                </a:solidFill>
                <a:latin typeface="微软雅黑"/>
                <a:ea typeface="微软雅黑"/>
                <a:cs typeface="微软雅黑"/>
              </a:rPr>
              <a:t>· 原文拼写</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FINAL METHOD</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本节课最终方法：题型会变，动作不变</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158</a:t>
            </a:r>
          </a:p>
        </p:txBody>
      </p:sp>
      <p:sp>
        <p:nvSpPr>
          <p:cNvPr id="8" name="Rectangle 7"/>
          <p:cNvSpPr/>
          <p:nvPr/>
        </p:nvSpPr>
        <p:spPr>
          <a:xfrm>
            <a:off x="658368"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微软雅黑"/>
                <a:ea typeface="微软雅黑"/>
                <a:cs typeface="微软雅黑"/>
              </a:rPr>
              <a:t>读题</a:t>
            </a:r>
          </a:p>
        </p:txBody>
      </p:sp>
      <p:sp>
        <p:nvSpPr>
          <p:cNvPr id="9" name="Rectangle 8"/>
          <p:cNvSpPr/>
          <p:nvPr/>
        </p:nvSpPr>
        <p:spPr>
          <a:xfrm>
            <a:off x="658368" y="1828800"/>
            <a:ext cx="3429000" cy="3611880"/>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先划限定词</a:t>
            </a:r>
          </a:p>
          <a:p>
            <a:pPr algn="l"/>
            <a:r>
              <a:rPr sz="2200" b="1">
                <a:solidFill>
                  <a:srgbClr val="0F172A"/>
                </a:solidFill>
                <a:latin typeface="微软雅黑"/>
                <a:ea typeface="微软雅黑"/>
                <a:cs typeface="微软雅黑"/>
              </a:rPr>
              <a:t>· 先定词性 / 词数</a:t>
            </a:r>
          </a:p>
          <a:p>
            <a:pPr algn="l"/>
            <a:r>
              <a:rPr sz="2200" b="1">
                <a:solidFill>
                  <a:srgbClr val="0F172A"/>
                </a:solidFill>
                <a:latin typeface="微软雅黑"/>
                <a:ea typeface="微软雅黑"/>
                <a:cs typeface="微软雅黑"/>
              </a:rPr>
              <a:t>· 先看选项差异</a:t>
            </a:r>
          </a:p>
        </p:txBody>
      </p:sp>
      <p:sp>
        <p:nvSpPr>
          <p:cNvPr id="10" name="Rectangle 9"/>
          <p:cNvSpPr/>
          <p:nvPr/>
        </p:nvSpPr>
        <p:spPr>
          <a:xfrm>
            <a:off x="4334256"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C4B5FD"/>
                </a:solidFill>
                <a:latin typeface="微软雅黑"/>
                <a:ea typeface="微软雅黑"/>
                <a:cs typeface="微软雅黑"/>
              </a:rPr>
              <a:t>定位</a:t>
            </a:r>
          </a:p>
        </p:txBody>
      </p:sp>
      <p:sp>
        <p:nvSpPr>
          <p:cNvPr id="11" name="Rectangle 10"/>
          <p:cNvSpPr/>
          <p:nvPr/>
        </p:nvSpPr>
        <p:spPr>
          <a:xfrm>
            <a:off x="4334256" y="1828800"/>
            <a:ext cx="3429000" cy="3611880"/>
          </a:xfrm>
          <a:prstGeom prst="rect">
            <a:avLst/>
          </a:prstGeom>
          <a:solidFill>
            <a:srgbClr val="F3E8FF"/>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写 P/S</a:t>
            </a:r>
          </a:p>
          <a:p>
            <a:pPr algn="l"/>
            <a:r>
              <a:rPr sz="2200" b="1">
                <a:solidFill>
                  <a:srgbClr val="0F172A"/>
                </a:solidFill>
                <a:latin typeface="微软雅黑"/>
                <a:ea typeface="微软雅黑"/>
                <a:cs typeface="微软雅黑"/>
              </a:rPr>
              <a:t>· 一题一句</a:t>
            </a:r>
          </a:p>
          <a:p>
            <a:pPr algn="l"/>
            <a:r>
              <a:rPr sz="2200" b="1">
                <a:solidFill>
                  <a:srgbClr val="0F172A"/>
                </a:solidFill>
                <a:latin typeface="微软雅黑"/>
                <a:ea typeface="微软雅黑"/>
                <a:cs typeface="微软雅黑"/>
              </a:rPr>
              <a:t>· 跨段连读</a:t>
            </a:r>
          </a:p>
        </p:txBody>
      </p:sp>
      <p:sp>
        <p:nvSpPr>
          <p:cNvPr id="12" name="Rectangle 11"/>
          <p:cNvSpPr/>
          <p:nvPr/>
        </p:nvSpPr>
        <p:spPr>
          <a:xfrm>
            <a:off x="8010144" y="1481328"/>
            <a:ext cx="31089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86EFAC"/>
                </a:solidFill>
                <a:latin typeface="微软雅黑"/>
                <a:ea typeface="微软雅黑"/>
                <a:cs typeface="微软雅黑"/>
              </a:rPr>
              <a:t>核对</a:t>
            </a:r>
          </a:p>
        </p:txBody>
      </p:sp>
      <p:sp>
        <p:nvSpPr>
          <p:cNvPr id="13" name="Rectangle 12"/>
          <p:cNvSpPr/>
          <p:nvPr/>
        </p:nvSpPr>
        <p:spPr>
          <a:xfrm>
            <a:off x="8010144" y="1828800"/>
            <a:ext cx="3429000" cy="3611880"/>
          </a:xfrm>
          <a:prstGeom prst="rect">
            <a:avLst/>
          </a:prstGeom>
          <a:solidFill>
            <a:srgbClr val="DCFCE7"/>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 比较方向</a:t>
            </a:r>
          </a:p>
          <a:p>
            <a:pPr algn="l"/>
            <a:r>
              <a:rPr sz="2200" b="1">
                <a:solidFill>
                  <a:srgbClr val="0F172A"/>
                </a:solidFill>
                <a:latin typeface="微软雅黑"/>
                <a:ea typeface="微软雅黑"/>
                <a:cs typeface="微软雅黑"/>
              </a:rPr>
              <a:t>· 范围程度</a:t>
            </a:r>
          </a:p>
          <a:p>
            <a:pPr algn="l"/>
            <a:r>
              <a:rPr sz="2200" b="1">
                <a:solidFill>
                  <a:srgbClr val="0F172A"/>
                </a:solidFill>
                <a:latin typeface="微软雅黑"/>
                <a:ea typeface="微软雅黑"/>
                <a:cs typeface="微软雅黑"/>
              </a:rPr>
              <a:t>· 拼写与单复数</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38BDF8"/>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310896"/>
            <a:ext cx="7863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850" b="1">
                <a:solidFill>
                  <a:srgbClr val="38BDF8"/>
                </a:solidFill>
                <a:latin typeface="Arial"/>
                <a:ea typeface="Arial"/>
                <a:cs typeface="Arial"/>
              </a:rPr>
              <a:t>EXIT TICKET</a:t>
            </a:r>
          </a:p>
        </p:txBody>
      </p:sp>
      <p:sp>
        <p:nvSpPr>
          <p:cNvPr id="5" name="Rectangle 4"/>
          <p:cNvSpPr/>
          <p:nvPr/>
        </p:nvSpPr>
        <p:spPr>
          <a:xfrm>
            <a:off x="566928" y="676656"/>
            <a:ext cx="1101852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3000" b="1">
                <a:solidFill>
                  <a:srgbClr val="FFFFFF"/>
                </a:solidFill>
                <a:latin typeface="微软雅黑"/>
                <a:ea typeface="微软雅黑"/>
                <a:cs typeface="微软雅黑"/>
              </a:rPr>
              <a:t>两分钟出口检测：证明你已经会拆题型</a:t>
            </a:r>
          </a:p>
        </p:txBody>
      </p:sp>
      <p:sp>
        <p:nvSpPr>
          <p:cNvPr id="6" name="Rectangle 5"/>
          <p:cNvSpPr/>
          <p:nvPr/>
        </p:nvSpPr>
        <p:spPr>
          <a:xfrm>
            <a:off x="566928" y="6455664"/>
            <a:ext cx="74980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l"/>
            <a:r>
              <a:rPr sz="1500" b="0">
                <a:solidFill>
                  <a:srgbClr val="94A3B8"/>
                </a:solidFill>
                <a:latin typeface="微软雅黑"/>
                <a:ea typeface="微软雅黑"/>
                <a:cs typeface="微软雅黑"/>
              </a:rPr>
              <a:t>雅思阅读精讲 · 第三节 · 黄玉蕾 Renee</a:t>
            </a:r>
          </a:p>
        </p:txBody>
      </p:sp>
      <p:sp>
        <p:nvSpPr>
          <p:cNvPr id="7" name="Rectangle 6"/>
          <p:cNvSpPr/>
          <p:nvPr/>
        </p:nvSpPr>
        <p:spPr>
          <a:xfrm>
            <a:off x="11109960" y="6455664"/>
            <a:ext cx="5029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r"/>
            <a:r>
              <a:rPr sz="1500" b="0">
                <a:solidFill>
                  <a:srgbClr val="94A3B8"/>
                </a:solidFill>
                <a:latin typeface="Arial"/>
                <a:ea typeface="Arial"/>
                <a:cs typeface="Arial"/>
              </a:rPr>
              <a:t>159</a:t>
            </a:r>
          </a:p>
        </p:txBody>
      </p:sp>
      <p:sp>
        <p:nvSpPr>
          <p:cNvPr id="8" name="Rectangle 7"/>
          <p:cNvSpPr/>
          <p:nvPr/>
        </p:nvSpPr>
        <p:spPr>
          <a:xfrm>
            <a:off x="749808" y="1417320"/>
            <a:ext cx="10716768" cy="3429000"/>
          </a:xfrm>
          <a:prstGeom prst="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2200" b="1">
                <a:solidFill>
                  <a:srgbClr val="0F172A"/>
                </a:solidFill>
                <a:latin typeface="微软雅黑"/>
                <a:ea typeface="微软雅黑"/>
                <a:cs typeface="微软雅黑"/>
              </a:rPr>
              <a:t>1  用一句话说明：Passage 1 Q3 为什么是 FALSE，而不是 NOT GIVEN。</a:t>
            </a:r>
          </a:p>
          <a:p>
            <a:pPr algn="l"/>
            <a:r>
              <a:rPr sz="2200" b="1">
                <a:solidFill>
                  <a:srgbClr val="0F172A"/>
                </a:solidFill>
                <a:latin typeface="微软雅黑"/>
                <a:ea typeface="微软雅黑"/>
                <a:cs typeface="微软雅黑"/>
              </a:rPr>
              <a:t/>
            </a:r>
          </a:p>
          <a:p>
            <a:pPr algn="l"/>
            <a:r>
              <a:rPr sz="2200" b="1">
                <a:solidFill>
                  <a:srgbClr val="0F172A"/>
                </a:solidFill>
                <a:latin typeface="微软雅黑"/>
                <a:ea typeface="微软雅黑"/>
                <a:cs typeface="微软雅黑"/>
              </a:rPr>
              <a:t>2  写出 Passage 2 Q25 的比较方向（谁的视觉更有用？为什么）。</a:t>
            </a:r>
          </a:p>
          <a:p>
            <a:pPr algn="l"/>
            <a:r>
              <a:rPr sz="2200" b="1">
                <a:solidFill>
                  <a:srgbClr val="0F172A"/>
                </a:solidFill>
                <a:latin typeface="微软雅黑"/>
                <a:ea typeface="微软雅黑"/>
                <a:cs typeface="微软雅黑"/>
              </a:rPr>
              <a:t/>
            </a:r>
          </a:p>
          <a:p>
            <a:pPr algn="l"/>
            <a:r>
              <a:rPr sz="2200" b="1">
                <a:solidFill>
                  <a:srgbClr val="0F172A"/>
                </a:solidFill>
                <a:latin typeface="微软雅黑"/>
                <a:ea typeface="微软雅黑"/>
                <a:cs typeface="微软雅黑"/>
              </a:rPr>
              <a:t>3  解释 Passage 3 Q39 为什么只能填 similar，不能填 identical。</a:t>
            </a:r>
          </a:p>
          <a:p>
            <a:pPr algn="l"/>
            <a:r>
              <a:rPr sz="2200" b="1">
                <a:solidFill>
                  <a:srgbClr val="0F172A"/>
                </a:solidFill>
                <a:latin typeface="微软雅黑"/>
                <a:ea typeface="微软雅黑"/>
                <a:cs typeface="微软雅黑"/>
              </a:rPr>
              <a:t/>
            </a:r>
          </a:p>
          <a:p>
            <a:pPr algn="l"/>
            <a:r>
              <a:rPr sz="2200" b="1">
                <a:solidFill>
                  <a:srgbClr val="0F172A"/>
                </a:solidFill>
                <a:latin typeface="微软雅黑"/>
                <a:ea typeface="微软雅黑"/>
                <a:cs typeface="微软雅黑"/>
              </a:rPr>
              <a:t>4  写出一组“名词化 ↔ 从句”的转换（提示：Passage 4 Q9）。</a:t>
            </a:r>
          </a:p>
        </p:txBody>
      </p:sp>
      <p:sp>
        <p:nvSpPr>
          <p:cNvPr id="9" name="Rectangle 8"/>
          <p:cNvSpPr/>
          <p:nvPr/>
        </p:nvSpPr>
        <p:spPr>
          <a:xfrm>
            <a:off x="749808" y="5138928"/>
            <a:ext cx="10716768" cy="868680"/>
          </a:xfrm>
          <a:prstGeom prst="rect">
            <a:avLst/>
          </a:prstGeom>
          <a:solidFill>
            <a:srgbClr val="DBEAFE"/>
          </a:solidFill>
          <a:ln w="127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900" b="1">
                <a:solidFill>
                  <a:srgbClr val="0F172A"/>
                </a:solidFill>
                <a:latin typeface="微软雅黑"/>
                <a:ea typeface="微软雅黑"/>
                <a:cs typeface="微软雅黑"/>
              </a:rPr>
              <a:t>课后要求：完成 Weather Forecasting Q1–13，并为每篇文章各挑 3 道错题，重写 P/S、题干锚点、原文证据与错因。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