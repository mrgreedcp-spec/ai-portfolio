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开场30秒：今天不再讲 Internship。今天要证明一件事——第1课学的流程，换任何一道官方题都能用。</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把'不是目标'先说掉，学生会松一口气：今天不考背诵。</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只念，不展开。学生若答不出'官方指令'，直接给出，不要停留。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指着 Part 3 说：今天最重要的一屏在这里——你会亲眼看到 3 分和 5 分差在哪。</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这张图今天会反复回来。每个 Part 结束时指一次：我们现在在链条的哪一环。学生圈的位置就是今天要盯的人。</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不要解释理论。直接说：填这三个空，就是第1课全部内容。</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这一页是为第一次上 AD 课的同学准备的。老生只需 30 秒确认，不要展开讲。</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念一遍，让学生指出：哪一句是 WHY，哪一句是 Example。30 秒。</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3 分钟。走动，只看有没有写 useful/good 这类空词，看到就画圈。</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这两句是今天官方题的两个方向。先埋下去，Part 2 揭晓。</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新生第一个读，压力最小；老生随后读长的。</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过渡句必须说出来：换题不换流程。</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如果学生问'这题会考吗'——回答：题不会重复，流程会重复。</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重点圈两处：in your own words / at least 100 words。这是评分官第一眼看的东西。</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让学生用手遮住下半屏。先读教授问题两遍。</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第3问是核心：这题只能选一个更重要，不能和稀泥。</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让学生各读一段。读完立刻问：Kelly 的关键词是什么？Andrew 的关键词是什么？</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90 秒。My position 必须写，不许写'both'。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统一立场是教学决定，要说清理由，否则学生以为教育就是标准答案。</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这是本节课最容易跑题的地方。写'教育很重要'的人会全部掉到 3 分。</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第三条留到 Part 5 再深挖，这里只提一句。</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2 结束应该在第 30 分钟左右。落后就砍掉'三个陷阱'那一页的讨论。</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这页不能跳。学生一旦以为是官方范文，就会去背。</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五个符号今天会用四次（A/B/C + 自己的作文）。让学生写在讲义封面上。</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④ 常被忽略：官方明确写了语言准确度计入分数，所以低级错误确实会扣分。</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让学生默读 40 秒，不许说话。</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现场演示：把 Education 换成 Sports，句子照样通顺——说明这句什么都没说。</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问一句：你刚才给 B 打了几分？打 5 分的人举手——然后讲下一页。</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重点：4 分不是词更难，是信息更多。</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④ 是今天 Part 5 的预告：contribution 决定 4 和 5。</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让学生指出：从第二行到第三行，多了哪个词？（network / belonging）</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这句官方原话贴在教室墙上都不过分。Part 5 会整段练。</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3 应在第 55 分钟结束。</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现场做一次替换实验，比讲十遍有用。</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这三步今天会重复六次。学生记住 STEP 编号即可。</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第四个句型（It is the one … that …）是 5 分句的常见起手式。</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4 分钟。走一圈，看到空词直接画圈让他当场改。</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是全课最难的一步，示范要慢，念两遍。</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强调 without knowing anyone there —— 这一句直接回应了 Andrew。</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把这张和 Response C 并排看：学生会发现范文其实就是这五行。</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给作业留出口：不选 education 也能写好，方法一样。</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6 分钟。这一条链条 Part 6 直接搬进作文里。</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只给 5 分钟，写不完也停。目的是证明流程可迁移。</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最后一条最反直觉：少写理由，多写展开。</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让学生在讲义上圈三个今天一定要用的词。</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4 应在第 85 分钟结束。</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回到 Part 3 的官方 Response Tips 那一页对照。</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让学生把自己 Part 2 写的立场句拿出来，用这个标准测一遍。</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第三组最值得讲：它把 Kelly 的话接到了 Andrew 的领域里，这是最漂亮的贡献方式。</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强调：I agree with Kelly. 之后如果直接换话题，也不算贡献。</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让学生指出新信息，别自己说。</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礼貌那一条来自 ETS 官方 Response Tips，可以直接告诉学生这是官方要求。</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高分反驳的共同点：不否认对方，而是限定对方成立的范围。</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考场上写不出新角度时，就按这三个抽屉一个个试。</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5 应在第 105 分钟结束，留够 20 分钟写作。</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这一屏保持投影，学生写作全程可看。</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严格 2 分钟。填不完的直接开始写，不要拖。</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边说边填，让学生看到 60 秒真的够。</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计时开始就不要再说话。老师只在教室里走动。</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只发给彭子骞。其他三人不给，避免退回模板。</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四条打勾，缺一条就退回改。</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五条全部打勾才算完成。没打勾的当场补写，不要等下课。</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互评只找这三样，超出范围的意见一律不写——否则会变成互相改语法。</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把作业说成'第三遍'，学生更容易接受。</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分层要当众说清楚，避免彭子骞觉得被区别对待——说明这是'第一次'的标准动作。</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这道题话题更熟悉，但争议结构和今天完全一样：两个选项，必须选一个。</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第④条最重要：它让下次课有真实素材，而不是老师猜。</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让学生拍照。这一页就是全部方法。</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Exit ticket 决定下次课的开场——第二问的统计结果直接变成下节课的重点。</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结束语只说一句：今天你没有背任何一句话，但你已经能写了。</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53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384048"/>
          </a:xfrm>
          <a:prstGeom prst="rect">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868680" y="1325880"/>
            <a:ext cx="64008" cy="3200400"/>
          </a:xfrm>
          <a:prstGeom prst="rect">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207008" y="1298448"/>
            <a:ext cx="9692640" cy="365760"/>
          </a:xfrm>
          <a:prstGeom prst="rect">
            <a:avLst/>
          </a:prstGeom>
          <a:noFill/>
        </p:spPr>
        <p:txBody>
          <a:bodyPr wrap="square" lIns="0" rIns="0" tIns="0" bIns="0" anchor="t">
            <a:spAutoFit/>
          </a:bodyPr>
          <a:lstStyle/>
          <a:p>
            <a:pPr algn="l">
              <a:lnSpc>
                <a:spcPct val="116000"/>
              </a:lnSpc>
              <a:spcBef>
                <a:spcPts val="0"/>
              </a:spcBef>
              <a:spcAft>
                <a:spcPts val="1000"/>
              </a:spcAft>
            </a:pPr>
            <a:r>
              <a:rPr sz="1900" b="1" i="0" u="none">
                <a:solidFill>
                  <a:srgbClr val="9EC6CE"/>
                </a:solidFill>
                <a:latin typeface="Segoe UI"/>
                <a:ea typeface="Microsoft YaHei"/>
                <a:cs typeface="Segoe UI"/>
              </a:rPr>
              <a:t>TOEFL iBT  ·  WRITING  ·  ACADEMIC DISCUSSION</a:t>
            </a:r>
          </a:p>
        </p:txBody>
      </p:sp>
      <p:sp>
        <p:nvSpPr>
          <p:cNvPr id="6" name="TextBox 5"/>
          <p:cNvSpPr txBox="1"/>
          <p:nvPr/>
        </p:nvSpPr>
        <p:spPr>
          <a:xfrm>
            <a:off x="1207008" y="1783080"/>
            <a:ext cx="10058400" cy="1463040"/>
          </a:xfrm>
          <a:prstGeom prst="rect">
            <a:avLst/>
          </a:prstGeom>
          <a:noFill/>
        </p:spPr>
        <p:txBody>
          <a:bodyPr wrap="square" lIns="0" rIns="0" tIns="0" bIns="0" anchor="t">
            <a:spAutoFit/>
          </a:bodyPr>
          <a:lstStyle/>
          <a:p>
            <a:pPr algn="l">
              <a:lnSpc>
                <a:spcPct val="100000"/>
              </a:lnSpc>
              <a:spcBef>
                <a:spcPts val="0"/>
              </a:spcBef>
              <a:spcAft>
                <a:spcPts val="200"/>
              </a:spcAft>
            </a:pPr>
            <a:r>
              <a:rPr sz="5000" b="1" i="0" u="none">
                <a:solidFill>
                  <a:srgbClr val="FFFFFF"/>
                </a:solidFill>
                <a:latin typeface="Segoe UI"/>
                <a:ea typeface="Microsoft YaHei"/>
                <a:cs typeface="Segoe UI"/>
              </a:rPr>
              <a:t>托福基础写作</a:t>
            </a:r>
          </a:p>
          <a:p>
            <a:pPr algn="l">
              <a:lnSpc>
                <a:spcPct val="100000"/>
              </a:lnSpc>
              <a:spcBef>
                <a:spcPts val="0"/>
              </a:spcBef>
              <a:spcAft>
                <a:spcPts val="0"/>
              </a:spcAft>
            </a:pPr>
            <a:r>
              <a:rPr sz="5000" b="1" i="0" u="none">
                <a:solidFill>
                  <a:srgbClr val="FFFFFF"/>
                </a:solidFill>
                <a:latin typeface="Segoe UI"/>
                <a:ea typeface="Microsoft YaHei"/>
                <a:cs typeface="Segoe UI"/>
              </a:rPr>
              <a:t>Academic Discussion 第 2 课</a:t>
            </a:r>
          </a:p>
        </p:txBody>
      </p:sp>
      <p:sp>
        <p:nvSpPr>
          <p:cNvPr id="7" name="TextBox 6"/>
          <p:cNvSpPr txBox="1"/>
          <p:nvPr/>
        </p:nvSpPr>
        <p:spPr>
          <a:xfrm>
            <a:off x="1207008" y="3310128"/>
            <a:ext cx="10058400" cy="548640"/>
          </a:xfrm>
          <a:prstGeom prst="rect">
            <a:avLst/>
          </a:prstGeom>
          <a:noFill/>
        </p:spPr>
        <p:txBody>
          <a:bodyPr wrap="square" lIns="0" rIns="0" tIns="0" bIns="0" anchor="t">
            <a:spAutoFit/>
          </a:bodyPr>
          <a:lstStyle/>
          <a:p>
            <a:pPr algn="l">
              <a:lnSpc>
                <a:spcPct val="116000"/>
              </a:lnSpc>
              <a:spcBef>
                <a:spcPts val="0"/>
              </a:spcBef>
              <a:spcAft>
                <a:spcPts val="0"/>
              </a:spcAft>
            </a:pPr>
            <a:r>
              <a:rPr sz="2500" b="0" i="0" u="none">
                <a:solidFill>
                  <a:srgbClr val="C9DEE3"/>
                </a:solidFill>
                <a:latin typeface="Segoe UI"/>
                <a:ea typeface="Microsoft YaHei"/>
                <a:cs typeface="Segoe UI"/>
              </a:rPr>
              <a:t>从一个熟悉的题目，迁移到一道全新的官方真题</a:t>
            </a:r>
          </a:p>
        </p:txBody>
      </p:sp>
      <p:cxnSp>
        <p:nvCxnSpPr>
          <p:cNvPr id="8" name="Connector 7"/>
          <p:cNvCxnSpPr/>
          <p:nvPr/>
        </p:nvCxnSpPr>
        <p:spPr>
          <a:xfrm>
            <a:off x="1207008" y="4160520"/>
            <a:ext cx="4645152" cy="0"/>
          </a:xfrm>
          <a:prstGeom prst="line">
            <a:avLst/>
          </a:prstGeom>
          <a:ln w="19050">
            <a:solidFill>
              <a:srgbClr val="3E778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207008" y="4343400"/>
            <a:ext cx="10058400" cy="1097280"/>
          </a:xfrm>
          <a:prstGeom prst="rect">
            <a:avLst/>
          </a:prstGeom>
          <a:noFill/>
        </p:spPr>
        <p:txBody>
          <a:bodyPr wrap="square" lIns="0" rIns="0" tIns="0" bIns="0" anchor="t">
            <a:spAutoFit/>
          </a:bodyPr>
          <a:lstStyle/>
          <a:p>
            <a:pPr algn="l">
              <a:lnSpc>
                <a:spcPct val="116000"/>
              </a:lnSpc>
              <a:spcBef>
                <a:spcPts val="0"/>
              </a:spcBef>
              <a:spcAft>
                <a:spcPts val="400"/>
              </a:spcAft>
            </a:pPr>
            <a:r>
              <a:rPr sz="1900" b="0" i="0" u="none">
                <a:solidFill>
                  <a:srgbClr val="FFFFFF"/>
                </a:solidFill>
                <a:latin typeface="Segoe UI"/>
                <a:ea typeface="Microsoft YaHei"/>
                <a:cs typeface="Segoe UI"/>
              </a:rPr>
              <a:t>本课官方题目 · TOEFL iBT Writing｜Write for an Academic Discussion</a:t>
            </a:r>
          </a:p>
          <a:p>
            <a:pPr algn="l">
              <a:lnSpc>
                <a:spcPct val="116000"/>
              </a:lnSpc>
              <a:spcBef>
                <a:spcPts val="0"/>
              </a:spcBef>
              <a:spcAft>
                <a:spcPts val="0"/>
              </a:spcAft>
            </a:pPr>
            <a:r>
              <a:rPr sz="1900" b="0" i="0" u="none">
                <a:solidFill>
                  <a:srgbClr val="C9DEE3"/>
                </a:solidFill>
                <a:latin typeface="Segoe UI"/>
                <a:ea typeface="Microsoft YaHei"/>
                <a:cs typeface="Segoe UI"/>
              </a:rPr>
              <a:t>Dr. Gupta（sociology）：Education or personal connections — which is the key to social mobility?</a:t>
            </a:r>
          </a:p>
        </p:txBody>
      </p:sp>
      <p:sp>
        <p:nvSpPr>
          <p:cNvPr id="10" name="Rounded Rectangle 9"/>
          <p:cNvSpPr/>
          <p:nvPr/>
        </p:nvSpPr>
        <p:spPr>
          <a:xfrm>
            <a:off x="1207008" y="5623560"/>
            <a:ext cx="841248" cy="384048"/>
          </a:xfrm>
          <a:prstGeom prst="roundRect">
            <a:avLst>
              <a:gd name="adj" fmla="val 40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207008" y="5664708"/>
            <a:ext cx="841248" cy="384048"/>
          </a:xfrm>
          <a:prstGeom prst="rect">
            <a:avLst/>
          </a:prstGeom>
          <a:noFill/>
        </p:spPr>
        <p:txBody>
          <a:bodyPr wrap="square" lIns="0" rIns="0" tIns="0" bIns="0" anchor="t">
            <a:spAutoFit/>
          </a:bodyPr>
          <a:lstStyle/>
          <a:p>
            <a:pPr algn="ctr">
              <a:lnSpc>
                <a:spcPct val="116000"/>
              </a:lnSpc>
              <a:spcBef>
                <a:spcPts val="0"/>
              </a:spcBef>
              <a:spcAft>
                <a:spcPts val="0"/>
              </a:spcAft>
            </a:pPr>
            <a:r>
              <a:rPr sz="1700" b="1" i="0" u="none">
                <a:solidFill>
                  <a:srgbClr val="FFFFFF"/>
                </a:solidFill>
                <a:latin typeface="Segoe UI"/>
                <a:ea typeface="Microsoft YaHei"/>
                <a:cs typeface="Segoe UI"/>
              </a:rPr>
              <a:t>4 人小班</a:t>
            </a:r>
          </a:p>
        </p:txBody>
      </p:sp>
      <p:sp>
        <p:nvSpPr>
          <p:cNvPr id="12" name="Rounded Rectangle 11"/>
          <p:cNvSpPr/>
          <p:nvPr/>
        </p:nvSpPr>
        <p:spPr>
          <a:xfrm>
            <a:off x="2743200" y="5623560"/>
            <a:ext cx="720547" cy="384048"/>
          </a:xfrm>
          <a:prstGeom prst="roundRect">
            <a:avLst>
              <a:gd name="adj" fmla="val 40000"/>
            </a:avLst>
          </a:prstGeom>
          <a:solidFill>
            <a:srgbClr val="2A7E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743200" y="5664708"/>
            <a:ext cx="720547" cy="384048"/>
          </a:xfrm>
          <a:prstGeom prst="rect">
            <a:avLst/>
          </a:prstGeom>
          <a:noFill/>
        </p:spPr>
        <p:txBody>
          <a:bodyPr wrap="square" lIns="0" rIns="0" tIns="0" bIns="0" anchor="t">
            <a:spAutoFit/>
          </a:bodyPr>
          <a:lstStyle/>
          <a:p>
            <a:pPr algn="ctr">
              <a:lnSpc>
                <a:spcPct val="116000"/>
              </a:lnSpc>
              <a:spcBef>
                <a:spcPts val="0"/>
              </a:spcBef>
              <a:spcAft>
                <a:spcPts val="0"/>
              </a:spcAft>
            </a:pPr>
            <a:r>
              <a:rPr sz="1700" b="1" i="0" u="none">
                <a:solidFill>
                  <a:srgbClr val="FFFFFF"/>
                </a:solidFill>
                <a:latin typeface="Segoe UI"/>
                <a:ea typeface="Microsoft YaHei"/>
                <a:cs typeface="Segoe UI"/>
              </a:rPr>
              <a:t>2 小时</a:t>
            </a:r>
          </a:p>
        </p:txBody>
      </p:sp>
      <p:sp>
        <p:nvSpPr>
          <p:cNvPr id="14" name="Rounded Rectangle 13"/>
          <p:cNvSpPr/>
          <p:nvPr/>
        </p:nvSpPr>
        <p:spPr>
          <a:xfrm>
            <a:off x="4114800" y="5623560"/>
            <a:ext cx="841248" cy="384048"/>
          </a:xfrm>
          <a:prstGeom prst="roundRect">
            <a:avLst>
              <a:gd name="adj" fmla="val 40000"/>
            </a:avLst>
          </a:prstGeom>
          <a:solidFill>
            <a:srgbClr val="2A7E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114800" y="5664708"/>
            <a:ext cx="841248" cy="384048"/>
          </a:xfrm>
          <a:prstGeom prst="rect">
            <a:avLst/>
          </a:prstGeom>
          <a:noFill/>
        </p:spPr>
        <p:txBody>
          <a:bodyPr wrap="square" lIns="0" rIns="0" tIns="0" bIns="0" anchor="t">
            <a:spAutoFit/>
          </a:bodyPr>
          <a:lstStyle/>
          <a:p>
            <a:pPr algn="ctr">
              <a:lnSpc>
                <a:spcPct val="116000"/>
              </a:lnSpc>
              <a:spcBef>
                <a:spcPts val="0"/>
              </a:spcBef>
              <a:spcAft>
                <a:spcPts val="0"/>
              </a:spcAft>
            </a:pPr>
            <a:r>
              <a:rPr sz="1700" b="1" i="0" u="none">
                <a:solidFill>
                  <a:srgbClr val="FFFFFF"/>
                </a:solidFill>
                <a:latin typeface="Segoe UI"/>
                <a:ea typeface="Microsoft YaHei"/>
                <a:cs typeface="Segoe UI"/>
              </a:rPr>
              <a:t>6 个环节</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开场</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2</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TODAY'S ONE THING</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今天这节课，只解决一件事</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673352"/>
            <a:ext cx="10948111" cy="1234440"/>
          </a:xfrm>
          <a:prstGeom prst="roundRect">
            <a:avLst>
              <a:gd name="adj" fmla="val 6000"/>
            </a:avLst>
          </a:prstGeom>
          <a:solidFill>
            <a:srgbClr val="FBEC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87552" y="1920240"/>
            <a:ext cx="10216591" cy="822960"/>
          </a:xfrm>
          <a:prstGeom prst="rect">
            <a:avLst/>
          </a:prstGeom>
          <a:noFill/>
        </p:spPr>
        <p:txBody>
          <a:bodyPr wrap="square" lIns="0" rIns="0" tIns="0" bIns="0" anchor="t">
            <a:spAutoFit/>
          </a:bodyPr>
          <a:lstStyle/>
          <a:p>
            <a:pPr algn="l">
              <a:lnSpc>
                <a:spcPct val="120000"/>
              </a:lnSpc>
              <a:spcBef>
                <a:spcPts val="0"/>
              </a:spcBef>
              <a:spcAft>
                <a:spcPts val="0"/>
              </a:spcAft>
            </a:pPr>
            <a:r>
              <a:rPr sz="2500" b="1" i="0" u="none">
                <a:solidFill>
                  <a:srgbClr val="C95527"/>
                </a:solidFill>
                <a:latin typeface="Segoe UI"/>
                <a:ea typeface="Microsoft YaHei"/>
                <a:cs typeface="Segoe UI"/>
              </a:rPr>
              <a:t>看到一道完全没见过的官方 AD 题，你也能在 10 分钟内写出 100 词以上、有理由、有例子、有回应的 response。</a:t>
            </a:r>
          </a:p>
        </p:txBody>
      </p:sp>
      <p:sp>
        <p:nvSpPr>
          <p:cNvPr id="10" name="Rounded Rectangle 9"/>
          <p:cNvSpPr/>
          <p:nvPr/>
        </p:nvSpPr>
        <p:spPr>
          <a:xfrm>
            <a:off x="621792" y="3136391"/>
            <a:ext cx="5336895" cy="2606040"/>
          </a:xfrm>
          <a:prstGeom prst="roundRect">
            <a:avLst>
              <a:gd name="adj" fmla="val 6000"/>
            </a:avLst>
          </a:prstGeom>
          <a:solidFill>
            <a:srgbClr val="F3F8F9"/>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3320735"/>
            <a:ext cx="4824831" cy="310896"/>
          </a:xfrm>
          <a:prstGeom prst="rect">
            <a:avLst/>
          </a:prstGeom>
          <a:noFill/>
        </p:spPr>
        <p:txBody>
          <a:bodyPr wrap="square" lIns="0" rIns="0" tIns="0" bIns="0" anchor="t">
            <a:spAutoFit/>
          </a:bodyPr>
          <a:lstStyle/>
          <a:p>
            <a:pPr algn="l">
              <a:lnSpc>
                <a:spcPct val="116000"/>
              </a:lnSpc>
              <a:spcBef>
                <a:spcPts val="0"/>
              </a:spcBef>
              <a:spcAft>
                <a:spcPts val="0"/>
              </a:spcAft>
            </a:pPr>
            <a:r>
              <a:rPr sz="2200" b="1" i="0" u="none">
                <a:solidFill>
                  <a:srgbClr val="627378"/>
                </a:solidFill>
                <a:latin typeface="Segoe UI"/>
                <a:ea typeface="Microsoft YaHei"/>
                <a:cs typeface="Segoe UI"/>
              </a:rPr>
              <a:t>不是今天的目标</a:t>
            </a:r>
          </a:p>
        </p:txBody>
      </p:sp>
      <p:sp>
        <p:nvSpPr>
          <p:cNvPr id="12" name="TextBox 11"/>
          <p:cNvSpPr txBox="1"/>
          <p:nvPr/>
        </p:nvSpPr>
        <p:spPr>
          <a:xfrm>
            <a:off x="932688" y="3851087"/>
            <a:ext cx="4715103" cy="1828800"/>
          </a:xfrm>
          <a:prstGeom prst="rect">
            <a:avLst/>
          </a:prstGeom>
          <a:noFill/>
        </p:spPr>
        <p:txBody>
          <a:bodyPr wrap="square" lIns="0" rIns="0" tIns="0" bIns="0" anchor="t">
            <a:spAutoFit/>
          </a:bodyPr>
          <a:lstStyle/>
          <a:p>
            <a:pPr algn="l">
              <a:lnSpc>
                <a:spcPct val="116000"/>
              </a:lnSpc>
              <a:spcBef>
                <a:spcPts val="0"/>
              </a:spcBef>
              <a:spcAft>
                <a:spcPts val="1300"/>
              </a:spcAft>
            </a:pPr>
            <a:r>
              <a:rPr sz="1900" b="0" i="0" u="none">
                <a:solidFill>
                  <a:srgbClr val="627378"/>
                </a:solidFill>
                <a:latin typeface="Segoe UI"/>
                <a:ea typeface="Microsoft YaHei"/>
                <a:cs typeface="Segoe UI"/>
              </a:rPr>
              <a:t>×  背一篇范文</a:t>
            </a:r>
          </a:p>
          <a:p>
            <a:pPr algn="l">
              <a:lnSpc>
                <a:spcPct val="116000"/>
              </a:lnSpc>
              <a:spcBef>
                <a:spcPts val="0"/>
              </a:spcBef>
              <a:spcAft>
                <a:spcPts val="1300"/>
              </a:spcAft>
            </a:pPr>
            <a:r>
              <a:rPr sz="1900" b="0" i="0" u="none">
                <a:solidFill>
                  <a:srgbClr val="627378"/>
                </a:solidFill>
                <a:latin typeface="Segoe UI"/>
                <a:ea typeface="Microsoft YaHei"/>
                <a:cs typeface="Segoe UI"/>
              </a:rPr>
              <a:t>×  背一套万能模板</a:t>
            </a:r>
          </a:p>
          <a:p>
            <a:pPr algn="l">
              <a:lnSpc>
                <a:spcPct val="116000"/>
              </a:lnSpc>
              <a:spcBef>
                <a:spcPts val="0"/>
              </a:spcBef>
              <a:spcAft>
                <a:spcPts val="1300"/>
              </a:spcAft>
            </a:pPr>
            <a:r>
              <a:rPr sz="1900" b="0" i="0" u="none">
                <a:solidFill>
                  <a:srgbClr val="627378"/>
                </a:solidFill>
                <a:latin typeface="Segoe UI"/>
                <a:ea typeface="Microsoft YaHei"/>
                <a:cs typeface="Segoe UI"/>
              </a:rPr>
              <a:t>×  把 Internship 那题写得更好</a:t>
            </a:r>
          </a:p>
        </p:txBody>
      </p:sp>
      <p:sp>
        <p:nvSpPr>
          <p:cNvPr id="13" name="Rounded Rectangle 12"/>
          <p:cNvSpPr/>
          <p:nvPr/>
        </p:nvSpPr>
        <p:spPr>
          <a:xfrm>
            <a:off x="6233007" y="3136391"/>
            <a:ext cx="5336895" cy="2606040"/>
          </a:xfrm>
          <a:prstGeom prst="roundRect">
            <a:avLst>
              <a:gd name="adj" fmla="val 6000"/>
            </a:avLst>
          </a:prstGeom>
          <a:solidFill>
            <a:srgbClr val="E7F1EB"/>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89039" y="3320735"/>
            <a:ext cx="4824831" cy="310896"/>
          </a:xfrm>
          <a:prstGeom prst="rect">
            <a:avLst/>
          </a:prstGeom>
          <a:noFill/>
        </p:spPr>
        <p:txBody>
          <a:bodyPr wrap="square" lIns="0" rIns="0" tIns="0" bIns="0" anchor="t">
            <a:spAutoFit/>
          </a:bodyPr>
          <a:lstStyle/>
          <a:p>
            <a:pPr algn="l">
              <a:lnSpc>
                <a:spcPct val="116000"/>
              </a:lnSpc>
              <a:spcBef>
                <a:spcPts val="0"/>
              </a:spcBef>
              <a:spcAft>
                <a:spcPts val="0"/>
              </a:spcAft>
            </a:pPr>
            <a:r>
              <a:rPr sz="2200" b="1" i="0" u="none">
                <a:solidFill>
                  <a:srgbClr val="2E6B4F"/>
                </a:solidFill>
                <a:latin typeface="Segoe UI"/>
                <a:ea typeface="Microsoft YaHei"/>
                <a:cs typeface="Segoe UI"/>
              </a:rPr>
              <a:t>是今天的目标</a:t>
            </a:r>
          </a:p>
        </p:txBody>
      </p:sp>
      <p:sp>
        <p:nvSpPr>
          <p:cNvPr id="15" name="TextBox 14"/>
          <p:cNvSpPr txBox="1"/>
          <p:nvPr/>
        </p:nvSpPr>
        <p:spPr>
          <a:xfrm>
            <a:off x="6543903" y="3851087"/>
            <a:ext cx="4715103" cy="1828800"/>
          </a:xfrm>
          <a:prstGeom prst="rect">
            <a:avLst/>
          </a:prstGeom>
          <a:noFill/>
        </p:spPr>
        <p:txBody>
          <a:bodyPr wrap="square" lIns="0" rIns="0" tIns="0" bIns="0" anchor="t">
            <a:spAutoFit/>
          </a:bodyPr>
          <a:lstStyle/>
          <a:p>
            <a:pPr algn="l">
              <a:lnSpc>
                <a:spcPct val="116000"/>
              </a:lnSpc>
              <a:spcBef>
                <a:spcPts val="0"/>
              </a:spcBef>
              <a:spcAft>
                <a:spcPts val="1300"/>
              </a:spcAft>
            </a:pPr>
            <a:r>
              <a:rPr sz="1900" b="0" i="0" u="none">
                <a:solidFill>
                  <a:srgbClr val="172A31"/>
                </a:solidFill>
                <a:latin typeface="Segoe UI"/>
                <a:ea typeface="Microsoft YaHei"/>
                <a:cs typeface="Segoe UI"/>
              </a:rPr>
              <a:t>√  拿到新题 → 找到争议点</a:t>
            </a:r>
          </a:p>
          <a:p>
            <a:pPr algn="l">
              <a:lnSpc>
                <a:spcPct val="116000"/>
              </a:lnSpc>
              <a:spcBef>
                <a:spcPts val="0"/>
              </a:spcBef>
              <a:spcAft>
                <a:spcPts val="1300"/>
              </a:spcAft>
            </a:pPr>
            <a:r>
              <a:rPr sz="1900" b="0" i="0" u="none">
                <a:solidFill>
                  <a:srgbClr val="172A31"/>
                </a:solidFill>
                <a:latin typeface="Segoe UI"/>
                <a:ea typeface="Microsoft YaHei"/>
                <a:cs typeface="Segoe UI"/>
              </a:rPr>
              <a:t>√  一个理由 → 展开成 4 句</a:t>
            </a:r>
          </a:p>
          <a:p>
            <a:pPr algn="l">
              <a:lnSpc>
                <a:spcPct val="116000"/>
              </a:lnSpc>
              <a:spcBef>
                <a:spcPts val="0"/>
              </a:spcBef>
              <a:spcAft>
                <a:spcPts val="1300"/>
              </a:spcAft>
            </a:pPr>
            <a:r>
              <a:rPr sz="1900" b="0" i="0" u="none">
                <a:solidFill>
                  <a:srgbClr val="172A31"/>
                </a:solidFill>
                <a:latin typeface="Segoe UI"/>
                <a:ea typeface="Microsoft YaHei"/>
                <a:cs typeface="Segoe UI"/>
              </a:rPr>
              <a:t>√  对同学的观点 → 加新信息</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开场</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3</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RECALL · 30 秒</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上一节课，我们已经拿到的东西</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719072"/>
            <a:ext cx="10948111" cy="841248"/>
          </a:xfrm>
          <a:prstGeom prst="roundRect">
            <a:avLst>
              <a:gd name="adj" fmla="val 6000"/>
            </a:avLst>
          </a:prstGeom>
          <a:solidFill>
            <a:srgbClr val="F3F8F9"/>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21792" y="1719072"/>
            <a:ext cx="64008" cy="841248"/>
          </a:xfrm>
          <a:prstGeom prst="rect">
            <a:avLst/>
          </a:prstGeom>
          <a:solidFill>
            <a:srgbClr val="2A7E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32688" y="1865376"/>
            <a:ext cx="1737360" cy="45720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0E5362"/>
                </a:solidFill>
                <a:latin typeface="Segoe UI"/>
                <a:ea typeface="Microsoft YaHei"/>
                <a:cs typeface="Segoe UI"/>
              </a:rPr>
              <a:t>题型</a:t>
            </a:r>
          </a:p>
        </p:txBody>
      </p:sp>
      <p:sp>
        <p:nvSpPr>
          <p:cNvPr id="11" name="TextBox 10"/>
          <p:cNvSpPr txBox="1"/>
          <p:nvPr/>
        </p:nvSpPr>
        <p:spPr>
          <a:xfrm>
            <a:off x="2770632" y="1874520"/>
            <a:ext cx="8433511" cy="54864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教授提问 + 两位同学发言 + 你加入讨论</a:t>
            </a:r>
          </a:p>
        </p:txBody>
      </p:sp>
      <p:sp>
        <p:nvSpPr>
          <p:cNvPr id="12" name="Rounded Rectangle 11"/>
          <p:cNvSpPr/>
          <p:nvPr/>
        </p:nvSpPr>
        <p:spPr>
          <a:xfrm>
            <a:off x="621792" y="2679192"/>
            <a:ext cx="10948111" cy="841248"/>
          </a:xfrm>
          <a:prstGeom prst="roundRect">
            <a:avLst>
              <a:gd name="adj" fmla="val 6000"/>
            </a:avLst>
          </a:prstGeom>
          <a:solidFill>
            <a:srgbClr val="F3F8F9"/>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21792" y="2679192"/>
            <a:ext cx="64008" cy="841248"/>
          </a:xfrm>
          <a:prstGeom prst="rect">
            <a:avLst/>
          </a:prstGeom>
          <a:solidFill>
            <a:srgbClr val="2A7E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32688" y="2825496"/>
            <a:ext cx="1737360" cy="45720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0E5362"/>
                </a:solidFill>
                <a:latin typeface="Segoe UI"/>
                <a:ea typeface="Microsoft YaHei"/>
                <a:cs typeface="Segoe UI"/>
              </a:rPr>
              <a:t>时间</a:t>
            </a:r>
          </a:p>
        </p:txBody>
      </p:sp>
      <p:sp>
        <p:nvSpPr>
          <p:cNvPr id="15" name="TextBox 14"/>
          <p:cNvSpPr txBox="1"/>
          <p:nvPr/>
        </p:nvSpPr>
        <p:spPr>
          <a:xfrm>
            <a:off x="2770632" y="2834640"/>
            <a:ext cx="8433511" cy="54864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10 分钟 · 至少 100 词</a:t>
            </a:r>
          </a:p>
        </p:txBody>
      </p:sp>
      <p:sp>
        <p:nvSpPr>
          <p:cNvPr id="16" name="Rounded Rectangle 15"/>
          <p:cNvSpPr/>
          <p:nvPr/>
        </p:nvSpPr>
        <p:spPr>
          <a:xfrm>
            <a:off x="621792" y="3639312"/>
            <a:ext cx="10948111" cy="841248"/>
          </a:xfrm>
          <a:prstGeom prst="roundRect">
            <a:avLst>
              <a:gd name="adj" fmla="val 6000"/>
            </a:avLst>
          </a:prstGeom>
          <a:solidFill>
            <a:srgbClr val="F3F8F9"/>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21792" y="3639312"/>
            <a:ext cx="64008" cy="841248"/>
          </a:xfrm>
          <a:prstGeom prst="rect">
            <a:avLst/>
          </a:prstGeom>
          <a:solidFill>
            <a:srgbClr val="2A7E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32688" y="3785616"/>
            <a:ext cx="1737360" cy="45720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0E5362"/>
                </a:solidFill>
                <a:latin typeface="Segoe UI"/>
                <a:ea typeface="Microsoft YaHei"/>
                <a:cs typeface="Segoe UI"/>
              </a:rPr>
              <a:t>官方指令</a:t>
            </a:r>
          </a:p>
        </p:txBody>
      </p:sp>
      <p:sp>
        <p:nvSpPr>
          <p:cNvPr id="19" name="TextBox 18"/>
          <p:cNvSpPr txBox="1"/>
          <p:nvPr/>
        </p:nvSpPr>
        <p:spPr>
          <a:xfrm>
            <a:off x="2770632" y="3794760"/>
            <a:ext cx="8433511" cy="54864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Express and support your opinion；make a contribution to the discussion in your own words</a:t>
            </a:r>
          </a:p>
        </p:txBody>
      </p:sp>
      <p:sp>
        <p:nvSpPr>
          <p:cNvPr id="20" name="Rounded Rectangle 19"/>
          <p:cNvSpPr/>
          <p:nvPr/>
        </p:nvSpPr>
        <p:spPr>
          <a:xfrm>
            <a:off x="621792" y="4599432"/>
            <a:ext cx="10948111" cy="841248"/>
          </a:xfrm>
          <a:prstGeom prst="roundRect">
            <a:avLst>
              <a:gd name="adj" fmla="val 6000"/>
            </a:avLst>
          </a:prstGeom>
          <a:solidFill>
            <a:srgbClr val="F3F8F9"/>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21792" y="4599432"/>
            <a:ext cx="64008" cy="841248"/>
          </a:xfrm>
          <a:prstGeom prst="rect">
            <a:avLst/>
          </a:prstGeom>
          <a:solidFill>
            <a:srgbClr val="2A7E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32688" y="4745736"/>
            <a:ext cx="1737360" cy="45720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0E5362"/>
                </a:solidFill>
                <a:latin typeface="Segoe UI"/>
                <a:ea typeface="Microsoft YaHei"/>
                <a:cs typeface="Segoe UI"/>
              </a:rPr>
              <a:t>结构</a:t>
            </a:r>
          </a:p>
        </p:txBody>
      </p:sp>
      <p:sp>
        <p:nvSpPr>
          <p:cNvPr id="23" name="TextBox 22"/>
          <p:cNvSpPr txBox="1"/>
          <p:nvPr/>
        </p:nvSpPr>
        <p:spPr>
          <a:xfrm>
            <a:off x="2770632" y="4754880"/>
            <a:ext cx="8433511" cy="54864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Position → Reason → Why → Example → Result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开场</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4</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ROADMAP</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今天的路线图</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856232"/>
            <a:ext cx="1748485" cy="3886200"/>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621792" y="1856232"/>
            <a:ext cx="1748485" cy="566928"/>
          </a:xfrm>
          <a:prstGeom prst="roundRect">
            <a:avLst>
              <a:gd name="adj" fmla="val 6000"/>
            </a:avLst>
          </a:prstGeom>
          <a:solidFill>
            <a:srgbClr val="2A7E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21792" y="2221992"/>
            <a:ext cx="1748485" cy="201168"/>
          </a:xfrm>
          <a:prstGeom prst="rect">
            <a:avLst/>
          </a:prstGeom>
          <a:solidFill>
            <a:srgbClr val="2A7E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21792" y="1956816"/>
            <a:ext cx="1748485" cy="365760"/>
          </a:xfrm>
          <a:prstGeom prst="rect">
            <a:avLst/>
          </a:prstGeom>
          <a:noFill/>
        </p:spPr>
        <p:txBody>
          <a:bodyPr wrap="square" lIns="0" rIns="0" tIns="0" bIns="0" anchor="t">
            <a:spAutoFit/>
          </a:bodyPr>
          <a:lstStyle/>
          <a:p>
            <a:pPr algn="ctr">
              <a:lnSpc>
                <a:spcPct val="116000"/>
              </a:lnSpc>
              <a:spcBef>
                <a:spcPts val="0"/>
              </a:spcBef>
              <a:spcAft>
                <a:spcPts val="0"/>
              </a:spcAft>
            </a:pPr>
            <a:r>
              <a:rPr sz="1600" b="1" i="0" u="none">
                <a:solidFill>
                  <a:srgbClr val="FFFFFF"/>
                </a:solidFill>
                <a:latin typeface="Segoe UI"/>
                <a:ea typeface="Microsoft YaHei"/>
                <a:cs typeface="Segoe UI"/>
              </a:rPr>
              <a:t>PART 1</a:t>
            </a:r>
          </a:p>
        </p:txBody>
      </p:sp>
      <p:sp>
        <p:nvSpPr>
          <p:cNvPr id="12" name="TextBox 11"/>
          <p:cNvSpPr txBox="1"/>
          <p:nvPr/>
        </p:nvSpPr>
        <p:spPr>
          <a:xfrm>
            <a:off x="749808" y="2587752"/>
            <a:ext cx="1492453" cy="822960"/>
          </a:xfrm>
          <a:prstGeom prst="rect">
            <a:avLst/>
          </a:prstGeom>
          <a:noFill/>
        </p:spPr>
        <p:txBody>
          <a:bodyPr wrap="square" lIns="0" rIns="0" tIns="0" bIns="0" anchor="t">
            <a:spAutoFit/>
          </a:bodyPr>
          <a:lstStyle/>
          <a:p>
            <a:pPr algn="ctr">
              <a:lnSpc>
                <a:spcPct val="105000"/>
              </a:lnSpc>
              <a:spcBef>
                <a:spcPts val="0"/>
              </a:spcBef>
              <a:spcAft>
                <a:spcPts val="800"/>
              </a:spcAft>
            </a:pPr>
            <a:r>
              <a:rPr sz="2100" b="1" i="0" u="none">
                <a:solidFill>
                  <a:srgbClr val="172A31"/>
                </a:solidFill>
                <a:latin typeface="Segoe UI"/>
                <a:ea typeface="Microsoft YaHei"/>
                <a:cs typeface="Segoe UI"/>
              </a:rPr>
              <a:t>Warm-up</a:t>
            </a:r>
          </a:p>
        </p:txBody>
      </p:sp>
      <p:sp>
        <p:nvSpPr>
          <p:cNvPr id="13" name="TextBox 12"/>
          <p:cNvSpPr txBox="1"/>
          <p:nvPr/>
        </p:nvSpPr>
        <p:spPr>
          <a:xfrm>
            <a:off x="749808" y="3502152"/>
            <a:ext cx="1492453" cy="914400"/>
          </a:xfrm>
          <a:prstGeom prst="rect">
            <a:avLst/>
          </a:prstGeom>
          <a:noFill/>
        </p:spPr>
        <p:txBody>
          <a:bodyPr wrap="square" lIns="0" rIns="0" tIns="0" bIns="0" anchor="t">
            <a:spAutoFit/>
          </a:bodyPr>
          <a:lstStyle/>
          <a:p>
            <a:pPr algn="ctr">
              <a:lnSpc>
                <a:spcPct val="115000"/>
              </a:lnSpc>
              <a:spcBef>
                <a:spcPts val="0"/>
              </a:spcBef>
              <a:spcAft>
                <a:spcPts val="0"/>
              </a:spcAft>
            </a:pPr>
            <a:r>
              <a:rPr sz="1900" b="0" i="0" u="none">
                <a:solidFill>
                  <a:srgbClr val="627378"/>
                </a:solidFill>
                <a:latin typeface="Segoe UI"/>
                <a:ea typeface="Microsoft YaHei"/>
                <a:cs typeface="Segoe UI"/>
              </a:rPr>
              <a:t>把上节课的方法叫醒</a:t>
            </a:r>
          </a:p>
        </p:txBody>
      </p:sp>
      <p:sp>
        <p:nvSpPr>
          <p:cNvPr id="14" name="TextBox 13"/>
          <p:cNvSpPr txBox="1"/>
          <p:nvPr/>
        </p:nvSpPr>
        <p:spPr>
          <a:xfrm>
            <a:off x="749808" y="5193792"/>
            <a:ext cx="1492453" cy="365760"/>
          </a:xfrm>
          <a:prstGeom prst="rect">
            <a:avLst/>
          </a:prstGeom>
          <a:noFill/>
        </p:spPr>
        <p:txBody>
          <a:bodyPr wrap="square" lIns="0" rIns="0" tIns="0" bIns="0" anchor="t">
            <a:spAutoFit/>
          </a:bodyPr>
          <a:lstStyle/>
          <a:p>
            <a:pPr algn="ctr">
              <a:lnSpc>
                <a:spcPct val="116000"/>
              </a:lnSpc>
              <a:spcBef>
                <a:spcPts val="0"/>
              </a:spcBef>
              <a:spcAft>
                <a:spcPts val="0"/>
              </a:spcAft>
            </a:pPr>
            <a:r>
              <a:rPr sz="2000" b="1" i="0" u="none">
                <a:solidFill>
                  <a:srgbClr val="2A7E8E"/>
                </a:solidFill>
                <a:latin typeface="Segoe UI"/>
                <a:ea typeface="Microsoft YaHei"/>
                <a:cs typeface="Segoe UI"/>
              </a:rPr>
              <a:t>10′</a:t>
            </a:r>
          </a:p>
        </p:txBody>
      </p:sp>
      <p:sp>
        <p:nvSpPr>
          <p:cNvPr id="15" name="Rounded Rectangle 14"/>
          <p:cNvSpPr/>
          <p:nvPr/>
        </p:nvSpPr>
        <p:spPr>
          <a:xfrm>
            <a:off x="2461717" y="1856232"/>
            <a:ext cx="1748485" cy="3886200"/>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2461717" y="1856232"/>
            <a:ext cx="1748485" cy="566928"/>
          </a:xfrm>
          <a:prstGeom prst="roundRect">
            <a:avLst>
              <a:gd name="adj" fmla="val 6000"/>
            </a:avLst>
          </a:prstGeom>
          <a:solidFill>
            <a:srgbClr val="2A7E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2461717" y="2221992"/>
            <a:ext cx="1748485" cy="201168"/>
          </a:xfrm>
          <a:prstGeom prst="rect">
            <a:avLst/>
          </a:prstGeom>
          <a:solidFill>
            <a:srgbClr val="2A7E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461717" y="1956816"/>
            <a:ext cx="1748485" cy="365760"/>
          </a:xfrm>
          <a:prstGeom prst="rect">
            <a:avLst/>
          </a:prstGeom>
          <a:noFill/>
        </p:spPr>
        <p:txBody>
          <a:bodyPr wrap="square" lIns="0" rIns="0" tIns="0" bIns="0" anchor="t">
            <a:spAutoFit/>
          </a:bodyPr>
          <a:lstStyle/>
          <a:p>
            <a:pPr algn="ctr">
              <a:lnSpc>
                <a:spcPct val="116000"/>
              </a:lnSpc>
              <a:spcBef>
                <a:spcPts val="0"/>
              </a:spcBef>
              <a:spcAft>
                <a:spcPts val="0"/>
              </a:spcAft>
            </a:pPr>
            <a:r>
              <a:rPr sz="1600" b="1" i="0" u="none">
                <a:solidFill>
                  <a:srgbClr val="FFFFFF"/>
                </a:solidFill>
                <a:latin typeface="Segoe UI"/>
                <a:ea typeface="Microsoft YaHei"/>
                <a:cs typeface="Segoe UI"/>
              </a:rPr>
              <a:t>PART 2</a:t>
            </a:r>
          </a:p>
        </p:txBody>
      </p:sp>
      <p:sp>
        <p:nvSpPr>
          <p:cNvPr id="19" name="TextBox 18"/>
          <p:cNvSpPr txBox="1"/>
          <p:nvPr/>
        </p:nvSpPr>
        <p:spPr>
          <a:xfrm>
            <a:off x="2589733" y="2587752"/>
            <a:ext cx="1492453" cy="822960"/>
          </a:xfrm>
          <a:prstGeom prst="rect">
            <a:avLst/>
          </a:prstGeom>
          <a:noFill/>
        </p:spPr>
        <p:txBody>
          <a:bodyPr wrap="square" lIns="0" rIns="0" tIns="0" bIns="0" anchor="t">
            <a:spAutoFit/>
          </a:bodyPr>
          <a:lstStyle/>
          <a:p>
            <a:pPr algn="ctr">
              <a:lnSpc>
                <a:spcPct val="105000"/>
              </a:lnSpc>
              <a:spcBef>
                <a:spcPts val="0"/>
              </a:spcBef>
              <a:spcAft>
                <a:spcPts val="800"/>
              </a:spcAft>
            </a:pPr>
            <a:r>
              <a:rPr sz="2100" b="1" i="0" u="none">
                <a:solidFill>
                  <a:srgbClr val="172A31"/>
                </a:solidFill>
                <a:latin typeface="Segoe UI"/>
                <a:ea typeface="Microsoft YaHei"/>
                <a:cs typeface="Segoe UI"/>
              </a:rPr>
              <a:t>官方新题</a:t>
            </a:r>
          </a:p>
        </p:txBody>
      </p:sp>
      <p:sp>
        <p:nvSpPr>
          <p:cNvPr id="20" name="TextBox 19"/>
          <p:cNvSpPr txBox="1"/>
          <p:nvPr/>
        </p:nvSpPr>
        <p:spPr>
          <a:xfrm>
            <a:off x="2589733" y="3502152"/>
            <a:ext cx="1492453" cy="914400"/>
          </a:xfrm>
          <a:prstGeom prst="rect">
            <a:avLst/>
          </a:prstGeom>
          <a:noFill/>
        </p:spPr>
        <p:txBody>
          <a:bodyPr wrap="square" lIns="0" rIns="0" tIns="0" bIns="0" anchor="t">
            <a:spAutoFit/>
          </a:bodyPr>
          <a:lstStyle/>
          <a:p>
            <a:pPr algn="ctr">
              <a:lnSpc>
                <a:spcPct val="115000"/>
              </a:lnSpc>
              <a:spcBef>
                <a:spcPts val="0"/>
              </a:spcBef>
              <a:spcAft>
                <a:spcPts val="0"/>
              </a:spcAft>
            </a:pPr>
            <a:r>
              <a:rPr sz="1900" b="0" i="0" u="none">
                <a:solidFill>
                  <a:srgbClr val="627378"/>
                </a:solidFill>
                <a:latin typeface="Segoe UI"/>
                <a:ea typeface="Microsoft YaHei"/>
                <a:cs typeface="Segoe UI"/>
              </a:rPr>
              <a:t>读懂题，找到争议</a:t>
            </a:r>
          </a:p>
        </p:txBody>
      </p:sp>
      <p:sp>
        <p:nvSpPr>
          <p:cNvPr id="21" name="TextBox 20"/>
          <p:cNvSpPr txBox="1"/>
          <p:nvPr/>
        </p:nvSpPr>
        <p:spPr>
          <a:xfrm>
            <a:off x="2589733" y="5193792"/>
            <a:ext cx="1492453" cy="365760"/>
          </a:xfrm>
          <a:prstGeom prst="rect">
            <a:avLst/>
          </a:prstGeom>
          <a:noFill/>
        </p:spPr>
        <p:txBody>
          <a:bodyPr wrap="square" lIns="0" rIns="0" tIns="0" bIns="0" anchor="t">
            <a:spAutoFit/>
          </a:bodyPr>
          <a:lstStyle/>
          <a:p>
            <a:pPr algn="ctr">
              <a:lnSpc>
                <a:spcPct val="116000"/>
              </a:lnSpc>
              <a:spcBef>
                <a:spcPts val="0"/>
              </a:spcBef>
              <a:spcAft>
                <a:spcPts val="0"/>
              </a:spcAft>
            </a:pPr>
            <a:r>
              <a:rPr sz="2000" b="1" i="0" u="none">
                <a:solidFill>
                  <a:srgbClr val="2A7E8E"/>
                </a:solidFill>
                <a:latin typeface="Segoe UI"/>
                <a:ea typeface="Microsoft YaHei"/>
                <a:cs typeface="Segoe UI"/>
              </a:rPr>
              <a:t>20′</a:t>
            </a:r>
          </a:p>
        </p:txBody>
      </p:sp>
      <p:sp>
        <p:nvSpPr>
          <p:cNvPr id="22" name="Rounded Rectangle 21"/>
          <p:cNvSpPr/>
          <p:nvPr/>
        </p:nvSpPr>
        <p:spPr>
          <a:xfrm>
            <a:off x="4301642" y="1856232"/>
            <a:ext cx="1748485" cy="3886200"/>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4301642" y="1856232"/>
            <a:ext cx="1748485" cy="566928"/>
          </a:xfrm>
          <a:prstGeom prst="roundRect">
            <a:avLst>
              <a:gd name="adj" fmla="val 6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4301642" y="2221992"/>
            <a:ext cx="1748485" cy="201168"/>
          </a:xfrm>
          <a:prstGeom prst="rect">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4301642" y="1956816"/>
            <a:ext cx="1748485" cy="365760"/>
          </a:xfrm>
          <a:prstGeom prst="rect">
            <a:avLst/>
          </a:prstGeom>
          <a:noFill/>
        </p:spPr>
        <p:txBody>
          <a:bodyPr wrap="square" lIns="0" rIns="0" tIns="0" bIns="0" anchor="t">
            <a:spAutoFit/>
          </a:bodyPr>
          <a:lstStyle/>
          <a:p>
            <a:pPr algn="ctr">
              <a:lnSpc>
                <a:spcPct val="116000"/>
              </a:lnSpc>
              <a:spcBef>
                <a:spcPts val="0"/>
              </a:spcBef>
              <a:spcAft>
                <a:spcPts val="0"/>
              </a:spcAft>
            </a:pPr>
            <a:r>
              <a:rPr sz="1600" b="1" i="0" u="none">
                <a:solidFill>
                  <a:srgbClr val="FFFFFF"/>
                </a:solidFill>
                <a:latin typeface="Segoe UI"/>
                <a:ea typeface="Microsoft YaHei"/>
                <a:cs typeface="Segoe UI"/>
              </a:rPr>
              <a:t>PART 3</a:t>
            </a:r>
          </a:p>
        </p:txBody>
      </p:sp>
      <p:sp>
        <p:nvSpPr>
          <p:cNvPr id="26" name="TextBox 25"/>
          <p:cNvSpPr txBox="1"/>
          <p:nvPr/>
        </p:nvSpPr>
        <p:spPr>
          <a:xfrm>
            <a:off x="4429658" y="2587752"/>
            <a:ext cx="1492453" cy="822960"/>
          </a:xfrm>
          <a:prstGeom prst="rect">
            <a:avLst/>
          </a:prstGeom>
          <a:noFill/>
        </p:spPr>
        <p:txBody>
          <a:bodyPr wrap="square" lIns="0" rIns="0" tIns="0" bIns="0" anchor="t">
            <a:spAutoFit/>
          </a:bodyPr>
          <a:lstStyle/>
          <a:p>
            <a:pPr algn="ctr">
              <a:lnSpc>
                <a:spcPct val="105000"/>
              </a:lnSpc>
              <a:spcBef>
                <a:spcPts val="0"/>
              </a:spcBef>
              <a:spcAft>
                <a:spcPts val="800"/>
              </a:spcAft>
            </a:pPr>
            <a:r>
              <a:rPr sz="2100" b="1" i="0" u="none">
                <a:solidFill>
                  <a:srgbClr val="172A31"/>
                </a:solidFill>
                <a:latin typeface="Segoe UI"/>
                <a:ea typeface="Microsoft YaHei"/>
                <a:cs typeface="Segoe UI"/>
              </a:rPr>
              <a:t>3 / 4 / 5 分</a:t>
            </a:r>
          </a:p>
        </p:txBody>
      </p:sp>
      <p:sp>
        <p:nvSpPr>
          <p:cNvPr id="27" name="TextBox 26"/>
          <p:cNvSpPr txBox="1"/>
          <p:nvPr/>
        </p:nvSpPr>
        <p:spPr>
          <a:xfrm>
            <a:off x="4429658" y="3502152"/>
            <a:ext cx="1492453" cy="914400"/>
          </a:xfrm>
          <a:prstGeom prst="rect">
            <a:avLst/>
          </a:prstGeom>
          <a:noFill/>
        </p:spPr>
        <p:txBody>
          <a:bodyPr wrap="square" lIns="0" rIns="0" tIns="0" bIns="0" anchor="t">
            <a:spAutoFit/>
          </a:bodyPr>
          <a:lstStyle/>
          <a:p>
            <a:pPr algn="ctr">
              <a:lnSpc>
                <a:spcPct val="115000"/>
              </a:lnSpc>
              <a:spcBef>
                <a:spcPts val="0"/>
              </a:spcBef>
              <a:spcAft>
                <a:spcPts val="0"/>
              </a:spcAft>
            </a:pPr>
            <a:r>
              <a:rPr sz="1900" b="0" i="0" u="none">
                <a:solidFill>
                  <a:srgbClr val="627378"/>
                </a:solidFill>
                <a:latin typeface="Segoe UI"/>
                <a:ea typeface="Microsoft YaHei"/>
                <a:cs typeface="Segoe UI"/>
              </a:rPr>
              <a:t>看见差距在哪里</a:t>
            </a:r>
          </a:p>
        </p:txBody>
      </p:sp>
      <p:sp>
        <p:nvSpPr>
          <p:cNvPr id="28" name="TextBox 27"/>
          <p:cNvSpPr txBox="1"/>
          <p:nvPr/>
        </p:nvSpPr>
        <p:spPr>
          <a:xfrm>
            <a:off x="4429658" y="5193792"/>
            <a:ext cx="1492453" cy="365760"/>
          </a:xfrm>
          <a:prstGeom prst="rect">
            <a:avLst/>
          </a:prstGeom>
          <a:noFill/>
        </p:spPr>
        <p:txBody>
          <a:bodyPr wrap="square" lIns="0" rIns="0" tIns="0" bIns="0" anchor="t">
            <a:spAutoFit/>
          </a:bodyPr>
          <a:lstStyle/>
          <a:p>
            <a:pPr algn="ctr">
              <a:lnSpc>
                <a:spcPct val="116000"/>
              </a:lnSpc>
              <a:spcBef>
                <a:spcPts val="0"/>
              </a:spcBef>
              <a:spcAft>
                <a:spcPts val="0"/>
              </a:spcAft>
            </a:pPr>
            <a:r>
              <a:rPr sz="2000" b="1" i="0" u="none">
                <a:solidFill>
                  <a:srgbClr val="C95527"/>
                </a:solidFill>
                <a:latin typeface="Segoe UI"/>
                <a:ea typeface="Microsoft YaHei"/>
                <a:cs typeface="Segoe UI"/>
              </a:rPr>
              <a:t>25′</a:t>
            </a:r>
          </a:p>
        </p:txBody>
      </p:sp>
      <p:sp>
        <p:nvSpPr>
          <p:cNvPr id="29" name="Rounded Rectangle 28"/>
          <p:cNvSpPr/>
          <p:nvPr/>
        </p:nvSpPr>
        <p:spPr>
          <a:xfrm>
            <a:off x="6141567" y="1856232"/>
            <a:ext cx="1748485" cy="3886200"/>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6141567" y="1856232"/>
            <a:ext cx="1748485" cy="566928"/>
          </a:xfrm>
          <a:prstGeom prst="roundRect">
            <a:avLst>
              <a:gd name="adj" fmla="val 6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6141567" y="2221992"/>
            <a:ext cx="1748485" cy="201168"/>
          </a:xfrm>
          <a:prstGeom prst="rect">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141567" y="1956816"/>
            <a:ext cx="1748485" cy="365760"/>
          </a:xfrm>
          <a:prstGeom prst="rect">
            <a:avLst/>
          </a:prstGeom>
          <a:noFill/>
        </p:spPr>
        <p:txBody>
          <a:bodyPr wrap="square" lIns="0" rIns="0" tIns="0" bIns="0" anchor="t">
            <a:spAutoFit/>
          </a:bodyPr>
          <a:lstStyle/>
          <a:p>
            <a:pPr algn="ctr">
              <a:lnSpc>
                <a:spcPct val="116000"/>
              </a:lnSpc>
              <a:spcBef>
                <a:spcPts val="0"/>
              </a:spcBef>
              <a:spcAft>
                <a:spcPts val="0"/>
              </a:spcAft>
            </a:pPr>
            <a:r>
              <a:rPr sz="1600" b="1" i="0" u="none">
                <a:solidFill>
                  <a:srgbClr val="FFFFFF"/>
                </a:solidFill>
                <a:latin typeface="Segoe UI"/>
                <a:ea typeface="Microsoft YaHei"/>
                <a:cs typeface="Segoe UI"/>
              </a:rPr>
              <a:t>PART 4</a:t>
            </a:r>
          </a:p>
        </p:txBody>
      </p:sp>
      <p:sp>
        <p:nvSpPr>
          <p:cNvPr id="33" name="TextBox 32"/>
          <p:cNvSpPr txBox="1"/>
          <p:nvPr/>
        </p:nvSpPr>
        <p:spPr>
          <a:xfrm>
            <a:off x="6269583" y="2587752"/>
            <a:ext cx="1492453" cy="822960"/>
          </a:xfrm>
          <a:prstGeom prst="rect">
            <a:avLst/>
          </a:prstGeom>
          <a:noFill/>
        </p:spPr>
        <p:txBody>
          <a:bodyPr wrap="square" lIns="0" rIns="0" tIns="0" bIns="0" anchor="t">
            <a:spAutoFit/>
          </a:bodyPr>
          <a:lstStyle/>
          <a:p>
            <a:pPr algn="ctr">
              <a:lnSpc>
                <a:spcPct val="105000"/>
              </a:lnSpc>
              <a:spcBef>
                <a:spcPts val="0"/>
              </a:spcBef>
              <a:spcAft>
                <a:spcPts val="800"/>
              </a:spcAft>
            </a:pPr>
            <a:r>
              <a:rPr sz="2100" b="1" i="0" u="none">
                <a:solidFill>
                  <a:srgbClr val="172A31"/>
                </a:solidFill>
                <a:latin typeface="Segoe UI"/>
                <a:ea typeface="Microsoft YaHei"/>
                <a:cs typeface="Segoe UI"/>
              </a:rPr>
              <a:t>Reason 展开</a:t>
            </a:r>
          </a:p>
        </p:txBody>
      </p:sp>
      <p:sp>
        <p:nvSpPr>
          <p:cNvPr id="34" name="TextBox 33"/>
          <p:cNvSpPr txBox="1"/>
          <p:nvPr/>
        </p:nvSpPr>
        <p:spPr>
          <a:xfrm>
            <a:off x="6269583" y="3502152"/>
            <a:ext cx="1492453" cy="914400"/>
          </a:xfrm>
          <a:prstGeom prst="rect">
            <a:avLst/>
          </a:prstGeom>
          <a:noFill/>
        </p:spPr>
        <p:txBody>
          <a:bodyPr wrap="square" lIns="0" rIns="0" tIns="0" bIns="0" anchor="t">
            <a:spAutoFit/>
          </a:bodyPr>
          <a:lstStyle/>
          <a:p>
            <a:pPr algn="ctr">
              <a:lnSpc>
                <a:spcPct val="115000"/>
              </a:lnSpc>
              <a:spcBef>
                <a:spcPts val="0"/>
              </a:spcBef>
              <a:spcAft>
                <a:spcPts val="0"/>
              </a:spcAft>
            </a:pPr>
            <a:r>
              <a:rPr sz="1900" b="0" i="0" u="none">
                <a:solidFill>
                  <a:srgbClr val="627378"/>
                </a:solidFill>
                <a:latin typeface="Segoe UI"/>
                <a:ea typeface="Microsoft YaHei"/>
                <a:cs typeface="Segoe UI"/>
              </a:rPr>
              <a:t>一个理由写成一段</a:t>
            </a:r>
          </a:p>
        </p:txBody>
      </p:sp>
      <p:sp>
        <p:nvSpPr>
          <p:cNvPr id="35" name="TextBox 34"/>
          <p:cNvSpPr txBox="1"/>
          <p:nvPr/>
        </p:nvSpPr>
        <p:spPr>
          <a:xfrm>
            <a:off x="6269583" y="5193792"/>
            <a:ext cx="1492453" cy="365760"/>
          </a:xfrm>
          <a:prstGeom prst="rect">
            <a:avLst/>
          </a:prstGeom>
          <a:noFill/>
        </p:spPr>
        <p:txBody>
          <a:bodyPr wrap="square" lIns="0" rIns="0" tIns="0" bIns="0" anchor="t">
            <a:spAutoFit/>
          </a:bodyPr>
          <a:lstStyle/>
          <a:p>
            <a:pPr algn="ctr">
              <a:lnSpc>
                <a:spcPct val="116000"/>
              </a:lnSpc>
              <a:spcBef>
                <a:spcPts val="0"/>
              </a:spcBef>
              <a:spcAft>
                <a:spcPts val="0"/>
              </a:spcAft>
            </a:pPr>
            <a:r>
              <a:rPr sz="2000" b="1" i="0" u="none">
                <a:solidFill>
                  <a:srgbClr val="C95527"/>
                </a:solidFill>
                <a:latin typeface="Segoe UI"/>
                <a:ea typeface="Microsoft YaHei"/>
                <a:cs typeface="Segoe UI"/>
              </a:rPr>
              <a:t>30′</a:t>
            </a:r>
          </a:p>
        </p:txBody>
      </p:sp>
      <p:sp>
        <p:nvSpPr>
          <p:cNvPr id="36" name="Rounded Rectangle 35"/>
          <p:cNvSpPr/>
          <p:nvPr/>
        </p:nvSpPr>
        <p:spPr>
          <a:xfrm>
            <a:off x="7981492" y="1856232"/>
            <a:ext cx="1748485" cy="3886200"/>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ounded Rectangle 36"/>
          <p:cNvSpPr/>
          <p:nvPr/>
        </p:nvSpPr>
        <p:spPr>
          <a:xfrm>
            <a:off x="7981492" y="1856232"/>
            <a:ext cx="1748485" cy="566928"/>
          </a:xfrm>
          <a:prstGeom prst="roundRect">
            <a:avLst>
              <a:gd name="adj" fmla="val 6000"/>
            </a:avLst>
          </a:prstGeom>
          <a:solidFill>
            <a:srgbClr val="B083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7981492" y="2221992"/>
            <a:ext cx="1748485" cy="201168"/>
          </a:xfrm>
          <a:prstGeom prst="rect">
            <a:avLst/>
          </a:prstGeom>
          <a:solidFill>
            <a:srgbClr val="B083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7981492" y="1956816"/>
            <a:ext cx="1748485" cy="365760"/>
          </a:xfrm>
          <a:prstGeom prst="rect">
            <a:avLst/>
          </a:prstGeom>
          <a:noFill/>
        </p:spPr>
        <p:txBody>
          <a:bodyPr wrap="square" lIns="0" rIns="0" tIns="0" bIns="0" anchor="t">
            <a:spAutoFit/>
          </a:bodyPr>
          <a:lstStyle/>
          <a:p>
            <a:pPr algn="ctr">
              <a:lnSpc>
                <a:spcPct val="116000"/>
              </a:lnSpc>
              <a:spcBef>
                <a:spcPts val="0"/>
              </a:spcBef>
              <a:spcAft>
                <a:spcPts val="0"/>
              </a:spcAft>
            </a:pPr>
            <a:r>
              <a:rPr sz="1600" b="1" i="0" u="none">
                <a:solidFill>
                  <a:srgbClr val="FFFFFF"/>
                </a:solidFill>
                <a:latin typeface="Segoe UI"/>
                <a:ea typeface="Microsoft YaHei"/>
                <a:cs typeface="Segoe UI"/>
              </a:rPr>
              <a:t>PART 5</a:t>
            </a:r>
          </a:p>
        </p:txBody>
      </p:sp>
      <p:sp>
        <p:nvSpPr>
          <p:cNvPr id="40" name="TextBox 39"/>
          <p:cNvSpPr txBox="1"/>
          <p:nvPr/>
        </p:nvSpPr>
        <p:spPr>
          <a:xfrm>
            <a:off x="8109508" y="2587752"/>
            <a:ext cx="1492453" cy="822960"/>
          </a:xfrm>
          <a:prstGeom prst="rect">
            <a:avLst/>
          </a:prstGeom>
          <a:noFill/>
        </p:spPr>
        <p:txBody>
          <a:bodyPr wrap="square" lIns="0" rIns="0" tIns="0" bIns="0" anchor="t">
            <a:spAutoFit/>
          </a:bodyPr>
          <a:lstStyle/>
          <a:p>
            <a:pPr algn="ctr">
              <a:lnSpc>
                <a:spcPct val="105000"/>
              </a:lnSpc>
              <a:spcBef>
                <a:spcPts val="0"/>
              </a:spcBef>
              <a:spcAft>
                <a:spcPts val="800"/>
              </a:spcAft>
            </a:pPr>
            <a:r>
              <a:rPr sz="2100" b="1" i="0" u="none">
                <a:solidFill>
                  <a:srgbClr val="172A31"/>
                </a:solidFill>
                <a:latin typeface="Segoe UI"/>
                <a:ea typeface="Microsoft YaHei"/>
                <a:cs typeface="Segoe UI"/>
              </a:rPr>
              <a:t>Contribution</a:t>
            </a:r>
          </a:p>
        </p:txBody>
      </p:sp>
      <p:sp>
        <p:nvSpPr>
          <p:cNvPr id="41" name="TextBox 40"/>
          <p:cNvSpPr txBox="1"/>
          <p:nvPr/>
        </p:nvSpPr>
        <p:spPr>
          <a:xfrm>
            <a:off x="8109508" y="3502152"/>
            <a:ext cx="1492453" cy="914400"/>
          </a:xfrm>
          <a:prstGeom prst="rect">
            <a:avLst/>
          </a:prstGeom>
          <a:noFill/>
        </p:spPr>
        <p:txBody>
          <a:bodyPr wrap="square" lIns="0" rIns="0" tIns="0" bIns="0" anchor="t">
            <a:spAutoFit/>
          </a:bodyPr>
          <a:lstStyle/>
          <a:p>
            <a:pPr algn="ctr">
              <a:lnSpc>
                <a:spcPct val="115000"/>
              </a:lnSpc>
              <a:spcBef>
                <a:spcPts val="0"/>
              </a:spcBef>
              <a:spcAft>
                <a:spcPts val="0"/>
              </a:spcAft>
            </a:pPr>
            <a:r>
              <a:rPr sz="1900" b="0" i="0" u="none">
                <a:solidFill>
                  <a:srgbClr val="627378"/>
                </a:solidFill>
                <a:latin typeface="Segoe UI"/>
                <a:ea typeface="Microsoft YaHei"/>
                <a:cs typeface="Segoe UI"/>
              </a:rPr>
              <a:t>回应同学，加新信息</a:t>
            </a:r>
          </a:p>
        </p:txBody>
      </p:sp>
      <p:sp>
        <p:nvSpPr>
          <p:cNvPr id="42" name="TextBox 41"/>
          <p:cNvSpPr txBox="1"/>
          <p:nvPr/>
        </p:nvSpPr>
        <p:spPr>
          <a:xfrm>
            <a:off x="8109508" y="5193792"/>
            <a:ext cx="1492453" cy="365760"/>
          </a:xfrm>
          <a:prstGeom prst="rect">
            <a:avLst/>
          </a:prstGeom>
          <a:noFill/>
        </p:spPr>
        <p:txBody>
          <a:bodyPr wrap="square" lIns="0" rIns="0" tIns="0" bIns="0" anchor="t">
            <a:spAutoFit/>
          </a:bodyPr>
          <a:lstStyle/>
          <a:p>
            <a:pPr algn="ctr">
              <a:lnSpc>
                <a:spcPct val="116000"/>
              </a:lnSpc>
              <a:spcBef>
                <a:spcPts val="0"/>
              </a:spcBef>
              <a:spcAft>
                <a:spcPts val="0"/>
              </a:spcAft>
            </a:pPr>
            <a:r>
              <a:rPr sz="2000" b="1" i="0" u="none">
                <a:solidFill>
                  <a:srgbClr val="B08300"/>
                </a:solidFill>
                <a:latin typeface="Segoe UI"/>
                <a:ea typeface="Microsoft YaHei"/>
                <a:cs typeface="Segoe UI"/>
              </a:rPr>
              <a:t>20′</a:t>
            </a:r>
          </a:p>
        </p:txBody>
      </p:sp>
      <p:sp>
        <p:nvSpPr>
          <p:cNvPr id="43" name="Rounded Rectangle 42"/>
          <p:cNvSpPr/>
          <p:nvPr/>
        </p:nvSpPr>
        <p:spPr>
          <a:xfrm>
            <a:off x="9821418" y="1856232"/>
            <a:ext cx="1748485" cy="3886200"/>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ounded Rectangle 43"/>
          <p:cNvSpPr/>
          <p:nvPr/>
        </p:nvSpPr>
        <p:spPr>
          <a:xfrm>
            <a:off x="9821418" y="1856232"/>
            <a:ext cx="1748485" cy="566928"/>
          </a:xfrm>
          <a:prstGeom prst="roundRect">
            <a:avLst>
              <a:gd name="adj" fmla="val 6000"/>
            </a:avLst>
          </a:prstGeom>
          <a:solidFill>
            <a:srgbClr val="2E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9821418" y="2221992"/>
            <a:ext cx="1748485" cy="201168"/>
          </a:xfrm>
          <a:prstGeom prst="rect">
            <a:avLst/>
          </a:prstGeom>
          <a:solidFill>
            <a:srgbClr val="2E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9821418" y="1956816"/>
            <a:ext cx="1748485" cy="365760"/>
          </a:xfrm>
          <a:prstGeom prst="rect">
            <a:avLst/>
          </a:prstGeom>
          <a:noFill/>
        </p:spPr>
        <p:txBody>
          <a:bodyPr wrap="square" lIns="0" rIns="0" tIns="0" bIns="0" anchor="t">
            <a:spAutoFit/>
          </a:bodyPr>
          <a:lstStyle/>
          <a:p>
            <a:pPr algn="ctr">
              <a:lnSpc>
                <a:spcPct val="116000"/>
              </a:lnSpc>
              <a:spcBef>
                <a:spcPts val="0"/>
              </a:spcBef>
              <a:spcAft>
                <a:spcPts val="0"/>
              </a:spcAft>
            </a:pPr>
            <a:r>
              <a:rPr sz="1600" b="1" i="0" u="none">
                <a:solidFill>
                  <a:srgbClr val="FFFFFF"/>
                </a:solidFill>
                <a:latin typeface="Segoe UI"/>
                <a:ea typeface="Microsoft YaHei"/>
                <a:cs typeface="Segoe UI"/>
              </a:rPr>
              <a:t>PART 6</a:t>
            </a:r>
          </a:p>
        </p:txBody>
      </p:sp>
      <p:sp>
        <p:nvSpPr>
          <p:cNvPr id="47" name="TextBox 46"/>
          <p:cNvSpPr txBox="1"/>
          <p:nvPr/>
        </p:nvSpPr>
        <p:spPr>
          <a:xfrm>
            <a:off x="9949434" y="2587752"/>
            <a:ext cx="1492453" cy="822960"/>
          </a:xfrm>
          <a:prstGeom prst="rect">
            <a:avLst/>
          </a:prstGeom>
          <a:noFill/>
        </p:spPr>
        <p:txBody>
          <a:bodyPr wrap="square" lIns="0" rIns="0" tIns="0" bIns="0" anchor="t">
            <a:spAutoFit/>
          </a:bodyPr>
          <a:lstStyle/>
          <a:p>
            <a:pPr algn="ctr">
              <a:lnSpc>
                <a:spcPct val="105000"/>
              </a:lnSpc>
              <a:spcBef>
                <a:spcPts val="0"/>
              </a:spcBef>
              <a:spcAft>
                <a:spcPts val="800"/>
              </a:spcAft>
            </a:pPr>
            <a:r>
              <a:rPr sz="2100" b="1" i="0" u="none">
                <a:solidFill>
                  <a:srgbClr val="172A31"/>
                </a:solidFill>
                <a:latin typeface="Segoe UI"/>
                <a:ea typeface="Microsoft YaHei"/>
                <a:cs typeface="Segoe UI"/>
              </a:rPr>
              <a:t>Full Writing</a:t>
            </a:r>
          </a:p>
        </p:txBody>
      </p:sp>
      <p:sp>
        <p:nvSpPr>
          <p:cNvPr id="48" name="TextBox 47"/>
          <p:cNvSpPr txBox="1"/>
          <p:nvPr/>
        </p:nvSpPr>
        <p:spPr>
          <a:xfrm>
            <a:off x="9949434" y="3502152"/>
            <a:ext cx="1492453" cy="914400"/>
          </a:xfrm>
          <a:prstGeom prst="rect">
            <a:avLst/>
          </a:prstGeom>
          <a:noFill/>
        </p:spPr>
        <p:txBody>
          <a:bodyPr wrap="square" lIns="0" rIns="0" tIns="0" bIns="0" anchor="t">
            <a:spAutoFit/>
          </a:bodyPr>
          <a:lstStyle/>
          <a:p>
            <a:pPr algn="ctr">
              <a:lnSpc>
                <a:spcPct val="115000"/>
              </a:lnSpc>
              <a:spcBef>
                <a:spcPts val="0"/>
              </a:spcBef>
              <a:spcAft>
                <a:spcPts val="0"/>
              </a:spcAft>
            </a:pPr>
            <a:r>
              <a:rPr sz="1900" b="0" i="0" u="none">
                <a:solidFill>
                  <a:srgbClr val="627378"/>
                </a:solidFill>
                <a:latin typeface="Segoe UI"/>
                <a:ea typeface="Microsoft YaHei"/>
                <a:cs typeface="Segoe UI"/>
              </a:rPr>
              <a:t>10 分钟完整写作</a:t>
            </a:r>
          </a:p>
        </p:txBody>
      </p:sp>
      <p:sp>
        <p:nvSpPr>
          <p:cNvPr id="49" name="TextBox 48"/>
          <p:cNvSpPr txBox="1"/>
          <p:nvPr/>
        </p:nvSpPr>
        <p:spPr>
          <a:xfrm>
            <a:off x="9949434" y="5193792"/>
            <a:ext cx="1492453" cy="365760"/>
          </a:xfrm>
          <a:prstGeom prst="rect">
            <a:avLst/>
          </a:prstGeom>
          <a:noFill/>
        </p:spPr>
        <p:txBody>
          <a:bodyPr wrap="square" lIns="0" rIns="0" tIns="0" bIns="0" anchor="t">
            <a:spAutoFit/>
          </a:bodyPr>
          <a:lstStyle/>
          <a:p>
            <a:pPr algn="ctr">
              <a:lnSpc>
                <a:spcPct val="116000"/>
              </a:lnSpc>
              <a:spcBef>
                <a:spcPts val="0"/>
              </a:spcBef>
              <a:spcAft>
                <a:spcPts val="0"/>
              </a:spcAft>
            </a:pPr>
            <a:r>
              <a:rPr sz="2000" b="1" i="0" u="none">
                <a:solidFill>
                  <a:srgbClr val="2E6B4F"/>
                </a:solidFill>
                <a:latin typeface="Segoe UI"/>
                <a:ea typeface="Microsoft YaHei"/>
                <a:cs typeface="Segoe UI"/>
              </a:rPr>
              <a:t>20′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开场</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5</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THE ONE PROCESS</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今天要装进脑子的，是这条流程</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2313432"/>
            <a:ext cx="1360235" cy="1371600"/>
          </a:xfrm>
          <a:prstGeom prst="roundRect">
            <a:avLst>
              <a:gd name="adj" fmla="val 6000"/>
            </a:avLst>
          </a:prstGeom>
          <a:solidFill>
            <a:srgbClr val="FFFFFF"/>
          </a:solidFill>
          <a:ln w="25400">
            <a:solidFill>
              <a:srgbClr val="0E536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76656" y="2542032"/>
            <a:ext cx="1250507" cy="1005840"/>
          </a:xfrm>
          <a:prstGeom prst="rect">
            <a:avLst/>
          </a:prstGeom>
          <a:noFill/>
        </p:spPr>
        <p:txBody>
          <a:bodyPr wrap="square" lIns="0" rIns="0" tIns="0" bIns="0" anchor="t">
            <a:spAutoFit/>
          </a:bodyPr>
          <a:lstStyle/>
          <a:p>
            <a:pPr algn="ctr">
              <a:lnSpc>
                <a:spcPct val="110000"/>
              </a:lnSpc>
              <a:spcBef>
                <a:spcPts val="0"/>
              </a:spcBef>
              <a:spcAft>
                <a:spcPts val="200"/>
              </a:spcAft>
            </a:pPr>
            <a:r>
              <a:rPr sz="1900" b="1" i="0" u="none">
                <a:solidFill>
                  <a:srgbClr val="0E5362"/>
                </a:solidFill>
                <a:latin typeface="Segoe UI"/>
                <a:ea typeface="Microsoft YaHei"/>
                <a:cs typeface="Segoe UI"/>
              </a:rPr>
              <a:t>读题</a:t>
            </a:r>
          </a:p>
          <a:p>
            <a:pPr algn="ctr">
              <a:lnSpc>
                <a:spcPct val="110000"/>
              </a:lnSpc>
              <a:spcBef>
                <a:spcPts val="0"/>
              </a:spcBef>
              <a:spcAft>
                <a:spcPts val="200"/>
              </a:spcAft>
            </a:pPr>
            <a:r>
              <a:rPr sz="1900" b="1" i="0" u="none">
                <a:solidFill>
                  <a:srgbClr val="0E5362"/>
                </a:solidFill>
                <a:latin typeface="Segoe UI"/>
                <a:ea typeface="Microsoft YaHei"/>
                <a:cs typeface="Segoe UI"/>
              </a:rPr>
              <a:t>找争议</a:t>
            </a:r>
          </a:p>
        </p:txBody>
      </p:sp>
      <p:sp>
        <p:nvSpPr>
          <p:cNvPr id="10" name="TextBox 9"/>
          <p:cNvSpPr txBox="1"/>
          <p:nvPr/>
        </p:nvSpPr>
        <p:spPr>
          <a:xfrm>
            <a:off x="1982027" y="2798064"/>
            <a:ext cx="237744" cy="365760"/>
          </a:xfrm>
          <a:prstGeom prst="rect">
            <a:avLst/>
          </a:prstGeom>
          <a:noFill/>
        </p:spPr>
        <p:txBody>
          <a:bodyPr wrap="square" lIns="0" rIns="0" tIns="0" bIns="0" anchor="t">
            <a:spAutoFit/>
          </a:bodyPr>
          <a:lstStyle/>
          <a:p>
            <a:pPr algn="ctr">
              <a:lnSpc>
                <a:spcPct val="116000"/>
              </a:lnSpc>
              <a:spcBef>
                <a:spcPts val="0"/>
              </a:spcBef>
              <a:spcAft>
                <a:spcPts val="0"/>
              </a:spcAft>
            </a:pPr>
            <a:r>
              <a:rPr sz="1600" b="0" i="0" u="none">
                <a:solidFill>
                  <a:srgbClr val="CFDDE1"/>
                </a:solidFill>
                <a:latin typeface="Segoe UI"/>
                <a:ea typeface="Microsoft YaHei"/>
                <a:cs typeface="Segoe UI"/>
              </a:rPr>
              <a:t>▶</a:t>
            </a:r>
          </a:p>
        </p:txBody>
      </p:sp>
      <p:sp>
        <p:nvSpPr>
          <p:cNvPr id="11" name="Rounded Rectangle 10"/>
          <p:cNvSpPr/>
          <p:nvPr/>
        </p:nvSpPr>
        <p:spPr>
          <a:xfrm>
            <a:off x="2219771" y="2313432"/>
            <a:ext cx="1360235" cy="1371600"/>
          </a:xfrm>
          <a:prstGeom prst="roundRect">
            <a:avLst>
              <a:gd name="adj" fmla="val 6000"/>
            </a:avLst>
          </a:prstGeom>
          <a:solidFill>
            <a:srgbClr val="FFFFFF"/>
          </a:solidFill>
          <a:ln w="25400">
            <a:solidFill>
              <a:srgbClr val="0E536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2274635" y="2542032"/>
            <a:ext cx="1250507" cy="1005840"/>
          </a:xfrm>
          <a:prstGeom prst="rect">
            <a:avLst/>
          </a:prstGeom>
          <a:noFill/>
        </p:spPr>
        <p:txBody>
          <a:bodyPr wrap="square" lIns="0" rIns="0" tIns="0" bIns="0" anchor="t">
            <a:spAutoFit/>
          </a:bodyPr>
          <a:lstStyle/>
          <a:p>
            <a:pPr algn="ctr">
              <a:lnSpc>
                <a:spcPct val="110000"/>
              </a:lnSpc>
              <a:spcBef>
                <a:spcPts val="0"/>
              </a:spcBef>
              <a:spcAft>
                <a:spcPts val="200"/>
              </a:spcAft>
            </a:pPr>
            <a:r>
              <a:rPr sz="1900" b="1" i="0" u="none">
                <a:solidFill>
                  <a:srgbClr val="0E5362"/>
                </a:solidFill>
                <a:latin typeface="Segoe UI"/>
                <a:ea typeface="Microsoft YaHei"/>
                <a:cs typeface="Segoe UI"/>
              </a:rPr>
              <a:t>选一边</a:t>
            </a:r>
          </a:p>
          <a:p>
            <a:pPr algn="ctr">
              <a:lnSpc>
                <a:spcPct val="110000"/>
              </a:lnSpc>
              <a:spcBef>
                <a:spcPts val="0"/>
              </a:spcBef>
              <a:spcAft>
                <a:spcPts val="200"/>
              </a:spcAft>
            </a:pPr>
            <a:r>
              <a:rPr sz="1900" b="1" i="0" u="none">
                <a:solidFill>
                  <a:srgbClr val="0E5362"/>
                </a:solidFill>
                <a:latin typeface="Segoe UI"/>
                <a:ea typeface="Microsoft YaHei"/>
                <a:cs typeface="Segoe UI"/>
              </a:rPr>
              <a:t>Position</a:t>
            </a:r>
          </a:p>
        </p:txBody>
      </p:sp>
      <p:sp>
        <p:nvSpPr>
          <p:cNvPr id="13" name="TextBox 12"/>
          <p:cNvSpPr txBox="1"/>
          <p:nvPr/>
        </p:nvSpPr>
        <p:spPr>
          <a:xfrm>
            <a:off x="3580006" y="2798064"/>
            <a:ext cx="237744" cy="365760"/>
          </a:xfrm>
          <a:prstGeom prst="rect">
            <a:avLst/>
          </a:prstGeom>
          <a:noFill/>
        </p:spPr>
        <p:txBody>
          <a:bodyPr wrap="square" lIns="0" rIns="0" tIns="0" bIns="0" anchor="t">
            <a:spAutoFit/>
          </a:bodyPr>
          <a:lstStyle/>
          <a:p>
            <a:pPr algn="ctr">
              <a:lnSpc>
                <a:spcPct val="116000"/>
              </a:lnSpc>
              <a:spcBef>
                <a:spcPts val="0"/>
              </a:spcBef>
              <a:spcAft>
                <a:spcPts val="0"/>
              </a:spcAft>
            </a:pPr>
            <a:r>
              <a:rPr sz="1600" b="0" i="0" u="none">
                <a:solidFill>
                  <a:srgbClr val="CFDDE1"/>
                </a:solidFill>
                <a:latin typeface="Segoe UI"/>
                <a:ea typeface="Microsoft YaHei"/>
                <a:cs typeface="Segoe UI"/>
              </a:rPr>
              <a:t>▶</a:t>
            </a:r>
          </a:p>
        </p:txBody>
      </p:sp>
      <p:sp>
        <p:nvSpPr>
          <p:cNvPr id="14" name="Rounded Rectangle 13"/>
          <p:cNvSpPr/>
          <p:nvPr/>
        </p:nvSpPr>
        <p:spPr>
          <a:xfrm>
            <a:off x="3817750" y="2313432"/>
            <a:ext cx="1360235" cy="1371600"/>
          </a:xfrm>
          <a:prstGeom prst="roundRect">
            <a:avLst>
              <a:gd name="adj" fmla="val 6000"/>
            </a:avLst>
          </a:prstGeom>
          <a:solidFill>
            <a:srgbClr val="FFFFFF"/>
          </a:solidFill>
          <a:ln w="25400">
            <a:solidFill>
              <a:srgbClr val="C9552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872614" y="2542032"/>
            <a:ext cx="1250507" cy="1005840"/>
          </a:xfrm>
          <a:prstGeom prst="rect">
            <a:avLst/>
          </a:prstGeom>
          <a:noFill/>
        </p:spPr>
        <p:txBody>
          <a:bodyPr wrap="square" lIns="0" rIns="0" tIns="0" bIns="0" anchor="t">
            <a:spAutoFit/>
          </a:bodyPr>
          <a:lstStyle/>
          <a:p>
            <a:pPr algn="ctr">
              <a:lnSpc>
                <a:spcPct val="110000"/>
              </a:lnSpc>
              <a:spcBef>
                <a:spcPts val="0"/>
              </a:spcBef>
              <a:spcAft>
                <a:spcPts val="200"/>
              </a:spcAft>
            </a:pPr>
            <a:r>
              <a:rPr sz="1900" b="1" i="0" u="none">
                <a:solidFill>
                  <a:srgbClr val="C95527"/>
                </a:solidFill>
                <a:latin typeface="Segoe UI"/>
                <a:ea typeface="Microsoft YaHei"/>
                <a:cs typeface="Segoe UI"/>
              </a:rPr>
              <a:t>找理由</a:t>
            </a:r>
          </a:p>
          <a:p>
            <a:pPr algn="ctr">
              <a:lnSpc>
                <a:spcPct val="110000"/>
              </a:lnSpc>
              <a:spcBef>
                <a:spcPts val="0"/>
              </a:spcBef>
              <a:spcAft>
                <a:spcPts val="200"/>
              </a:spcAft>
            </a:pPr>
            <a:r>
              <a:rPr sz="1900" b="1" i="0" u="none">
                <a:solidFill>
                  <a:srgbClr val="C95527"/>
                </a:solidFill>
                <a:latin typeface="Segoe UI"/>
                <a:ea typeface="Microsoft YaHei"/>
                <a:cs typeface="Segoe UI"/>
              </a:rPr>
              <a:t>Reason</a:t>
            </a:r>
          </a:p>
        </p:txBody>
      </p:sp>
      <p:sp>
        <p:nvSpPr>
          <p:cNvPr id="16" name="TextBox 15"/>
          <p:cNvSpPr txBox="1"/>
          <p:nvPr/>
        </p:nvSpPr>
        <p:spPr>
          <a:xfrm>
            <a:off x="5177985" y="2798064"/>
            <a:ext cx="237744" cy="365760"/>
          </a:xfrm>
          <a:prstGeom prst="rect">
            <a:avLst/>
          </a:prstGeom>
          <a:noFill/>
        </p:spPr>
        <p:txBody>
          <a:bodyPr wrap="square" lIns="0" rIns="0" tIns="0" bIns="0" anchor="t">
            <a:spAutoFit/>
          </a:bodyPr>
          <a:lstStyle/>
          <a:p>
            <a:pPr algn="ctr">
              <a:lnSpc>
                <a:spcPct val="116000"/>
              </a:lnSpc>
              <a:spcBef>
                <a:spcPts val="0"/>
              </a:spcBef>
              <a:spcAft>
                <a:spcPts val="0"/>
              </a:spcAft>
            </a:pPr>
            <a:r>
              <a:rPr sz="1600" b="0" i="0" u="none">
                <a:solidFill>
                  <a:srgbClr val="CFDDE1"/>
                </a:solidFill>
                <a:latin typeface="Segoe UI"/>
                <a:ea typeface="Microsoft YaHei"/>
                <a:cs typeface="Segoe UI"/>
              </a:rPr>
              <a:t>▶</a:t>
            </a:r>
          </a:p>
        </p:txBody>
      </p:sp>
      <p:sp>
        <p:nvSpPr>
          <p:cNvPr id="17" name="Rounded Rectangle 16"/>
          <p:cNvSpPr/>
          <p:nvPr/>
        </p:nvSpPr>
        <p:spPr>
          <a:xfrm>
            <a:off x="5415729" y="2313432"/>
            <a:ext cx="1360235" cy="1371600"/>
          </a:xfrm>
          <a:prstGeom prst="roundRect">
            <a:avLst>
              <a:gd name="adj" fmla="val 6000"/>
            </a:avLst>
          </a:prstGeom>
          <a:solidFill>
            <a:srgbClr val="FFFFFF"/>
          </a:solidFill>
          <a:ln w="25400">
            <a:solidFill>
              <a:srgbClr val="C9552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470593" y="2542032"/>
            <a:ext cx="1250507" cy="1005840"/>
          </a:xfrm>
          <a:prstGeom prst="rect">
            <a:avLst/>
          </a:prstGeom>
          <a:noFill/>
        </p:spPr>
        <p:txBody>
          <a:bodyPr wrap="square" lIns="0" rIns="0" tIns="0" bIns="0" anchor="t">
            <a:spAutoFit/>
          </a:bodyPr>
          <a:lstStyle/>
          <a:p>
            <a:pPr algn="ctr">
              <a:lnSpc>
                <a:spcPct val="110000"/>
              </a:lnSpc>
              <a:spcBef>
                <a:spcPts val="0"/>
              </a:spcBef>
              <a:spcAft>
                <a:spcPts val="200"/>
              </a:spcAft>
            </a:pPr>
            <a:r>
              <a:rPr sz="1900" b="1" i="0" u="none">
                <a:solidFill>
                  <a:srgbClr val="C95527"/>
                </a:solidFill>
                <a:latin typeface="Segoe UI"/>
                <a:ea typeface="Microsoft YaHei"/>
                <a:cs typeface="Segoe UI"/>
              </a:rPr>
              <a:t>解释</a:t>
            </a:r>
          </a:p>
          <a:p>
            <a:pPr algn="ctr">
              <a:lnSpc>
                <a:spcPct val="110000"/>
              </a:lnSpc>
              <a:spcBef>
                <a:spcPts val="0"/>
              </a:spcBef>
              <a:spcAft>
                <a:spcPts val="200"/>
              </a:spcAft>
            </a:pPr>
            <a:r>
              <a:rPr sz="1900" b="1" i="0" u="none">
                <a:solidFill>
                  <a:srgbClr val="C95527"/>
                </a:solidFill>
                <a:latin typeface="Segoe UI"/>
                <a:ea typeface="Microsoft YaHei"/>
                <a:cs typeface="Segoe UI"/>
              </a:rPr>
              <a:t>WHY</a:t>
            </a:r>
          </a:p>
        </p:txBody>
      </p:sp>
      <p:sp>
        <p:nvSpPr>
          <p:cNvPr id="19" name="TextBox 18"/>
          <p:cNvSpPr txBox="1"/>
          <p:nvPr/>
        </p:nvSpPr>
        <p:spPr>
          <a:xfrm>
            <a:off x="6775965" y="2798064"/>
            <a:ext cx="237744" cy="365760"/>
          </a:xfrm>
          <a:prstGeom prst="rect">
            <a:avLst/>
          </a:prstGeom>
          <a:noFill/>
        </p:spPr>
        <p:txBody>
          <a:bodyPr wrap="square" lIns="0" rIns="0" tIns="0" bIns="0" anchor="t">
            <a:spAutoFit/>
          </a:bodyPr>
          <a:lstStyle/>
          <a:p>
            <a:pPr algn="ctr">
              <a:lnSpc>
                <a:spcPct val="116000"/>
              </a:lnSpc>
              <a:spcBef>
                <a:spcPts val="0"/>
              </a:spcBef>
              <a:spcAft>
                <a:spcPts val="0"/>
              </a:spcAft>
            </a:pPr>
            <a:r>
              <a:rPr sz="1600" b="0" i="0" u="none">
                <a:solidFill>
                  <a:srgbClr val="CFDDE1"/>
                </a:solidFill>
                <a:latin typeface="Segoe UI"/>
                <a:ea typeface="Microsoft YaHei"/>
                <a:cs typeface="Segoe UI"/>
              </a:rPr>
              <a:t>▶</a:t>
            </a:r>
          </a:p>
        </p:txBody>
      </p:sp>
      <p:sp>
        <p:nvSpPr>
          <p:cNvPr id="20" name="Rounded Rectangle 19"/>
          <p:cNvSpPr/>
          <p:nvPr/>
        </p:nvSpPr>
        <p:spPr>
          <a:xfrm>
            <a:off x="7013709" y="2313432"/>
            <a:ext cx="1360235" cy="1371600"/>
          </a:xfrm>
          <a:prstGeom prst="roundRect">
            <a:avLst>
              <a:gd name="adj" fmla="val 6000"/>
            </a:avLst>
          </a:prstGeom>
          <a:solidFill>
            <a:srgbClr val="FFFFFF"/>
          </a:solidFill>
          <a:ln w="25400">
            <a:solidFill>
              <a:srgbClr val="C9552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068573" y="2542032"/>
            <a:ext cx="1250507" cy="1005840"/>
          </a:xfrm>
          <a:prstGeom prst="rect">
            <a:avLst/>
          </a:prstGeom>
          <a:noFill/>
        </p:spPr>
        <p:txBody>
          <a:bodyPr wrap="square" lIns="0" rIns="0" tIns="0" bIns="0" anchor="t">
            <a:spAutoFit/>
          </a:bodyPr>
          <a:lstStyle/>
          <a:p>
            <a:pPr algn="ctr">
              <a:lnSpc>
                <a:spcPct val="110000"/>
              </a:lnSpc>
              <a:spcBef>
                <a:spcPts val="0"/>
              </a:spcBef>
              <a:spcAft>
                <a:spcPts val="200"/>
              </a:spcAft>
            </a:pPr>
            <a:r>
              <a:rPr sz="1900" b="1" i="0" u="none">
                <a:solidFill>
                  <a:srgbClr val="C95527"/>
                </a:solidFill>
                <a:latin typeface="Segoe UI"/>
                <a:ea typeface="Microsoft YaHei"/>
                <a:cs typeface="Segoe UI"/>
              </a:rPr>
              <a:t>举例子</a:t>
            </a:r>
          </a:p>
          <a:p>
            <a:pPr algn="ctr">
              <a:lnSpc>
                <a:spcPct val="110000"/>
              </a:lnSpc>
              <a:spcBef>
                <a:spcPts val="0"/>
              </a:spcBef>
              <a:spcAft>
                <a:spcPts val="200"/>
              </a:spcAft>
            </a:pPr>
            <a:r>
              <a:rPr sz="1900" b="1" i="0" u="none">
                <a:solidFill>
                  <a:srgbClr val="C95527"/>
                </a:solidFill>
                <a:latin typeface="Segoe UI"/>
                <a:ea typeface="Microsoft YaHei"/>
                <a:cs typeface="Segoe UI"/>
              </a:rPr>
              <a:t>Example</a:t>
            </a:r>
          </a:p>
        </p:txBody>
      </p:sp>
      <p:sp>
        <p:nvSpPr>
          <p:cNvPr id="22" name="TextBox 21"/>
          <p:cNvSpPr txBox="1"/>
          <p:nvPr/>
        </p:nvSpPr>
        <p:spPr>
          <a:xfrm>
            <a:off x="8373944" y="2798064"/>
            <a:ext cx="237744" cy="365760"/>
          </a:xfrm>
          <a:prstGeom prst="rect">
            <a:avLst/>
          </a:prstGeom>
          <a:noFill/>
        </p:spPr>
        <p:txBody>
          <a:bodyPr wrap="square" lIns="0" rIns="0" tIns="0" bIns="0" anchor="t">
            <a:spAutoFit/>
          </a:bodyPr>
          <a:lstStyle/>
          <a:p>
            <a:pPr algn="ctr">
              <a:lnSpc>
                <a:spcPct val="116000"/>
              </a:lnSpc>
              <a:spcBef>
                <a:spcPts val="0"/>
              </a:spcBef>
              <a:spcAft>
                <a:spcPts val="0"/>
              </a:spcAft>
            </a:pPr>
            <a:r>
              <a:rPr sz="1600" b="0" i="0" u="none">
                <a:solidFill>
                  <a:srgbClr val="CFDDE1"/>
                </a:solidFill>
                <a:latin typeface="Segoe UI"/>
                <a:ea typeface="Microsoft YaHei"/>
                <a:cs typeface="Segoe UI"/>
              </a:rPr>
              <a:t>▶</a:t>
            </a:r>
          </a:p>
        </p:txBody>
      </p:sp>
      <p:sp>
        <p:nvSpPr>
          <p:cNvPr id="23" name="Rounded Rectangle 22"/>
          <p:cNvSpPr/>
          <p:nvPr/>
        </p:nvSpPr>
        <p:spPr>
          <a:xfrm>
            <a:off x="8611688" y="2313432"/>
            <a:ext cx="1360235" cy="1371600"/>
          </a:xfrm>
          <a:prstGeom prst="roundRect">
            <a:avLst>
              <a:gd name="adj" fmla="val 6000"/>
            </a:avLst>
          </a:prstGeom>
          <a:solidFill>
            <a:srgbClr val="FFFFFF"/>
          </a:solidFill>
          <a:ln w="25400">
            <a:solidFill>
              <a:srgbClr val="C9552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666552" y="2542032"/>
            <a:ext cx="1250507" cy="1005840"/>
          </a:xfrm>
          <a:prstGeom prst="rect">
            <a:avLst/>
          </a:prstGeom>
          <a:noFill/>
        </p:spPr>
        <p:txBody>
          <a:bodyPr wrap="square" lIns="0" rIns="0" tIns="0" bIns="0" anchor="t">
            <a:spAutoFit/>
          </a:bodyPr>
          <a:lstStyle/>
          <a:p>
            <a:pPr algn="ctr">
              <a:lnSpc>
                <a:spcPct val="110000"/>
              </a:lnSpc>
              <a:spcBef>
                <a:spcPts val="0"/>
              </a:spcBef>
              <a:spcAft>
                <a:spcPts val="200"/>
              </a:spcAft>
            </a:pPr>
            <a:r>
              <a:rPr sz="1900" b="1" i="0" u="none">
                <a:solidFill>
                  <a:srgbClr val="C95527"/>
                </a:solidFill>
                <a:latin typeface="Segoe UI"/>
                <a:ea typeface="Microsoft YaHei"/>
                <a:cs typeface="Segoe UI"/>
              </a:rPr>
              <a:t>给结果</a:t>
            </a:r>
          </a:p>
          <a:p>
            <a:pPr algn="ctr">
              <a:lnSpc>
                <a:spcPct val="110000"/>
              </a:lnSpc>
              <a:spcBef>
                <a:spcPts val="0"/>
              </a:spcBef>
              <a:spcAft>
                <a:spcPts val="200"/>
              </a:spcAft>
            </a:pPr>
            <a:r>
              <a:rPr sz="1900" b="1" i="0" u="none">
                <a:solidFill>
                  <a:srgbClr val="C95527"/>
                </a:solidFill>
                <a:latin typeface="Segoe UI"/>
                <a:ea typeface="Microsoft YaHei"/>
                <a:cs typeface="Segoe UI"/>
              </a:rPr>
              <a:t>Result</a:t>
            </a:r>
          </a:p>
        </p:txBody>
      </p:sp>
      <p:sp>
        <p:nvSpPr>
          <p:cNvPr id="25" name="TextBox 24"/>
          <p:cNvSpPr txBox="1"/>
          <p:nvPr/>
        </p:nvSpPr>
        <p:spPr>
          <a:xfrm>
            <a:off x="9971923" y="2798064"/>
            <a:ext cx="237744" cy="365760"/>
          </a:xfrm>
          <a:prstGeom prst="rect">
            <a:avLst/>
          </a:prstGeom>
          <a:noFill/>
        </p:spPr>
        <p:txBody>
          <a:bodyPr wrap="square" lIns="0" rIns="0" tIns="0" bIns="0" anchor="t">
            <a:spAutoFit/>
          </a:bodyPr>
          <a:lstStyle/>
          <a:p>
            <a:pPr algn="ctr">
              <a:lnSpc>
                <a:spcPct val="116000"/>
              </a:lnSpc>
              <a:spcBef>
                <a:spcPts val="0"/>
              </a:spcBef>
              <a:spcAft>
                <a:spcPts val="0"/>
              </a:spcAft>
            </a:pPr>
            <a:r>
              <a:rPr sz="1600" b="0" i="0" u="none">
                <a:solidFill>
                  <a:srgbClr val="CFDDE1"/>
                </a:solidFill>
                <a:latin typeface="Segoe UI"/>
                <a:ea typeface="Microsoft YaHei"/>
                <a:cs typeface="Segoe UI"/>
              </a:rPr>
              <a:t>▶</a:t>
            </a:r>
          </a:p>
        </p:txBody>
      </p:sp>
      <p:sp>
        <p:nvSpPr>
          <p:cNvPr id="26" name="Rounded Rectangle 25"/>
          <p:cNvSpPr/>
          <p:nvPr/>
        </p:nvSpPr>
        <p:spPr>
          <a:xfrm>
            <a:off x="10209667" y="2313432"/>
            <a:ext cx="1360235" cy="1371600"/>
          </a:xfrm>
          <a:prstGeom prst="roundRect">
            <a:avLst>
              <a:gd name="adj" fmla="val 6000"/>
            </a:avLst>
          </a:prstGeom>
          <a:solidFill>
            <a:srgbClr val="FFFFFF"/>
          </a:solidFill>
          <a:ln w="25400">
            <a:solidFill>
              <a:srgbClr val="B083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10264531" y="2542032"/>
            <a:ext cx="1250507" cy="1005840"/>
          </a:xfrm>
          <a:prstGeom prst="rect">
            <a:avLst/>
          </a:prstGeom>
          <a:noFill/>
        </p:spPr>
        <p:txBody>
          <a:bodyPr wrap="square" lIns="0" rIns="0" tIns="0" bIns="0" anchor="t">
            <a:spAutoFit/>
          </a:bodyPr>
          <a:lstStyle/>
          <a:p>
            <a:pPr algn="ctr">
              <a:lnSpc>
                <a:spcPct val="110000"/>
              </a:lnSpc>
              <a:spcBef>
                <a:spcPts val="0"/>
              </a:spcBef>
              <a:spcAft>
                <a:spcPts val="200"/>
              </a:spcAft>
            </a:pPr>
            <a:r>
              <a:rPr sz="1900" b="1" i="0" u="none">
                <a:solidFill>
                  <a:srgbClr val="B08300"/>
                </a:solidFill>
                <a:latin typeface="Segoe UI"/>
                <a:ea typeface="Microsoft YaHei"/>
                <a:cs typeface="Segoe UI"/>
              </a:rPr>
              <a:t>回应同学</a:t>
            </a:r>
          </a:p>
          <a:p>
            <a:pPr algn="ctr">
              <a:lnSpc>
                <a:spcPct val="110000"/>
              </a:lnSpc>
              <a:spcBef>
                <a:spcPts val="0"/>
              </a:spcBef>
              <a:spcAft>
                <a:spcPts val="200"/>
              </a:spcAft>
            </a:pPr>
            <a:r>
              <a:rPr sz="1900" b="1" i="0" u="none">
                <a:solidFill>
                  <a:srgbClr val="B08300"/>
                </a:solidFill>
                <a:latin typeface="Segoe UI"/>
                <a:ea typeface="Microsoft YaHei"/>
                <a:cs typeface="Segoe UI"/>
              </a:rPr>
              <a:t>Contribution</a:t>
            </a:r>
          </a:p>
        </p:txBody>
      </p:sp>
      <p:sp>
        <p:nvSpPr>
          <p:cNvPr id="28" name="Rounded Rectangle 27"/>
          <p:cNvSpPr/>
          <p:nvPr/>
        </p:nvSpPr>
        <p:spPr>
          <a:xfrm>
            <a:off x="621792" y="4142232"/>
            <a:ext cx="10948111" cy="1371600"/>
          </a:xfrm>
          <a:prstGeom prst="roundRect">
            <a:avLst>
              <a:gd name="adj" fmla="val 6000"/>
            </a:avLst>
          </a:prstGeom>
          <a:solidFill>
            <a:srgbClr val="F3F8F9"/>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987552" y="4370832"/>
            <a:ext cx="10216591" cy="1005840"/>
          </a:xfrm>
          <a:prstGeom prst="rect">
            <a:avLst/>
          </a:prstGeom>
          <a:noFill/>
        </p:spPr>
        <p:txBody>
          <a:bodyPr wrap="square" lIns="0" rIns="0" tIns="0" bIns="0" anchor="t">
            <a:spAutoFit/>
          </a:bodyPr>
          <a:lstStyle/>
          <a:p>
            <a:pPr algn="l">
              <a:lnSpc>
                <a:spcPct val="116000"/>
              </a:lnSpc>
              <a:spcBef>
                <a:spcPts val="0"/>
              </a:spcBef>
              <a:spcAft>
                <a:spcPts val="800"/>
              </a:spcAft>
            </a:pPr>
            <a:r>
              <a:rPr sz="2200" b="1" i="0" u="none">
                <a:solidFill>
                  <a:srgbClr val="0E5362"/>
                </a:solidFill>
                <a:latin typeface="Segoe UI"/>
                <a:ea typeface="Microsoft YaHei"/>
                <a:cs typeface="Segoe UI"/>
              </a:rPr>
              <a:t>第 1 课我们用 Internship 走了一遍。今天换一道你从没见过的官方题，再走一遍。</a:t>
            </a:r>
          </a:p>
          <a:p>
            <a:pPr algn="l">
              <a:lnSpc>
                <a:spcPct val="116000"/>
              </a:lnSpc>
              <a:spcBef>
                <a:spcPts val="0"/>
              </a:spcBef>
              <a:spcAft>
                <a:spcPts val="0"/>
              </a:spcAft>
            </a:pPr>
            <a:r>
              <a:rPr sz="1900" b="0" i="0" u="none">
                <a:solidFill>
                  <a:srgbClr val="172A31"/>
                </a:solidFill>
                <a:latin typeface="Segoe UI"/>
                <a:ea typeface="Microsoft YaHei"/>
                <a:cs typeface="Segoe UI"/>
              </a:rPr>
              <a:t>如果两道完全不同的题都能走通，说明你拿到的是方法，不是范文。</a:t>
            </a:r>
          </a:p>
        </p:txBody>
      </p:sp>
      <p:sp>
        <p:nvSpPr>
          <p:cNvPr id="30" name="Rounded Rectangle 29"/>
          <p:cNvSpPr/>
          <p:nvPr/>
        </p:nvSpPr>
        <p:spPr>
          <a:xfrm>
            <a:off x="621792" y="5605272"/>
            <a:ext cx="10948111" cy="566928"/>
          </a:xfrm>
          <a:prstGeom prst="roundRect">
            <a:avLst>
              <a:gd name="adj" fmla="val 6000"/>
            </a:avLst>
          </a:prstGeom>
          <a:solidFill>
            <a:srgbClr val="FAF2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932688" y="5742432"/>
            <a:ext cx="10308031" cy="38404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B08300"/>
                </a:solidFill>
                <a:latin typeface="Segoe UI"/>
                <a:ea typeface="Microsoft YaHei"/>
                <a:cs typeface="Segoe UI"/>
              </a:rPr>
              <a:t>任务：在上面这条链条里，圈出你上次写 Internship 时最卡的那一环。</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53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3" name="Connector 2"/>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1 · Warm-up</a:t>
            </a:r>
          </a:p>
        </p:txBody>
      </p:sp>
      <p:sp>
        <p:nvSpPr>
          <p:cNvPr id="5" name="TextBox 4"/>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6</a:t>
            </a:r>
          </a:p>
        </p:txBody>
      </p:sp>
      <p:sp>
        <p:nvSpPr>
          <p:cNvPr id="6" name="Rectangle 5"/>
          <p:cNvSpPr/>
          <p:nvPr/>
        </p:nvSpPr>
        <p:spPr>
          <a:xfrm>
            <a:off x="0" y="0"/>
            <a:ext cx="310896" cy="6858000"/>
          </a:xfrm>
          <a:prstGeom prst="rect">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371600" y="1481328"/>
            <a:ext cx="10033711" cy="457200"/>
          </a:xfrm>
          <a:prstGeom prst="rect">
            <a:avLst/>
          </a:prstGeom>
          <a:noFill/>
        </p:spPr>
        <p:txBody>
          <a:bodyPr wrap="square" lIns="0" rIns="0" tIns="0" bIns="0" anchor="t">
            <a:spAutoFit/>
          </a:bodyPr>
          <a:lstStyle/>
          <a:p>
            <a:pPr algn="l">
              <a:lnSpc>
                <a:spcPct val="116000"/>
              </a:lnSpc>
              <a:spcBef>
                <a:spcPts val="0"/>
              </a:spcBef>
              <a:spcAft>
                <a:spcPts val="200"/>
              </a:spcAft>
            </a:pPr>
            <a:r>
              <a:rPr sz="4600" b="1" i="0" u="none">
                <a:solidFill>
                  <a:srgbClr val="5C94A0"/>
                </a:solidFill>
                <a:latin typeface="Segoe UI"/>
                <a:ea typeface="Microsoft YaHei"/>
                <a:cs typeface="Segoe UI"/>
              </a:rPr>
              <a:t>PART 1</a:t>
            </a:r>
          </a:p>
        </p:txBody>
      </p:sp>
      <p:sp>
        <p:nvSpPr>
          <p:cNvPr id="8" name="TextBox 7"/>
          <p:cNvSpPr txBox="1"/>
          <p:nvPr/>
        </p:nvSpPr>
        <p:spPr>
          <a:xfrm>
            <a:off x="1371600" y="2395728"/>
            <a:ext cx="10033711" cy="731520"/>
          </a:xfrm>
          <a:prstGeom prst="rect">
            <a:avLst/>
          </a:prstGeom>
          <a:noFill/>
        </p:spPr>
        <p:txBody>
          <a:bodyPr wrap="square" lIns="0" rIns="0" tIns="0" bIns="0" anchor="t">
            <a:spAutoFit/>
          </a:bodyPr>
          <a:lstStyle/>
          <a:p>
            <a:pPr algn="l">
              <a:lnSpc>
                <a:spcPct val="116000"/>
              </a:lnSpc>
              <a:spcBef>
                <a:spcPts val="0"/>
              </a:spcBef>
              <a:spcAft>
                <a:spcPts val="400"/>
              </a:spcAft>
            </a:pPr>
            <a:r>
              <a:rPr sz="4200" b="1" i="0" u="none">
                <a:solidFill>
                  <a:srgbClr val="FFFFFF"/>
                </a:solidFill>
                <a:latin typeface="Segoe UI"/>
                <a:ea typeface="Microsoft YaHei"/>
                <a:cs typeface="Segoe UI"/>
              </a:rPr>
              <a:t>Warm-up</a:t>
            </a:r>
          </a:p>
        </p:txBody>
      </p:sp>
      <p:sp>
        <p:nvSpPr>
          <p:cNvPr id="9" name="TextBox 8"/>
          <p:cNvSpPr txBox="1"/>
          <p:nvPr/>
        </p:nvSpPr>
        <p:spPr>
          <a:xfrm>
            <a:off x="1371600" y="3200400"/>
            <a:ext cx="10033711" cy="411480"/>
          </a:xfrm>
          <a:prstGeom prst="rect">
            <a:avLst/>
          </a:prstGeom>
          <a:noFill/>
        </p:spPr>
        <p:txBody>
          <a:bodyPr wrap="square" lIns="0" rIns="0" tIns="0" bIns="0" anchor="t">
            <a:spAutoFit/>
          </a:bodyPr>
          <a:lstStyle/>
          <a:p>
            <a:pPr algn="l">
              <a:lnSpc>
                <a:spcPct val="116000"/>
              </a:lnSpc>
              <a:spcBef>
                <a:spcPts val="0"/>
              </a:spcBef>
              <a:spcAft>
                <a:spcPts val="0"/>
              </a:spcAft>
            </a:pPr>
            <a:r>
              <a:rPr sz="2200" b="0" i="0" u="none">
                <a:solidFill>
                  <a:srgbClr val="9EC6CE"/>
                </a:solidFill>
                <a:latin typeface="Segoe UI"/>
                <a:ea typeface="Microsoft YaHei"/>
                <a:cs typeface="Segoe UI"/>
              </a:rPr>
              <a:t>把上一节课的方法叫醒</a:t>
            </a:r>
          </a:p>
        </p:txBody>
      </p:sp>
      <p:sp>
        <p:nvSpPr>
          <p:cNvPr id="10" name="Rectangle 9"/>
          <p:cNvSpPr/>
          <p:nvPr/>
        </p:nvSpPr>
        <p:spPr>
          <a:xfrm>
            <a:off x="1371600" y="3886200"/>
            <a:ext cx="54864" cy="640080"/>
          </a:xfrm>
          <a:prstGeom prst="rect">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627632" y="3886200"/>
            <a:ext cx="9119311" cy="73152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FFFFFF"/>
                </a:solidFill>
                <a:latin typeface="Segoe UI"/>
                <a:ea typeface="Microsoft YaHei"/>
                <a:cs typeface="Segoe UI"/>
              </a:rPr>
              <a:t>本环节目标：不重讲理论，只做一件事——把一个空句子补成一条完整的理由链。</a:t>
            </a:r>
          </a:p>
        </p:txBody>
      </p:sp>
      <p:sp>
        <p:nvSpPr>
          <p:cNvPr id="12" name="Rounded Rectangle 11"/>
          <p:cNvSpPr/>
          <p:nvPr/>
        </p:nvSpPr>
        <p:spPr>
          <a:xfrm>
            <a:off x="1371600" y="4892040"/>
            <a:ext cx="841248" cy="365760"/>
          </a:xfrm>
          <a:prstGeom prst="roundRect">
            <a:avLst>
              <a:gd name="adj" fmla="val 40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371600" y="4933188"/>
            <a:ext cx="841248" cy="365760"/>
          </a:xfrm>
          <a:prstGeom prst="rect">
            <a:avLst/>
          </a:prstGeom>
          <a:noFill/>
        </p:spPr>
        <p:txBody>
          <a:bodyPr wrap="square" lIns="0" rIns="0" tIns="0" bIns="0" anchor="t">
            <a:spAutoFit/>
          </a:bodyPr>
          <a:lstStyle/>
          <a:p>
            <a:pPr algn="ctr">
              <a:lnSpc>
                <a:spcPct val="116000"/>
              </a:lnSpc>
              <a:spcBef>
                <a:spcPts val="0"/>
              </a:spcBef>
              <a:spcAft>
                <a:spcPts val="0"/>
              </a:spcAft>
            </a:pPr>
            <a:r>
              <a:rPr sz="1700" b="1" i="0" u="none">
                <a:solidFill>
                  <a:srgbClr val="FFFFFF"/>
                </a:solidFill>
                <a:latin typeface="Segoe UI"/>
                <a:ea typeface="Microsoft YaHei"/>
                <a:cs typeface="Segoe UI"/>
              </a:rPr>
              <a:t>10 分钟</a:t>
            </a:r>
          </a:p>
        </p:txBody>
      </p:sp>
      <p:sp>
        <p:nvSpPr>
          <p:cNvPr id="14" name="TextBox 13"/>
          <p:cNvSpPr txBox="1"/>
          <p:nvPr/>
        </p:nvSpPr>
        <p:spPr>
          <a:xfrm>
            <a:off x="3200400" y="4937760"/>
            <a:ext cx="8022031" cy="45720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9EC6CE"/>
                </a:solidFill>
                <a:latin typeface="Segoe UI"/>
                <a:ea typeface="Microsoft YaHei"/>
                <a:cs typeface="Segoe UI"/>
              </a:rPr>
              <a:t>一个句子 · 三个空 · 每人一条</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1 · Warm-up</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7</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WARM-UP · 规则</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一个句子，三个空</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719072"/>
            <a:ext cx="10948111" cy="1005840"/>
          </a:xfrm>
          <a:prstGeom prst="roundRect">
            <a:avLst>
              <a:gd name="adj" fmla="val 6000"/>
            </a:avLst>
          </a:prstGeom>
          <a:solidFill>
            <a:srgbClr val="0E53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87552" y="1956816"/>
            <a:ext cx="10216591" cy="548640"/>
          </a:xfrm>
          <a:prstGeom prst="rect">
            <a:avLst/>
          </a:prstGeom>
          <a:noFill/>
        </p:spPr>
        <p:txBody>
          <a:bodyPr wrap="square" lIns="0" rIns="0" tIns="0" bIns="0" anchor="t">
            <a:spAutoFit/>
          </a:bodyPr>
          <a:lstStyle/>
          <a:p>
            <a:pPr algn="ctr">
              <a:lnSpc>
                <a:spcPct val="116000"/>
              </a:lnSpc>
              <a:spcBef>
                <a:spcPts val="0"/>
              </a:spcBef>
              <a:spcAft>
                <a:spcPts val="0"/>
              </a:spcAft>
            </a:pPr>
            <a:r>
              <a:rPr sz="2800" b="1" i="0" u="none">
                <a:solidFill>
                  <a:srgbClr val="FFFFFF"/>
                </a:solidFill>
                <a:latin typeface="Segoe UI"/>
                <a:ea typeface="Microsoft YaHei"/>
                <a:cs typeface="Segoe UI"/>
              </a:rPr>
              <a:t>______________ is beneficial because ______________.</a:t>
            </a:r>
          </a:p>
        </p:txBody>
      </p:sp>
      <p:sp>
        <p:nvSpPr>
          <p:cNvPr id="10" name="Rounded Rectangle 9"/>
          <p:cNvSpPr/>
          <p:nvPr/>
        </p:nvSpPr>
        <p:spPr>
          <a:xfrm>
            <a:off x="621792" y="2999232"/>
            <a:ext cx="10948111" cy="804672"/>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21792" y="2999232"/>
            <a:ext cx="1417320" cy="804672"/>
          </a:xfrm>
          <a:prstGeom prst="roundRect">
            <a:avLst>
              <a:gd name="adj" fmla="val 6000"/>
            </a:avLst>
          </a:prstGeom>
          <a:solidFill>
            <a:srgbClr val="FBEC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21792" y="3200400"/>
            <a:ext cx="1417320" cy="411480"/>
          </a:xfrm>
          <a:prstGeom prst="rect">
            <a:avLst/>
          </a:prstGeom>
          <a:noFill/>
        </p:spPr>
        <p:txBody>
          <a:bodyPr wrap="square" lIns="0" rIns="0" tIns="0" bIns="0" anchor="t">
            <a:spAutoFit/>
          </a:bodyPr>
          <a:lstStyle/>
          <a:p>
            <a:pPr algn="ctr">
              <a:lnSpc>
                <a:spcPct val="116000"/>
              </a:lnSpc>
              <a:spcBef>
                <a:spcPts val="0"/>
              </a:spcBef>
              <a:spcAft>
                <a:spcPts val="0"/>
              </a:spcAft>
            </a:pPr>
            <a:r>
              <a:rPr sz="2000" b="1" i="0" u="none">
                <a:solidFill>
                  <a:srgbClr val="C95527"/>
                </a:solidFill>
                <a:latin typeface="Segoe UI"/>
                <a:ea typeface="Microsoft YaHei"/>
                <a:cs typeface="Segoe UI"/>
              </a:rPr>
              <a:t>Reason</a:t>
            </a:r>
          </a:p>
        </p:txBody>
      </p:sp>
      <p:sp>
        <p:nvSpPr>
          <p:cNvPr id="13" name="TextBox 12"/>
          <p:cNvSpPr txBox="1"/>
          <p:nvPr/>
        </p:nvSpPr>
        <p:spPr>
          <a:xfrm>
            <a:off x="2267712" y="3218688"/>
            <a:ext cx="8936431" cy="45720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理由是什么？（不许写 it is good）</a:t>
            </a:r>
          </a:p>
        </p:txBody>
      </p:sp>
      <p:sp>
        <p:nvSpPr>
          <p:cNvPr id="14" name="Rounded Rectangle 13"/>
          <p:cNvSpPr/>
          <p:nvPr/>
        </p:nvSpPr>
        <p:spPr>
          <a:xfrm>
            <a:off x="621792" y="3913632"/>
            <a:ext cx="10948111" cy="804672"/>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621792" y="3913632"/>
            <a:ext cx="1417320" cy="804672"/>
          </a:xfrm>
          <a:prstGeom prst="roundRect">
            <a:avLst>
              <a:gd name="adj" fmla="val 6000"/>
            </a:avLst>
          </a:prstGeom>
          <a:solidFill>
            <a:srgbClr val="FBEC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21792" y="4114800"/>
            <a:ext cx="1417320" cy="411480"/>
          </a:xfrm>
          <a:prstGeom prst="rect">
            <a:avLst/>
          </a:prstGeom>
          <a:noFill/>
        </p:spPr>
        <p:txBody>
          <a:bodyPr wrap="square" lIns="0" rIns="0" tIns="0" bIns="0" anchor="t">
            <a:spAutoFit/>
          </a:bodyPr>
          <a:lstStyle/>
          <a:p>
            <a:pPr algn="ctr">
              <a:lnSpc>
                <a:spcPct val="116000"/>
              </a:lnSpc>
              <a:spcBef>
                <a:spcPts val="0"/>
              </a:spcBef>
              <a:spcAft>
                <a:spcPts val="0"/>
              </a:spcAft>
            </a:pPr>
            <a:r>
              <a:rPr sz="2000" b="1" i="0" u="none">
                <a:solidFill>
                  <a:srgbClr val="C95527"/>
                </a:solidFill>
                <a:latin typeface="Segoe UI"/>
                <a:ea typeface="Microsoft YaHei"/>
                <a:cs typeface="Segoe UI"/>
              </a:rPr>
              <a:t>Why</a:t>
            </a:r>
          </a:p>
        </p:txBody>
      </p:sp>
      <p:sp>
        <p:nvSpPr>
          <p:cNvPr id="17" name="TextBox 16"/>
          <p:cNvSpPr txBox="1"/>
          <p:nvPr/>
        </p:nvSpPr>
        <p:spPr>
          <a:xfrm>
            <a:off x="2267712" y="4133088"/>
            <a:ext cx="8936431" cy="45720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为什么会这样？它是怎么发生的？</a:t>
            </a:r>
          </a:p>
        </p:txBody>
      </p:sp>
      <p:sp>
        <p:nvSpPr>
          <p:cNvPr id="18" name="Rounded Rectangle 17"/>
          <p:cNvSpPr/>
          <p:nvPr/>
        </p:nvSpPr>
        <p:spPr>
          <a:xfrm>
            <a:off x="621792" y="4828032"/>
            <a:ext cx="10948111" cy="804672"/>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621792" y="4828032"/>
            <a:ext cx="1417320" cy="804672"/>
          </a:xfrm>
          <a:prstGeom prst="roundRect">
            <a:avLst>
              <a:gd name="adj" fmla="val 6000"/>
            </a:avLst>
          </a:prstGeom>
          <a:solidFill>
            <a:srgbClr val="FBEC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21792" y="5029200"/>
            <a:ext cx="1417320" cy="411480"/>
          </a:xfrm>
          <a:prstGeom prst="rect">
            <a:avLst/>
          </a:prstGeom>
          <a:noFill/>
        </p:spPr>
        <p:txBody>
          <a:bodyPr wrap="square" lIns="0" rIns="0" tIns="0" bIns="0" anchor="t">
            <a:spAutoFit/>
          </a:bodyPr>
          <a:lstStyle/>
          <a:p>
            <a:pPr algn="ctr">
              <a:lnSpc>
                <a:spcPct val="116000"/>
              </a:lnSpc>
              <a:spcBef>
                <a:spcPts val="0"/>
              </a:spcBef>
              <a:spcAft>
                <a:spcPts val="0"/>
              </a:spcAft>
            </a:pPr>
            <a:r>
              <a:rPr sz="2000" b="1" i="0" u="none">
                <a:solidFill>
                  <a:srgbClr val="C95527"/>
                </a:solidFill>
                <a:latin typeface="Segoe UI"/>
                <a:ea typeface="Microsoft YaHei"/>
                <a:cs typeface="Segoe UI"/>
              </a:rPr>
              <a:t>Example</a:t>
            </a:r>
          </a:p>
        </p:txBody>
      </p:sp>
      <p:sp>
        <p:nvSpPr>
          <p:cNvPr id="21" name="TextBox 20"/>
          <p:cNvSpPr txBox="1"/>
          <p:nvPr/>
        </p:nvSpPr>
        <p:spPr>
          <a:xfrm>
            <a:off x="2267712" y="5047488"/>
            <a:ext cx="8936431" cy="45720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谁 + 做了什么 + 结果怎样？</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1 · Warm-up</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8</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先说清楚 · 免得各写各的</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先把三个词对齐</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764792"/>
            <a:ext cx="10948111" cy="1298448"/>
          </a:xfrm>
          <a:prstGeom prst="roundRect">
            <a:avLst>
              <a:gd name="adj" fmla="val 6000"/>
            </a:avLst>
          </a:prstGeom>
          <a:solidFill>
            <a:srgbClr val="FFFFFF"/>
          </a:solidFill>
          <a:ln w="22860">
            <a:solidFill>
              <a:srgbClr val="0E536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621792" y="1764792"/>
            <a:ext cx="2651760" cy="1298448"/>
          </a:xfrm>
          <a:prstGeom prst="roundRect">
            <a:avLst>
              <a:gd name="adj" fmla="val 6000"/>
            </a:avLst>
          </a:prstGeom>
          <a:solidFill>
            <a:srgbClr val="0E53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31520" y="2057400"/>
            <a:ext cx="2432304" cy="457200"/>
          </a:xfrm>
          <a:prstGeom prst="rect">
            <a:avLst/>
          </a:prstGeom>
          <a:noFill/>
        </p:spPr>
        <p:txBody>
          <a:bodyPr wrap="square" lIns="0" rIns="0" tIns="0" bIns="0" anchor="t">
            <a:spAutoFit/>
          </a:bodyPr>
          <a:lstStyle/>
          <a:p>
            <a:pPr algn="ctr">
              <a:lnSpc>
                <a:spcPct val="116000"/>
              </a:lnSpc>
              <a:spcBef>
                <a:spcPts val="0"/>
              </a:spcBef>
              <a:spcAft>
                <a:spcPts val="200"/>
              </a:spcAft>
            </a:pPr>
            <a:r>
              <a:rPr sz="2100" b="1" i="0" u="none">
                <a:solidFill>
                  <a:srgbClr val="FFFFFF"/>
                </a:solidFill>
                <a:latin typeface="Segoe UI"/>
                <a:ea typeface="Microsoft YaHei"/>
                <a:cs typeface="Segoe UI"/>
              </a:rPr>
              <a:t>Reason</a:t>
            </a:r>
          </a:p>
          <a:p>
            <a:pPr algn="ctr">
              <a:lnSpc>
                <a:spcPct val="116000"/>
              </a:lnSpc>
              <a:spcBef>
                <a:spcPts val="0"/>
              </a:spcBef>
              <a:spcAft>
                <a:spcPts val="0"/>
              </a:spcAft>
            </a:pPr>
            <a:r>
              <a:rPr sz="1900" b="0" i="0" u="none">
                <a:solidFill>
                  <a:srgbClr val="ECF2F4"/>
                </a:solidFill>
                <a:latin typeface="Segoe UI"/>
                <a:ea typeface="Microsoft YaHei"/>
                <a:cs typeface="Segoe UI"/>
              </a:rPr>
              <a:t>理由</a:t>
            </a:r>
          </a:p>
        </p:txBody>
      </p:sp>
      <p:sp>
        <p:nvSpPr>
          <p:cNvPr id="11" name="TextBox 10"/>
          <p:cNvSpPr txBox="1"/>
          <p:nvPr/>
        </p:nvSpPr>
        <p:spPr>
          <a:xfrm>
            <a:off x="3547872" y="1965960"/>
            <a:ext cx="7747711" cy="41148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172A31"/>
                </a:solidFill>
                <a:latin typeface="Segoe UI"/>
                <a:ea typeface="Microsoft YaHei"/>
                <a:cs typeface="Segoe UI"/>
              </a:rPr>
              <a:t>回答「为什么你这么认为」。一句话，必须有具体内容。</a:t>
            </a:r>
          </a:p>
        </p:txBody>
      </p:sp>
      <p:sp>
        <p:nvSpPr>
          <p:cNvPr id="12" name="TextBox 11"/>
          <p:cNvSpPr txBox="1"/>
          <p:nvPr/>
        </p:nvSpPr>
        <p:spPr>
          <a:xfrm>
            <a:off x="3547872" y="2478024"/>
            <a:ext cx="7747711" cy="411480"/>
          </a:xfrm>
          <a:prstGeom prst="rect">
            <a:avLst/>
          </a:prstGeom>
          <a:noFill/>
        </p:spPr>
        <p:txBody>
          <a:bodyPr wrap="square" lIns="0" rIns="0" tIns="0" bIns="0" anchor="t">
            <a:spAutoFit/>
          </a:bodyPr>
          <a:lstStyle/>
          <a:p>
            <a:pPr algn="l">
              <a:lnSpc>
                <a:spcPct val="116000"/>
              </a:lnSpc>
              <a:spcBef>
                <a:spcPts val="0"/>
              </a:spcBef>
              <a:spcAft>
                <a:spcPts val="0"/>
              </a:spcAft>
            </a:pPr>
            <a:r>
              <a:rPr sz="1900" b="0" i="1" u="none">
                <a:solidFill>
                  <a:srgbClr val="0E5362"/>
                </a:solidFill>
                <a:latin typeface="Segoe UI"/>
                <a:ea typeface="Microsoft YaHei"/>
                <a:cs typeface="Segoe UI"/>
              </a:rPr>
              <a:t>Because it gives students something a textbook cannot.</a:t>
            </a:r>
          </a:p>
        </p:txBody>
      </p:sp>
      <p:sp>
        <p:nvSpPr>
          <p:cNvPr id="13" name="Rounded Rectangle 12"/>
          <p:cNvSpPr/>
          <p:nvPr/>
        </p:nvSpPr>
        <p:spPr>
          <a:xfrm>
            <a:off x="621792" y="3172968"/>
            <a:ext cx="10948111" cy="1298448"/>
          </a:xfrm>
          <a:prstGeom prst="roundRect">
            <a:avLst>
              <a:gd name="adj" fmla="val 6000"/>
            </a:avLst>
          </a:prstGeom>
          <a:solidFill>
            <a:srgbClr val="FFFFFF"/>
          </a:solidFill>
          <a:ln w="22860">
            <a:solidFill>
              <a:srgbClr val="C9552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621792" y="3172968"/>
            <a:ext cx="2651760" cy="1298448"/>
          </a:xfrm>
          <a:prstGeom prst="roundRect">
            <a:avLst>
              <a:gd name="adj" fmla="val 6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31520" y="3465575"/>
            <a:ext cx="2432304" cy="457200"/>
          </a:xfrm>
          <a:prstGeom prst="rect">
            <a:avLst/>
          </a:prstGeom>
          <a:noFill/>
        </p:spPr>
        <p:txBody>
          <a:bodyPr wrap="square" lIns="0" rIns="0" tIns="0" bIns="0" anchor="t">
            <a:spAutoFit/>
          </a:bodyPr>
          <a:lstStyle/>
          <a:p>
            <a:pPr algn="ctr">
              <a:lnSpc>
                <a:spcPct val="116000"/>
              </a:lnSpc>
              <a:spcBef>
                <a:spcPts val="0"/>
              </a:spcBef>
              <a:spcAft>
                <a:spcPts val="200"/>
              </a:spcAft>
            </a:pPr>
            <a:r>
              <a:rPr sz="2100" b="1" i="0" u="none">
                <a:solidFill>
                  <a:srgbClr val="FFFFFF"/>
                </a:solidFill>
                <a:latin typeface="Segoe UI"/>
                <a:ea typeface="Microsoft YaHei"/>
                <a:cs typeface="Segoe UI"/>
              </a:rPr>
              <a:t>Example</a:t>
            </a:r>
          </a:p>
          <a:p>
            <a:pPr algn="ctr">
              <a:lnSpc>
                <a:spcPct val="116000"/>
              </a:lnSpc>
              <a:spcBef>
                <a:spcPts val="0"/>
              </a:spcBef>
              <a:spcAft>
                <a:spcPts val="0"/>
              </a:spcAft>
            </a:pPr>
            <a:r>
              <a:rPr sz="1900" b="0" i="0" u="none">
                <a:solidFill>
                  <a:srgbClr val="ECF2F4"/>
                </a:solidFill>
                <a:latin typeface="Segoe UI"/>
                <a:ea typeface="Microsoft YaHei"/>
                <a:cs typeface="Segoe UI"/>
              </a:rPr>
              <a:t>例子</a:t>
            </a:r>
          </a:p>
        </p:txBody>
      </p:sp>
      <p:sp>
        <p:nvSpPr>
          <p:cNvPr id="16" name="TextBox 15"/>
          <p:cNvSpPr txBox="1"/>
          <p:nvPr/>
        </p:nvSpPr>
        <p:spPr>
          <a:xfrm>
            <a:off x="3547872" y="3374136"/>
            <a:ext cx="7747711" cy="41148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172A31"/>
                </a:solidFill>
                <a:latin typeface="Segoe UI"/>
                <a:ea typeface="Microsoft YaHei"/>
                <a:cs typeface="Segoe UI"/>
              </a:rPr>
              <a:t>一个具体的人 + 他做的一件具体的事 + 结果。不是「很多人」。</a:t>
            </a:r>
          </a:p>
        </p:txBody>
      </p:sp>
      <p:sp>
        <p:nvSpPr>
          <p:cNvPr id="17" name="TextBox 16"/>
          <p:cNvSpPr txBox="1"/>
          <p:nvPr/>
        </p:nvSpPr>
        <p:spPr>
          <a:xfrm>
            <a:off x="3547872" y="3886200"/>
            <a:ext cx="7747711" cy="411480"/>
          </a:xfrm>
          <a:prstGeom prst="rect">
            <a:avLst/>
          </a:prstGeom>
          <a:noFill/>
        </p:spPr>
        <p:txBody>
          <a:bodyPr wrap="square" lIns="0" rIns="0" tIns="0" bIns="0" anchor="t">
            <a:spAutoFit/>
          </a:bodyPr>
          <a:lstStyle/>
          <a:p>
            <a:pPr algn="l">
              <a:lnSpc>
                <a:spcPct val="116000"/>
              </a:lnSpc>
              <a:spcBef>
                <a:spcPts val="0"/>
              </a:spcBef>
              <a:spcAft>
                <a:spcPts val="0"/>
              </a:spcAft>
            </a:pPr>
            <a:r>
              <a:rPr sz="1900" b="0" i="1" u="none">
                <a:solidFill>
                  <a:srgbClr val="C95527"/>
                </a:solidFill>
                <a:latin typeface="Segoe UI"/>
                <a:ea typeface="Microsoft YaHei"/>
                <a:cs typeface="Segoe UI"/>
              </a:rPr>
              <a:t>A student who joins a club has to ask three classmates for help.</a:t>
            </a:r>
          </a:p>
        </p:txBody>
      </p:sp>
      <p:sp>
        <p:nvSpPr>
          <p:cNvPr id="18" name="Rounded Rectangle 17"/>
          <p:cNvSpPr/>
          <p:nvPr/>
        </p:nvSpPr>
        <p:spPr>
          <a:xfrm>
            <a:off x="621792" y="4581144"/>
            <a:ext cx="10948111" cy="1298448"/>
          </a:xfrm>
          <a:prstGeom prst="roundRect">
            <a:avLst>
              <a:gd name="adj" fmla="val 6000"/>
            </a:avLst>
          </a:prstGeom>
          <a:solidFill>
            <a:srgbClr val="FFFFFF"/>
          </a:solidFill>
          <a:ln w="22860">
            <a:solidFill>
              <a:srgbClr val="B083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621792" y="4581144"/>
            <a:ext cx="2651760" cy="1298448"/>
          </a:xfrm>
          <a:prstGeom prst="roundRect">
            <a:avLst>
              <a:gd name="adj" fmla="val 6000"/>
            </a:avLst>
          </a:prstGeom>
          <a:solidFill>
            <a:srgbClr val="B083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31520" y="4873752"/>
            <a:ext cx="2432304" cy="457200"/>
          </a:xfrm>
          <a:prstGeom prst="rect">
            <a:avLst/>
          </a:prstGeom>
          <a:noFill/>
        </p:spPr>
        <p:txBody>
          <a:bodyPr wrap="square" lIns="0" rIns="0" tIns="0" bIns="0" anchor="t">
            <a:spAutoFit/>
          </a:bodyPr>
          <a:lstStyle/>
          <a:p>
            <a:pPr algn="ctr">
              <a:lnSpc>
                <a:spcPct val="116000"/>
              </a:lnSpc>
              <a:spcBef>
                <a:spcPts val="0"/>
              </a:spcBef>
              <a:spcAft>
                <a:spcPts val="200"/>
              </a:spcAft>
            </a:pPr>
            <a:r>
              <a:rPr sz="2100" b="1" i="0" u="none">
                <a:solidFill>
                  <a:srgbClr val="FFFFFF"/>
                </a:solidFill>
                <a:latin typeface="Segoe UI"/>
                <a:ea typeface="Microsoft YaHei"/>
                <a:cs typeface="Segoe UI"/>
              </a:rPr>
              <a:t>Contribution</a:t>
            </a:r>
          </a:p>
          <a:p>
            <a:pPr algn="ctr">
              <a:lnSpc>
                <a:spcPct val="116000"/>
              </a:lnSpc>
              <a:spcBef>
                <a:spcPts val="0"/>
              </a:spcBef>
              <a:spcAft>
                <a:spcPts val="0"/>
              </a:spcAft>
            </a:pPr>
            <a:r>
              <a:rPr sz="1900" b="0" i="0" u="none">
                <a:solidFill>
                  <a:srgbClr val="ECF2F4"/>
                </a:solidFill>
                <a:latin typeface="Segoe UI"/>
                <a:ea typeface="Microsoft YaHei"/>
                <a:cs typeface="Segoe UI"/>
              </a:rPr>
              <a:t>贡献</a:t>
            </a:r>
          </a:p>
        </p:txBody>
      </p:sp>
      <p:sp>
        <p:nvSpPr>
          <p:cNvPr id="21" name="TextBox 20"/>
          <p:cNvSpPr txBox="1"/>
          <p:nvPr/>
        </p:nvSpPr>
        <p:spPr>
          <a:xfrm>
            <a:off x="3547872" y="4782312"/>
            <a:ext cx="7747711" cy="41148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172A31"/>
                </a:solidFill>
                <a:latin typeface="Segoe UI"/>
                <a:ea typeface="Microsoft YaHei"/>
                <a:cs typeface="Segoe UI"/>
              </a:rPr>
              <a:t>在同学说过的话之外，再加一个他没说过的信息。</a:t>
            </a:r>
          </a:p>
        </p:txBody>
      </p:sp>
      <p:sp>
        <p:nvSpPr>
          <p:cNvPr id="22" name="TextBox 21"/>
          <p:cNvSpPr txBox="1"/>
          <p:nvPr/>
        </p:nvSpPr>
        <p:spPr>
          <a:xfrm>
            <a:off x="3547872" y="5294376"/>
            <a:ext cx="7747711" cy="411480"/>
          </a:xfrm>
          <a:prstGeom prst="rect">
            <a:avLst/>
          </a:prstGeom>
          <a:noFill/>
        </p:spPr>
        <p:txBody>
          <a:bodyPr wrap="square" lIns="0" rIns="0" tIns="0" bIns="0" anchor="t">
            <a:spAutoFit/>
          </a:bodyPr>
          <a:lstStyle/>
          <a:p>
            <a:pPr algn="l">
              <a:lnSpc>
                <a:spcPct val="116000"/>
              </a:lnSpc>
              <a:spcBef>
                <a:spcPts val="0"/>
              </a:spcBef>
              <a:spcAft>
                <a:spcPts val="0"/>
              </a:spcAft>
            </a:pPr>
            <a:r>
              <a:rPr sz="1900" b="0" i="1" u="none">
                <a:solidFill>
                  <a:srgbClr val="B08300"/>
                </a:solidFill>
                <a:latin typeface="Segoe UI"/>
                <a:ea typeface="Microsoft YaHei"/>
                <a:cs typeface="Segoe UI"/>
              </a:rPr>
              <a:t>I agree with Kelly, and I would also add that ______.</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1 · Warm-up</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9</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WARM-UP · 示范</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先看老师怎么填</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700784"/>
            <a:ext cx="10948111" cy="3456432"/>
          </a:xfrm>
          <a:prstGeom prst="roundRect">
            <a:avLst>
              <a:gd name="adj" fmla="val 6000"/>
            </a:avLst>
          </a:prstGeom>
          <a:solidFill>
            <a:srgbClr val="E7F1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21792" y="1700784"/>
            <a:ext cx="64008" cy="3456432"/>
          </a:xfrm>
          <a:prstGeom prst="rect">
            <a:avLst/>
          </a:prstGeom>
          <a:solidFill>
            <a:srgbClr val="2E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96112" y="1883664"/>
            <a:ext cx="10399471" cy="310896"/>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2E6B4F"/>
                </a:solidFill>
                <a:latin typeface="Segoe UI"/>
                <a:ea typeface="Microsoft YaHei"/>
                <a:cs typeface="Segoe UI"/>
              </a:rPr>
              <a:t>老师示范  WORKED EXAMPLE</a:t>
            </a:r>
          </a:p>
        </p:txBody>
      </p:sp>
      <p:sp>
        <p:nvSpPr>
          <p:cNvPr id="11" name="TextBox 10"/>
          <p:cNvSpPr txBox="1"/>
          <p:nvPr/>
        </p:nvSpPr>
        <p:spPr>
          <a:xfrm>
            <a:off x="896112" y="2267712"/>
            <a:ext cx="1234440" cy="365760"/>
          </a:xfrm>
          <a:prstGeom prst="rect">
            <a:avLst/>
          </a:prstGeom>
          <a:noFill/>
        </p:spPr>
        <p:txBody>
          <a:bodyPr wrap="square" lIns="0" rIns="0" tIns="0" bIns="0" anchor="t">
            <a:spAutoFit/>
          </a:bodyPr>
          <a:lstStyle/>
          <a:p>
            <a:pPr algn="l">
              <a:lnSpc>
                <a:spcPct val="116000"/>
              </a:lnSpc>
              <a:spcBef>
                <a:spcPts val="0"/>
              </a:spcBef>
              <a:spcAft>
                <a:spcPts val="0"/>
              </a:spcAft>
            </a:pPr>
            <a:r>
              <a:rPr sz="1800" b="1" i="0" u="none">
                <a:solidFill>
                  <a:srgbClr val="2E6B4F"/>
                </a:solidFill>
                <a:latin typeface="Segoe UI"/>
                <a:ea typeface="Microsoft YaHei"/>
                <a:cs typeface="Segoe UI"/>
              </a:rPr>
              <a:t>句子</a:t>
            </a:r>
          </a:p>
        </p:txBody>
      </p:sp>
      <p:sp>
        <p:nvSpPr>
          <p:cNvPr id="12" name="TextBox 11"/>
          <p:cNvSpPr txBox="1"/>
          <p:nvPr/>
        </p:nvSpPr>
        <p:spPr>
          <a:xfrm>
            <a:off x="2130552" y="2240280"/>
            <a:ext cx="9119311" cy="457200"/>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172A31"/>
                </a:solidFill>
                <a:latin typeface="Segoe UI"/>
                <a:ea typeface="Microsoft YaHei"/>
                <a:cs typeface="Segoe UI"/>
              </a:rPr>
              <a:t>Joining a campus club is beneficial because it gives students a regular reason to talk to strangers.</a:t>
            </a:r>
          </a:p>
        </p:txBody>
      </p:sp>
      <p:sp>
        <p:nvSpPr>
          <p:cNvPr id="13" name="TextBox 12"/>
          <p:cNvSpPr txBox="1"/>
          <p:nvPr/>
        </p:nvSpPr>
        <p:spPr>
          <a:xfrm>
            <a:off x="896112" y="2816352"/>
            <a:ext cx="1234440" cy="365760"/>
          </a:xfrm>
          <a:prstGeom prst="rect">
            <a:avLst/>
          </a:prstGeom>
          <a:noFill/>
        </p:spPr>
        <p:txBody>
          <a:bodyPr wrap="square" lIns="0" rIns="0" tIns="0" bIns="0" anchor="t">
            <a:spAutoFit/>
          </a:bodyPr>
          <a:lstStyle/>
          <a:p>
            <a:pPr algn="l">
              <a:lnSpc>
                <a:spcPct val="116000"/>
              </a:lnSpc>
              <a:spcBef>
                <a:spcPts val="0"/>
              </a:spcBef>
              <a:spcAft>
                <a:spcPts val="0"/>
              </a:spcAft>
            </a:pPr>
            <a:r>
              <a:rPr sz="1800" b="1" i="0" u="none">
                <a:solidFill>
                  <a:srgbClr val="2E6B4F"/>
                </a:solidFill>
                <a:latin typeface="Segoe UI"/>
                <a:ea typeface="Microsoft YaHei"/>
                <a:cs typeface="Segoe UI"/>
              </a:rPr>
              <a:t>Reason</a:t>
            </a:r>
          </a:p>
        </p:txBody>
      </p:sp>
      <p:sp>
        <p:nvSpPr>
          <p:cNvPr id="14" name="TextBox 13"/>
          <p:cNvSpPr txBox="1"/>
          <p:nvPr/>
        </p:nvSpPr>
        <p:spPr>
          <a:xfrm>
            <a:off x="2130552" y="2788920"/>
            <a:ext cx="9119311" cy="457200"/>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172A31"/>
                </a:solidFill>
                <a:latin typeface="Segoe UI"/>
                <a:ea typeface="Microsoft YaHei"/>
                <a:cs typeface="Segoe UI"/>
              </a:rPr>
              <a:t>it gives students a regular reason to talk to strangers</a:t>
            </a:r>
          </a:p>
        </p:txBody>
      </p:sp>
      <p:sp>
        <p:nvSpPr>
          <p:cNvPr id="15" name="TextBox 14"/>
          <p:cNvSpPr txBox="1"/>
          <p:nvPr/>
        </p:nvSpPr>
        <p:spPr>
          <a:xfrm>
            <a:off x="896112" y="3364992"/>
            <a:ext cx="1234440" cy="365760"/>
          </a:xfrm>
          <a:prstGeom prst="rect">
            <a:avLst/>
          </a:prstGeom>
          <a:noFill/>
        </p:spPr>
        <p:txBody>
          <a:bodyPr wrap="square" lIns="0" rIns="0" tIns="0" bIns="0" anchor="t">
            <a:spAutoFit/>
          </a:bodyPr>
          <a:lstStyle/>
          <a:p>
            <a:pPr algn="l">
              <a:lnSpc>
                <a:spcPct val="116000"/>
              </a:lnSpc>
              <a:spcBef>
                <a:spcPts val="0"/>
              </a:spcBef>
              <a:spcAft>
                <a:spcPts val="0"/>
              </a:spcAft>
            </a:pPr>
            <a:r>
              <a:rPr sz="1800" b="1" i="0" u="none">
                <a:solidFill>
                  <a:srgbClr val="2E6B4F"/>
                </a:solidFill>
                <a:latin typeface="Segoe UI"/>
                <a:ea typeface="Microsoft YaHei"/>
                <a:cs typeface="Segoe UI"/>
              </a:rPr>
              <a:t>Why</a:t>
            </a:r>
          </a:p>
        </p:txBody>
      </p:sp>
      <p:sp>
        <p:nvSpPr>
          <p:cNvPr id="16" name="TextBox 15"/>
          <p:cNvSpPr txBox="1"/>
          <p:nvPr/>
        </p:nvSpPr>
        <p:spPr>
          <a:xfrm>
            <a:off x="2130552" y="3337560"/>
            <a:ext cx="9119311" cy="457200"/>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172A31"/>
                </a:solidFill>
                <a:latin typeface="Segoe UI"/>
                <a:ea typeface="Microsoft YaHei"/>
                <a:cs typeface="Segoe UI"/>
              </a:rPr>
              <a:t>This matters because most first-year students never speak to anyone outside their own class.</a:t>
            </a:r>
          </a:p>
        </p:txBody>
      </p:sp>
      <p:sp>
        <p:nvSpPr>
          <p:cNvPr id="17" name="TextBox 16"/>
          <p:cNvSpPr txBox="1"/>
          <p:nvPr/>
        </p:nvSpPr>
        <p:spPr>
          <a:xfrm>
            <a:off x="896112" y="3913632"/>
            <a:ext cx="1234440" cy="365760"/>
          </a:xfrm>
          <a:prstGeom prst="rect">
            <a:avLst/>
          </a:prstGeom>
          <a:noFill/>
        </p:spPr>
        <p:txBody>
          <a:bodyPr wrap="square" lIns="0" rIns="0" tIns="0" bIns="0" anchor="t">
            <a:spAutoFit/>
          </a:bodyPr>
          <a:lstStyle/>
          <a:p>
            <a:pPr algn="l">
              <a:lnSpc>
                <a:spcPct val="116000"/>
              </a:lnSpc>
              <a:spcBef>
                <a:spcPts val="0"/>
              </a:spcBef>
              <a:spcAft>
                <a:spcPts val="0"/>
              </a:spcAft>
            </a:pPr>
            <a:r>
              <a:rPr sz="1800" b="1" i="0" u="none">
                <a:solidFill>
                  <a:srgbClr val="2E6B4F"/>
                </a:solidFill>
                <a:latin typeface="Segoe UI"/>
                <a:ea typeface="Microsoft YaHei"/>
                <a:cs typeface="Segoe UI"/>
              </a:rPr>
              <a:t>Example</a:t>
            </a:r>
          </a:p>
        </p:txBody>
      </p:sp>
      <p:sp>
        <p:nvSpPr>
          <p:cNvPr id="18" name="TextBox 17"/>
          <p:cNvSpPr txBox="1"/>
          <p:nvPr/>
        </p:nvSpPr>
        <p:spPr>
          <a:xfrm>
            <a:off x="2130552" y="3886200"/>
            <a:ext cx="9119311" cy="457200"/>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172A31"/>
                </a:solidFill>
                <a:latin typeface="Segoe UI"/>
                <a:ea typeface="Microsoft YaHei"/>
                <a:cs typeface="Segoe UI"/>
              </a:rPr>
              <a:t>For example, a shy student who joins a photography club has to ask three classmates to help carry equipment.</a:t>
            </a:r>
          </a:p>
        </p:txBody>
      </p:sp>
      <p:sp>
        <p:nvSpPr>
          <p:cNvPr id="19" name="TextBox 18"/>
          <p:cNvSpPr txBox="1"/>
          <p:nvPr/>
        </p:nvSpPr>
        <p:spPr>
          <a:xfrm>
            <a:off x="896112" y="4462272"/>
            <a:ext cx="1234440" cy="365760"/>
          </a:xfrm>
          <a:prstGeom prst="rect">
            <a:avLst/>
          </a:prstGeom>
          <a:noFill/>
        </p:spPr>
        <p:txBody>
          <a:bodyPr wrap="square" lIns="0" rIns="0" tIns="0" bIns="0" anchor="t">
            <a:spAutoFit/>
          </a:bodyPr>
          <a:lstStyle/>
          <a:p>
            <a:pPr algn="l">
              <a:lnSpc>
                <a:spcPct val="116000"/>
              </a:lnSpc>
              <a:spcBef>
                <a:spcPts val="0"/>
              </a:spcBef>
              <a:spcAft>
                <a:spcPts val="0"/>
              </a:spcAft>
            </a:pPr>
            <a:r>
              <a:rPr sz="1800" b="1" i="0" u="none">
                <a:solidFill>
                  <a:srgbClr val="2E6B4F"/>
                </a:solidFill>
                <a:latin typeface="Segoe UI"/>
                <a:ea typeface="Microsoft YaHei"/>
                <a:cs typeface="Segoe UI"/>
              </a:rPr>
              <a:t>Result</a:t>
            </a:r>
          </a:p>
        </p:txBody>
      </p:sp>
      <p:sp>
        <p:nvSpPr>
          <p:cNvPr id="20" name="TextBox 19"/>
          <p:cNvSpPr txBox="1"/>
          <p:nvPr/>
        </p:nvSpPr>
        <p:spPr>
          <a:xfrm>
            <a:off x="2130552" y="4434840"/>
            <a:ext cx="9119311" cy="457200"/>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172A31"/>
                </a:solidFill>
                <a:latin typeface="Segoe UI"/>
                <a:ea typeface="Microsoft YaHei"/>
                <a:cs typeface="Segoe UI"/>
              </a:rPr>
              <a:t>As a result, by the end of the term she has people to eat lunch with.</a:t>
            </a:r>
          </a:p>
        </p:txBody>
      </p:sp>
      <p:sp>
        <p:nvSpPr>
          <p:cNvPr id="21" name="Rounded Rectangle 20"/>
          <p:cNvSpPr/>
          <p:nvPr/>
        </p:nvSpPr>
        <p:spPr>
          <a:xfrm>
            <a:off x="621792" y="5330952"/>
            <a:ext cx="10948111" cy="685800"/>
          </a:xfrm>
          <a:prstGeom prst="roundRect">
            <a:avLst>
              <a:gd name="adj" fmla="val 6000"/>
            </a:avLst>
          </a:prstGeom>
          <a:solidFill>
            <a:srgbClr val="FBEC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32688" y="5504688"/>
            <a:ext cx="10308031" cy="45720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注意：Reason 里没有一个 good / important / useful。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1 · Warm-up</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10</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WARM-UP · 学生输出</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轮到你 · 练习 1</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645920"/>
            <a:ext cx="10948111" cy="566928"/>
          </a:xfrm>
          <a:prstGeom prst="roundRect">
            <a:avLst>
              <a:gd name="adj" fmla="val 6000"/>
            </a:avLst>
          </a:prstGeom>
          <a:solidFill>
            <a:srgbClr val="E4EF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96112" y="1783080"/>
            <a:ext cx="10399471" cy="41148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0E5362"/>
                </a:solidFill>
                <a:latin typeface="Segoe UI"/>
                <a:ea typeface="Microsoft YaHei"/>
                <a:cs typeface="Segoe UI"/>
              </a:rPr>
              <a:t>把下面两句补完整：Reason 一行，Why 一行，Example 一行。</a:t>
            </a:r>
          </a:p>
        </p:txBody>
      </p:sp>
      <p:sp>
        <p:nvSpPr>
          <p:cNvPr id="10" name="Rounded Rectangle 9"/>
          <p:cNvSpPr/>
          <p:nvPr/>
        </p:nvSpPr>
        <p:spPr>
          <a:xfrm>
            <a:off x="621792" y="2414016"/>
            <a:ext cx="384048" cy="384048"/>
          </a:xfrm>
          <a:prstGeom prst="roundRect">
            <a:avLst>
              <a:gd name="adj" fmla="val 50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21792" y="2464308"/>
            <a:ext cx="384048" cy="365760"/>
          </a:xfrm>
          <a:prstGeom prst="rect">
            <a:avLst/>
          </a:prstGeom>
          <a:noFill/>
        </p:spPr>
        <p:txBody>
          <a:bodyPr wrap="square" lIns="0" rIns="0" tIns="0" bIns="0" anchor="t">
            <a:spAutoFit/>
          </a:bodyPr>
          <a:lstStyle/>
          <a:p>
            <a:pPr algn="ctr">
              <a:lnSpc>
                <a:spcPct val="116000"/>
              </a:lnSpc>
              <a:spcBef>
                <a:spcPts val="0"/>
              </a:spcBef>
              <a:spcAft>
                <a:spcPts val="0"/>
              </a:spcAft>
            </a:pPr>
            <a:r>
              <a:rPr sz="1700" b="1" i="0" u="none">
                <a:solidFill>
                  <a:srgbClr val="FFFFFF"/>
                </a:solidFill>
                <a:latin typeface="Segoe UI"/>
                <a:ea typeface="Microsoft YaHei"/>
                <a:cs typeface="Segoe UI"/>
              </a:rPr>
              <a:t>1</a:t>
            </a:r>
          </a:p>
        </p:txBody>
      </p:sp>
      <p:sp>
        <p:nvSpPr>
          <p:cNvPr id="12" name="TextBox 11"/>
          <p:cNvSpPr txBox="1"/>
          <p:nvPr/>
        </p:nvSpPr>
        <p:spPr>
          <a:xfrm>
            <a:off x="1133856" y="2423160"/>
            <a:ext cx="10436047" cy="365760"/>
          </a:xfrm>
          <a:prstGeom prst="rect">
            <a:avLst/>
          </a:prstGeom>
          <a:noFill/>
        </p:spPr>
        <p:txBody>
          <a:bodyPr wrap="square" lIns="0" rIns="0" tIns="0" bIns="0" anchor="t">
            <a:spAutoFit/>
          </a:bodyPr>
          <a:lstStyle/>
          <a:p>
            <a:pPr algn="l">
              <a:lnSpc>
                <a:spcPct val="110000"/>
              </a:lnSpc>
              <a:spcBef>
                <a:spcPts val="0"/>
              </a:spcBef>
              <a:spcAft>
                <a:spcPts val="0"/>
              </a:spcAft>
            </a:pPr>
            <a:r>
              <a:rPr sz="1900" b="1" i="0" u="none">
                <a:solidFill>
                  <a:srgbClr val="172A31"/>
                </a:solidFill>
                <a:latin typeface="Segoe UI"/>
                <a:ea typeface="Microsoft YaHei"/>
                <a:cs typeface="Segoe UI"/>
              </a:rPr>
              <a:t>Doing a part-time job is beneficial because ______.</a:t>
            </a:r>
          </a:p>
        </p:txBody>
      </p:sp>
      <p:sp>
        <p:nvSpPr>
          <p:cNvPr id="13" name="TextBox 12"/>
          <p:cNvSpPr txBox="1"/>
          <p:nvPr/>
        </p:nvSpPr>
        <p:spPr>
          <a:xfrm>
            <a:off x="1133856" y="2825496"/>
            <a:ext cx="10436047" cy="292608"/>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C95527"/>
                </a:solidFill>
                <a:latin typeface="Segoe UI"/>
                <a:ea typeface="Microsoft YaHei"/>
                <a:cs typeface="Segoe UI"/>
              </a:rPr>
              <a:t>Why 提示：time management / talking to real customers / getting paid for mistakes</a:t>
            </a:r>
          </a:p>
        </p:txBody>
      </p:sp>
      <p:cxnSp>
        <p:nvCxnSpPr>
          <p:cNvPr id="14" name="Connector 13"/>
          <p:cNvCxnSpPr/>
          <p:nvPr/>
        </p:nvCxnSpPr>
        <p:spPr>
          <a:xfrm>
            <a:off x="1133856" y="3264408"/>
            <a:ext cx="10436047"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33856" y="3648456"/>
            <a:ext cx="10436047"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133856" y="4032504"/>
            <a:ext cx="10436047"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21792" y="4343400"/>
            <a:ext cx="384048" cy="384048"/>
          </a:xfrm>
          <a:prstGeom prst="roundRect">
            <a:avLst>
              <a:gd name="adj" fmla="val 50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21792" y="4393692"/>
            <a:ext cx="384048" cy="365760"/>
          </a:xfrm>
          <a:prstGeom prst="rect">
            <a:avLst/>
          </a:prstGeom>
          <a:noFill/>
        </p:spPr>
        <p:txBody>
          <a:bodyPr wrap="square" lIns="0" rIns="0" tIns="0" bIns="0" anchor="t">
            <a:spAutoFit/>
          </a:bodyPr>
          <a:lstStyle/>
          <a:p>
            <a:pPr algn="ctr">
              <a:lnSpc>
                <a:spcPct val="116000"/>
              </a:lnSpc>
              <a:spcBef>
                <a:spcPts val="0"/>
              </a:spcBef>
              <a:spcAft>
                <a:spcPts val="0"/>
              </a:spcAft>
            </a:pPr>
            <a:r>
              <a:rPr sz="1700" b="1" i="0" u="none">
                <a:solidFill>
                  <a:srgbClr val="FFFFFF"/>
                </a:solidFill>
                <a:latin typeface="Segoe UI"/>
                <a:ea typeface="Microsoft YaHei"/>
                <a:cs typeface="Segoe UI"/>
              </a:rPr>
              <a:t>2</a:t>
            </a:r>
          </a:p>
        </p:txBody>
      </p:sp>
      <p:sp>
        <p:nvSpPr>
          <p:cNvPr id="19" name="TextBox 18"/>
          <p:cNvSpPr txBox="1"/>
          <p:nvPr/>
        </p:nvSpPr>
        <p:spPr>
          <a:xfrm>
            <a:off x="1133856" y="4352544"/>
            <a:ext cx="10436047" cy="365760"/>
          </a:xfrm>
          <a:prstGeom prst="rect">
            <a:avLst/>
          </a:prstGeom>
          <a:noFill/>
        </p:spPr>
        <p:txBody>
          <a:bodyPr wrap="square" lIns="0" rIns="0" tIns="0" bIns="0" anchor="t">
            <a:spAutoFit/>
          </a:bodyPr>
          <a:lstStyle/>
          <a:p>
            <a:pPr algn="l">
              <a:lnSpc>
                <a:spcPct val="110000"/>
              </a:lnSpc>
              <a:spcBef>
                <a:spcPts val="0"/>
              </a:spcBef>
              <a:spcAft>
                <a:spcPts val="0"/>
              </a:spcAft>
            </a:pPr>
            <a:r>
              <a:rPr sz="1900" b="1" i="0" u="none">
                <a:solidFill>
                  <a:srgbClr val="172A31"/>
                </a:solidFill>
                <a:latin typeface="Segoe UI"/>
                <a:ea typeface="Microsoft YaHei"/>
                <a:cs typeface="Segoe UI"/>
              </a:rPr>
              <a:t>Taking online courses is beneficial because ______.</a:t>
            </a:r>
          </a:p>
        </p:txBody>
      </p:sp>
      <p:sp>
        <p:nvSpPr>
          <p:cNvPr id="20" name="TextBox 19"/>
          <p:cNvSpPr txBox="1"/>
          <p:nvPr/>
        </p:nvSpPr>
        <p:spPr>
          <a:xfrm>
            <a:off x="1133856" y="4754880"/>
            <a:ext cx="10436047" cy="292608"/>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C95527"/>
                </a:solidFill>
                <a:latin typeface="Segoe UI"/>
                <a:ea typeface="Microsoft YaHei"/>
                <a:cs typeface="Segoe UI"/>
              </a:rPr>
              <a:t>Why 提示：students who work / recorded lectures / study at night</a:t>
            </a:r>
          </a:p>
        </p:txBody>
      </p:sp>
      <p:cxnSp>
        <p:nvCxnSpPr>
          <p:cNvPr id="21" name="Connector 20"/>
          <p:cNvCxnSpPr/>
          <p:nvPr/>
        </p:nvCxnSpPr>
        <p:spPr>
          <a:xfrm>
            <a:off x="1133856" y="5193792"/>
            <a:ext cx="10436047"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133856" y="5577840"/>
            <a:ext cx="10436047"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133856" y="5961888"/>
            <a:ext cx="10436047"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1 · Warm-up</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11</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WARM-UP · 学生输出</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轮到你 · 练习 2（换个方向）</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645920"/>
            <a:ext cx="10948111" cy="566928"/>
          </a:xfrm>
          <a:prstGeom prst="roundRect">
            <a:avLst>
              <a:gd name="adj" fmla="val 6000"/>
            </a:avLst>
          </a:prstGeom>
          <a:solidFill>
            <a:srgbClr val="E4EF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96112" y="1783080"/>
            <a:ext cx="10399471" cy="41148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0E5362"/>
                </a:solidFill>
                <a:latin typeface="Segoe UI"/>
                <a:ea typeface="Microsoft YaHei"/>
                <a:cs typeface="Segoe UI"/>
              </a:rPr>
              <a:t>同样三行。这两句离今天的正题更近一点。</a:t>
            </a:r>
          </a:p>
        </p:txBody>
      </p:sp>
      <p:sp>
        <p:nvSpPr>
          <p:cNvPr id="10" name="Rounded Rectangle 9"/>
          <p:cNvSpPr/>
          <p:nvPr/>
        </p:nvSpPr>
        <p:spPr>
          <a:xfrm>
            <a:off x="621792" y="2414016"/>
            <a:ext cx="384048" cy="384048"/>
          </a:xfrm>
          <a:prstGeom prst="roundRect">
            <a:avLst>
              <a:gd name="adj" fmla="val 50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21792" y="2464308"/>
            <a:ext cx="384048" cy="365760"/>
          </a:xfrm>
          <a:prstGeom prst="rect">
            <a:avLst/>
          </a:prstGeom>
          <a:noFill/>
        </p:spPr>
        <p:txBody>
          <a:bodyPr wrap="square" lIns="0" rIns="0" tIns="0" bIns="0" anchor="t">
            <a:spAutoFit/>
          </a:bodyPr>
          <a:lstStyle/>
          <a:p>
            <a:pPr algn="ctr">
              <a:lnSpc>
                <a:spcPct val="116000"/>
              </a:lnSpc>
              <a:spcBef>
                <a:spcPts val="0"/>
              </a:spcBef>
              <a:spcAft>
                <a:spcPts val="0"/>
              </a:spcAft>
            </a:pPr>
            <a:r>
              <a:rPr sz="1700" b="1" i="0" u="none">
                <a:solidFill>
                  <a:srgbClr val="FFFFFF"/>
                </a:solidFill>
                <a:latin typeface="Segoe UI"/>
                <a:ea typeface="Microsoft YaHei"/>
                <a:cs typeface="Segoe UI"/>
              </a:rPr>
              <a:t>3</a:t>
            </a:r>
          </a:p>
        </p:txBody>
      </p:sp>
      <p:sp>
        <p:nvSpPr>
          <p:cNvPr id="12" name="TextBox 11"/>
          <p:cNvSpPr txBox="1"/>
          <p:nvPr/>
        </p:nvSpPr>
        <p:spPr>
          <a:xfrm>
            <a:off x="1133856" y="2423160"/>
            <a:ext cx="10436047" cy="365760"/>
          </a:xfrm>
          <a:prstGeom prst="rect">
            <a:avLst/>
          </a:prstGeom>
          <a:noFill/>
        </p:spPr>
        <p:txBody>
          <a:bodyPr wrap="square" lIns="0" rIns="0" tIns="0" bIns="0" anchor="t">
            <a:spAutoFit/>
          </a:bodyPr>
          <a:lstStyle/>
          <a:p>
            <a:pPr algn="l">
              <a:lnSpc>
                <a:spcPct val="110000"/>
              </a:lnSpc>
              <a:spcBef>
                <a:spcPts val="0"/>
              </a:spcBef>
              <a:spcAft>
                <a:spcPts val="0"/>
              </a:spcAft>
            </a:pPr>
            <a:r>
              <a:rPr sz="1900" b="1" i="0" u="none">
                <a:solidFill>
                  <a:srgbClr val="172A31"/>
                </a:solidFill>
                <a:latin typeface="Segoe UI"/>
                <a:ea typeface="Microsoft YaHei"/>
                <a:cs typeface="Segoe UI"/>
              </a:rPr>
              <a:t>Knowing the right people is beneficial because ______.</a:t>
            </a:r>
          </a:p>
        </p:txBody>
      </p:sp>
      <p:sp>
        <p:nvSpPr>
          <p:cNvPr id="13" name="TextBox 12"/>
          <p:cNvSpPr txBox="1"/>
          <p:nvPr/>
        </p:nvSpPr>
        <p:spPr>
          <a:xfrm>
            <a:off x="1133856" y="2825496"/>
            <a:ext cx="10436047" cy="292608"/>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C95527"/>
                </a:solidFill>
                <a:latin typeface="Segoe UI"/>
                <a:ea typeface="Microsoft YaHei"/>
                <a:cs typeface="Segoe UI"/>
              </a:rPr>
              <a:t>Why 提示：hear about a job early / someone introduces you / get advice</a:t>
            </a:r>
          </a:p>
        </p:txBody>
      </p:sp>
      <p:cxnSp>
        <p:nvCxnSpPr>
          <p:cNvPr id="14" name="Connector 13"/>
          <p:cNvCxnSpPr/>
          <p:nvPr/>
        </p:nvCxnSpPr>
        <p:spPr>
          <a:xfrm>
            <a:off x="1133856" y="3264408"/>
            <a:ext cx="10436047"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33856" y="3648456"/>
            <a:ext cx="10436047"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133856" y="4032504"/>
            <a:ext cx="10436047"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21792" y="4343400"/>
            <a:ext cx="384048" cy="384048"/>
          </a:xfrm>
          <a:prstGeom prst="roundRect">
            <a:avLst>
              <a:gd name="adj" fmla="val 50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21792" y="4393692"/>
            <a:ext cx="384048" cy="365760"/>
          </a:xfrm>
          <a:prstGeom prst="rect">
            <a:avLst/>
          </a:prstGeom>
          <a:noFill/>
        </p:spPr>
        <p:txBody>
          <a:bodyPr wrap="square" lIns="0" rIns="0" tIns="0" bIns="0" anchor="t">
            <a:spAutoFit/>
          </a:bodyPr>
          <a:lstStyle/>
          <a:p>
            <a:pPr algn="ctr">
              <a:lnSpc>
                <a:spcPct val="116000"/>
              </a:lnSpc>
              <a:spcBef>
                <a:spcPts val="0"/>
              </a:spcBef>
              <a:spcAft>
                <a:spcPts val="0"/>
              </a:spcAft>
            </a:pPr>
            <a:r>
              <a:rPr sz="1700" b="1" i="0" u="none">
                <a:solidFill>
                  <a:srgbClr val="FFFFFF"/>
                </a:solidFill>
                <a:latin typeface="Segoe UI"/>
                <a:ea typeface="Microsoft YaHei"/>
                <a:cs typeface="Segoe UI"/>
              </a:rPr>
              <a:t>4</a:t>
            </a:r>
          </a:p>
        </p:txBody>
      </p:sp>
      <p:sp>
        <p:nvSpPr>
          <p:cNvPr id="19" name="TextBox 18"/>
          <p:cNvSpPr txBox="1"/>
          <p:nvPr/>
        </p:nvSpPr>
        <p:spPr>
          <a:xfrm>
            <a:off x="1133856" y="4352544"/>
            <a:ext cx="10436047" cy="365760"/>
          </a:xfrm>
          <a:prstGeom prst="rect">
            <a:avLst/>
          </a:prstGeom>
          <a:noFill/>
        </p:spPr>
        <p:txBody>
          <a:bodyPr wrap="square" lIns="0" rIns="0" tIns="0" bIns="0" anchor="t">
            <a:spAutoFit/>
          </a:bodyPr>
          <a:lstStyle/>
          <a:p>
            <a:pPr algn="l">
              <a:lnSpc>
                <a:spcPct val="110000"/>
              </a:lnSpc>
              <a:spcBef>
                <a:spcPts val="0"/>
              </a:spcBef>
              <a:spcAft>
                <a:spcPts val="0"/>
              </a:spcAft>
            </a:pPr>
            <a:r>
              <a:rPr sz="1900" b="1" i="0" u="none">
                <a:solidFill>
                  <a:srgbClr val="172A31"/>
                </a:solidFill>
                <a:latin typeface="Segoe UI"/>
                <a:ea typeface="Microsoft YaHei"/>
                <a:cs typeface="Segoe UI"/>
              </a:rPr>
              <a:t>Finishing a university degree is beneficial because ______.</a:t>
            </a:r>
          </a:p>
        </p:txBody>
      </p:sp>
      <p:sp>
        <p:nvSpPr>
          <p:cNvPr id="20" name="TextBox 19"/>
          <p:cNvSpPr txBox="1"/>
          <p:nvPr/>
        </p:nvSpPr>
        <p:spPr>
          <a:xfrm>
            <a:off x="1133856" y="4754880"/>
            <a:ext cx="10436047" cy="292608"/>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C95527"/>
                </a:solidFill>
                <a:latin typeface="Segoe UI"/>
                <a:ea typeface="Microsoft YaHei"/>
                <a:cs typeface="Segoe UI"/>
              </a:rPr>
              <a:t>Why 提示：proof for strangers / a company that has never met you</a:t>
            </a:r>
          </a:p>
        </p:txBody>
      </p:sp>
      <p:cxnSp>
        <p:nvCxnSpPr>
          <p:cNvPr id="21" name="Connector 20"/>
          <p:cNvCxnSpPr/>
          <p:nvPr/>
        </p:nvCxnSpPr>
        <p:spPr>
          <a:xfrm>
            <a:off x="1133856" y="5193792"/>
            <a:ext cx="10436047"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133856" y="5577840"/>
            <a:ext cx="10436047"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133856" y="5961888"/>
            <a:ext cx="10436047"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1 · Warm-up</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12</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OUTPUT · 30 秒 × 4 人</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B08300"/>
                </a:solidFill>
                <a:latin typeface="Segoe UI"/>
                <a:ea typeface="Microsoft YaHei"/>
                <a:cs typeface="Segoe UI"/>
              </a:rPr>
              <a:t>每人读一条</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719072"/>
            <a:ext cx="10948111" cy="1143000"/>
          </a:xfrm>
          <a:prstGeom prst="roundRect">
            <a:avLst>
              <a:gd name="adj" fmla="val 6000"/>
            </a:avLst>
          </a:prstGeom>
          <a:solidFill>
            <a:srgbClr val="FAF2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21792" y="1719072"/>
            <a:ext cx="64008" cy="1143000"/>
          </a:xfrm>
          <a:prstGeom prst="rect">
            <a:avLst/>
          </a:prstGeom>
          <a:solidFill>
            <a:srgbClr val="B083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50976" y="1938528"/>
            <a:ext cx="10216591" cy="822960"/>
          </a:xfrm>
          <a:prstGeom prst="rect">
            <a:avLst/>
          </a:prstGeom>
          <a:noFill/>
        </p:spPr>
        <p:txBody>
          <a:bodyPr wrap="square" lIns="0" rIns="0" tIns="0" bIns="0" anchor="t">
            <a:spAutoFit/>
          </a:bodyPr>
          <a:lstStyle/>
          <a:p>
            <a:pPr algn="l">
              <a:lnSpc>
                <a:spcPct val="115000"/>
              </a:lnSpc>
              <a:spcBef>
                <a:spcPts val="0"/>
              </a:spcBef>
              <a:spcAft>
                <a:spcPts val="0"/>
              </a:spcAft>
            </a:pPr>
            <a:r>
              <a:rPr sz="2400" b="1" i="0" u="none">
                <a:solidFill>
                  <a:srgbClr val="B08300"/>
                </a:solidFill>
                <a:latin typeface="Segoe UI"/>
                <a:ea typeface="Microsoft YaHei"/>
                <a:cs typeface="Segoe UI"/>
              </a:rPr>
              <a:t>读你写的其中一条：Reason + Why + Example，一口气读完。</a:t>
            </a:r>
          </a:p>
        </p:txBody>
      </p:sp>
      <p:sp>
        <p:nvSpPr>
          <p:cNvPr id="11" name="Rounded Rectangle 10"/>
          <p:cNvSpPr/>
          <p:nvPr/>
        </p:nvSpPr>
        <p:spPr>
          <a:xfrm>
            <a:off x="621792" y="3108960"/>
            <a:ext cx="10948111" cy="658368"/>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3255264"/>
            <a:ext cx="457200"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B08300"/>
                </a:solidFill>
                <a:latin typeface="Segoe UI"/>
                <a:ea typeface="Microsoft YaHei"/>
                <a:cs typeface="Segoe UI"/>
              </a:rPr>
              <a:t>1</a:t>
            </a:r>
          </a:p>
        </p:txBody>
      </p:sp>
      <p:sp>
        <p:nvSpPr>
          <p:cNvPr id="13" name="TextBox 12"/>
          <p:cNvSpPr txBox="1"/>
          <p:nvPr/>
        </p:nvSpPr>
        <p:spPr>
          <a:xfrm>
            <a:off x="1371600" y="3255264"/>
            <a:ext cx="9850831" cy="45720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读完后，其他人只回答一个问题：这条 Reason 里有没有 good / important / useful？</a:t>
            </a:r>
          </a:p>
        </p:txBody>
      </p:sp>
      <p:sp>
        <p:nvSpPr>
          <p:cNvPr id="14" name="Rounded Rectangle 13"/>
          <p:cNvSpPr/>
          <p:nvPr/>
        </p:nvSpPr>
        <p:spPr>
          <a:xfrm>
            <a:off x="621792" y="3858768"/>
            <a:ext cx="10948111" cy="658368"/>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77824" y="4005072"/>
            <a:ext cx="457200"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B08300"/>
                </a:solidFill>
                <a:latin typeface="Segoe UI"/>
                <a:ea typeface="Microsoft YaHei"/>
                <a:cs typeface="Segoe UI"/>
              </a:rPr>
              <a:t>2</a:t>
            </a:r>
          </a:p>
        </p:txBody>
      </p:sp>
      <p:sp>
        <p:nvSpPr>
          <p:cNvPr id="16" name="TextBox 15"/>
          <p:cNvSpPr txBox="1"/>
          <p:nvPr/>
        </p:nvSpPr>
        <p:spPr>
          <a:xfrm>
            <a:off x="1371600" y="4005072"/>
            <a:ext cx="9850831" cy="45720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如果有——现场换掉那个词，不要下课再改。</a:t>
            </a:r>
          </a:p>
        </p:txBody>
      </p:sp>
      <p:sp>
        <p:nvSpPr>
          <p:cNvPr id="17" name="Rounded Rectangle 16"/>
          <p:cNvSpPr/>
          <p:nvPr/>
        </p:nvSpPr>
        <p:spPr>
          <a:xfrm>
            <a:off x="621792" y="4608576"/>
            <a:ext cx="10948111" cy="658368"/>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77824" y="4754880"/>
            <a:ext cx="457200"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B08300"/>
                </a:solidFill>
                <a:latin typeface="Segoe UI"/>
                <a:ea typeface="Microsoft YaHei"/>
                <a:cs typeface="Segoe UI"/>
              </a:rPr>
              <a:t>3</a:t>
            </a:r>
          </a:p>
        </p:txBody>
      </p:sp>
      <p:sp>
        <p:nvSpPr>
          <p:cNvPr id="19" name="TextBox 18"/>
          <p:cNvSpPr txBox="1"/>
          <p:nvPr/>
        </p:nvSpPr>
        <p:spPr>
          <a:xfrm>
            <a:off x="1371600" y="4754880"/>
            <a:ext cx="9850831" cy="45720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如果例子里没有'谁'，补一个人进去。</a:t>
            </a:r>
          </a:p>
        </p:txBody>
      </p:sp>
      <p:sp>
        <p:nvSpPr>
          <p:cNvPr id="20" name="Rounded Rectangle 19"/>
          <p:cNvSpPr/>
          <p:nvPr/>
        </p:nvSpPr>
        <p:spPr>
          <a:xfrm>
            <a:off x="621792" y="5468112"/>
            <a:ext cx="720547" cy="384048"/>
          </a:xfrm>
          <a:prstGeom prst="roundRect">
            <a:avLst>
              <a:gd name="adj" fmla="val 40000"/>
            </a:avLst>
          </a:prstGeom>
          <a:solidFill>
            <a:srgbClr val="B083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21792" y="5509260"/>
            <a:ext cx="720547" cy="384048"/>
          </a:xfrm>
          <a:prstGeom prst="rect">
            <a:avLst/>
          </a:prstGeom>
          <a:noFill/>
        </p:spPr>
        <p:txBody>
          <a:bodyPr wrap="square" lIns="0" rIns="0" tIns="0" bIns="0" anchor="t">
            <a:spAutoFit/>
          </a:bodyPr>
          <a:lstStyle/>
          <a:p>
            <a:pPr algn="ctr">
              <a:lnSpc>
                <a:spcPct val="116000"/>
              </a:lnSpc>
              <a:spcBef>
                <a:spcPts val="0"/>
              </a:spcBef>
              <a:spcAft>
                <a:spcPts val="0"/>
              </a:spcAft>
            </a:pPr>
            <a:r>
              <a:rPr sz="1700" b="1" i="0" u="none">
                <a:solidFill>
                  <a:srgbClr val="FFFFFF"/>
                </a:solidFill>
                <a:latin typeface="Segoe UI"/>
                <a:ea typeface="Microsoft YaHei"/>
                <a:cs typeface="Segoe UI"/>
              </a:rPr>
              <a:t>3 分钟</a:t>
            </a:r>
          </a:p>
        </p:txBody>
      </p:sp>
      <p:sp>
        <p:nvSpPr>
          <p:cNvPr id="22" name="TextBox 21"/>
          <p:cNvSpPr txBox="1"/>
          <p:nvPr/>
        </p:nvSpPr>
        <p:spPr>
          <a:xfrm>
            <a:off x="2542032" y="5522976"/>
            <a:ext cx="8936431" cy="45720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彭子骞第一个读——先给最短的那条。</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1 · Warm-up</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13</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WARM-UP · 收</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Warm-up 小结：三个空里最难的永远是 WHY</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947672"/>
            <a:ext cx="3527450" cy="2468880"/>
          </a:xfrm>
          <a:prstGeom prst="roundRect">
            <a:avLst>
              <a:gd name="adj" fmla="val 6000"/>
            </a:avLst>
          </a:prstGeom>
          <a:solidFill>
            <a:srgbClr val="FFFFFF"/>
          </a:solidFill>
          <a:ln w="25400">
            <a:solidFill>
              <a:srgbClr val="62737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50392" y="2221992"/>
            <a:ext cx="3070250" cy="457200"/>
          </a:xfrm>
          <a:prstGeom prst="rect">
            <a:avLst/>
          </a:prstGeom>
          <a:noFill/>
        </p:spPr>
        <p:txBody>
          <a:bodyPr wrap="square" lIns="0" rIns="0" tIns="0" bIns="0" anchor="t">
            <a:spAutoFit/>
          </a:bodyPr>
          <a:lstStyle/>
          <a:p>
            <a:pPr algn="ctr">
              <a:lnSpc>
                <a:spcPct val="116000"/>
              </a:lnSpc>
              <a:spcBef>
                <a:spcPts val="0"/>
              </a:spcBef>
              <a:spcAft>
                <a:spcPts val="1000"/>
              </a:spcAft>
            </a:pPr>
            <a:r>
              <a:rPr sz="2600" b="1" i="0" u="none">
                <a:solidFill>
                  <a:srgbClr val="627378"/>
                </a:solidFill>
                <a:latin typeface="Segoe UI"/>
                <a:ea typeface="Microsoft YaHei"/>
                <a:cs typeface="Segoe UI"/>
              </a:rPr>
              <a:t>Reason</a:t>
            </a:r>
          </a:p>
        </p:txBody>
      </p:sp>
      <p:sp>
        <p:nvSpPr>
          <p:cNvPr id="10" name="TextBox 9"/>
          <p:cNvSpPr txBox="1"/>
          <p:nvPr/>
        </p:nvSpPr>
        <p:spPr>
          <a:xfrm>
            <a:off x="850392" y="2862072"/>
            <a:ext cx="3070250" cy="1280160"/>
          </a:xfrm>
          <a:prstGeom prst="rect">
            <a:avLst/>
          </a:prstGeom>
          <a:noFill/>
        </p:spPr>
        <p:txBody>
          <a:bodyPr wrap="square" lIns="0" rIns="0" tIns="0" bIns="0" anchor="t">
            <a:spAutoFit/>
          </a:bodyPr>
          <a:lstStyle/>
          <a:p>
            <a:pPr algn="ctr">
              <a:lnSpc>
                <a:spcPct val="115000"/>
              </a:lnSpc>
              <a:spcBef>
                <a:spcPts val="0"/>
              </a:spcBef>
              <a:spcAft>
                <a:spcPts val="1000"/>
              </a:spcAft>
            </a:pPr>
            <a:r>
              <a:rPr sz="1900" b="1" i="0" u="none">
                <a:solidFill>
                  <a:srgbClr val="172A31"/>
                </a:solidFill>
                <a:latin typeface="Segoe UI"/>
                <a:ea typeface="Microsoft YaHei"/>
                <a:cs typeface="Segoe UI"/>
              </a:rPr>
              <a:t>大多数人能写</a:t>
            </a:r>
          </a:p>
          <a:p>
            <a:pPr algn="ctr">
              <a:lnSpc>
                <a:spcPct val="115000"/>
              </a:lnSpc>
              <a:spcBef>
                <a:spcPts val="0"/>
              </a:spcBef>
              <a:spcAft>
                <a:spcPts val="0"/>
              </a:spcAft>
            </a:pPr>
            <a:r>
              <a:rPr sz="1900" b="0" i="0" u="none">
                <a:solidFill>
                  <a:srgbClr val="627378"/>
                </a:solidFill>
                <a:latin typeface="Segoe UI"/>
                <a:ea typeface="Microsoft YaHei"/>
                <a:cs typeface="Segoe UI"/>
              </a:rPr>
              <a:t>但常常是空词</a:t>
            </a:r>
          </a:p>
        </p:txBody>
      </p:sp>
      <p:sp>
        <p:nvSpPr>
          <p:cNvPr id="11" name="Rounded Rectangle 10"/>
          <p:cNvSpPr/>
          <p:nvPr/>
        </p:nvSpPr>
        <p:spPr>
          <a:xfrm>
            <a:off x="4332122" y="1947672"/>
            <a:ext cx="3527450" cy="2468880"/>
          </a:xfrm>
          <a:prstGeom prst="roundRect">
            <a:avLst>
              <a:gd name="adj" fmla="val 6000"/>
            </a:avLst>
          </a:prstGeom>
          <a:solidFill>
            <a:srgbClr val="FFFFFF"/>
          </a:solidFill>
          <a:ln w="25400">
            <a:solidFill>
              <a:srgbClr val="0E536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4560722" y="2221992"/>
            <a:ext cx="3070250" cy="457200"/>
          </a:xfrm>
          <a:prstGeom prst="rect">
            <a:avLst/>
          </a:prstGeom>
          <a:noFill/>
        </p:spPr>
        <p:txBody>
          <a:bodyPr wrap="square" lIns="0" rIns="0" tIns="0" bIns="0" anchor="t">
            <a:spAutoFit/>
          </a:bodyPr>
          <a:lstStyle/>
          <a:p>
            <a:pPr algn="ctr">
              <a:lnSpc>
                <a:spcPct val="116000"/>
              </a:lnSpc>
              <a:spcBef>
                <a:spcPts val="0"/>
              </a:spcBef>
              <a:spcAft>
                <a:spcPts val="1000"/>
              </a:spcAft>
            </a:pPr>
            <a:r>
              <a:rPr sz="2600" b="1" i="0" u="none">
                <a:solidFill>
                  <a:srgbClr val="0E5362"/>
                </a:solidFill>
                <a:latin typeface="Segoe UI"/>
                <a:ea typeface="Microsoft YaHei"/>
                <a:cs typeface="Segoe UI"/>
              </a:rPr>
              <a:t>Example</a:t>
            </a:r>
          </a:p>
        </p:txBody>
      </p:sp>
      <p:sp>
        <p:nvSpPr>
          <p:cNvPr id="13" name="TextBox 12"/>
          <p:cNvSpPr txBox="1"/>
          <p:nvPr/>
        </p:nvSpPr>
        <p:spPr>
          <a:xfrm>
            <a:off x="4560722" y="2862072"/>
            <a:ext cx="3070250" cy="1280160"/>
          </a:xfrm>
          <a:prstGeom prst="rect">
            <a:avLst/>
          </a:prstGeom>
          <a:noFill/>
        </p:spPr>
        <p:txBody>
          <a:bodyPr wrap="square" lIns="0" rIns="0" tIns="0" bIns="0" anchor="t">
            <a:spAutoFit/>
          </a:bodyPr>
          <a:lstStyle/>
          <a:p>
            <a:pPr algn="ctr">
              <a:lnSpc>
                <a:spcPct val="115000"/>
              </a:lnSpc>
              <a:spcBef>
                <a:spcPts val="0"/>
              </a:spcBef>
              <a:spcAft>
                <a:spcPts val="1000"/>
              </a:spcAft>
            </a:pPr>
            <a:r>
              <a:rPr sz="1900" b="1" i="0" u="none">
                <a:solidFill>
                  <a:srgbClr val="172A31"/>
                </a:solidFill>
                <a:latin typeface="Segoe UI"/>
                <a:ea typeface="Microsoft YaHei"/>
                <a:cs typeface="Segoe UI"/>
              </a:rPr>
              <a:t>教一次就会</a:t>
            </a:r>
          </a:p>
          <a:p>
            <a:pPr algn="ctr">
              <a:lnSpc>
                <a:spcPct val="115000"/>
              </a:lnSpc>
              <a:spcBef>
                <a:spcPts val="0"/>
              </a:spcBef>
              <a:spcAft>
                <a:spcPts val="0"/>
              </a:spcAft>
            </a:pPr>
            <a:r>
              <a:rPr sz="1900" b="0" i="0" u="none">
                <a:solidFill>
                  <a:srgbClr val="627378"/>
                </a:solidFill>
                <a:latin typeface="Segoe UI"/>
                <a:ea typeface="Microsoft YaHei"/>
                <a:cs typeface="Segoe UI"/>
              </a:rPr>
              <a:t>只要记住'谁+做什么+结果'</a:t>
            </a:r>
          </a:p>
        </p:txBody>
      </p:sp>
      <p:sp>
        <p:nvSpPr>
          <p:cNvPr id="14" name="Rounded Rectangle 13"/>
          <p:cNvSpPr/>
          <p:nvPr/>
        </p:nvSpPr>
        <p:spPr>
          <a:xfrm>
            <a:off x="8042452" y="1947672"/>
            <a:ext cx="3527450" cy="2468880"/>
          </a:xfrm>
          <a:prstGeom prst="roundRect">
            <a:avLst>
              <a:gd name="adj" fmla="val 6000"/>
            </a:avLst>
          </a:prstGeom>
          <a:solidFill>
            <a:srgbClr val="FFFFFF"/>
          </a:solidFill>
          <a:ln w="25400">
            <a:solidFill>
              <a:srgbClr val="C9552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71052" y="2221992"/>
            <a:ext cx="3070250" cy="457200"/>
          </a:xfrm>
          <a:prstGeom prst="rect">
            <a:avLst/>
          </a:prstGeom>
          <a:noFill/>
        </p:spPr>
        <p:txBody>
          <a:bodyPr wrap="square" lIns="0" rIns="0" tIns="0" bIns="0" anchor="t">
            <a:spAutoFit/>
          </a:bodyPr>
          <a:lstStyle/>
          <a:p>
            <a:pPr algn="ctr">
              <a:lnSpc>
                <a:spcPct val="116000"/>
              </a:lnSpc>
              <a:spcBef>
                <a:spcPts val="0"/>
              </a:spcBef>
              <a:spcAft>
                <a:spcPts val="1000"/>
              </a:spcAft>
            </a:pPr>
            <a:r>
              <a:rPr sz="2600" b="1" i="0" u="none">
                <a:solidFill>
                  <a:srgbClr val="C95527"/>
                </a:solidFill>
                <a:latin typeface="Segoe UI"/>
                <a:ea typeface="Microsoft YaHei"/>
                <a:cs typeface="Segoe UI"/>
              </a:rPr>
              <a:t>WHY</a:t>
            </a:r>
          </a:p>
        </p:txBody>
      </p:sp>
      <p:sp>
        <p:nvSpPr>
          <p:cNvPr id="16" name="TextBox 15"/>
          <p:cNvSpPr txBox="1"/>
          <p:nvPr/>
        </p:nvSpPr>
        <p:spPr>
          <a:xfrm>
            <a:off x="8271052" y="2862072"/>
            <a:ext cx="3070250" cy="1280160"/>
          </a:xfrm>
          <a:prstGeom prst="rect">
            <a:avLst/>
          </a:prstGeom>
          <a:noFill/>
        </p:spPr>
        <p:txBody>
          <a:bodyPr wrap="square" lIns="0" rIns="0" tIns="0" bIns="0" anchor="t">
            <a:spAutoFit/>
          </a:bodyPr>
          <a:lstStyle/>
          <a:p>
            <a:pPr algn="ctr">
              <a:lnSpc>
                <a:spcPct val="115000"/>
              </a:lnSpc>
              <a:spcBef>
                <a:spcPts val="0"/>
              </a:spcBef>
              <a:spcAft>
                <a:spcPts val="1000"/>
              </a:spcAft>
            </a:pPr>
            <a:r>
              <a:rPr sz="1900" b="1" i="0" u="none">
                <a:solidFill>
                  <a:srgbClr val="172A31"/>
                </a:solidFill>
                <a:latin typeface="Segoe UI"/>
                <a:ea typeface="Microsoft YaHei"/>
                <a:cs typeface="Segoe UI"/>
              </a:rPr>
              <a:t>最容易被跳过</a:t>
            </a:r>
          </a:p>
          <a:p>
            <a:pPr algn="ctr">
              <a:lnSpc>
                <a:spcPct val="115000"/>
              </a:lnSpc>
              <a:spcBef>
                <a:spcPts val="0"/>
              </a:spcBef>
              <a:spcAft>
                <a:spcPts val="0"/>
              </a:spcAft>
            </a:pPr>
            <a:r>
              <a:rPr sz="1900" b="0" i="0" u="none">
                <a:solidFill>
                  <a:srgbClr val="627378"/>
                </a:solidFill>
                <a:latin typeface="Segoe UI"/>
                <a:ea typeface="Microsoft YaHei"/>
                <a:cs typeface="Segoe UI"/>
              </a:rPr>
              <a:t>也是 3 分和 5 分的分水岭</a:t>
            </a:r>
          </a:p>
        </p:txBody>
      </p:sp>
      <p:sp>
        <p:nvSpPr>
          <p:cNvPr id="17" name="Rounded Rectangle 16"/>
          <p:cNvSpPr/>
          <p:nvPr/>
        </p:nvSpPr>
        <p:spPr>
          <a:xfrm>
            <a:off x="621792" y="4690872"/>
            <a:ext cx="10948111" cy="868680"/>
          </a:xfrm>
          <a:prstGeom prst="roundRect">
            <a:avLst>
              <a:gd name="adj" fmla="val 6000"/>
            </a:avLst>
          </a:prstGeom>
          <a:solidFill>
            <a:srgbClr val="0E53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87552" y="4901184"/>
            <a:ext cx="10216591" cy="548640"/>
          </a:xfrm>
          <a:prstGeom prst="rect">
            <a:avLst/>
          </a:prstGeom>
          <a:noFill/>
        </p:spPr>
        <p:txBody>
          <a:bodyPr wrap="square" lIns="0" rIns="0" tIns="0" bIns="0" anchor="t">
            <a:spAutoFit/>
          </a:bodyPr>
          <a:lstStyle/>
          <a:p>
            <a:pPr algn="ctr">
              <a:lnSpc>
                <a:spcPct val="116000"/>
              </a:lnSpc>
              <a:spcBef>
                <a:spcPts val="0"/>
              </a:spcBef>
              <a:spcAft>
                <a:spcPts val="0"/>
              </a:spcAft>
            </a:pPr>
            <a:r>
              <a:rPr sz="2300" b="1" i="0" u="none">
                <a:solidFill>
                  <a:srgbClr val="FFFFFF"/>
                </a:solidFill>
                <a:latin typeface="Segoe UI"/>
                <a:ea typeface="Microsoft YaHei"/>
                <a:cs typeface="Segoe UI"/>
              </a:rPr>
              <a:t>接下来：把这三个空，搬到一道你从没见过的官方真题上。</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53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3" name="Connector 2"/>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2 · 官方新题</a:t>
            </a:r>
          </a:p>
        </p:txBody>
      </p:sp>
      <p:sp>
        <p:nvSpPr>
          <p:cNvPr id="5" name="TextBox 4"/>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14</a:t>
            </a:r>
          </a:p>
        </p:txBody>
      </p:sp>
      <p:sp>
        <p:nvSpPr>
          <p:cNvPr id="6" name="Rectangle 5"/>
          <p:cNvSpPr/>
          <p:nvPr/>
        </p:nvSpPr>
        <p:spPr>
          <a:xfrm>
            <a:off x="0" y="0"/>
            <a:ext cx="310896" cy="6858000"/>
          </a:xfrm>
          <a:prstGeom prst="rect">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371600" y="1481328"/>
            <a:ext cx="10033711" cy="457200"/>
          </a:xfrm>
          <a:prstGeom prst="rect">
            <a:avLst/>
          </a:prstGeom>
          <a:noFill/>
        </p:spPr>
        <p:txBody>
          <a:bodyPr wrap="square" lIns="0" rIns="0" tIns="0" bIns="0" anchor="t">
            <a:spAutoFit/>
          </a:bodyPr>
          <a:lstStyle/>
          <a:p>
            <a:pPr algn="l">
              <a:lnSpc>
                <a:spcPct val="116000"/>
              </a:lnSpc>
              <a:spcBef>
                <a:spcPts val="0"/>
              </a:spcBef>
              <a:spcAft>
                <a:spcPts val="200"/>
              </a:spcAft>
            </a:pPr>
            <a:r>
              <a:rPr sz="4600" b="1" i="0" u="none">
                <a:solidFill>
                  <a:srgbClr val="5C94A0"/>
                </a:solidFill>
                <a:latin typeface="Segoe UI"/>
                <a:ea typeface="Microsoft YaHei"/>
                <a:cs typeface="Segoe UI"/>
              </a:rPr>
              <a:t>PART 2</a:t>
            </a:r>
          </a:p>
        </p:txBody>
      </p:sp>
      <p:sp>
        <p:nvSpPr>
          <p:cNvPr id="8" name="TextBox 7"/>
          <p:cNvSpPr txBox="1"/>
          <p:nvPr/>
        </p:nvSpPr>
        <p:spPr>
          <a:xfrm>
            <a:off x="1371600" y="2395728"/>
            <a:ext cx="10033711" cy="731520"/>
          </a:xfrm>
          <a:prstGeom prst="rect">
            <a:avLst/>
          </a:prstGeom>
          <a:noFill/>
        </p:spPr>
        <p:txBody>
          <a:bodyPr wrap="square" lIns="0" rIns="0" tIns="0" bIns="0" anchor="t">
            <a:spAutoFit/>
          </a:bodyPr>
          <a:lstStyle/>
          <a:p>
            <a:pPr algn="l">
              <a:lnSpc>
                <a:spcPct val="116000"/>
              </a:lnSpc>
              <a:spcBef>
                <a:spcPts val="0"/>
              </a:spcBef>
              <a:spcAft>
                <a:spcPts val="400"/>
              </a:spcAft>
            </a:pPr>
            <a:r>
              <a:rPr sz="4200" b="1" i="0" u="none">
                <a:solidFill>
                  <a:srgbClr val="FFFFFF"/>
                </a:solidFill>
                <a:latin typeface="Segoe UI"/>
                <a:ea typeface="Microsoft YaHei"/>
                <a:cs typeface="Segoe UI"/>
              </a:rPr>
              <a:t>官方新题 · Skill Transfer</a:t>
            </a:r>
          </a:p>
        </p:txBody>
      </p:sp>
      <p:sp>
        <p:nvSpPr>
          <p:cNvPr id="9" name="TextBox 8"/>
          <p:cNvSpPr txBox="1"/>
          <p:nvPr/>
        </p:nvSpPr>
        <p:spPr>
          <a:xfrm>
            <a:off x="1371600" y="3200400"/>
            <a:ext cx="10033711" cy="411480"/>
          </a:xfrm>
          <a:prstGeom prst="rect">
            <a:avLst/>
          </a:prstGeom>
          <a:noFill/>
        </p:spPr>
        <p:txBody>
          <a:bodyPr wrap="square" lIns="0" rIns="0" tIns="0" bIns="0" anchor="t">
            <a:spAutoFit/>
          </a:bodyPr>
          <a:lstStyle/>
          <a:p>
            <a:pPr algn="l">
              <a:lnSpc>
                <a:spcPct val="116000"/>
              </a:lnSpc>
              <a:spcBef>
                <a:spcPts val="0"/>
              </a:spcBef>
              <a:spcAft>
                <a:spcPts val="0"/>
              </a:spcAft>
            </a:pPr>
            <a:r>
              <a:rPr sz="2200" b="0" i="0" u="none">
                <a:solidFill>
                  <a:srgbClr val="9EC6CE"/>
                </a:solidFill>
                <a:latin typeface="Segoe UI"/>
                <a:ea typeface="Microsoft YaHei"/>
                <a:cs typeface="Segoe UI"/>
              </a:rPr>
              <a:t>读懂一道你没见过的官方真题</a:t>
            </a:r>
          </a:p>
        </p:txBody>
      </p:sp>
      <p:sp>
        <p:nvSpPr>
          <p:cNvPr id="10" name="Rectangle 9"/>
          <p:cNvSpPr/>
          <p:nvPr/>
        </p:nvSpPr>
        <p:spPr>
          <a:xfrm>
            <a:off x="1371600" y="3886200"/>
            <a:ext cx="54864" cy="640080"/>
          </a:xfrm>
          <a:prstGeom prst="rect">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627632" y="3886200"/>
            <a:ext cx="9119311" cy="73152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FFFFFF"/>
                </a:solidFill>
                <a:latin typeface="Segoe UI"/>
                <a:ea typeface="Microsoft YaHei"/>
                <a:cs typeface="Segoe UI"/>
              </a:rPr>
              <a:t>本环节目标：拿到新题的前 60 秒，先做三件事：找问题、数选项、看两个人分别站哪边。</a:t>
            </a:r>
          </a:p>
        </p:txBody>
      </p:sp>
      <p:sp>
        <p:nvSpPr>
          <p:cNvPr id="12" name="Rounded Rectangle 11"/>
          <p:cNvSpPr/>
          <p:nvPr/>
        </p:nvSpPr>
        <p:spPr>
          <a:xfrm>
            <a:off x="1371600" y="4892040"/>
            <a:ext cx="841248" cy="365760"/>
          </a:xfrm>
          <a:prstGeom prst="roundRect">
            <a:avLst>
              <a:gd name="adj" fmla="val 40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371600" y="4933188"/>
            <a:ext cx="841248" cy="365760"/>
          </a:xfrm>
          <a:prstGeom prst="rect">
            <a:avLst/>
          </a:prstGeom>
          <a:noFill/>
        </p:spPr>
        <p:txBody>
          <a:bodyPr wrap="square" lIns="0" rIns="0" tIns="0" bIns="0" anchor="t">
            <a:spAutoFit/>
          </a:bodyPr>
          <a:lstStyle/>
          <a:p>
            <a:pPr algn="ctr">
              <a:lnSpc>
                <a:spcPct val="116000"/>
              </a:lnSpc>
              <a:spcBef>
                <a:spcPts val="0"/>
              </a:spcBef>
              <a:spcAft>
                <a:spcPts val="0"/>
              </a:spcAft>
            </a:pPr>
            <a:r>
              <a:rPr sz="1700" b="1" i="0" u="none">
                <a:solidFill>
                  <a:srgbClr val="FFFFFF"/>
                </a:solidFill>
                <a:latin typeface="Segoe UI"/>
                <a:ea typeface="Microsoft YaHei"/>
                <a:cs typeface="Segoe UI"/>
              </a:rPr>
              <a:t>20 分钟</a:t>
            </a:r>
          </a:p>
        </p:txBody>
      </p:sp>
      <p:sp>
        <p:nvSpPr>
          <p:cNvPr id="14" name="TextBox 13"/>
          <p:cNvSpPr txBox="1"/>
          <p:nvPr/>
        </p:nvSpPr>
        <p:spPr>
          <a:xfrm>
            <a:off x="3200400" y="4937760"/>
            <a:ext cx="8022031" cy="45720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9EC6CE"/>
                </a:solidFill>
                <a:latin typeface="Segoe UI"/>
                <a:ea typeface="Microsoft YaHei"/>
                <a:cs typeface="Segoe UI"/>
              </a:rPr>
              <a:t>读题 · 填表 · 定立场</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2 · 官方新题</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15</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TRANSFER · 这一步为什么重要</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换题不换流程</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764792"/>
            <a:ext cx="5291175" cy="1828800"/>
          </a:xfrm>
          <a:prstGeom prst="roundRect">
            <a:avLst>
              <a:gd name="adj" fmla="val 6000"/>
            </a:avLst>
          </a:prstGeom>
          <a:solidFill>
            <a:srgbClr val="F3F8F9"/>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2011680"/>
            <a:ext cx="4696815" cy="1371600"/>
          </a:xfrm>
          <a:prstGeom prst="rect">
            <a:avLst/>
          </a:prstGeom>
          <a:noFill/>
        </p:spPr>
        <p:txBody>
          <a:bodyPr wrap="square" lIns="0" rIns="0" tIns="0" bIns="0" anchor="t">
            <a:spAutoFit/>
          </a:bodyPr>
          <a:lstStyle/>
          <a:p>
            <a:pPr algn="l">
              <a:lnSpc>
                <a:spcPct val="116000"/>
              </a:lnSpc>
              <a:spcBef>
                <a:spcPts val="0"/>
              </a:spcBef>
              <a:spcAft>
                <a:spcPts val="800"/>
              </a:spcAft>
            </a:pPr>
            <a:r>
              <a:rPr sz="2000" b="1" i="0" u="none">
                <a:solidFill>
                  <a:srgbClr val="627378"/>
                </a:solidFill>
                <a:latin typeface="Segoe UI"/>
                <a:ea typeface="Microsoft YaHei"/>
                <a:cs typeface="Segoe UI"/>
              </a:rPr>
              <a:t>第 1 课</a:t>
            </a:r>
          </a:p>
          <a:p>
            <a:pPr algn="l">
              <a:lnSpc>
                <a:spcPct val="116000"/>
              </a:lnSpc>
              <a:spcBef>
                <a:spcPts val="0"/>
              </a:spcBef>
              <a:spcAft>
                <a:spcPts val="800"/>
              </a:spcAft>
            </a:pPr>
            <a:r>
              <a:rPr sz="1900" b="0" i="0" u="none">
                <a:solidFill>
                  <a:srgbClr val="172A31"/>
                </a:solidFill>
                <a:latin typeface="Segoe UI"/>
                <a:ea typeface="Microsoft YaHei"/>
                <a:cs typeface="Segoe UI"/>
              </a:rPr>
              <a:t>Internship 要不要成为毕业要求</a:t>
            </a:r>
          </a:p>
          <a:p>
            <a:pPr algn="l">
              <a:lnSpc>
                <a:spcPct val="116000"/>
              </a:lnSpc>
              <a:spcBef>
                <a:spcPts val="0"/>
              </a:spcBef>
              <a:spcAft>
                <a:spcPts val="0"/>
              </a:spcAft>
            </a:pPr>
            <a:r>
              <a:rPr sz="1900" b="0" i="0" u="none">
                <a:solidFill>
                  <a:srgbClr val="627378"/>
                </a:solidFill>
                <a:latin typeface="Segoe UI"/>
                <a:ea typeface="Microsoft YaHei"/>
                <a:cs typeface="Segoe UI"/>
              </a:rPr>
              <a:t>你写过、改过、讲过——所以看起来会写。</a:t>
            </a:r>
          </a:p>
        </p:txBody>
      </p:sp>
      <p:sp>
        <p:nvSpPr>
          <p:cNvPr id="10" name="Rounded Rectangle 9"/>
          <p:cNvSpPr/>
          <p:nvPr/>
        </p:nvSpPr>
        <p:spPr>
          <a:xfrm>
            <a:off x="6278727" y="1764792"/>
            <a:ext cx="5291175" cy="1828800"/>
          </a:xfrm>
          <a:prstGeom prst="roundRect">
            <a:avLst>
              <a:gd name="adj" fmla="val 6000"/>
            </a:avLst>
          </a:prstGeom>
          <a:solidFill>
            <a:srgbClr val="FBEC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571335" y="2011680"/>
            <a:ext cx="4696815" cy="1371600"/>
          </a:xfrm>
          <a:prstGeom prst="rect">
            <a:avLst/>
          </a:prstGeom>
          <a:noFill/>
        </p:spPr>
        <p:txBody>
          <a:bodyPr wrap="square" lIns="0" rIns="0" tIns="0" bIns="0" anchor="t">
            <a:spAutoFit/>
          </a:bodyPr>
          <a:lstStyle/>
          <a:p>
            <a:pPr algn="l">
              <a:lnSpc>
                <a:spcPct val="116000"/>
              </a:lnSpc>
              <a:spcBef>
                <a:spcPts val="0"/>
              </a:spcBef>
              <a:spcAft>
                <a:spcPts val="800"/>
              </a:spcAft>
            </a:pPr>
            <a:r>
              <a:rPr sz="2000" b="1" i="0" u="none">
                <a:solidFill>
                  <a:srgbClr val="C95527"/>
                </a:solidFill>
                <a:latin typeface="Segoe UI"/>
                <a:ea typeface="Microsoft YaHei"/>
                <a:cs typeface="Segoe UI"/>
              </a:rPr>
              <a:t>今天</a:t>
            </a:r>
          </a:p>
          <a:p>
            <a:pPr algn="l">
              <a:lnSpc>
                <a:spcPct val="116000"/>
              </a:lnSpc>
              <a:spcBef>
                <a:spcPts val="0"/>
              </a:spcBef>
              <a:spcAft>
                <a:spcPts val="800"/>
              </a:spcAft>
            </a:pPr>
            <a:r>
              <a:rPr sz="1900" b="1" i="0" u="none">
                <a:solidFill>
                  <a:srgbClr val="C95527"/>
                </a:solidFill>
                <a:latin typeface="Segoe UI"/>
                <a:ea typeface="Microsoft YaHei"/>
                <a:cs typeface="Segoe UI"/>
              </a:rPr>
              <a:t>一道全新的官方题（sociology）</a:t>
            </a:r>
          </a:p>
          <a:p>
            <a:pPr algn="l">
              <a:lnSpc>
                <a:spcPct val="116000"/>
              </a:lnSpc>
              <a:spcBef>
                <a:spcPts val="0"/>
              </a:spcBef>
              <a:spcAft>
                <a:spcPts val="0"/>
              </a:spcAft>
            </a:pPr>
            <a:r>
              <a:rPr sz="1900" b="0" i="0" u="none">
                <a:solidFill>
                  <a:srgbClr val="172A31"/>
                </a:solidFill>
                <a:latin typeface="Segoe UI"/>
                <a:ea typeface="Microsoft YaHei"/>
                <a:cs typeface="Segoe UI"/>
              </a:rPr>
              <a:t>没写过、没改过、没背过——这才叫会写。</a:t>
            </a:r>
          </a:p>
        </p:txBody>
      </p:sp>
      <p:sp>
        <p:nvSpPr>
          <p:cNvPr id="12" name="TextBox 11"/>
          <p:cNvSpPr txBox="1"/>
          <p:nvPr/>
        </p:nvSpPr>
        <p:spPr>
          <a:xfrm>
            <a:off x="5803239" y="2496312"/>
            <a:ext cx="640080" cy="457200"/>
          </a:xfrm>
          <a:prstGeom prst="rect">
            <a:avLst/>
          </a:prstGeom>
          <a:noFill/>
        </p:spPr>
        <p:txBody>
          <a:bodyPr wrap="square" lIns="0" rIns="0" tIns="0" bIns="0" anchor="t">
            <a:spAutoFit/>
          </a:bodyPr>
          <a:lstStyle/>
          <a:p>
            <a:pPr algn="ctr">
              <a:lnSpc>
                <a:spcPct val="116000"/>
              </a:lnSpc>
              <a:spcBef>
                <a:spcPts val="0"/>
              </a:spcBef>
              <a:spcAft>
                <a:spcPts val="0"/>
              </a:spcAft>
            </a:pPr>
            <a:r>
              <a:rPr sz="2600" b="0" i="0" u="none">
                <a:solidFill>
                  <a:srgbClr val="CFDDE1"/>
                </a:solidFill>
                <a:latin typeface="Segoe UI"/>
                <a:ea typeface="Microsoft YaHei"/>
                <a:cs typeface="Segoe UI"/>
              </a:rPr>
              <a:t>▶</a:t>
            </a:r>
          </a:p>
        </p:txBody>
      </p:sp>
      <p:sp>
        <p:nvSpPr>
          <p:cNvPr id="13" name="Rounded Rectangle 12"/>
          <p:cNvSpPr/>
          <p:nvPr/>
        </p:nvSpPr>
        <p:spPr>
          <a:xfrm>
            <a:off x="621792" y="3867912"/>
            <a:ext cx="10948111" cy="1417320"/>
          </a:xfrm>
          <a:prstGeom prst="roundRect">
            <a:avLst>
              <a:gd name="adj" fmla="val 6000"/>
            </a:avLst>
          </a:prstGeom>
          <a:solidFill>
            <a:srgbClr val="0E53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033272" y="4114800"/>
            <a:ext cx="10125151" cy="1005840"/>
          </a:xfrm>
          <a:prstGeom prst="rect">
            <a:avLst/>
          </a:prstGeom>
          <a:noFill/>
        </p:spPr>
        <p:txBody>
          <a:bodyPr wrap="square" lIns="0" rIns="0" tIns="0" bIns="0" anchor="t">
            <a:spAutoFit/>
          </a:bodyPr>
          <a:lstStyle/>
          <a:p>
            <a:pPr algn="l">
              <a:lnSpc>
                <a:spcPct val="116000"/>
              </a:lnSpc>
              <a:spcBef>
                <a:spcPts val="0"/>
              </a:spcBef>
              <a:spcAft>
                <a:spcPts val="1000"/>
              </a:spcAft>
            </a:pPr>
            <a:r>
              <a:rPr sz="2300" b="1" i="0" u="none">
                <a:solidFill>
                  <a:srgbClr val="FFFFFF"/>
                </a:solidFill>
                <a:latin typeface="Segoe UI"/>
                <a:ea typeface="Microsoft YaHei"/>
                <a:cs typeface="Segoe UI"/>
              </a:rPr>
              <a:t>考场上你遇到的一定是没见过的题。</a:t>
            </a:r>
          </a:p>
          <a:p>
            <a:pPr algn="l">
              <a:lnSpc>
                <a:spcPct val="116000"/>
              </a:lnSpc>
              <a:spcBef>
                <a:spcPts val="0"/>
              </a:spcBef>
              <a:spcAft>
                <a:spcPts val="0"/>
              </a:spcAft>
            </a:pPr>
            <a:r>
              <a:rPr sz="1900" b="0" i="0" u="none">
                <a:solidFill>
                  <a:srgbClr val="C9DEE3"/>
                </a:solidFill>
                <a:latin typeface="Segoe UI"/>
                <a:ea typeface="Microsoft YaHei"/>
                <a:cs typeface="Segoe UI"/>
              </a:rPr>
              <a:t>所以今天真正练的不是这道题，而是「拿到任何一道题以后的前 60 秒」。</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2 · 官方新题</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16</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OFFICIAL DIRECTIONS</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官方指令原文（逐字）</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719072"/>
            <a:ext cx="10948111" cy="3063240"/>
          </a:xfrm>
          <a:prstGeom prst="roundRect">
            <a:avLst>
              <a:gd name="adj" fmla="val 6000"/>
            </a:avLst>
          </a:prstGeom>
          <a:solidFill>
            <a:srgbClr val="FFFFFF"/>
          </a:solidFill>
          <a:ln w="20320">
            <a:solidFill>
              <a:srgbClr val="0E536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33272" y="2011680"/>
            <a:ext cx="10125151" cy="2651760"/>
          </a:xfrm>
          <a:prstGeom prst="rect">
            <a:avLst/>
          </a:prstGeom>
          <a:noFill/>
        </p:spPr>
        <p:txBody>
          <a:bodyPr wrap="square" lIns="0" rIns="0" tIns="0" bIns="0" anchor="t">
            <a:spAutoFit/>
          </a:bodyPr>
          <a:lstStyle/>
          <a:p>
            <a:pPr algn="l">
              <a:lnSpc>
                <a:spcPct val="120000"/>
              </a:lnSpc>
              <a:spcBef>
                <a:spcPts val="0"/>
              </a:spcBef>
              <a:spcAft>
                <a:spcPts val="1400"/>
              </a:spcAft>
            </a:pPr>
            <a:r>
              <a:rPr sz="2100" b="1" i="0" u="none">
                <a:solidFill>
                  <a:srgbClr val="172A31"/>
                </a:solidFill>
                <a:latin typeface="Segoe UI"/>
                <a:ea typeface="Microsoft YaHei"/>
                <a:cs typeface="Segoe UI"/>
              </a:rPr>
              <a:t>Your professor is teaching a class on sociology. Write a post responding to the professor's question.</a:t>
            </a:r>
          </a:p>
          <a:p>
            <a:pPr algn="l">
              <a:lnSpc>
                <a:spcPct val="116000"/>
              </a:lnSpc>
              <a:spcBef>
                <a:spcPts val="0"/>
              </a:spcBef>
              <a:spcAft>
                <a:spcPts val="800"/>
              </a:spcAft>
            </a:pPr>
            <a:r>
              <a:rPr sz="2100" b="1" i="0" u="none">
                <a:solidFill>
                  <a:srgbClr val="0E5362"/>
                </a:solidFill>
                <a:latin typeface="Segoe UI"/>
                <a:ea typeface="Microsoft YaHei"/>
                <a:cs typeface="Segoe UI"/>
              </a:rPr>
              <a:t>In your response, you should do the following.</a:t>
            </a:r>
          </a:p>
          <a:p>
            <a:pPr algn="l">
              <a:lnSpc>
                <a:spcPct val="116000"/>
              </a:lnSpc>
              <a:spcBef>
                <a:spcPts val="0"/>
              </a:spcBef>
              <a:spcAft>
                <a:spcPts val="600"/>
              </a:spcAft>
            </a:pPr>
            <a:r>
              <a:rPr sz="2100" b="0" i="0" u="none">
                <a:solidFill>
                  <a:srgbClr val="172A31"/>
                </a:solidFill>
                <a:latin typeface="Segoe UI"/>
                <a:ea typeface="Microsoft YaHei"/>
                <a:cs typeface="Segoe UI"/>
              </a:rPr>
              <a:t>•  Express and support your opinion.</a:t>
            </a:r>
          </a:p>
          <a:p>
            <a:pPr algn="l">
              <a:lnSpc>
                <a:spcPct val="116000"/>
              </a:lnSpc>
              <a:spcBef>
                <a:spcPts val="0"/>
              </a:spcBef>
              <a:spcAft>
                <a:spcPts val="1200"/>
              </a:spcAft>
            </a:pPr>
            <a:r>
              <a:rPr sz="2100" b="0" i="0" u="none">
                <a:solidFill>
                  <a:srgbClr val="172A31"/>
                </a:solidFill>
                <a:latin typeface="Segoe UI"/>
                <a:ea typeface="Microsoft YaHei"/>
                <a:cs typeface="Segoe UI"/>
              </a:rPr>
              <a:t>•  Make a contribution to the discussion in your own words.</a:t>
            </a:r>
          </a:p>
          <a:p>
            <a:pPr algn="l">
              <a:lnSpc>
                <a:spcPct val="116000"/>
              </a:lnSpc>
              <a:spcBef>
                <a:spcPts val="0"/>
              </a:spcBef>
              <a:spcAft>
                <a:spcPts val="0"/>
              </a:spcAft>
            </a:pPr>
            <a:r>
              <a:rPr sz="2100" b="1" i="0" u="none">
                <a:solidFill>
                  <a:srgbClr val="C95527"/>
                </a:solidFill>
                <a:latin typeface="Segoe UI"/>
                <a:ea typeface="Microsoft YaHei"/>
                <a:cs typeface="Segoe UI"/>
              </a:rPr>
              <a:t>An effective response will contain at least 100 words.</a:t>
            </a:r>
          </a:p>
        </p:txBody>
      </p:sp>
      <p:sp>
        <p:nvSpPr>
          <p:cNvPr id="10" name="Rounded Rectangle 9"/>
          <p:cNvSpPr/>
          <p:nvPr/>
        </p:nvSpPr>
        <p:spPr>
          <a:xfrm>
            <a:off x="621792" y="4965192"/>
            <a:ext cx="3466490" cy="777240"/>
          </a:xfrm>
          <a:prstGeom prst="roundRect">
            <a:avLst>
              <a:gd name="adj" fmla="val 6000"/>
            </a:avLst>
          </a:prstGeom>
          <a:solidFill>
            <a:srgbClr val="FBEC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5093207"/>
            <a:ext cx="3009290" cy="548640"/>
          </a:xfrm>
          <a:prstGeom prst="rect">
            <a:avLst/>
          </a:prstGeom>
          <a:noFill/>
        </p:spPr>
        <p:txBody>
          <a:bodyPr wrap="square" lIns="0" rIns="0" tIns="0" bIns="0" anchor="t">
            <a:spAutoFit/>
          </a:bodyPr>
          <a:lstStyle/>
          <a:p>
            <a:pPr algn="l">
              <a:lnSpc>
                <a:spcPct val="116000"/>
              </a:lnSpc>
              <a:spcBef>
                <a:spcPts val="0"/>
              </a:spcBef>
              <a:spcAft>
                <a:spcPts val="200"/>
              </a:spcAft>
            </a:pPr>
            <a:r>
              <a:rPr sz="2100" b="1" i="0" u="none">
                <a:solidFill>
                  <a:srgbClr val="C95527"/>
                </a:solidFill>
                <a:latin typeface="Segoe UI"/>
                <a:ea typeface="Microsoft YaHei"/>
                <a:cs typeface="Segoe UI"/>
              </a:rPr>
              <a:t>10 分钟</a:t>
            </a:r>
          </a:p>
          <a:p>
            <a:pPr algn="l">
              <a:lnSpc>
                <a:spcPct val="116000"/>
              </a:lnSpc>
              <a:spcBef>
                <a:spcPts val="0"/>
              </a:spcBef>
              <a:spcAft>
                <a:spcPts val="0"/>
              </a:spcAft>
            </a:pPr>
            <a:r>
              <a:rPr sz="1900" b="0" i="0" u="none">
                <a:solidFill>
                  <a:srgbClr val="172A31"/>
                </a:solidFill>
                <a:latin typeface="Segoe UI"/>
                <a:ea typeface="Microsoft YaHei"/>
                <a:cs typeface="Segoe UI"/>
              </a:rPr>
              <a:t>从看到题到交卷</a:t>
            </a:r>
          </a:p>
        </p:txBody>
      </p:sp>
      <p:sp>
        <p:nvSpPr>
          <p:cNvPr id="12" name="Rounded Rectangle 11"/>
          <p:cNvSpPr/>
          <p:nvPr/>
        </p:nvSpPr>
        <p:spPr>
          <a:xfrm>
            <a:off x="4271162" y="4965192"/>
            <a:ext cx="3466490" cy="777240"/>
          </a:xfrm>
          <a:prstGeom prst="roundRect">
            <a:avLst>
              <a:gd name="adj" fmla="val 6000"/>
            </a:avLst>
          </a:prstGeom>
          <a:solidFill>
            <a:srgbClr val="FBEC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527194" y="5093207"/>
            <a:ext cx="3009290" cy="548640"/>
          </a:xfrm>
          <a:prstGeom prst="rect">
            <a:avLst/>
          </a:prstGeom>
          <a:noFill/>
        </p:spPr>
        <p:txBody>
          <a:bodyPr wrap="square" lIns="0" rIns="0" tIns="0" bIns="0" anchor="t">
            <a:spAutoFit/>
          </a:bodyPr>
          <a:lstStyle/>
          <a:p>
            <a:pPr algn="l">
              <a:lnSpc>
                <a:spcPct val="116000"/>
              </a:lnSpc>
              <a:spcBef>
                <a:spcPts val="0"/>
              </a:spcBef>
              <a:spcAft>
                <a:spcPts val="200"/>
              </a:spcAft>
            </a:pPr>
            <a:r>
              <a:rPr sz="2100" b="1" i="0" u="none">
                <a:solidFill>
                  <a:srgbClr val="C95527"/>
                </a:solidFill>
                <a:latin typeface="Segoe UI"/>
                <a:ea typeface="Microsoft YaHei"/>
                <a:cs typeface="Segoe UI"/>
              </a:rPr>
              <a:t>100 词</a:t>
            </a:r>
          </a:p>
          <a:p>
            <a:pPr algn="l">
              <a:lnSpc>
                <a:spcPct val="116000"/>
              </a:lnSpc>
              <a:spcBef>
                <a:spcPts val="0"/>
              </a:spcBef>
              <a:spcAft>
                <a:spcPts val="0"/>
              </a:spcAft>
            </a:pPr>
            <a:r>
              <a:rPr sz="1900" b="0" i="0" u="none">
                <a:solidFill>
                  <a:srgbClr val="172A31"/>
                </a:solidFill>
                <a:latin typeface="Segoe UI"/>
                <a:ea typeface="Microsoft YaHei"/>
                <a:cs typeface="Segoe UI"/>
              </a:rPr>
              <a:t>官方写明的最低量</a:t>
            </a:r>
          </a:p>
        </p:txBody>
      </p:sp>
      <p:sp>
        <p:nvSpPr>
          <p:cNvPr id="14" name="Rounded Rectangle 13"/>
          <p:cNvSpPr/>
          <p:nvPr/>
        </p:nvSpPr>
        <p:spPr>
          <a:xfrm>
            <a:off x="7920532" y="4965192"/>
            <a:ext cx="3466490" cy="777240"/>
          </a:xfrm>
          <a:prstGeom prst="roundRect">
            <a:avLst>
              <a:gd name="adj" fmla="val 6000"/>
            </a:avLst>
          </a:prstGeom>
          <a:solidFill>
            <a:srgbClr val="FBEC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176564" y="5093207"/>
            <a:ext cx="3009290" cy="548640"/>
          </a:xfrm>
          <a:prstGeom prst="rect">
            <a:avLst/>
          </a:prstGeom>
          <a:noFill/>
        </p:spPr>
        <p:txBody>
          <a:bodyPr wrap="square" lIns="0" rIns="0" tIns="0" bIns="0" anchor="t">
            <a:spAutoFit/>
          </a:bodyPr>
          <a:lstStyle/>
          <a:p>
            <a:pPr algn="l">
              <a:lnSpc>
                <a:spcPct val="116000"/>
              </a:lnSpc>
              <a:spcBef>
                <a:spcPts val="0"/>
              </a:spcBef>
              <a:spcAft>
                <a:spcPts val="200"/>
              </a:spcAft>
            </a:pPr>
            <a:r>
              <a:rPr sz="2100" b="1" i="0" u="none">
                <a:solidFill>
                  <a:srgbClr val="C95527"/>
                </a:solidFill>
                <a:latin typeface="Segoe UI"/>
                <a:ea typeface="Microsoft YaHei"/>
                <a:cs typeface="Segoe UI"/>
              </a:rPr>
              <a:t>2 件事</a:t>
            </a:r>
          </a:p>
          <a:p>
            <a:pPr algn="l">
              <a:lnSpc>
                <a:spcPct val="116000"/>
              </a:lnSpc>
              <a:spcBef>
                <a:spcPts val="0"/>
              </a:spcBef>
              <a:spcAft>
                <a:spcPts val="0"/>
              </a:spcAft>
            </a:pPr>
            <a:r>
              <a:rPr sz="1900" b="0" i="0" u="none">
                <a:solidFill>
                  <a:srgbClr val="172A31"/>
                </a:solidFill>
                <a:latin typeface="Segoe UI"/>
                <a:ea typeface="Microsoft YaHei"/>
                <a:cs typeface="Segoe UI"/>
              </a:rPr>
              <a:t>表明观点 + 加入讨论</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2 · 官方新题</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17</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OFFICIAL QUESTION · Dr. Gupta</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第一屏：只给教授的问题</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719072"/>
            <a:ext cx="10948111" cy="2425407"/>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621792" y="1719072"/>
            <a:ext cx="10948111" cy="457200"/>
          </a:xfrm>
          <a:prstGeom prst="roundRect">
            <a:avLst>
              <a:gd name="adj" fmla="val 6000"/>
            </a:avLst>
          </a:prstGeom>
          <a:solidFill>
            <a:srgbClr val="0E53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21792" y="1975104"/>
            <a:ext cx="10948111" cy="201168"/>
          </a:xfrm>
          <a:prstGeom prst="rect">
            <a:avLst/>
          </a:prstGeom>
          <a:solidFill>
            <a:srgbClr val="0E53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1819656"/>
            <a:ext cx="10490911" cy="329184"/>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FFFFFF"/>
                </a:solidFill>
                <a:latin typeface="Segoe UI"/>
                <a:ea typeface="Microsoft YaHei"/>
                <a:cs typeface="Segoe UI"/>
              </a:rPr>
              <a:t>Dr. Gupta   sociology · 教授提问</a:t>
            </a:r>
          </a:p>
        </p:txBody>
      </p:sp>
      <p:sp>
        <p:nvSpPr>
          <p:cNvPr id="12" name="TextBox 11"/>
          <p:cNvSpPr txBox="1"/>
          <p:nvPr/>
        </p:nvSpPr>
        <p:spPr>
          <a:xfrm>
            <a:off x="877824" y="2304288"/>
            <a:ext cx="10436047" cy="1620735"/>
          </a:xfrm>
          <a:prstGeom prst="rect">
            <a:avLst/>
          </a:prstGeom>
          <a:noFill/>
        </p:spPr>
        <p:txBody>
          <a:bodyPr wrap="square" lIns="0" rIns="0" tIns="0" bIns="0" anchor="t">
            <a:spAutoFit/>
          </a:bodyPr>
          <a:lstStyle/>
          <a:p>
            <a:pPr algn="l">
              <a:lnSpc>
                <a:spcPct val="118000"/>
              </a:lnSpc>
              <a:spcBef>
                <a:spcPts val="0"/>
              </a:spcBef>
              <a:spcAft>
                <a:spcPts val="0"/>
              </a:spcAft>
            </a:pPr>
            <a:r>
              <a:rPr sz="2100" b="0" i="0" u="none">
                <a:solidFill>
                  <a:srgbClr val="172A31"/>
                </a:solidFill>
                <a:latin typeface="Segoe UI"/>
                <a:ea typeface="Microsoft YaHei"/>
                <a:cs typeface="Segoe UI"/>
              </a:rPr>
              <a:t>For the past few classes, we have been discussing the concept of social mobility which refers to the ability of individuals or families to move up or down the social hierarchy. Some argue that education is the key to social mobility, while others believe that networking and personal connections are more important. Which viewpoint do you agree with? Why?</a:t>
            </a:r>
          </a:p>
        </p:txBody>
      </p:sp>
      <p:sp>
        <p:nvSpPr>
          <p:cNvPr id="13" name="Rounded Rectangle 12"/>
          <p:cNvSpPr/>
          <p:nvPr/>
        </p:nvSpPr>
        <p:spPr>
          <a:xfrm>
            <a:off x="621792" y="3959352"/>
            <a:ext cx="10948111" cy="1417320"/>
          </a:xfrm>
          <a:prstGeom prst="roundRect">
            <a:avLst>
              <a:gd name="adj" fmla="val 6000"/>
            </a:avLst>
          </a:prstGeom>
          <a:solidFill>
            <a:srgbClr val="F3F8F9"/>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87552" y="4169663"/>
            <a:ext cx="10216591" cy="1051560"/>
          </a:xfrm>
          <a:prstGeom prst="rect">
            <a:avLst/>
          </a:prstGeom>
          <a:noFill/>
        </p:spPr>
        <p:txBody>
          <a:bodyPr wrap="square" lIns="0" rIns="0" tIns="0" bIns="0" anchor="t">
            <a:spAutoFit/>
          </a:bodyPr>
          <a:lstStyle/>
          <a:p>
            <a:pPr algn="l">
              <a:lnSpc>
                <a:spcPct val="116000"/>
              </a:lnSpc>
              <a:spcBef>
                <a:spcPts val="0"/>
              </a:spcBef>
              <a:spcAft>
                <a:spcPts val="800"/>
              </a:spcAft>
            </a:pPr>
            <a:r>
              <a:rPr sz="2100" b="1" i="0" u="none">
                <a:solidFill>
                  <a:srgbClr val="0E5362"/>
                </a:solidFill>
                <a:latin typeface="Segoe UI"/>
                <a:ea typeface="Microsoft YaHei"/>
                <a:cs typeface="Segoe UI"/>
              </a:rPr>
              <a:t>先不看两位同学说了什么。</a:t>
            </a:r>
          </a:p>
          <a:p>
            <a:pPr algn="l">
              <a:lnSpc>
                <a:spcPct val="118000"/>
              </a:lnSpc>
              <a:spcBef>
                <a:spcPts val="0"/>
              </a:spcBef>
              <a:spcAft>
                <a:spcPts val="0"/>
              </a:spcAft>
            </a:pPr>
            <a:r>
              <a:rPr sz="1900" b="0" i="0" u="none">
                <a:solidFill>
                  <a:srgbClr val="172A31"/>
                </a:solidFill>
                <a:latin typeface="Segoe UI"/>
                <a:ea typeface="Microsoft YaHei"/>
                <a:cs typeface="Segoe UI"/>
              </a:rPr>
              <a:t>考场上很多人的错误就是：先读同学的话，然后被带着走，最后忘了教授到底问什么。</a:t>
            </a:r>
          </a:p>
        </p:txBody>
      </p:sp>
      <p:sp>
        <p:nvSpPr>
          <p:cNvPr id="15" name="TextBox 14"/>
          <p:cNvSpPr txBox="1"/>
          <p:nvPr/>
        </p:nvSpPr>
        <p:spPr>
          <a:xfrm>
            <a:off x="621792" y="5870448"/>
            <a:ext cx="1094811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题源：TOEFL iBT® Writing · Write for an Academic Discussion（官方题目原文，未改写）</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2 · 官方新题</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18</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TASK · 学生输出</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B08300"/>
                </a:solidFill>
                <a:latin typeface="Segoe UI"/>
                <a:ea typeface="Microsoft YaHei"/>
                <a:cs typeface="Segoe UI"/>
              </a:rPr>
              <a:t>读题任务 · 60 秒</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673352"/>
            <a:ext cx="10948111" cy="658368"/>
          </a:xfrm>
          <a:prstGeom prst="roundRect">
            <a:avLst>
              <a:gd name="adj" fmla="val 6000"/>
            </a:avLst>
          </a:prstGeom>
          <a:solidFill>
            <a:srgbClr val="FAF2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32688" y="1828800"/>
            <a:ext cx="10308031" cy="45720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B08300"/>
                </a:solidFill>
                <a:latin typeface="Segoe UI"/>
                <a:ea typeface="Microsoft YaHei"/>
                <a:cs typeface="Segoe UI"/>
              </a:rPr>
              <a:t>不写句子，只回答这三个问题。写在讲义第 1 页。</a:t>
            </a:r>
          </a:p>
        </p:txBody>
      </p:sp>
      <p:sp>
        <p:nvSpPr>
          <p:cNvPr id="10" name="Rounded Rectangle 9"/>
          <p:cNvSpPr/>
          <p:nvPr/>
        </p:nvSpPr>
        <p:spPr>
          <a:xfrm>
            <a:off x="621792" y="2542032"/>
            <a:ext cx="10948111" cy="1024128"/>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21792" y="2542032"/>
            <a:ext cx="54864" cy="1024128"/>
          </a:xfrm>
          <a:prstGeom prst="rect">
            <a:avLst/>
          </a:prstGeom>
          <a:solidFill>
            <a:srgbClr val="B083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32688" y="2688336"/>
            <a:ext cx="10308031" cy="41148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172A31"/>
                </a:solidFill>
                <a:latin typeface="Segoe UI"/>
                <a:ea typeface="Microsoft YaHei"/>
                <a:cs typeface="Segoe UI"/>
              </a:rPr>
              <a:t>1.  题目在问什么？（用中文一句话说出来）</a:t>
            </a:r>
          </a:p>
        </p:txBody>
      </p:sp>
      <p:cxnSp>
        <p:nvCxnSpPr>
          <p:cNvPr id="13" name="Connector 12"/>
          <p:cNvCxnSpPr/>
          <p:nvPr/>
        </p:nvCxnSpPr>
        <p:spPr>
          <a:xfrm>
            <a:off x="1078992" y="3346704"/>
            <a:ext cx="10216591"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21792" y="3675888"/>
            <a:ext cx="10948111" cy="1024128"/>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621792" y="3675888"/>
            <a:ext cx="54864" cy="1024128"/>
          </a:xfrm>
          <a:prstGeom prst="rect">
            <a:avLst/>
          </a:prstGeom>
          <a:solidFill>
            <a:srgbClr val="B083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932688" y="3822192"/>
            <a:ext cx="10308031" cy="41148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172A31"/>
                </a:solidFill>
                <a:latin typeface="Segoe UI"/>
                <a:ea typeface="Microsoft YaHei"/>
                <a:cs typeface="Segoe UI"/>
              </a:rPr>
              <a:t>2.  一共有几个选择？分别是什么？</a:t>
            </a:r>
          </a:p>
        </p:txBody>
      </p:sp>
      <p:cxnSp>
        <p:nvCxnSpPr>
          <p:cNvPr id="17" name="Connector 16"/>
          <p:cNvCxnSpPr/>
          <p:nvPr/>
        </p:nvCxnSpPr>
        <p:spPr>
          <a:xfrm>
            <a:off x="1078992" y="4480560"/>
            <a:ext cx="10216591"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21792" y="4809744"/>
            <a:ext cx="10948111" cy="1024128"/>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21792" y="4809744"/>
            <a:ext cx="54864" cy="1024128"/>
          </a:xfrm>
          <a:prstGeom prst="rect">
            <a:avLst/>
          </a:prstGeom>
          <a:solidFill>
            <a:srgbClr val="B083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932688" y="4956048"/>
            <a:ext cx="10308031" cy="41148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172A31"/>
                </a:solidFill>
                <a:latin typeface="Segoe UI"/>
                <a:ea typeface="Microsoft YaHei"/>
                <a:cs typeface="Segoe UI"/>
              </a:rPr>
              <a:t>3.  这题允许「两个都重要」吗？为什么？</a:t>
            </a:r>
          </a:p>
        </p:txBody>
      </p:sp>
      <p:cxnSp>
        <p:nvCxnSpPr>
          <p:cNvPr id="21" name="Connector 20"/>
          <p:cNvCxnSpPr/>
          <p:nvPr/>
        </p:nvCxnSpPr>
        <p:spPr>
          <a:xfrm>
            <a:off x="1078992" y="5614416"/>
            <a:ext cx="10216591"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2 · 官方新题</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19</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STUDENT A · STUDENT B</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两位同学的原文</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673352"/>
            <a:ext cx="10948111" cy="1977776"/>
          </a:xfrm>
          <a:prstGeom prst="roundRect">
            <a:avLst>
              <a:gd name="adj" fmla="val 6000"/>
            </a:avLst>
          </a:prstGeom>
          <a:solidFill>
            <a:srgbClr val="F3F8F9"/>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621792" y="1673352"/>
            <a:ext cx="10948111" cy="457200"/>
          </a:xfrm>
          <a:prstGeom prst="roundRect">
            <a:avLst>
              <a:gd name="adj" fmla="val 6000"/>
            </a:avLst>
          </a:prstGeom>
          <a:solidFill>
            <a:srgbClr val="2A7E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21792" y="1929384"/>
            <a:ext cx="10948111" cy="201168"/>
          </a:xfrm>
          <a:prstGeom prst="rect">
            <a:avLst/>
          </a:prstGeom>
          <a:solidFill>
            <a:srgbClr val="2A7E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1773936"/>
            <a:ext cx="10490911" cy="329184"/>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FFFFFF"/>
                </a:solidFill>
                <a:latin typeface="Segoe UI"/>
                <a:ea typeface="Microsoft YaHei"/>
                <a:cs typeface="Segoe UI"/>
              </a:rPr>
              <a:t>Kelly   Student A · 教育派</a:t>
            </a:r>
          </a:p>
        </p:txBody>
      </p:sp>
      <p:sp>
        <p:nvSpPr>
          <p:cNvPr id="12" name="TextBox 11"/>
          <p:cNvSpPr txBox="1"/>
          <p:nvPr/>
        </p:nvSpPr>
        <p:spPr>
          <a:xfrm>
            <a:off x="877824" y="2258568"/>
            <a:ext cx="10436047" cy="1173104"/>
          </a:xfrm>
          <a:prstGeom prst="rect">
            <a:avLst/>
          </a:prstGeom>
          <a:noFill/>
        </p:spPr>
        <p:txBody>
          <a:bodyPr wrap="square" lIns="0" rIns="0" tIns="0" bIns="0" anchor="t">
            <a:spAutoFit/>
          </a:bodyPr>
          <a:lstStyle/>
          <a:p>
            <a:pPr algn="l">
              <a:lnSpc>
                <a:spcPct val="118000"/>
              </a:lnSpc>
              <a:spcBef>
                <a:spcPts val="0"/>
              </a:spcBef>
              <a:spcAft>
                <a:spcPts val="0"/>
              </a:spcAft>
            </a:pPr>
            <a:r>
              <a:rPr sz="1900" b="0" i="0" u="none">
                <a:solidFill>
                  <a:srgbClr val="172A31"/>
                </a:solidFill>
                <a:latin typeface="Segoe UI"/>
                <a:ea typeface="Microsoft YaHei"/>
                <a:cs typeface="Segoe UI"/>
              </a:rPr>
              <a:t>I believe that education is the key to social mobility. With a good education, individuals can acquire the knowledge and skills needed to access better job opportunities and improve their social status. We have always been taught that education provides a foundation for long-term success and upward mobility.</a:t>
            </a:r>
          </a:p>
        </p:txBody>
      </p:sp>
      <p:sp>
        <p:nvSpPr>
          <p:cNvPr id="13" name="Rounded Rectangle 12"/>
          <p:cNvSpPr/>
          <p:nvPr/>
        </p:nvSpPr>
        <p:spPr>
          <a:xfrm>
            <a:off x="621792" y="3776472"/>
            <a:ext cx="10948111" cy="1977776"/>
          </a:xfrm>
          <a:prstGeom prst="roundRect">
            <a:avLst>
              <a:gd name="adj" fmla="val 6000"/>
            </a:avLst>
          </a:prstGeom>
          <a:solidFill>
            <a:srgbClr val="FBECE3"/>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621792" y="3776472"/>
            <a:ext cx="10948111" cy="457200"/>
          </a:xfrm>
          <a:prstGeom prst="roundRect">
            <a:avLst>
              <a:gd name="adj" fmla="val 6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621792" y="4032504"/>
            <a:ext cx="10948111" cy="201168"/>
          </a:xfrm>
          <a:prstGeom prst="rect">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77824" y="3877056"/>
            <a:ext cx="10490911" cy="329184"/>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FFFFFF"/>
                </a:solidFill>
                <a:latin typeface="Segoe UI"/>
                <a:ea typeface="Microsoft YaHei"/>
                <a:cs typeface="Segoe UI"/>
              </a:rPr>
              <a:t>Andrew   Student B · 人脉派</a:t>
            </a:r>
          </a:p>
        </p:txBody>
      </p:sp>
      <p:sp>
        <p:nvSpPr>
          <p:cNvPr id="17" name="TextBox 16"/>
          <p:cNvSpPr txBox="1"/>
          <p:nvPr/>
        </p:nvSpPr>
        <p:spPr>
          <a:xfrm>
            <a:off x="877824" y="4361688"/>
            <a:ext cx="10436047" cy="1173104"/>
          </a:xfrm>
          <a:prstGeom prst="rect">
            <a:avLst/>
          </a:prstGeom>
          <a:noFill/>
        </p:spPr>
        <p:txBody>
          <a:bodyPr wrap="square" lIns="0" rIns="0" tIns="0" bIns="0" anchor="t">
            <a:spAutoFit/>
          </a:bodyPr>
          <a:lstStyle/>
          <a:p>
            <a:pPr algn="l">
              <a:lnSpc>
                <a:spcPct val="118000"/>
              </a:lnSpc>
              <a:spcBef>
                <a:spcPts val="0"/>
              </a:spcBef>
              <a:spcAft>
                <a:spcPts val="0"/>
              </a:spcAft>
            </a:pPr>
            <a:r>
              <a:rPr sz="1900" b="0" i="0" u="none">
                <a:solidFill>
                  <a:srgbClr val="172A31"/>
                </a:solidFill>
                <a:latin typeface="Segoe UI"/>
                <a:ea typeface="Microsoft YaHei"/>
                <a:cs typeface="Segoe UI"/>
              </a:rPr>
              <a:t>In my opinion, networking and personal connections are more crucial for social mobility. Knowing the right people can open doors to opportunities that education alone might not provide. Therefore, personal connections can lead to job offers, mentorship, and other advantages that help individuals climb the social ladder.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2 · 官方新题</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20</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TASK · 填表 · 学生输出</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B08300"/>
                </a:solidFill>
                <a:latin typeface="Segoe UI"/>
                <a:ea typeface="Microsoft YaHei"/>
                <a:cs typeface="Segoe UI"/>
              </a:rPr>
              <a:t>把整道题压缩成一张表</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764792"/>
            <a:ext cx="10948111" cy="932688"/>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96112" y="1892807"/>
            <a:ext cx="2743200" cy="411480"/>
          </a:xfrm>
          <a:prstGeom prst="rect">
            <a:avLst/>
          </a:prstGeom>
          <a:noFill/>
        </p:spPr>
        <p:txBody>
          <a:bodyPr wrap="square" lIns="0" rIns="0" tIns="0" bIns="0" anchor="t">
            <a:spAutoFit/>
          </a:bodyPr>
          <a:lstStyle/>
          <a:p>
            <a:pPr algn="l">
              <a:lnSpc>
                <a:spcPct val="116000"/>
              </a:lnSpc>
              <a:spcBef>
                <a:spcPts val="0"/>
              </a:spcBef>
              <a:spcAft>
                <a:spcPts val="200"/>
              </a:spcAft>
            </a:pPr>
            <a:r>
              <a:rPr sz="1900" b="1" i="0" u="none">
                <a:solidFill>
                  <a:srgbClr val="0E5362"/>
                </a:solidFill>
                <a:latin typeface="Segoe UI"/>
                <a:ea typeface="Microsoft YaHei"/>
                <a:cs typeface="Segoe UI"/>
              </a:rPr>
              <a:t>Topic</a:t>
            </a:r>
          </a:p>
        </p:txBody>
      </p:sp>
      <p:sp>
        <p:nvSpPr>
          <p:cNvPr id="10" name="TextBox 9"/>
          <p:cNvSpPr txBox="1"/>
          <p:nvPr/>
        </p:nvSpPr>
        <p:spPr>
          <a:xfrm>
            <a:off x="896112" y="2267712"/>
            <a:ext cx="2743200"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
            </a:r>
          </a:p>
        </p:txBody>
      </p:sp>
      <p:sp>
        <p:nvSpPr>
          <p:cNvPr id="11" name="TextBox 10"/>
          <p:cNvSpPr txBox="1"/>
          <p:nvPr/>
        </p:nvSpPr>
        <p:spPr>
          <a:xfrm>
            <a:off x="3730752" y="1911095"/>
            <a:ext cx="747339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这场讨论在争什么？（中文即可）</a:t>
            </a:r>
          </a:p>
        </p:txBody>
      </p:sp>
      <p:cxnSp>
        <p:nvCxnSpPr>
          <p:cNvPr id="12" name="Connector 11"/>
          <p:cNvCxnSpPr/>
          <p:nvPr/>
        </p:nvCxnSpPr>
        <p:spPr>
          <a:xfrm>
            <a:off x="3730752" y="2496312"/>
            <a:ext cx="7564831"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21792" y="2807208"/>
            <a:ext cx="10948111" cy="932688"/>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96112" y="2935224"/>
            <a:ext cx="2743200" cy="411480"/>
          </a:xfrm>
          <a:prstGeom prst="rect">
            <a:avLst/>
          </a:prstGeom>
          <a:noFill/>
        </p:spPr>
        <p:txBody>
          <a:bodyPr wrap="square" lIns="0" rIns="0" tIns="0" bIns="0" anchor="t">
            <a:spAutoFit/>
          </a:bodyPr>
          <a:lstStyle/>
          <a:p>
            <a:pPr algn="l">
              <a:lnSpc>
                <a:spcPct val="116000"/>
              </a:lnSpc>
              <a:spcBef>
                <a:spcPts val="0"/>
              </a:spcBef>
              <a:spcAft>
                <a:spcPts val="200"/>
              </a:spcAft>
            </a:pPr>
            <a:r>
              <a:rPr sz="1900" b="1" i="0" u="none">
                <a:solidFill>
                  <a:srgbClr val="0E5362"/>
                </a:solidFill>
                <a:latin typeface="Segoe UI"/>
                <a:ea typeface="Microsoft YaHei"/>
                <a:cs typeface="Segoe UI"/>
              </a:rPr>
              <a:t>Student A · Kelly</a:t>
            </a:r>
          </a:p>
        </p:txBody>
      </p:sp>
      <p:sp>
        <p:nvSpPr>
          <p:cNvPr id="15" name="TextBox 14"/>
          <p:cNvSpPr txBox="1"/>
          <p:nvPr/>
        </p:nvSpPr>
        <p:spPr>
          <a:xfrm>
            <a:off x="896112" y="3310128"/>
            <a:ext cx="2743200"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
            </a:r>
          </a:p>
        </p:txBody>
      </p:sp>
      <p:sp>
        <p:nvSpPr>
          <p:cNvPr id="16" name="TextBox 15"/>
          <p:cNvSpPr txBox="1"/>
          <p:nvPr/>
        </p:nvSpPr>
        <p:spPr>
          <a:xfrm>
            <a:off x="3730752" y="2953512"/>
            <a:ext cx="747339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她站哪边？她的理由是什么？</a:t>
            </a:r>
          </a:p>
        </p:txBody>
      </p:sp>
      <p:cxnSp>
        <p:nvCxnSpPr>
          <p:cNvPr id="17" name="Connector 16"/>
          <p:cNvCxnSpPr/>
          <p:nvPr/>
        </p:nvCxnSpPr>
        <p:spPr>
          <a:xfrm>
            <a:off x="3730752" y="3538728"/>
            <a:ext cx="7564831"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21792" y="3849624"/>
            <a:ext cx="10948111" cy="932688"/>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96112" y="3977639"/>
            <a:ext cx="2743200" cy="411480"/>
          </a:xfrm>
          <a:prstGeom prst="rect">
            <a:avLst/>
          </a:prstGeom>
          <a:noFill/>
        </p:spPr>
        <p:txBody>
          <a:bodyPr wrap="square" lIns="0" rIns="0" tIns="0" bIns="0" anchor="t">
            <a:spAutoFit/>
          </a:bodyPr>
          <a:lstStyle/>
          <a:p>
            <a:pPr algn="l">
              <a:lnSpc>
                <a:spcPct val="116000"/>
              </a:lnSpc>
              <a:spcBef>
                <a:spcPts val="0"/>
              </a:spcBef>
              <a:spcAft>
                <a:spcPts val="200"/>
              </a:spcAft>
            </a:pPr>
            <a:r>
              <a:rPr sz="1900" b="1" i="0" u="none">
                <a:solidFill>
                  <a:srgbClr val="0E5362"/>
                </a:solidFill>
                <a:latin typeface="Segoe UI"/>
                <a:ea typeface="Microsoft YaHei"/>
                <a:cs typeface="Segoe UI"/>
              </a:rPr>
              <a:t>Student B · Andrew</a:t>
            </a:r>
          </a:p>
        </p:txBody>
      </p:sp>
      <p:sp>
        <p:nvSpPr>
          <p:cNvPr id="20" name="TextBox 19"/>
          <p:cNvSpPr txBox="1"/>
          <p:nvPr/>
        </p:nvSpPr>
        <p:spPr>
          <a:xfrm>
            <a:off x="896112" y="4352544"/>
            <a:ext cx="2743200"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
            </a:r>
          </a:p>
        </p:txBody>
      </p:sp>
      <p:sp>
        <p:nvSpPr>
          <p:cNvPr id="21" name="TextBox 20"/>
          <p:cNvSpPr txBox="1"/>
          <p:nvPr/>
        </p:nvSpPr>
        <p:spPr>
          <a:xfrm>
            <a:off x="3730752" y="3995928"/>
            <a:ext cx="747339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他站哪边？他的理由是什么？</a:t>
            </a:r>
          </a:p>
        </p:txBody>
      </p:sp>
      <p:cxnSp>
        <p:nvCxnSpPr>
          <p:cNvPr id="22" name="Connector 21"/>
          <p:cNvCxnSpPr/>
          <p:nvPr/>
        </p:nvCxnSpPr>
        <p:spPr>
          <a:xfrm>
            <a:off x="3730752" y="4581144"/>
            <a:ext cx="7564831"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21792" y="4892040"/>
            <a:ext cx="10948111" cy="932688"/>
          </a:xfrm>
          <a:prstGeom prst="roundRect">
            <a:avLst>
              <a:gd name="adj" fmla="val 6000"/>
            </a:avLst>
          </a:prstGeom>
          <a:solidFill>
            <a:srgbClr val="FAF2DC"/>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96112" y="5020055"/>
            <a:ext cx="2743200" cy="411480"/>
          </a:xfrm>
          <a:prstGeom prst="rect">
            <a:avLst/>
          </a:prstGeom>
          <a:noFill/>
        </p:spPr>
        <p:txBody>
          <a:bodyPr wrap="square" lIns="0" rIns="0" tIns="0" bIns="0" anchor="t">
            <a:spAutoFit/>
          </a:bodyPr>
          <a:lstStyle/>
          <a:p>
            <a:pPr algn="l">
              <a:lnSpc>
                <a:spcPct val="116000"/>
              </a:lnSpc>
              <a:spcBef>
                <a:spcPts val="0"/>
              </a:spcBef>
              <a:spcAft>
                <a:spcPts val="200"/>
              </a:spcAft>
            </a:pPr>
            <a:r>
              <a:rPr sz="1900" b="1" i="0" u="none">
                <a:solidFill>
                  <a:srgbClr val="B08300"/>
                </a:solidFill>
                <a:latin typeface="Segoe UI"/>
                <a:ea typeface="Microsoft YaHei"/>
                <a:cs typeface="Segoe UI"/>
              </a:rPr>
              <a:t>My position</a:t>
            </a:r>
          </a:p>
        </p:txBody>
      </p:sp>
      <p:sp>
        <p:nvSpPr>
          <p:cNvPr id="25" name="TextBox 24"/>
          <p:cNvSpPr txBox="1"/>
          <p:nvPr/>
        </p:nvSpPr>
        <p:spPr>
          <a:xfrm>
            <a:off x="896112" y="5394959"/>
            <a:ext cx="2743200"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
            </a:r>
          </a:p>
        </p:txBody>
      </p:sp>
      <p:sp>
        <p:nvSpPr>
          <p:cNvPr id="26" name="TextBox 25"/>
          <p:cNvSpPr txBox="1"/>
          <p:nvPr/>
        </p:nvSpPr>
        <p:spPr>
          <a:xfrm>
            <a:off x="3730752" y="5038344"/>
            <a:ext cx="747339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我站哪边？（现在就定，不许犹豫）</a:t>
            </a:r>
          </a:p>
        </p:txBody>
      </p:sp>
      <p:cxnSp>
        <p:nvCxnSpPr>
          <p:cNvPr id="27" name="Connector 26"/>
          <p:cNvCxnSpPr/>
          <p:nvPr/>
        </p:nvCxnSpPr>
        <p:spPr>
          <a:xfrm>
            <a:off x="3730752" y="5623559"/>
            <a:ext cx="7564831"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2 · 官方新题</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21</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ANSWER KEY · 填表</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对照一下：老师的表长这样</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764792"/>
            <a:ext cx="10948111" cy="896112"/>
          </a:xfrm>
          <a:prstGeom prst="roundRect">
            <a:avLst>
              <a:gd name="adj" fmla="val 6000"/>
            </a:avLst>
          </a:prstGeom>
          <a:solidFill>
            <a:srgbClr val="FFFFFF"/>
          </a:solidFill>
          <a:ln w="20320">
            <a:solidFill>
              <a:srgbClr val="0E536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2002536"/>
            <a:ext cx="2834640" cy="45720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0E5362"/>
                </a:solidFill>
                <a:latin typeface="Segoe UI"/>
                <a:ea typeface="Microsoft YaHei"/>
                <a:cs typeface="Segoe UI"/>
              </a:rPr>
              <a:t>Topic</a:t>
            </a:r>
          </a:p>
        </p:txBody>
      </p:sp>
      <p:sp>
        <p:nvSpPr>
          <p:cNvPr id="10" name="TextBox 9"/>
          <p:cNvSpPr txBox="1"/>
          <p:nvPr/>
        </p:nvSpPr>
        <p:spPr>
          <a:xfrm>
            <a:off x="3822191" y="1984248"/>
            <a:ext cx="7381951" cy="548640"/>
          </a:xfrm>
          <a:prstGeom prst="rect">
            <a:avLst/>
          </a:prstGeom>
          <a:noFill/>
        </p:spPr>
        <p:txBody>
          <a:bodyPr wrap="square" lIns="0" rIns="0" tIns="0" bIns="0" anchor="t">
            <a:spAutoFit/>
          </a:bodyPr>
          <a:lstStyle/>
          <a:p>
            <a:pPr algn="l">
              <a:lnSpc>
                <a:spcPct val="112000"/>
              </a:lnSpc>
              <a:spcBef>
                <a:spcPts val="0"/>
              </a:spcBef>
              <a:spcAft>
                <a:spcPts val="0"/>
              </a:spcAft>
            </a:pPr>
            <a:r>
              <a:rPr sz="1900" b="0" i="0" u="none">
                <a:solidFill>
                  <a:srgbClr val="172A31"/>
                </a:solidFill>
                <a:latin typeface="Segoe UI"/>
                <a:ea typeface="Microsoft YaHei"/>
                <a:cs typeface="Segoe UI"/>
              </a:rPr>
              <a:t>社会阶层向上流动，靠教育还是靠人脉？</a:t>
            </a:r>
          </a:p>
        </p:txBody>
      </p:sp>
      <p:sp>
        <p:nvSpPr>
          <p:cNvPr id="11" name="Rounded Rectangle 10"/>
          <p:cNvSpPr/>
          <p:nvPr/>
        </p:nvSpPr>
        <p:spPr>
          <a:xfrm>
            <a:off x="621792" y="2770632"/>
            <a:ext cx="10948111" cy="896112"/>
          </a:xfrm>
          <a:prstGeom prst="roundRect">
            <a:avLst>
              <a:gd name="adj" fmla="val 6000"/>
            </a:avLst>
          </a:prstGeom>
          <a:solidFill>
            <a:srgbClr val="FFFFFF"/>
          </a:solidFill>
          <a:ln w="20320">
            <a:solidFill>
              <a:srgbClr val="2A7E8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14400" y="3008376"/>
            <a:ext cx="2834640" cy="45720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2A7E8E"/>
                </a:solidFill>
                <a:latin typeface="Segoe UI"/>
                <a:ea typeface="Microsoft YaHei"/>
                <a:cs typeface="Segoe UI"/>
              </a:rPr>
              <a:t>Student A · Kelly</a:t>
            </a:r>
          </a:p>
        </p:txBody>
      </p:sp>
      <p:sp>
        <p:nvSpPr>
          <p:cNvPr id="13" name="TextBox 12"/>
          <p:cNvSpPr txBox="1"/>
          <p:nvPr/>
        </p:nvSpPr>
        <p:spPr>
          <a:xfrm>
            <a:off x="3822191" y="2990088"/>
            <a:ext cx="7381951" cy="548640"/>
          </a:xfrm>
          <a:prstGeom prst="rect">
            <a:avLst/>
          </a:prstGeom>
          <a:noFill/>
        </p:spPr>
        <p:txBody>
          <a:bodyPr wrap="square" lIns="0" rIns="0" tIns="0" bIns="0" anchor="t">
            <a:spAutoFit/>
          </a:bodyPr>
          <a:lstStyle/>
          <a:p>
            <a:pPr algn="l">
              <a:lnSpc>
                <a:spcPct val="112000"/>
              </a:lnSpc>
              <a:spcBef>
                <a:spcPts val="0"/>
              </a:spcBef>
              <a:spcAft>
                <a:spcPts val="0"/>
              </a:spcAft>
            </a:pPr>
            <a:r>
              <a:rPr sz="1900" b="0" i="0" u="none">
                <a:solidFill>
                  <a:srgbClr val="172A31"/>
                </a:solidFill>
                <a:latin typeface="Segoe UI"/>
                <a:ea typeface="Microsoft YaHei"/>
                <a:cs typeface="Segoe UI"/>
              </a:rPr>
              <a:t>教育。理由：教育给知识和技能 → 拿到更好的工作机会</a:t>
            </a:r>
          </a:p>
        </p:txBody>
      </p:sp>
      <p:sp>
        <p:nvSpPr>
          <p:cNvPr id="14" name="Rounded Rectangle 13"/>
          <p:cNvSpPr/>
          <p:nvPr/>
        </p:nvSpPr>
        <p:spPr>
          <a:xfrm>
            <a:off x="621792" y="3776472"/>
            <a:ext cx="10948111" cy="896112"/>
          </a:xfrm>
          <a:prstGeom prst="roundRect">
            <a:avLst>
              <a:gd name="adj" fmla="val 6000"/>
            </a:avLst>
          </a:prstGeom>
          <a:solidFill>
            <a:srgbClr val="FFFFFF"/>
          </a:solidFill>
          <a:ln w="20320">
            <a:solidFill>
              <a:srgbClr val="C9552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14400" y="4014216"/>
            <a:ext cx="2834640" cy="45720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Student B · Andrew</a:t>
            </a:r>
          </a:p>
        </p:txBody>
      </p:sp>
      <p:sp>
        <p:nvSpPr>
          <p:cNvPr id="16" name="TextBox 15"/>
          <p:cNvSpPr txBox="1"/>
          <p:nvPr/>
        </p:nvSpPr>
        <p:spPr>
          <a:xfrm>
            <a:off x="3822191" y="3995928"/>
            <a:ext cx="7381951" cy="548640"/>
          </a:xfrm>
          <a:prstGeom prst="rect">
            <a:avLst/>
          </a:prstGeom>
          <a:noFill/>
        </p:spPr>
        <p:txBody>
          <a:bodyPr wrap="square" lIns="0" rIns="0" tIns="0" bIns="0" anchor="t">
            <a:spAutoFit/>
          </a:bodyPr>
          <a:lstStyle/>
          <a:p>
            <a:pPr algn="l">
              <a:lnSpc>
                <a:spcPct val="112000"/>
              </a:lnSpc>
              <a:spcBef>
                <a:spcPts val="0"/>
              </a:spcBef>
              <a:spcAft>
                <a:spcPts val="0"/>
              </a:spcAft>
            </a:pPr>
            <a:r>
              <a:rPr sz="1900" b="0" i="0" u="none">
                <a:solidFill>
                  <a:srgbClr val="172A31"/>
                </a:solidFill>
                <a:latin typeface="Segoe UI"/>
                <a:ea typeface="Microsoft YaHei"/>
                <a:cs typeface="Segoe UI"/>
              </a:rPr>
              <a:t>人脉。理由：认识对的人 → 打开教育给不了的门（工作机会、导师）</a:t>
            </a:r>
          </a:p>
        </p:txBody>
      </p:sp>
      <p:sp>
        <p:nvSpPr>
          <p:cNvPr id="17" name="Rounded Rectangle 16"/>
          <p:cNvSpPr/>
          <p:nvPr/>
        </p:nvSpPr>
        <p:spPr>
          <a:xfrm>
            <a:off x="621792" y="4782312"/>
            <a:ext cx="10948111" cy="896112"/>
          </a:xfrm>
          <a:prstGeom prst="roundRect">
            <a:avLst>
              <a:gd name="adj" fmla="val 6000"/>
            </a:avLst>
          </a:prstGeom>
          <a:solidFill>
            <a:srgbClr val="FFFFFF"/>
          </a:solidFill>
          <a:ln w="20320">
            <a:solidFill>
              <a:srgbClr val="B083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14400" y="5020056"/>
            <a:ext cx="2834640" cy="45720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B08300"/>
                </a:solidFill>
                <a:latin typeface="Segoe UI"/>
                <a:ea typeface="Microsoft YaHei"/>
                <a:cs typeface="Segoe UI"/>
              </a:rPr>
              <a:t>My position</a:t>
            </a:r>
          </a:p>
        </p:txBody>
      </p:sp>
      <p:sp>
        <p:nvSpPr>
          <p:cNvPr id="19" name="TextBox 18"/>
          <p:cNvSpPr txBox="1"/>
          <p:nvPr/>
        </p:nvSpPr>
        <p:spPr>
          <a:xfrm>
            <a:off x="3822191" y="5001768"/>
            <a:ext cx="7381951" cy="548640"/>
          </a:xfrm>
          <a:prstGeom prst="rect">
            <a:avLst/>
          </a:prstGeom>
          <a:noFill/>
        </p:spPr>
        <p:txBody>
          <a:bodyPr wrap="square" lIns="0" rIns="0" tIns="0" bIns="0" anchor="t">
            <a:spAutoFit/>
          </a:bodyPr>
          <a:lstStyle/>
          <a:p>
            <a:pPr algn="l">
              <a:lnSpc>
                <a:spcPct val="112000"/>
              </a:lnSpc>
              <a:spcBef>
                <a:spcPts val="0"/>
              </a:spcBef>
              <a:spcAft>
                <a:spcPts val="0"/>
              </a:spcAft>
            </a:pPr>
            <a:r>
              <a:rPr sz="1900" b="0" i="0" u="none">
                <a:solidFill>
                  <a:srgbClr val="172A31"/>
                </a:solidFill>
                <a:latin typeface="Segoe UI"/>
                <a:ea typeface="Microsoft YaHei"/>
                <a:cs typeface="Segoe UI"/>
              </a:rPr>
              <a:t>教育（今天全班统一走这一边，先把方法练熟）</a:t>
            </a:r>
          </a:p>
        </p:txBody>
      </p:sp>
      <p:sp>
        <p:nvSpPr>
          <p:cNvPr id="20" name="Rounded Rectangle 19"/>
          <p:cNvSpPr/>
          <p:nvPr/>
        </p:nvSpPr>
        <p:spPr>
          <a:xfrm>
            <a:off x="621792" y="5843016"/>
            <a:ext cx="10948111" cy="658368"/>
          </a:xfrm>
          <a:prstGeom prst="roundRect">
            <a:avLst>
              <a:gd name="adj" fmla="val 6000"/>
            </a:avLst>
          </a:prstGeom>
          <a:solidFill>
            <a:srgbClr val="F3F8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932688" y="6007608"/>
            <a:ext cx="10308031" cy="45720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0E5362"/>
                </a:solidFill>
                <a:latin typeface="Segoe UI"/>
                <a:ea typeface="Microsoft YaHei"/>
                <a:cs typeface="Segoe UI"/>
              </a:rPr>
              <a:t>今天统一选 education，是为了集中练展开。作业里你可以选另一边。</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2 · 官方新题</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22</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THE REAL QUESTION</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争议点在哪里</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947672"/>
            <a:ext cx="5154015" cy="1737360"/>
          </a:xfrm>
          <a:prstGeom prst="roundRect">
            <a:avLst>
              <a:gd name="adj" fmla="val 6000"/>
            </a:avLst>
          </a:prstGeom>
          <a:solidFill>
            <a:srgbClr val="F3F8F9"/>
          </a:solidFill>
          <a:ln w="22860">
            <a:solidFill>
              <a:srgbClr val="2A7E8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41832" y="2194560"/>
            <a:ext cx="4513935" cy="1280160"/>
          </a:xfrm>
          <a:prstGeom prst="rect">
            <a:avLst/>
          </a:prstGeom>
          <a:noFill/>
        </p:spPr>
        <p:txBody>
          <a:bodyPr wrap="square" lIns="0" rIns="0" tIns="0" bIns="0" anchor="t">
            <a:spAutoFit/>
          </a:bodyPr>
          <a:lstStyle/>
          <a:p>
            <a:pPr algn="l">
              <a:lnSpc>
                <a:spcPct val="116000"/>
              </a:lnSpc>
              <a:spcBef>
                <a:spcPts val="0"/>
              </a:spcBef>
              <a:spcAft>
                <a:spcPts val="800"/>
              </a:spcAft>
            </a:pPr>
            <a:r>
              <a:rPr sz="2200" b="1" i="0" u="none">
                <a:solidFill>
                  <a:srgbClr val="0E5362"/>
                </a:solidFill>
                <a:latin typeface="Segoe UI"/>
                <a:ea typeface="Microsoft YaHei"/>
                <a:cs typeface="Segoe UI"/>
              </a:rPr>
              <a:t>EDUCATION</a:t>
            </a:r>
          </a:p>
          <a:p>
            <a:pPr algn="l">
              <a:lnSpc>
                <a:spcPct val="115000"/>
              </a:lnSpc>
              <a:spcBef>
                <a:spcPts val="0"/>
              </a:spcBef>
              <a:spcAft>
                <a:spcPts val="0"/>
              </a:spcAft>
            </a:pPr>
            <a:r>
              <a:rPr sz="1900" b="0" i="0" u="none">
                <a:solidFill>
                  <a:srgbClr val="172A31"/>
                </a:solidFill>
                <a:latin typeface="Segoe UI"/>
                <a:ea typeface="Microsoft YaHei"/>
                <a:cs typeface="Segoe UI"/>
              </a:rPr>
              <a:t>你自己能挣来的东西：知识、技能、文凭、证书</a:t>
            </a:r>
          </a:p>
        </p:txBody>
      </p:sp>
      <p:sp>
        <p:nvSpPr>
          <p:cNvPr id="10" name="Rounded Rectangle 9"/>
          <p:cNvSpPr/>
          <p:nvPr/>
        </p:nvSpPr>
        <p:spPr>
          <a:xfrm>
            <a:off x="6415887" y="1947672"/>
            <a:ext cx="5154015" cy="1737360"/>
          </a:xfrm>
          <a:prstGeom prst="roundRect">
            <a:avLst>
              <a:gd name="adj" fmla="val 6000"/>
            </a:avLst>
          </a:prstGeom>
          <a:solidFill>
            <a:srgbClr val="FBECE3"/>
          </a:solidFill>
          <a:ln w="22860">
            <a:solidFill>
              <a:srgbClr val="C9552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735927" y="2194560"/>
            <a:ext cx="4513935" cy="1280160"/>
          </a:xfrm>
          <a:prstGeom prst="rect">
            <a:avLst/>
          </a:prstGeom>
          <a:noFill/>
        </p:spPr>
        <p:txBody>
          <a:bodyPr wrap="square" lIns="0" rIns="0" tIns="0" bIns="0" anchor="t">
            <a:spAutoFit/>
          </a:bodyPr>
          <a:lstStyle/>
          <a:p>
            <a:pPr algn="l">
              <a:lnSpc>
                <a:spcPct val="116000"/>
              </a:lnSpc>
              <a:spcBef>
                <a:spcPts val="0"/>
              </a:spcBef>
              <a:spcAft>
                <a:spcPts val="800"/>
              </a:spcAft>
            </a:pPr>
            <a:r>
              <a:rPr sz="2200" b="1" i="0" u="none">
                <a:solidFill>
                  <a:srgbClr val="C95527"/>
                </a:solidFill>
                <a:latin typeface="Segoe UI"/>
                <a:ea typeface="Microsoft YaHei"/>
                <a:cs typeface="Segoe UI"/>
              </a:rPr>
              <a:t>CONNECTIONS</a:t>
            </a:r>
          </a:p>
          <a:p>
            <a:pPr algn="l">
              <a:lnSpc>
                <a:spcPct val="115000"/>
              </a:lnSpc>
              <a:spcBef>
                <a:spcPts val="0"/>
              </a:spcBef>
              <a:spcAft>
                <a:spcPts val="0"/>
              </a:spcAft>
            </a:pPr>
            <a:r>
              <a:rPr sz="1900" b="0" i="0" u="none">
                <a:solidFill>
                  <a:srgbClr val="172A31"/>
                </a:solidFill>
                <a:latin typeface="Segoe UI"/>
                <a:ea typeface="Microsoft YaHei"/>
                <a:cs typeface="Segoe UI"/>
              </a:rPr>
              <a:t>别人给你的东西：介绍、机会、导师、内部消息</a:t>
            </a:r>
          </a:p>
        </p:txBody>
      </p:sp>
      <p:sp>
        <p:nvSpPr>
          <p:cNvPr id="12" name="TextBox 11"/>
          <p:cNvSpPr txBox="1"/>
          <p:nvPr/>
        </p:nvSpPr>
        <p:spPr>
          <a:xfrm>
            <a:off x="5775807" y="2587752"/>
            <a:ext cx="640080" cy="457200"/>
          </a:xfrm>
          <a:prstGeom prst="rect">
            <a:avLst/>
          </a:prstGeom>
          <a:noFill/>
        </p:spPr>
        <p:txBody>
          <a:bodyPr wrap="square" lIns="0" rIns="0" tIns="0" bIns="0" anchor="t">
            <a:spAutoFit/>
          </a:bodyPr>
          <a:lstStyle/>
          <a:p>
            <a:pPr algn="ctr">
              <a:lnSpc>
                <a:spcPct val="116000"/>
              </a:lnSpc>
              <a:spcBef>
                <a:spcPts val="0"/>
              </a:spcBef>
              <a:spcAft>
                <a:spcPts val="0"/>
              </a:spcAft>
            </a:pPr>
            <a:r>
              <a:rPr sz="2400" b="1" i="0" u="none">
                <a:solidFill>
                  <a:srgbClr val="627378"/>
                </a:solidFill>
                <a:latin typeface="Segoe UI"/>
                <a:ea typeface="Microsoft YaHei"/>
                <a:cs typeface="Segoe UI"/>
              </a:rPr>
              <a:t>VS</a:t>
            </a:r>
          </a:p>
        </p:txBody>
      </p:sp>
      <p:sp>
        <p:nvSpPr>
          <p:cNvPr id="13" name="Rounded Rectangle 12"/>
          <p:cNvSpPr/>
          <p:nvPr/>
        </p:nvSpPr>
        <p:spPr>
          <a:xfrm>
            <a:off x="621792" y="4005072"/>
            <a:ext cx="10948111" cy="1371600"/>
          </a:xfrm>
          <a:prstGeom prst="roundRect">
            <a:avLst>
              <a:gd name="adj" fmla="val 6000"/>
            </a:avLst>
          </a:prstGeom>
          <a:solidFill>
            <a:srgbClr val="FFFFFF"/>
          </a:solidFill>
          <a:ln w="25400">
            <a:solidFill>
              <a:srgbClr val="C9552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005840" y="4233672"/>
            <a:ext cx="10170871" cy="1005840"/>
          </a:xfrm>
          <a:prstGeom prst="rect">
            <a:avLst/>
          </a:prstGeom>
          <a:noFill/>
        </p:spPr>
        <p:txBody>
          <a:bodyPr wrap="square" lIns="0" rIns="0" tIns="0" bIns="0" anchor="t">
            <a:spAutoFit/>
          </a:bodyPr>
          <a:lstStyle/>
          <a:p>
            <a:pPr algn="l">
              <a:lnSpc>
                <a:spcPct val="116000"/>
              </a:lnSpc>
              <a:spcBef>
                <a:spcPts val="0"/>
              </a:spcBef>
              <a:spcAft>
                <a:spcPts val="800"/>
              </a:spcAft>
            </a:pPr>
            <a:r>
              <a:rPr sz="2100" b="1" i="0" u="none">
                <a:solidFill>
                  <a:srgbClr val="C95527"/>
                </a:solidFill>
                <a:latin typeface="Segoe UI"/>
                <a:ea typeface="Microsoft YaHei"/>
                <a:cs typeface="Segoe UI"/>
              </a:rPr>
              <a:t>题目问的不是「教育重不重要」——那没人反对。</a:t>
            </a:r>
          </a:p>
          <a:p>
            <a:pPr algn="l">
              <a:lnSpc>
                <a:spcPct val="116000"/>
              </a:lnSpc>
              <a:spcBef>
                <a:spcPts val="0"/>
              </a:spcBef>
              <a:spcAft>
                <a:spcPts val="0"/>
              </a:spcAft>
            </a:pPr>
            <a:r>
              <a:rPr sz="1900" b="0" i="0" u="none">
                <a:solidFill>
                  <a:srgbClr val="172A31"/>
                </a:solidFill>
                <a:latin typeface="Segoe UI"/>
                <a:ea typeface="Microsoft YaHei"/>
                <a:cs typeface="Segoe UI"/>
              </a:rPr>
              <a:t>题目问的是：当两个都有用的时候，哪一个才是 the key（真正起决定作用的那个）。</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2 · 官方新题</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23</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TRAPS</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三个会让你掉分的读题错误</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764792"/>
            <a:ext cx="10948111" cy="1371600"/>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21792" y="1764792"/>
            <a:ext cx="54864" cy="1371600"/>
          </a:xfrm>
          <a:prstGeom prst="rect">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32688" y="1911095"/>
            <a:ext cx="10308031" cy="411480"/>
          </a:xfrm>
          <a:prstGeom prst="rect">
            <a:avLst/>
          </a:prstGeom>
          <a:noFill/>
        </p:spPr>
        <p:txBody>
          <a:bodyPr wrap="square" lIns="0" rIns="0" tIns="0" bIns="0" anchor="t">
            <a:spAutoFit/>
          </a:bodyPr>
          <a:lstStyle/>
          <a:p>
            <a:pPr algn="l">
              <a:lnSpc>
                <a:spcPct val="116000"/>
              </a:lnSpc>
              <a:spcAft>
                <a:spcPts val="400"/>
              </a:spcAft>
            </a:pPr>
            <a:r>
              <a:rPr sz="2000" b="1" i="0" u="none">
                <a:solidFill>
                  <a:srgbClr val="C95527"/>
                </a:solidFill>
                <a:latin typeface="Segoe UI"/>
                <a:ea typeface="Microsoft YaHei"/>
                <a:cs typeface="Segoe UI"/>
              </a:rPr>
              <a:t>×  </a:t>
            </a:r>
            <a:r>
              <a:rPr sz="2000" b="1" i="0" u="none">
                <a:solidFill>
                  <a:srgbClr val="172A31"/>
                </a:solidFill>
                <a:latin typeface="Segoe UI"/>
                <a:ea typeface="Microsoft YaHei"/>
                <a:cs typeface="Segoe UI"/>
              </a:rPr>
              <a:t>写成「两个都重要」</a:t>
            </a:r>
          </a:p>
        </p:txBody>
      </p:sp>
      <p:sp>
        <p:nvSpPr>
          <p:cNvPr id="11" name="TextBox 10"/>
          <p:cNvSpPr txBox="1"/>
          <p:nvPr/>
        </p:nvSpPr>
        <p:spPr>
          <a:xfrm>
            <a:off x="932688" y="2331720"/>
            <a:ext cx="1030803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官方问 which viewpoint do you agree with——它要一个选择。</a:t>
            </a:r>
          </a:p>
        </p:txBody>
      </p:sp>
      <p:sp>
        <p:nvSpPr>
          <p:cNvPr id="12" name="TextBox 11"/>
          <p:cNvSpPr txBox="1"/>
          <p:nvPr/>
        </p:nvSpPr>
        <p:spPr>
          <a:xfrm>
            <a:off x="932688" y="2697480"/>
            <a:ext cx="10308031" cy="365760"/>
          </a:xfrm>
          <a:prstGeom prst="rect">
            <a:avLst/>
          </a:prstGeom>
          <a:noFill/>
        </p:spPr>
        <p:txBody>
          <a:bodyPr wrap="square" lIns="0" rIns="0" tIns="0" bIns="0" anchor="t">
            <a:spAutoFit/>
          </a:bodyPr>
          <a:lstStyle/>
          <a:p>
            <a:pPr algn="l">
              <a:lnSpc>
                <a:spcPct val="116000"/>
              </a:lnSpc>
              <a:spcAft>
                <a:spcPts val="400"/>
              </a:spcAft>
            </a:pPr>
            <a:r>
              <a:rPr sz="1900" b="1" i="0" u="none">
                <a:solidFill>
                  <a:srgbClr val="2E6B4F"/>
                </a:solidFill>
                <a:latin typeface="Segoe UI"/>
                <a:ea typeface="Microsoft YaHei"/>
                <a:cs typeface="Segoe UI"/>
              </a:rPr>
              <a:t>√  </a:t>
            </a:r>
            <a:r>
              <a:rPr sz="1900" b="1" i="0" u="none">
                <a:solidFill>
                  <a:srgbClr val="2E6B4F"/>
                </a:solidFill>
                <a:latin typeface="Segoe UI"/>
                <a:ea typeface="Microsoft YaHei"/>
                <a:cs typeface="Segoe UI"/>
              </a:rPr>
              <a:t>先选一边，再在最后一句承认另一边有道理。</a:t>
            </a:r>
          </a:p>
        </p:txBody>
      </p:sp>
      <p:sp>
        <p:nvSpPr>
          <p:cNvPr id="13" name="Rounded Rectangle 12"/>
          <p:cNvSpPr/>
          <p:nvPr/>
        </p:nvSpPr>
        <p:spPr>
          <a:xfrm>
            <a:off x="621792" y="3246120"/>
            <a:ext cx="10948111" cy="1371600"/>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621792" y="3246120"/>
            <a:ext cx="54864" cy="1371600"/>
          </a:xfrm>
          <a:prstGeom prst="rect">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32688" y="3392424"/>
            <a:ext cx="10308031" cy="411480"/>
          </a:xfrm>
          <a:prstGeom prst="rect">
            <a:avLst/>
          </a:prstGeom>
          <a:noFill/>
        </p:spPr>
        <p:txBody>
          <a:bodyPr wrap="square" lIns="0" rIns="0" tIns="0" bIns="0" anchor="t">
            <a:spAutoFit/>
          </a:bodyPr>
          <a:lstStyle/>
          <a:p>
            <a:pPr algn="l">
              <a:lnSpc>
                <a:spcPct val="116000"/>
              </a:lnSpc>
              <a:spcAft>
                <a:spcPts val="400"/>
              </a:spcAft>
            </a:pPr>
            <a:r>
              <a:rPr sz="2000" b="1" i="0" u="none">
                <a:solidFill>
                  <a:srgbClr val="C95527"/>
                </a:solidFill>
                <a:latin typeface="Segoe UI"/>
                <a:ea typeface="Microsoft YaHei"/>
                <a:cs typeface="Segoe UI"/>
              </a:rPr>
              <a:t>×  </a:t>
            </a:r>
            <a:r>
              <a:rPr sz="2000" b="1" i="0" u="none">
                <a:solidFill>
                  <a:srgbClr val="172A31"/>
                </a:solidFill>
                <a:latin typeface="Segoe UI"/>
                <a:ea typeface="Microsoft YaHei"/>
                <a:cs typeface="Segoe UI"/>
              </a:rPr>
              <a:t>只写「教育很重要」</a:t>
            </a:r>
          </a:p>
        </p:txBody>
      </p:sp>
      <p:sp>
        <p:nvSpPr>
          <p:cNvPr id="16" name="TextBox 15"/>
          <p:cNvSpPr txBox="1"/>
          <p:nvPr/>
        </p:nvSpPr>
        <p:spPr>
          <a:xfrm>
            <a:off x="932688" y="3813048"/>
            <a:ext cx="1030803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这是常识，不是观点。所有人都同意的句子不产生分数。</a:t>
            </a:r>
          </a:p>
        </p:txBody>
      </p:sp>
      <p:sp>
        <p:nvSpPr>
          <p:cNvPr id="17" name="TextBox 16"/>
          <p:cNvSpPr txBox="1"/>
          <p:nvPr/>
        </p:nvSpPr>
        <p:spPr>
          <a:xfrm>
            <a:off x="932688" y="4178808"/>
            <a:ext cx="10308031" cy="365760"/>
          </a:xfrm>
          <a:prstGeom prst="rect">
            <a:avLst/>
          </a:prstGeom>
          <a:noFill/>
        </p:spPr>
        <p:txBody>
          <a:bodyPr wrap="square" lIns="0" rIns="0" tIns="0" bIns="0" anchor="t">
            <a:spAutoFit/>
          </a:bodyPr>
          <a:lstStyle/>
          <a:p>
            <a:pPr algn="l">
              <a:lnSpc>
                <a:spcPct val="116000"/>
              </a:lnSpc>
              <a:spcAft>
                <a:spcPts val="400"/>
              </a:spcAft>
            </a:pPr>
            <a:r>
              <a:rPr sz="1900" b="1" i="0" u="none">
                <a:solidFill>
                  <a:srgbClr val="2E6B4F"/>
                </a:solidFill>
                <a:latin typeface="Segoe UI"/>
                <a:ea typeface="Microsoft YaHei"/>
                <a:cs typeface="Segoe UI"/>
              </a:rPr>
              <a:t>√  </a:t>
            </a:r>
            <a:r>
              <a:rPr sz="1900" b="1" i="0" u="none">
                <a:solidFill>
                  <a:srgbClr val="2E6B4F"/>
                </a:solidFill>
                <a:latin typeface="Segoe UI"/>
                <a:ea typeface="Microsoft YaHei"/>
                <a:cs typeface="Segoe UI"/>
              </a:rPr>
              <a:t>写成「教育比人脉更关键，因为……」。</a:t>
            </a:r>
          </a:p>
        </p:txBody>
      </p:sp>
      <p:sp>
        <p:nvSpPr>
          <p:cNvPr id="18" name="Rounded Rectangle 17"/>
          <p:cNvSpPr/>
          <p:nvPr/>
        </p:nvSpPr>
        <p:spPr>
          <a:xfrm>
            <a:off x="621792" y="4727448"/>
            <a:ext cx="10948111" cy="1371600"/>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21792" y="4727448"/>
            <a:ext cx="54864" cy="1371600"/>
          </a:xfrm>
          <a:prstGeom prst="rect">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932688" y="4873752"/>
            <a:ext cx="10308031" cy="411480"/>
          </a:xfrm>
          <a:prstGeom prst="rect">
            <a:avLst/>
          </a:prstGeom>
          <a:noFill/>
        </p:spPr>
        <p:txBody>
          <a:bodyPr wrap="square" lIns="0" rIns="0" tIns="0" bIns="0" anchor="t">
            <a:spAutoFit/>
          </a:bodyPr>
          <a:lstStyle/>
          <a:p>
            <a:pPr algn="l">
              <a:lnSpc>
                <a:spcPct val="116000"/>
              </a:lnSpc>
              <a:spcAft>
                <a:spcPts val="400"/>
              </a:spcAft>
            </a:pPr>
            <a:r>
              <a:rPr sz="2000" b="1" i="0" u="none">
                <a:solidFill>
                  <a:srgbClr val="C95527"/>
                </a:solidFill>
                <a:latin typeface="Segoe UI"/>
                <a:ea typeface="Microsoft YaHei"/>
                <a:cs typeface="Segoe UI"/>
              </a:rPr>
              <a:t>×  </a:t>
            </a:r>
            <a:r>
              <a:rPr sz="2000" b="1" i="0" u="none">
                <a:solidFill>
                  <a:srgbClr val="172A31"/>
                </a:solidFill>
                <a:latin typeface="Segoe UI"/>
                <a:ea typeface="Microsoft YaHei"/>
                <a:cs typeface="Segoe UI"/>
              </a:rPr>
              <a:t>把 Kelly 的话换个词再说一遍</a:t>
            </a:r>
          </a:p>
        </p:txBody>
      </p:sp>
      <p:sp>
        <p:nvSpPr>
          <p:cNvPr id="21" name="TextBox 20"/>
          <p:cNvSpPr txBox="1"/>
          <p:nvPr/>
        </p:nvSpPr>
        <p:spPr>
          <a:xfrm>
            <a:off x="932688" y="5294376"/>
            <a:ext cx="1030803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官方原话：make a contribution … in your own words。重复不算贡献。</a:t>
            </a:r>
          </a:p>
        </p:txBody>
      </p:sp>
      <p:sp>
        <p:nvSpPr>
          <p:cNvPr id="22" name="TextBox 21"/>
          <p:cNvSpPr txBox="1"/>
          <p:nvPr/>
        </p:nvSpPr>
        <p:spPr>
          <a:xfrm>
            <a:off x="932688" y="5660136"/>
            <a:ext cx="10308031" cy="365760"/>
          </a:xfrm>
          <a:prstGeom prst="rect">
            <a:avLst/>
          </a:prstGeom>
          <a:noFill/>
        </p:spPr>
        <p:txBody>
          <a:bodyPr wrap="square" lIns="0" rIns="0" tIns="0" bIns="0" anchor="t">
            <a:spAutoFit/>
          </a:bodyPr>
          <a:lstStyle/>
          <a:p>
            <a:pPr algn="l">
              <a:lnSpc>
                <a:spcPct val="116000"/>
              </a:lnSpc>
              <a:spcAft>
                <a:spcPts val="400"/>
              </a:spcAft>
            </a:pPr>
            <a:r>
              <a:rPr sz="1900" b="1" i="0" u="none">
                <a:solidFill>
                  <a:srgbClr val="2E6B4F"/>
                </a:solidFill>
                <a:latin typeface="Segoe UI"/>
                <a:ea typeface="Microsoft YaHei"/>
                <a:cs typeface="Segoe UI"/>
              </a:rPr>
              <a:t>√  </a:t>
            </a:r>
            <a:r>
              <a:rPr sz="1900" b="1" i="0" u="none">
                <a:solidFill>
                  <a:srgbClr val="2E6B4F"/>
                </a:solidFill>
                <a:latin typeface="Segoe UI"/>
                <a:ea typeface="Microsoft YaHei"/>
                <a:cs typeface="Segoe UI"/>
              </a:rPr>
              <a:t>同意她之后，必须再加一个她没说过的信息。</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2 · 官方新题</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24</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OUTPUT · 每人一句</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B08300"/>
                </a:solidFill>
                <a:latin typeface="Segoe UI"/>
                <a:ea typeface="Microsoft YaHei"/>
                <a:cs typeface="Segoe UI"/>
              </a:rPr>
              <a:t>定立场 · 一句话</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719072"/>
            <a:ext cx="10948111" cy="1143000"/>
          </a:xfrm>
          <a:prstGeom prst="roundRect">
            <a:avLst>
              <a:gd name="adj" fmla="val 6000"/>
            </a:avLst>
          </a:prstGeom>
          <a:solidFill>
            <a:srgbClr val="FAF2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21792" y="1719072"/>
            <a:ext cx="64008" cy="1143000"/>
          </a:xfrm>
          <a:prstGeom prst="rect">
            <a:avLst/>
          </a:prstGeom>
          <a:solidFill>
            <a:srgbClr val="B083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50976" y="1938528"/>
            <a:ext cx="10216591" cy="822960"/>
          </a:xfrm>
          <a:prstGeom prst="rect">
            <a:avLst/>
          </a:prstGeom>
          <a:noFill/>
        </p:spPr>
        <p:txBody>
          <a:bodyPr wrap="square" lIns="0" rIns="0" tIns="0" bIns="0" anchor="t">
            <a:spAutoFit/>
          </a:bodyPr>
          <a:lstStyle/>
          <a:p>
            <a:pPr algn="l">
              <a:lnSpc>
                <a:spcPct val="115000"/>
              </a:lnSpc>
              <a:spcBef>
                <a:spcPts val="0"/>
              </a:spcBef>
              <a:spcAft>
                <a:spcPts val="0"/>
              </a:spcAft>
            </a:pPr>
            <a:r>
              <a:rPr sz="2400" b="1" i="0" u="none">
                <a:solidFill>
                  <a:srgbClr val="B08300"/>
                </a:solidFill>
                <a:latin typeface="Segoe UI"/>
                <a:ea typeface="Microsoft YaHei"/>
                <a:cs typeface="Segoe UI"/>
              </a:rPr>
              <a:t>现在写下你的第一句话：立场句。不许超过两行。</a:t>
            </a:r>
          </a:p>
        </p:txBody>
      </p:sp>
      <p:sp>
        <p:nvSpPr>
          <p:cNvPr id="11" name="Rounded Rectangle 10"/>
          <p:cNvSpPr/>
          <p:nvPr/>
        </p:nvSpPr>
        <p:spPr>
          <a:xfrm>
            <a:off x="621792" y="3108960"/>
            <a:ext cx="10948111" cy="658368"/>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3255264"/>
            <a:ext cx="457200"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B08300"/>
                </a:solidFill>
                <a:latin typeface="Segoe UI"/>
                <a:ea typeface="Microsoft YaHei"/>
                <a:cs typeface="Segoe UI"/>
              </a:rPr>
              <a:t>1</a:t>
            </a:r>
          </a:p>
        </p:txBody>
      </p:sp>
      <p:sp>
        <p:nvSpPr>
          <p:cNvPr id="13" name="TextBox 12"/>
          <p:cNvSpPr txBox="1"/>
          <p:nvPr/>
        </p:nvSpPr>
        <p:spPr>
          <a:xfrm>
            <a:off x="1371600" y="3255264"/>
            <a:ext cx="9850831" cy="45720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句型可用：I would argue that … / In my view, … / I believe that …</a:t>
            </a:r>
          </a:p>
        </p:txBody>
      </p:sp>
      <p:sp>
        <p:nvSpPr>
          <p:cNvPr id="14" name="Rounded Rectangle 13"/>
          <p:cNvSpPr/>
          <p:nvPr/>
        </p:nvSpPr>
        <p:spPr>
          <a:xfrm>
            <a:off x="621792" y="3858768"/>
            <a:ext cx="10948111" cy="658368"/>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77824" y="4005072"/>
            <a:ext cx="457200"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B08300"/>
                </a:solidFill>
                <a:latin typeface="Segoe UI"/>
                <a:ea typeface="Microsoft YaHei"/>
                <a:cs typeface="Segoe UI"/>
              </a:rPr>
              <a:t>2</a:t>
            </a:r>
          </a:p>
        </p:txBody>
      </p:sp>
      <p:sp>
        <p:nvSpPr>
          <p:cNvPr id="16" name="TextBox 15"/>
          <p:cNvSpPr txBox="1"/>
          <p:nvPr/>
        </p:nvSpPr>
        <p:spPr>
          <a:xfrm>
            <a:off x="1371600" y="4005072"/>
            <a:ext cx="9850831" cy="45720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句子里必须出现比较：more … than … 或 the key</a:t>
            </a:r>
          </a:p>
        </p:txBody>
      </p:sp>
      <p:sp>
        <p:nvSpPr>
          <p:cNvPr id="17" name="Rounded Rectangle 16"/>
          <p:cNvSpPr/>
          <p:nvPr/>
        </p:nvSpPr>
        <p:spPr>
          <a:xfrm>
            <a:off x="621792" y="4608576"/>
            <a:ext cx="10948111" cy="658368"/>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77824" y="4754880"/>
            <a:ext cx="457200"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B08300"/>
                </a:solidFill>
                <a:latin typeface="Segoe UI"/>
                <a:ea typeface="Microsoft YaHei"/>
                <a:cs typeface="Segoe UI"/>
              </a:rPr>
              <a:t>3</a:t>
            </a:r>
          </a:p>
        </p:txBody>
      </p:sp>
      <p:sp>
        <p:nvSpPr>
          <p:cNvPr id="19" name="TextBox 18"/>
          <p:cNvSpPr txBox="1"/>
          <p:nvPr/>
        </p:nvSpPr>
        <p:spPr>
          <a:xfrm>
            <a:off x="1371600" y="4754880"/>
            <a:ext cx="9850831" cy="45720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写完举手，老师逐个念，只判断一件事：这句有没有选边</a:t>
            </a:r>
          </a:p>
        </p:txBody>
      </p:sp>
      <p:sp>
        <p:nvSpPr>
          <p:cNvPr id="20" name="Rounded Rectangle 19"/>
          <p:cNvSpPr/>
          <p:nvPr/>
        </p:nvSpPr>
        <p:spPr>
          <a:xfrm>
            <a:off x="621792" y="5468112"/>
            <a:ext cx="720547" cy="384048"/>
          </a:xfrm>
          <a:prstGeom prst="roundRect">
            <a:avLst>
              <a:gd name="adj" fmla="val 40000"/>
            </a:avLst>
          </a:prstGeom>
          <a:solidFill>
            <a:srgbClr val="B083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21792" y="5509260"/>
            <a:ext cx="720547" cy="384048"/>
          </a:xfrm>
          <a:prstGeom prst="rect">
            <a:avLst/>
          </a:prstGeom>
          <a:noFill/>
        </p:spPr>
        <p:txBody>
          <a:bodyPr wrap="square" lIns="0" rIns="0" tIns="0" bIns="0" anchor="t">
            <a:spAutoFit/>
          </a:bodyPr>
          <a:lstStyle/>
          <a:p>
            <a:pPr algn="ctr">
              <a:lnSpc>
                <a:spcPct val="116000"/>
              </a:lnSpc>
              <a:spcBef>
                <a:spcPts val="0"/>
              </a:spcBef>
              <a:spcAft>
                <a:spcPts val="0"/>
              </a:spcAft>
            </a:pPr>
            <a:r>
              <a:rPr sz="1700" b="1" i="0" u="none">
                <a:solidFill>
                  <a:srgbClr val="FFFFFF"/>
                </a:solidFill>
                <a:latin typeface="Segoe UI"/>
                <a:ea typeface="Microsoft YaHei"/>
                <a:cs typeface="Segoe UI"/>
              </a:rPr>
              <a:t>3 分钟</a:t>
            </a:r>
          </a:p>
        </p:txBody>
      </p:sp>
      <p:sp>
        <p:nvSpPr>
          <p:cNvPr id="22" name="TextBox 21"/>
          <p:cNvSpPr txBox="1"/>
          <p:nvPr/>
        </p:nvSpPr>
        <p:spPr>
          <a:xfrm>
            <a:off x="2542032" y="5522976"/>
            <a:ext cx="8936431" cy="45720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示范：I would argue that education matters more than personal connections.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2 · 官方新题</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25</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PART 2 · 收</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Part 2 小结：前 60 秒该做的事</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2084832"/>
            <a:ext cx="2634157" cy="1920240"/>
          </a:xfrm>
          <a:prstGeom prst="roundRect">
            <a:avLst>
              <a:gd name="adj" fmla="val 6000"/>
            </a:avLst>
          </a:prstGeom>
          <a:solidFill>
            <a:srgbClr val="F3F8F9"/>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41248" y="2340864"/>
            <a:ext cx="2195245" cy="548640"/>
          </a:xfrm>
          <a:prstGeom prst="rect">
            <a:avLst/>
          </a:prstGeom>
          <a:noFill/>
        </p:spPr>
        <p:txBody>
          <a:bodyPr wrap="square" lIns="0" rIns="0" tIns="0" bIns="0" anchor="t">
            <a:spAutoFit/>
          </a:bodyPr>
          <a:lstStyle/>
          <a:p>
            <a:pPr algn="l">
              <a:lnSpc>
                <a:spcPct val="110000"/>
              </a:lnSpc>
              <a:spcBef>
                <a:spcPts val="0"/>
              </a:spcBef>
              <a:spcAft>
                <a:spcPts val="1000"/>
              </a:spcAft>
            </a:pPr>
            <a:r>
              <a:rPr sz="2100" b="1" i="0" u="none">
                <a:solidFill>
                  <a:srgbClr val="0E5362"/>
                </a:solidFill>
                <a:latin typeface="Segoe UI"/>
                <a:ea typeface="Microsoft YaHei"/>
                <a:cs typeface="Segoe UI"/>
              </a:rPr>
              <a:t>① 读教授问题</a:t>
            </a:r>
          </a:p>
        </p:txBody>
      </p:sp>
      <p:sp>
        <p:nvSpPr>
          <p:cNvPr id="10" name="TextBox 9"/>
          <p:cNvSpPr txBox="1"/>
          <p:nvPr/>
        </p:nvSpPr>
        <p:spPr>
          <a:xfrm>
            <a:off x="841248" y="3044952"/>
            <a:ext cx="2195245" cy="822960"/>
          </a:xfrm>
          <a:prstGeom prst="rect">
            <a:avLst/>
          </a:prstGeom>
          <a:noFill/>
        </p:spPr>
        <p:txBody>
          <a:bodyPr wrap="square" lIns="0" rIns="0" tIns="0" bIns="0" anchor="t">
            <a:spAutoFit/>
          </a:bodyPr>
          <a:lstStyle/>
          <a:p>
            <a:pPr algn="l">
              <a:lnSpc>
                <a:spcPct val="115000"/>
              </a:lnSpc>
              <a:spcBef>
                <a:spcPts val="0"/>
              </a:spcBef>
              <a:spcAft>
                <a:spcPts val="0"/>
              </a:spcAft>
            </a:pPr>
            <a:r>
              <a:rPr sz="1900" b="0" i="0" u="none">
                <a:solidFill>
                  <a:srgbClr val="172A31"/>
                </a:solidFill>
                <a:latin typeface="Segoe UI"/>
                <a:ea typeface="Microsoft YaHei"/>
                <a:cs typeface="Segoe UI"/>
              </a:rPr>
              <a:t>问什么？几个选项？</a:t>
            </a:r>
          </a:p>
        </p:txBody>
      </p:sp>
      <p:sp>
        <p:nvSpPr>
          <p:cNvPr id="11" name="Rounded Rectangle 10"/>
          <p:cNvSpPr/>
          <p:nvPr/>
        </p:nvSpPr>
        <p:spPr>
          <a:xfrm>
            <a:off x="3393109" y="2084832"/>
            <a:ext cx="2634157" cy="1920240"/>
          </a:xfrm>
          <a:prstGeom prst="roundRect">
            <a:avLst>
              <a:gd name="adj" fmla="val 6000"/>
            </a:avLst>
          </a:prstGeom>
          <a:solidFill>
            <a:srgbClr val="F3F8F9"/>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3612565" y="2340864"/>
            <a:ext cx="2195245" cy="548640"/>
          </a:xfrm>
          <a:prstGeom prst="rect">
            <a:avLst/>
          </a:prstGeom>
          <a:noFill/>
        </p:spPr>
        <p:txBody>
          <a:bodyPr wrap="square" lIns="0" rIns="0" tIns="0" bIns="0" anchor="t">
            <a:spAutoFit/>
          </a:bodyPr>
          <a:lstStyle/>
          <a:p>
            <a:pPr algn="l">
              <a:lnSpc>
                <a:spcPct val="110000"/>
              </a:lnSpc>
              <a:spcBef>
                <a:spcPts val="0"/>
              </a:spcBef>
              <a:spcAft>
                <a:spcPts val="1000"/>
              </a:spcAft>
            </a:pPr>
            <a:r>
              <a:rPr sz="2100" b="1" i="0" u="none">
                <a:solidFill>
                  <a:srgbClr val="0E5362"/>
                </a:solidFill>
                <a:latin typeface="Segoe UI"/>
                <a:ea typeface="Microsoft YaHei"/>
                <a:cs typeface="Segoe UI"/>
              </a:rPr>
              <a:t>② 读两位同学</a:t>
            </a:r>
          </a:p>
        </p:txBody>
      </p:sp>
      <p:sp>
        <p:nvSpPr>
          <p:cNvPr id="13" name="TextBox 12"/>
          <p:cNvSpPr txBox="1"/>
          <p:nvPr/>
        </p:nvSpPr>
        <p:spPr>
          <a:xfrm>
            <a:off x="3612565" y="3044952"/>
            <a:ext cx="2195245" cy="822960"/>
          </a:xfrm>
          <a:prstGeom prst="rect">
            <a:avLst/>
          </a:prstGeom>
          <a:noFill/>
        </p:spPr>
        <p:txBody>
          <a:bodyPr wrap="square" lIns="0" rIns="0" tIns="0" bIns="0" anchor="t">
            <a:spAutoFit/>
          </a:bodyPr>
          <a:lstStyle/>
          <a:p>
            <a:pPr algn="l">
              <a:lnSpc>
                <a:spcPct val="115000"/>
              </a:lnSpc>
              <a:spcBef>
                <a:spcPts val="0"/>
              </a:spcBef>
              <a:spcAft>
                <a:spcPts val="0"/>
              </a:spcAft>
            </a:pPr>
            <a:r>
              <a:rPr sz="1900" b="0" i="0" u="none">
                <a:solidFill>
                  <a:srgbClr val="172A31"/>
                </a:solidFill>
                <a:latin typeface="Segoe UI"/>
                <a:ea typeface="Microsoft YaHei"/>
                <a:cs typeface="Segoe UI"/>
              </a:rPr>
              <a:t>各站哪边？各给了什么理由？</a:t>
            </a:r>
          </a:p>
        </p:txBody>
      </p:sp>
      <p:sp>
        <p:nvSpPr>
          <p:cNvPr id="14" name="Rounded Rectangle 13"/>
          <p:cNvSpPr/>
          <p:nvPr/>
        </p:nvSpPr>
        <p:spPr>
          <a:xfrm>
            <a:off x="6164427" y="2084832"/>
            <a:ext cx="2634157" cy="1920240"/>
          </a:xfrm>
          <a:prstGeom prst="roundRect">
            <a:avLst>
              <a:gd name="adj" fmla="val 6000"/>
            </a:avLst>
          </a:prstGeom>
          <a:solidFill>
            <a:srgbClr val="F3F8F9"/>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383883" y="2340864"/>
            <a:ext cx="2195245" cy="548640"/>
          </a:xfrm>
          <a:prstGeom prst="rect">
            <a:avLst/>
          </a:prstGeom>
          <a:noFill/>
        </p:spPr>
        <p:txBody>
          <a:bodyPr wrap="square" lIns="0" rIns="0" tIns="0" bIns="0" anchor="t">
            <a:spAutoFit/>
          </a:bodyPr>
          <a:lstStyle/>
          <a:p>
            <a:pPr algn="l">
              <a:lnSpc>
                <a:spcPct val="110000"/>
              </a:lnSpc>
              <a:spcBef>
                <a:spcPts val="0"/>
              </a:spcBef>
              <a:spcAft>
                <a:spcPts val="1000"/>
              </a:spcAft>
            </a:pPr>
            <a:r>
              <a:rPr sz="2100" b="1" i="0" u="none">
                <a:solidFill>
                  <a:srgbClr val="0E5362"/>
                </a:solidFill>
                <a:latin typeface="Segoe UI"/>
                <a:ea typeface="Microsoft YaHei"/>
                <a:cs typeface="Segoe UI"/>
              </a:rPr>
              <a:t>③ 选边</a:t>
            </a:r>
          </a:p>
        </p:txBody>
      </p:sp>
      <p:sp>
        <p:nvSpPr>
          <p:cNvPr id="16" name="TextBox 15"/>
          <p:cNvSpPr txBox="1"/>
          <p:nvPr/>
        </p:nvSpPr>
        <p:spPr>
          <a:xfrm>
            <a:off x="6383883" y="3044952"/>
            <a:ext cx="2195245" cy="822960"/>
          </a:xfrm>
          <a:prstGeom prst="rect">
            <a:avLst/>
          </a:prstGeom>
          <a:noFill/>
        </p:spPr>
        <p:txBody>
          <a:bodyPr wrap="square" lIns="0" rIns="0" tIns="0" bIns="0" anchor="t">
            <a:spAutoFit/>
          </a:bodyPr>
          <a:lstStyle/>
          <a:p>
            <a:pPr algn="l">
              <a:lnSpc>
                <a:spcPct val="115000"/>
              </a:lnSpc>
              <a:spcBef>
                <a:spcPts val="0"/>
              </a:spcBef>
              <a:spcAft>
                <a:spcPts val="0"/>
              </a:spcAft>
            </a:pPr>
            <a:r>
              <a:rPr sz="1900" b="0" i="0" u="none">
                <a:solidFill>
                  <a:srgbClr val="172A31"/>
                </a:solidFill>
                <a:latin typeface="Segoe UI"/>
                <a:ea typeface="Microsoft YaHei"/>
                <a:cs typeface="Segoe UI"/>
              </a:rPr>
              <a:t>写一句立场句，含比较</a:t>
            </a:r>
          </a:p>
        </p:txBody>
      </p:sp>
      <p:sp>
        <p:nvSpPr>
          <p:cNvPr id="17" name="Rounded Rectangle 16"/>
          <p:cNvSpPr/>
          <p:nvPr/>
        </p:nvSpPr>
        <p:spPr>
          <a:xfrm>
            <a:off x="8935745" y="2084832"/>
            <a:ext cx="2634157" cy="1920240"/>
          </a:xfrm>
          <a:prstGeom prst="roundRect">
            <a:avLst>
              <a:gd name="adj" fmla="val 6000"/>
            </a:avLst>
          </a:prstGeom>
          <a:solidFill>
            <a:srgbClr val="F3F8F9"/>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155201" y="2340864"/>
            <a:ext cx="2195245" cy="548640"/>
          </a:xfrm>
          <a:prstGeom prst="rect">
            <a:avLst/>
          </a:prstGeom>
          <a:noFill/>
        </p:spPr>
        <p:txBody>
          <a:bodyPr wrap="square" lIns="0" rIns="0" tIns="0" bIns="0" anchor="t">
            <a:spAutoFit/>
          </a:bodyPr>
          <a:lstStyle/>
          <a:p>
            <a:pPr algn="l">
              <a:lnSpc>
                <a:spcPct val="110000"/>
              </a:lnSpc>
              <a:spcBef>
                <a:spcPts val="0"/>
              </a:spcBef>
              <a:spcAft>
                <a:spcPts val="1000"/>
              </a:spcAft>
            </a:pPr>
            <a:r>
              <a:rPr sz="2100" b="1" i="0" u="none">
                <a:solidFill>
                  <a:srgbClr val="0E5362"/>
                </a:solidFill>
                <a:latin typeface="Segoe UI"/>
                <a:ea typeface="Microsoft YaHei"/>
                <a:cs typeface="Segoe UI"/>
              </a:rPr>
              <a:t>④ 留一个空</a:t>
            </a:r>
          </a:p>
        </p:txBody>
      </p:sp>
      <p:sp>
        <p:nvSpPr>
          <p:cNvPr id="19" name="TextBox 18"/>
          <p:cNvSpPr txBox="1"/>
          <p:nvPr/>
        </p:nvSpPr>
        <p:spPr>
          <a:xfrm>
            <a:off x="9155201" y="3044952"/>
            <a:ext cx="2195245" cy="822960"/>
          </a:xfrm>
          <a:prstGeom prst="rect">
            <a:avLst/>
          </a:prstGeom>
          <a:noFill/>
        </p:spPr>
        <p:txBody>
          <a:bodyPr wrap="square" lIns="0" rIns="0" tIns="0" bIns="0" anchor="t">
            <a:spAutoFit/>
          </a:bodyPr>
          <a:lstStyle/>
          <a:p>
            <a:pPr algn="l">
              <a:lnSpc>
                <a:spcPct val="115000"/>
              </a:lnSpc>
              <a:spcBef>
                <a:spcPts val="0"/>
              </a:spcBef>
              <a:spcAft>
                <a:spcPts val="0"/>
              </a:spcAft>
            </a:pPr>
            <a:r>
              <a:rPr sz="1900" b="0" i="0" u="none">
                <a:solidFill>
                  <a:srgbClr val="172A31"/>
                </a:solidFill>
                <a:latin typeface="Segoe UI"/>
                <a:ea typeface="Microsoft YaHei"/>
                <a:cs typeface="Segoe UI"/>
              </a:rPr>
              <a:t>等会儿要回应谁——先想好</a:t>
            </a:r>
          </a:p>
        </p:txBody>
      </p:sp>
      <p:sp>
        <p:nvSpPr>
          <p:cNvPr id="20" name="Rounded Rectangle 19"/>
          <p:cNvSpPr/>
          <p:nvPr/>
        </p:nvSpPr>
        <p:spPr>
          <a:xfrm>
            <a:off x="621792" y="4370832"/>
            <a:ext cx="10948111" cy="914400"/>
          </a:xfrm>
          <a:prstGeom prst="roundRect">
            <a:avLst>
              <a:gd name="adj" fmla="val 6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005840" y="4599432"/>
            <a:ext cx="10170871" cy="548640"/>
          </a:xfrm>
          <a:prstGeom prst="rect">
            <a:avLst/>
          </a:prstGeom>
          <a:noFill/>
        </p:spPr>
        <p:txBody>
          <a:bodyPr wrap="square" lIns="0" rIns="0" tIns="0" bIns="0" anchor="t">
            <a:spAutoFit/>
          </a:bodyPr>
          <a:lstStyle/>
          <a:p>
            <a:pPr algn="l">
              <a:lnSpc>
                <a:spcPct val="116000"/>
              </a:lnSpc>
              <a:spcBef>
                <a:spcPts val="0"/>
              </a:spcBef>
              <a:spcAft>
                <a:spcPts val="0"/>
              </a:spcAft>
            </a:pPr>
            <a:r>
              <a:rPr sz="2300" b="1" i="0" u="none">
                <a:solidFill>
                  <a:srgbClr val="FFFFFF"/>
                </a:solidFill>
                <a:latin typeface="Segoe UI"/>
                <a:ea typeface="Microsoft YaHei"/>
                <a:cs typeface="Segoe UI"/>
              </a:rPr>
              <a:t>接下来：同一道题，三份不同水平的回答。你来给分。</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53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3" name="Connector 2"/>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3 · 3/4/5 分</a:t>
            </a:r>
          </a:p>
        </p:txBody>
      </p:sp>
      <p:sp>
        <p:nvSpPr>
          <p:cNvPr id="5" name="TextBox 4"/>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26</a:t>
            </a:r>
          </a:p>
        </p:txBody>
      </p:sp>
      <p:sp>
        <p:nvSpPr>
          <p:cNvPr id="6" name="Rectangle 5"/>
          <p:cNvSpPr/>
          <p:nvPr/>
        </p:nvSpPr>
        <p:spPr>
          <a:xfrm>
            <a:off x="0" y="0"/>
            <a:ext cx="310896" cy="6858000"/>
          </a:xfrm>
          <a:prstGeom prst="rect">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371600" y="1481328"/>
            <a:ext cx="10033711" cy="457200"/>
          </a:xfrm>
          <a:prstGeom prst="rect">
            <a:avLst/>
          </a:prstGeom>
          <a:noFill/>
        </p:spPr>
        <p:txBody>
          <a:bodyPr wrap="square" lIns="0" rIns="0" tIns="0" bIns="0" anchor="t">
            <a:spAutoFit/>
          </a:bodyPr>
          <a:lstStyle/>
          <a:p>
            <a:pPr algn="l">
              <a:lnSpc>
                <a:spcPct val="116000"/>
              </a:lnSpc>
              <a:spcBef>
                <a:spcPts val="0"/>
              </a:spcBef>
              <a:spcAft>
                <a:spcPts val="200"/>
              </a:spcAft>
            </a:pPr>
            <a:r>
              <a:rPr sz="4600" b="1" i="0" u="none">
                <a:solidFill>
                  <a:srgbClr val="5C94A0"/>
                </a:solidFill>
                <a:latin typeface="Segoe UI"/>
                <a:ea typeface="Microsoft YaHei"/>
                <a:cs typeface="Segoe UI"/>
              </a:rPr>
              <a:t>PART 3</a:t>
            </a:r>
          </a:p>
        </p:txBody>
      </p:sp>
      <p:sp>
        <p:nvSpPr>
          <p:cNvPr id="8" name="TextBox 7"/>
          <p:cNvSpPr txBox="1"/>
          <p:nvPr/>
        </p:nvSpPr>
        <p:spPr>
          <a:xfrm>
            <a:off x="1371600" y="2395728"/>
            <a:ext cx="10033711" cy="731520"/>
          </a:xfrm>
          <a:prstGeom prst="rect">
            <a:avLst/>
          </a:prstGeom>
          <a:noFill/>
        </p:spPr>
        <p:txBody>
          <a:bodyPr wrap="square" lIns="0" rIns="0" tIns="0" bIns="0" anchor="t">
            <a:spAutoFit/>
          </a:bodyPr>
          <a:lstStyle/>
          <a:p>
            <a:pPr algn="l">
              <a:lnSpc>
                <a:spcPct val="116000"/>
              </a:lnSpc>
              <a:spcBef>
                <a:spcPts val="0"/>
              </a:spcBef>
              <a:spcAft>
                <a:spcPts val="400"/>
              </a:spcAft>
            </a:pPr>
            <a:r>
              <a:rPr sz="4200" b="1" i="0" u="none">
                <a:solidFill>
                  <a:srgbClr val="FFFFFF"/>
                </a:solidFill>
                <a:latin typeface="Segoe UI"/>
                <a:ea typeface="Microsoft YaHei"/>
                <a:cs typeface="Segoe UI"/>
              </a:rPr>
              <a:t>3 / 4 / 5 分示范</a:t>
            </a:r>
          </a:p>
        </p:txBody>
      </p:sp>
      <p:sp>
        <p:nvSpPr>
          <p:cNvPr id="9" name="TextBox 8"/>
          <p:cNvSpPr txBox="1"/>
          <p:nvPr/>
        </p:nvSpPr>
        <p:spPr>
          <a:xfrm>
            <a:off x="1371600" y="3200400"/>
            <a:ext cx="10033711" cy="411480"/>
          </a:xfrm>
          <a:prstGeom prst="rect">
            <a:avLst/>
          </a:prstGeom>
          <a:noFill/>
        </p:spPr>
        <p:txBody>
          <a:bodyPr wrap="square" lIns="0" rIns="0" tIns="0" bIns="0" anchor="t">
            <a:spAutoFit/>
          </a:bodyPr>
          <a:lstStyle/>
          <a:p>
            <a:pPr algn="l">
              <a:lnSpc>
                <a:spcPct val="116000"/>
              </a:lnSpc>
              <a:spcBef>
                <a:spcPts val="0"/>
              </a:spcBef>
              <a:spcAft>
                <a:spcPts val="0"/>
              </a:spcAft>
            </a:pPr>
            <a:r>
              <a:rPr sz="2200" b="0" i="0" u="none">
                <a:solidFill>
                  <a:srgbClr val="9EC6CE"/>
                </a:solidFill>
                <a:latin typeface="Segoe UI"/>
                <a:ea typeface="Microsoft YaHei"/>
                <a:cs typeface="Segoe UI"/>
              </a:rPr>
              <a:t>同一道题，三份不同水平的回答</a:t>
            </a:r>
          </a:p>
        </p:txBody>
      </p:sp>
      <p:sp>
        <p:nvSpPr>
          <p:cNvPr id="10" name="Rectangle 9"/>
          <p:cNvSpPr/>
          <p:nvPr/>
        </p:nvSpPr>
        <p:spPr>
          <a:xfrm>
            <a:off x="1371600" y="3886200"/>
            <a:ext cx="54864" cy="640080"/>
          </a:xfrm>
          <a:prstGeom prst="rect">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627632" y="3886200"/>
            <a:ext cx="9119311" cy="73152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FFFFFF"/>
                </a:solidFill>
                <a:latin typeface="Segoe UI"/>
                <a:ea typeface="Microsoft YaHei"/>
                <a:cs typeface="Segoe UI"/>
              </a:rPr>
              <a:t>本环节目标：不背范文，只看差距：把三篇放在一起，你会自己看出 WHY 和 Example 值多少分。</a:t>
            </a:r>
          </a:p>
        </p:txBody>
      </p:sp>
      <p:sp>
        <p:nvSpPr>
          <p:cNvPr id="12" name="Rounded Rectangle 11"/>
          <p:cNvSpPr/>
          <p:nvPr/>
        </p:nvSpPr>
        <p:spPr>
          <a:xfrm>
            <a:off x="1371600" y="4892040"/>
            <a:ext cx="841248" cy="365760"/>
          </a:xfrm>
          <a:prstGeom prst="roundRect">
            <a:avLst>
              <a:gd name="adj" fmla="val 40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371600" y="4933188"/>
            <a:ext cx="841248" cy="365760"/>
          </a:xfrm>
          <a:prstGeom prst="rect">
            <a:avLst/>
          </a:prstGeom>
          <a:noFill/>
        </p:spPr>
        <p:txBody>
          <a:bodyPr wrap="square" lIns="0" rIns="0" tIns="0" bIns="0" anchor="t">
            <a:spAutoFit/>
          </a:bodyPr>
          <a:lstStyle/>
          <a:p>
            <a:pPr algn="ctr">
              <a:lnSpc>
                <a:spcPct val="116000"/>
              </a:lnSpc>
              <a:spcBef>
                <a:spcPts val="0"/>
              </a:spcBef>
              <a:spcAft>
                <a:spcPts val="0"/>
              </a:spcAft>
            </a:pPr>
            <a:r>
              <a:rPr sz="1700" b="1" i="0" u="none">
                <a:solidFill>
                  <a:srgbClr val="FFFFFF"/>
                </a:solidFill>
                <a:latin typeface="Segoe UI"/>
                <a:ea typeface="Microsoft YaHei"/>
                <a:cs typeface="Segoe UI"/>
              </a:rPr>
              <a:t>25 分钟</a:t>
            </a:r>
          </a:p>
        </p:txBody>
      </p:sp>
      <p:sp>
        <p:nvSpPr>
          <p:cNvPr id="14" name="TextBox 13"/>
          <p:cNvSpPr txBox="1"/>
          <p:nvPr/>
        </p:nvSpPr>
        <p:spPr>
          <a:xfrm>
            <a:off x="3200400" y="4937760"/>
            <a:ext cx="8022031" cy="45720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9EC6CE"/>
                </a:solidFill>
                <a:latin typeface="Segoe UI"/>
                <a:ea typeface="Microsoft YaHei"/>
                <a:cs typeface="Segoe UI"/>
              </a:rPr>
              <a:t>圈五要素 · 自己打分 · 对照讲评</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3 · 3/4/5 分</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27</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重要声明</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先说清楚这三篇是什么</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719072"/>
            <a:ext cx="10948111" cy="1554480"/>
          </a:xfrm>
          <a:prstGeom prst="roundRect">
            <a:avLst>
              <a:gd name="adj" fmla="val 6000"/>
            </a:avLst>
          </a:prstGeom>
          <a:solidFill>
            <a:srgbClr val="FBECE3"/>
          </a:solidFill>
          <a:ln w="20320">
            <a:solidFill>
              <a:srgbClr val="C9552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975104"/>
            <a:ext cx="10170871" cy="1188720"/>
          </a:xfrm>
          <a:prstGeom prst="rect">
            <a:avLst/>
          </a:prstGeom>
          <a:noFill/>
        </p:spPr>
        <p:txBody>
          <a:bodyPr wrap="square" lIns="0" rIns="0" tIns="0" bIns="0" anchor="t">
            <a:spAutoFit/>
          </a:bodyPr>
          <a:lstStyle/>
          <a:p>
            <a:pPr algn="l">
              <a:lnSpc>
                <a:spcPct val="116000"/>
              </a:lnSpc>
              <a:spcBef>
                <a:spcPts val="0"/>
              </a:spcBef>
              <a:spcAft>
                <a:spcPts val="1000"/>
              </a:spcAft>
            </a:pPr>
            <a:r>
              <a:rPr sz="2300" b="1" i="0" u="none">
                <a:solidFill>
                  <a:srgbClr val="C95527"/>
                </a:solidFill>
                <a:latin typeface="Segoe UI"/>
                <a:ea typeface="Microsoft YaHei"/>
                <a:cs typeface="Segoe UI"/>
              </a:rPr>
              <a:t>Teacher-created sample based on ETS rubric</a:t>
            </a:r>
          </a:p>
          <a:p>
            <a:pPr algn="l">
              <a:lnSpc>
                <a:spcPct val="120000"/>
              </a:lnSpc>
              <a:spcBef>
                <a:spcPts val="0"/>
              </a:spcBef>
              <a:spcAft>
                <a:spcPts val="0"/>
              </a:spcAft>
            </a:pPr>
            <a:r>
              <a:rPr sz="1900" b="0" i="0" u="none">
                <a:solidFill>
                  <a:srgbClr val="172A31"/>
                </a:solidFill>
                <a:latin typeface="Segoe UI"/>
                <a:ea typeface="Microsoft YaHei"/>
                <a:cs typeface="Segoe UI"/>
              </a:rPr>
              <a:t>这三篇是老师依据 ETS Academic Discussion 评分标准写的教学模拟范文，不是 ETS 官方已经评分的真实考生作文。</a:t>
            </a:r>
          </a:p>
        </p:txBody>
      </p:sp>
      <p:sp>
        <p:nvSpPr>
          <p:cNvPr id="10" name="Rounded Rectangle 9"/>
          <p:cNvSpPr/>
          <p:nvPr/>
        </p:nvSpPr>
        <p:spPr>
          <a:xfrm>
            <a:off x="621792" y="3547872"/>
            <a:ext cx="10948111" cy="896112"/>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14400" y="3767328"/>
            <a:ext cx="3200400" cy="45720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0E5362"/>
                </a:solidFill>
                <a:latin typeface="Segoe UI"/>
                <a:ea typeface="Microsoft YaHei"/>
                <a:cs typeface="Segoe UI"/>
              </a:rPr>
              <a:t>为什么还要看它？</a:t>
            </a:r>
          </a:p>
        </p:txBody>
      </p:sp>
      <p:sp>
        <p:nvSpPr>
          <p:cNvPr id="12" name="TextBox 11"/>
          <p:cNvSpPr txBox="1"/>
          <p:nvPr/>
        </p:nvSpPr>
        <p:spPr>
          <a:xfrm>
            <a:off x="4233672" y="3767328"/>
            <a:ext cx="7016191" cy="45720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因为它们控制了变量——同一道题、长度接近，差别只在展开质量。</a:t>
            </a:r>
          </a:p>
        </p:txBody>
      </p:sp>
      <p:sp>
        <p:nvSpPr>
          <p:cNvPr id="13" name="Rounded Rectangle 12"/>
          <p:cNvSpPr/>
          <p:nvPr/>
        </p:nvSpPr>
        <p:spPr>
          <a:xfrm>
            <a:off x="621792" y="4553712"/>
            <a:ext cx="10948111" cy="896112"/>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14400" y="4773168"/>
            <a:ext cx="3200400" cy="45720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0E5362"/>
                </a:solidFill>
                <a:latin typeface="Segoe UI"/>
                <a:ea typeface="Microsoft YaHei"/>
                <a:cs typeface="Segoe UI"/>
              </a:rPr>
              <a:t>那官方的东西在哪里？</a:t>
            </a:r>
          </a:p>
        </p:txBody>
      </p:sp>
      <p:sp>
        <p:nvSpPr>
          <p:cNvPr id="15" name="TextBox 14"/>
          <p:cNvSpPr txBox="1"/>
          <p:nvPr/>
        </p:nvSpPr>
        <p:spPr>
          <a:xfrm>
            <a:off x="4233672" y="4773168"/>
            <a:ext cx="7016191" cy="45720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官方题目原文、官方指令、官方对 contribution 的说明，本课全部逐字引用。</a:t>
            </a:r>
          </a:p>
        </p:txBody>
      </p:sp>
      <p:sp>
        <p:nvSpPr>
          <p:cNvPr id="16" name="Rounded Rectangle 15"/>
          <p:cNvSpPr/>
          <p:nvPr/>
        </p:nvSpPr>
        <p:spPr>
          <a:xfrm>
            <a:off x="621792" y="5559552"/>
            <a:ext cx="10948111" cy="896112"/>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914400" y="5779008"/>
            <a:ext cx="3200400" cy="45720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0E5362"/>
                </a:solidFill>
                <a:latin typeface="Segoe UI"/>
                <a:ea typeface="Microsoft YaHei"/>
                <a:cs typeface="Segoe UI"/>
              </a:rPr>
              <a:t>你该怎么用？</a:t>
            </a:r>
          </a:p>
        </p:txBody>
      </p:sp>
      <p:sp>
        <p:nvSpPr>
          <p:cNvPr id="18" name="TextBox 17"/>
          <p:cNvSpPr txBox="1"/>
          <p:nvPr/>
        </p:nvSpPr>
        <p:spPr>
          <a:xfrm>
            <a:off x="4233672" y="5779008"/>
            <a:ext cx="7016191" cy="45720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不要背句子。只记住：从 A 到 C，每一步多加了什么。</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3 · 3/4/5 分</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28</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MARKING CODE</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圈画符号：五个要素</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792224"/>
            <a:ext cx="10948111" cy="786384"/>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621792" y="1792224"/>
            <a:ext cx="786384" cy="786384"/>
          </a:xfrm>
          <a:prstGeom prst="roundRect">
            <a:avLst>
              <a:gd name="adj" fmla="val 6000"/>
            </a:avLst>
          </a:prstGeom>
          <a:solidFill>
            <a:srgbClr val="0E53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21792" y="1993392"/>
            <a:ext cx="786384" cy="411480"/>
          </a:xfrm>
          <a:prstGeom prst="rect">
            <a:avLst/>
          </a:prstGeom>
          <a:noFill/>
        </p:spPr>
        <p:txBody>
          <a:bodyPr wrap="square" lIns="0" rIns="0" tIns="0" bIns="0" anchor="t">
            <a:spAutoFit/>
          </a:bodyPr>
          <a:lstStyle/>
          <a:p>
            <a:pPr algn="ctr">
              <a:lnSpc>
                <a:spcPct val="116000"/>
              </a:lnSpc>
              <a:spcBef>
                <a:spcPts val="0"/>
              </a:spcBef>
              <a:spcAft>
                <a:spcPts val="0"/>
              </a:spcAft>
            </a:pPr>
            <a:r>
              <a:rPr sz="2200" b="1" i="0" u="none">
                <a:solidFill>
                  <a:srgbClr val="FFFFFF"/>
                </a:solidFill>
                <a:latin typeface="Segoe UI"/>
                <a:ea typeface="Microsoft YaHei"/>
                <a:cs typeface="Segoe UI"/>
              </a:rPr>
              <a:t>P</a:t>
            </a:r>
          </a:p>
        </p:txBody>
      </p:sp>
      <p:sp>
        <p:nvSpPr>
          <p:cNvPr id="11" name="TextBox 10"/>
          <p:cNvSpPr txBox="1"/>
          <p:nvPr/>
        </p:nvSpPr>
        <p:spPr>
          <a:xfrm>
            <a:off x="1627632" y="2011680"/>
            <a:ext cx="2011680" cy="41148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0E5362"/>
                </a:solidFill>
                <a:latin typeface="Segoe UI"/>
                <a:ea typeface="Microsoft YaHei"/>
                <a:cs typeface="Segoe UI"/>
              </a:rPr>
              <a:t>Position</a:t>
            </a:r>
          </a:p>
        </p:txBody>
      </p:sp>
      <p:sp>
        <p:nvSpPr>
          <p:cNvPr id="12" name="TextBox 11"/>
          <p:cNvSpPr txBox="1"/>
          <p:nvPr/>
        </p:nvSpPr>
        <p:spPr>
          <a:xfrm>
            <a:off x="3730752" y="2020824"/>
            <a:ext cx="5461711" cy="41148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我站哪边</a:t>
            </a:r>
          </a:p>
        </p:txBody>
      </p:sp>
      <p:sp>
        <p:nvSpPr>
          <p:cNvPr id="13" name="TextBox 12"/>
          <p:cNvSpPr txBox="1"/>
          <p:nvPr/>
        </p:nvSpPr>
        <p:spPr>
          <a:xfrm>
            <a:off x="9375343" y="2020824"/>
            <a:ext cx="2011680" cy="41148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圈出那一句</a:t>
            </a:r>
          </a:p>
        </p:txBody>
      </p:sp>
      <p:sp>
        <p:nvSpPr>
          <p:cNvPr id="14" name="Rounded Rectangle 13"/>
          <p:cNvSpPr/>
          <p:nvPr/>
        </p:nvSpPr>
        <p:spPr>
          <a:xfrm>
            <a:off x="621792" y="2670048"/>
            <a:ext cx="10948111" cy="786384"/>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621792" y="2670048"/>
            <a:ext cx="786384" cy="786384"/>
          </a:xfrm>
          <a:prstGeom prst="roundRect">
            <a:avLst>
              <a:gd name="adj" fmla="val 6000"/>
            </a:avLst>
          </a:prstGeom>
          <a:solidFill>
            <a:srgbClr val="2A7E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21792" y="2871216"/>
            <a:ext cx="786384" cy="411480"/>
          </a:xfrm>
          <a:prstGeom prst="rect">
            <a:avLst/>
          </a:prstGeom>
          <a:noFill/>
        </p:spPr>
        <p:txBody>
          <a:bodyPr wrap="square" lIns="0" rIns="0" tIns="0" bIns="0" anchor="t">
            <a:spAutoFit/>
          </a:bodyPr>
          <a:lstStyle/>
          <a:p>
            <a:pPr algn="ctr">
              <a:lnSpc>
                <a:spcPct val="116000"/>
              </a:lnSpc>
              <a:spcBef>
                <a:spcPts val="0"/>
              </a:spcBef>
              <a:spcAft>
                <a:spcPts val="0"/>
              </a:spcAft>
            </a:pPr>
            <a:r>
              <a:rPr sz="2200" b="1" i="0" u="none">
                <a:solidFill>
                  <a:srgbClr val="FFFFFF"/>
                </a:solidFill>
                <a:latin typeface="Segoe UI"/>
                <a:ea typeface="Microsoft YaHei"/>
                <a:cs typeface="Segoe UI"/>
              </a:rPr>
              <a:t>R</a:t>
            </a:r>
          </a:p>
        </p:txBody>
      </p:sp>
      <p:sp>
        <p:nvSpPr>
          <p:cNvPr id="17" name="TextBox 16"/>
          <p:cNvSpPr txBox="1"/>
          <p:nvPr/>
        </p:nvSpPr>
        <p:spPr>
          <a:xfrm>
            <a:off x="1627632" y="2889504"/>
            <a:ext cx="2011680" cy="41148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2A7E8E"/>
                </a:solidFill>
                <a:latin typeface="Segoe UI"/>
                <a:ea typeface="Microsoft YaHei"/>
                <a:cs typeface="Segoe UI"/>
              </a:rPr>
              <a:t>Reason</a:t>
            </a:r>
          </a:p>
        </p:txBody>
      </p:sp>
      <p:sp>
        <p:nvSpPr>
          <p:cNvPr id="18" name="TextBox 17"/>
          <p:cNvSpPr txBox="1"/>
          <p:nvPr/>
        </p:nvSpPr>
        <p:spPr>
          <a:xfrm>
            <a:off x="3730752" y="2898648"/>
            <a:ext cx="5461711" cy="41148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为什么这么认为</a:t>
            </a:r>
          </a:p>
        </p:txBody>
      </p:sp>
      <p:sp>
        <p:nvSpPr>
          <p:cNvPr id="19" name="TextBox 18"/>
          <p:cNvSpPr txBox="1"/>
          <p:nvPr/>
        </p:nvSpPr>
        <p:spPr>
          <a:xfrm>
            <a:off x="9375343" y="2898648"/>
            <a:ext cx="2011680" cy="41148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画横线</a:t>
            </a:r>
          </a:p>
        </p:txBody>
      </p:sp>
      <p:sp>
        <p:nvSpPr>
          <p:cNvPr id="20" name="Rounded Rectangle 19"/>
          <p:cNvSpPr/>
          <p:nvPr/>
        </p:nvSpPr>
        <p:spPr>
          <a:xfrm>
            <a:off x="621792" y="3547872"/>
            <a:ext cx="10948111" cy="786384"/>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621792" y="3547872"/>
            <a:ext cx="786384" cy="786384"/>
          </a:xfrm>
          <a:prstGeom prst="roundRect">
            <a:avLst>
              <a:gd name="adj" fmla="val 6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21792" y="3749039"/>
            <a:ext cx="786384" cy="411480"/>
          </a:xfrm>
          <a:prstGeom prst="rect">
            <a:avLst/>
          </a:prstGeom>
          <a:noFill/>
        </p:spPr>
        <p:txBody>
          <a:bodyPr wrap="square" lIns="0" rIns="0" tIns="0" bIns="0" anchor="t">
            <a:spAutoFit/>
          </a:bodyPr>
          <a:lstStyle/>
          <a:p>
            <a:pPr algn="ctr">
              <a:lnSpc>
                <a:spcPct val="116000"/>
              </a:lnSpc>
              <a:spcBef>
                <a:spcPts val="0"/>
              </a:spcBef>
              <a:spcAft>
                <a:spcPts val="0"/>
              </a:spcAft>
            </a:pPr>
            <a:r>
              <a:rPr sz="2200" b="1" i="0" u="none">
                <a:solidFill>
                  <a:srgbClr val="FFFFFF"/>
                </a:solidFill>
                <a:latin typeface="Segoe UI"/>
                <a:ea typeface="Microsoft YaHei"/>
                <a:cs typeface="Segoe UI"/>
              </a:rPr>
              <a:t>W</a:t>
            </a:r>
          </a:p>
        </p:txBody>
      </p:sp>
      <p:sp>
        <p:nvSpPr>
          <p:cNvPr id="23" name="TextBox 22"/>
          <p:cNvSpPr txBox="1"/>
          <p:nvPr/>
        </p:nvSpPr>
        <p:spPr>
          <a:xfrm>
            <a:off x="1627632" y="3767328"/>
            <a:ext cx="2011680" cy="41148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C95527"/>
                </a:solidFill>
                <a:latin typeface="Segoe UI"/>
                <a:ea typeface="Microsoft YaHei"/>
                <a:cs typeface="Segoe UI"/>
              </a:rPr>
              <a:t>Why</a:t>
            </a:r>
          </a:p>
        </p:txBody>
      </p:sp>
      <p:sp>
        <p:nvSpPr>
          <p:cNvPr id="24" name="TextBox 23"/>
          <p:cNvSpPr txBox="1"/>
          <p:nvPr/>
        </p:nvSpPr>
        <p:spPr>
          <a:xfrm>
            <a:off x="3730752" y="3776472"/>
            <a:ext cx="5461711" cy="41148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为什么这个理由成立 / 它是怎么发生的</a:t>
            </a:r>
          </a:p>
        </p:txBody>
      </p:sp>
      <p:sp>
        <p:nvSpPr>
          <p:cNvPr id="25" name="TextBox 24"/>
          <p:cNvSpPr txBox="1"/>
          <p:nvPr/>
        </p:nvSpPr>
        <p:spPr>
          <a:xfrm>
            <a:off x="9375343" y="3776472"/>
            <a:ext cx="2011680" cy="41148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画波浪线</a:t>
            </a:r>
          </a:p>
        </p:txBody>
      </p:sp>
      <p:sp>
        <p:nvSpPr>
          <p:cNvPr id="26" name="Rounded Rectangle 25"/>
          <p:cNvSpPr/>
          <p:nvPr/>
        </p:nvSpPr>
        <p:spPr>
          <a:xfrm>
            <a:off x="621792" y="4425696"/>
            <a:ext cx="10948111" cy="786384"/>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621792" y="4425696"/>
            <a:ext cx="786384" cy="786384"/>
          </a:xfrm>
          <a:prstGeom prst="roundRect">
            <a:avLst>
              <a:gd name="adj" fmla="val 6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21792" y="4626864"/>
            <a:ext cx="786384" cy="411480"/>
          </a:xfrm>
          <a:prstGeom prst="rect">
            <a:avLst/>
          </a:prstGeom>
          <a:noFill/>
        </p:spPr>
        <p:txBody>
          <a:bodyPr wrap="square" lIns="0" rIns="0" tIns="0" bIns="0" anchor="t">
            <a:spAutoFit/>
          </a:bodyPr>
          <a:lstStyle/>
          <a:p>
            <a:pPr algn="ctr">
              <a:lnSpc>
                <a:spcPct val="116000"/>
              </a:lnSpc>
              <a:spcBef>
                <a:spcPts val="0"/>
              </a:spcBef>
              <a:spcAft>
                <a:spcPts val="0"/>
              </a:spcAft>
            </a:pPr>
            <a:r>
              <a:rPr sz="2200" b="1" i="0" u="none">
                <a:solidFill>
                  <a:srgbClr val="FFFFFF"/>
                </a:solidFill>
                <a:latin typeface="Segoe UI"/>
                <a:ea typeface="Microsoft YaHei"/>
                <a:cs typeface="Segoe UI"/>
              </a:rPr>
              <a:t>Ex</a:t>
            </a:r>
          </a:p>
        </p:txBody>
      </p:sp>
      <p:sp>
        <p:nvSpPr>
          <p:cNvPr id="29" name="TextBox 28"/>
          <p:cNvSpPr txBox="1"/>
          <p:nvPr/>
        </p:nvSpPr>
        <p:spPr>
          <a:xfrm>
            <a:off x="1627632" y="4645152"/>
            <a:ext cx="2011680" cy="41148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C95527"/>
                </a:solidFill>
                <a:latin typeface="Segoe UI"/>
                <a:ea typeface="Microsoft YaHei"/>
                <a:cs typeface="Segoe UI"/>
              </a:rPr>
              <a:t>Example</a:t>
            </a:r>
          </a:p>
        </p:txBody>
      </p:sp>
      <p:sp>
        <p:nvSpPr>
          <p:cNvPr id="30" name="TextBox 29"/>
          <p:cNvSpPr txBox="1"/>
          <p:nvPr/>
        </p:nvSpPr>
        <p:spPr>
          <a:xfrm>
            <a:off x="3730752" y="4654296"/>
            <a:ext cx="5461711" cy="41148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谁 + 做什么 + 结果</a:t>
            </a:r>
          </a:p>
        </p:txBody>
      </p:sp>
      <p:sp>
        <p:nvSpPr>
          <p:cNvPr id="31" name="TextBox 30"/>
          <p:cNvSpPr txBox="1"/>
          <p:nvPr/>
        </p:nvSpPr>
        <p:spPr>
          <a:xfrm>
            <a:off x="9375343" y="4654296"/>
            <a:ext cx="2011680" cy="41148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打方框</a:t>
            </a:r>
          </a:p>
        </p:txBody>
      </p:sp>
      <p:sp>
        <p:nvSpPr>
          <p:cNvPr id="32" name="Rounded Rectangle 31"/>
          <p:cNvSpPr/>
          <p:nvPr/>
        </p:nvSpPr>
        <p:spPr>
          <a:xfrm>
            <a:off x="621792" y="5303520"/>
            <a:ext cx="10948111" cy="786384"/>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ounded Rectangle 32"/>
          <p:cNvSpPr/>
          <p:nvPr/>
        </p:nvSpPr>
        <p:spPr>
          <a:xfrm>
            <a:off x="621792" y="5303520"/>
            <a:ext cx="786384" cy="786384"/>
          </a:xfrm>
          <a:prstGeom prst="roundRect">
            <a:avLst>
              <a:gd name="adj" fmla="val 6000"/>
            </a:avLst>
          </a:prstGeom>
          <a:solidFill>
            <a:srgbClr val="B083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21792" y="5504688"/>
            <a:ext cx="786384" cy="411480"/>
          </a:xfrm>
          <a:prstGeom prst="rect">
            <a:avLst/>
          </a:prstGeom>
          <a:noFill/>
        </p:spPr>
        <p:txBody>
          <a:bodyPr wrap="square" lIns="0" rIns="0" tIns="0" bIns="0" anchor="t">
            <a:spAutoFit/>
          </a:bodyPr>
          <a:lstStyle/>
          <a:p>
            <a:pPr algn="ctr">
              <a:lnSpc>
                <a:spcPct val="116000"/>
              </a:lnSpc>
              <a:spcBef>
                <a:spcPts val="0"/>
              </a:spcBef>
              <a:spcAft>
                <a:spcPts val="0"/>
              </a:spcAft>
            </a:pPr>
            <a:r>
              <a:rPr sz="2200" b="1" i="0" u="none">
                <a:solidFill>
                  <a:srgbClr val="FFFFFF"/>
                </a:solidFill>
                <a:latin typeface="Segoe UI"/>
                <a:ea typeface="Microsoft YaHei"/>
                <a:cs typeface="Segoe UI"/>
              </a:rPr>
              <a:t>C</a:t>
            </a:r>
          </a:p>
        </p:txBody>
      </p:sp>
      <p:sp>
        <p:nvSpPr>
          <p:cNvPr id="35" name="TextBox 34"/>
          <p:cNvSpPr txBox="1"/>
          <p:nvPr/>
        </p:nvSpPr>
        <p:spPr>
          <a:xfrm>
            <a:off x="1627632" y="5522976"/>
            <a:ext cx="2011680" cy="41148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B08300"/>
                </a:solidFill>
                <a:latin typeface="Segoe UI"/>
                <a:ea typeface="Microsoft YaHei"/>
                <a:cs typeface="Segoe UI"/>
              </a:rPr>
              <a:t>Contribution</a:t>
            </a:r>
          </a:p>
        </p:txBody>
      </p:sp>
      <p:sp>
        <p:nvSpPr>
          <p:cNvPr id="36" name="TextBox 35"/>
          <p:cNvSpPr txBox="1"/>
          <p:nvPr/>
        </p:nvSpPr>
        <p:spPr>
          <a:xfrm>
            <a:off x="3730752" y="5532120"/>
            <a:ext cx="5461711" cy="41148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对同学的观点加了什么新信息</a:t>
            </a:r>
          </a:p>
        </p:txBody>
      </p:sp>
      <p:sp>
        <p:nvSpPr>
          <p:cNvPr id="37" name="TextBox 36"/>
          <p:cNvSpPr txBox="1"/>
          <p:nvPr/>
        </p:nvSpPr>
        <p:spPr>
          <a:xfrm>
            <a:off x="9375343" y="5532120"/>
            <a:ext cx="2011680" cy="41148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标星号</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3 · 3/4/5 分</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29</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WHAT THE SCORE LOOKS AT</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官方到底在看什么</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645920"/>
            <a:ext cx="10948111" cy="1298448"/>
          </a:xfrm>
          <a:prstGeom prst="roundRect">
            <a:avLst>
              <a:gd name="adj" fmla="val 6000"/>
            </a:avLst>
          </a:prstGeom>
          <a:solidFill>
            <a:srgbClr val="FFFFFF"/>
          </a:solidFill>
          <a:ln w="20320">
            <a:solidFill>
              <a:srgbClr val="0E536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828800"/>
            <a:ext cx="10170871" cy="1005840"/>
          </a:xfrm>
          <a:prstGeom prst="rect">
            <a:avLst/>
          </a:prstGeom>
          <a:noFill/>
        </p:spPr>
        <p:txBody>
          <a:bodyPr wrap="square" lIns="0" rIns="0" tIns="0" bIns="0" anchor="t">
            <a:spAutoFit/>
          </a:bodyPr>
          <a:lstStyle/>
          <a:p>
            <a:pPr algn="l">
              <a:lnSpc>
                <a:spcPct val="116000"/>
              </a:lnSpc>
              <a:spcBef>
                <a:spcPts val="0"/>
              </a:spcBef>
              <a:spcAft>
                <a:spcPts val="600"/>
              </a:spcAft>
            </a:pPr>
            <a:r>
              <a:rPr sz="1900" b="1" i="0" u="none">
                <a:solidFill>
                  <a:srgbClr val="0E5362"/>
                </a:solidFill>
                <a:latin typeface="Segoe UI"/>
                <a:ea typeface="Microsoft YaHei"/>
                <a:cs typeface="Segoe UI"/>
              </a:rPr>
              <a:t>“A well-developed response will contain clearly appropriate reasons, examples, and details — ones that do a good job supporting or illustrating your own viewpoint.”</a:t>
            </a:r>
          </a:p>
          <a:p>
            <a:pPr algn="l">
              <a:lnSpc>
                <a:spcPct val="116000"/>
              </a:lnSpc>
              <a:spcBef>
                <a:spcPts val="0"/>
              </a:spcBef>
              <a:spcAft>
                <a:spcPts val="0"/>
              </a:spcAft>
            </a:pPr>
            <a:r>
              <a:rPr sz="1900" b="0" i="0" u="none">
                <a:solidFill>
                  <a:srgbClr val="627378"/>
                </a:solidFill>
                <a:latin typeface="Segoe UI"/>
                <a:ea typeface="Microsoft YaHei"/>
                <a:cs typeface="Segoe UI"/>
              </a:rPr>
              <a:t>— ETS, TOEFL iBT Writing Practice Set 2 · Response Tips</a:t>
            </a:r>
          </a:p>
        </p:txBody>
      </p:sp>
      <p:sp>
        <p:nvSpPr>
          <p:cNvPr id="10" name="Rounded Rectangle 9"/>
          <p:cNvSpPr/>
          <p:nvPr/>
        </p:nvSpPr>
        <p:spPr>
          <a:xfrm>
            <a:off x="621792" y="3108960"/>
            <a:ext cx="10948111" cy="749808"/>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21792" y="3108960"/>
            <a:ext cx="54864" cy="749808"/>
          </a:xfrm>
          <a:prstGeom prst="rect">
            <a:avLst/>
          </a:prstGeom>
          <a:solidFill>
            <a:srgbClr val="0E53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32688" y="3291840"/>
            <a:ext cx="4023360" cy="41148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0E5362"/>
                </a:solidFill>
                <a:latin typeface="Segoe UI"/>
                <a:ea typeface="Microsoft YaHei"/>
                <a:cs typeface="Segoe UI"/>
              </a:rPr>
              <a:t>① 有没有自己的观点</a:t>
            </a:r>
          </a:p>
        </p:txBody>
      </p:sp>
      <p:sp>
        <p:nvSpPr>
          <p:cNvPr id="13" name="TextBox 12"/>
          <p:cNvSpPr txBox="1"/>
          <p:nvPr/>
        </p:nvSpPr>
        <p:spPr>
          <a:xfrm>
            <a:off x="5148072" y="3291840"/>
            <a:ext cx="6101791" cy="41148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而且是能被支持的观点，不是常识</a:t>
            </a:r>
          </a:p>
        </p:txBody>
      </p:sp>
      <p:sp>
        <p:nvSpPr>
          <p:cNvPr id="14" name="Rounded Rectangle 13"/>
          <p:cNvSpPr/>
          <p:nvPr/>
        </p:nvSpPr>
        <p:spPr>
          <a:xfrm>
            <a:off x="621792" y="3950208"/>
            <a:ext cx="10948111" cy="749808"/>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621792" y="3950208"/>
            <a:ext cx="54864" cy="749808"/>
          </a:xfrm>
          <a:prstGeom prst="rect">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932688" y="4133088"/>
            <a:ext cx="4023360" cy="41148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C95527"/>
                </a:solidFill>
                <a:latin typeface="Segoe UI"/>
                <a:ea typeface="Microsoft YaHei"/>
                <a:cs typeface="Segoe UI"/>
              </a:rPr>
              <a:t>② 有没有真正的展开</a:t>
            </a:r>
          </a:p>
        </p:txBody>
      </p:sp>
      <p:sp>
        <p:nvSpPr>
          <p:cNvPr id="17" name="TextBox 16"/>
          <p:cNvSpPr txBox="1"/>
          <p:nvPr/>
        </p:nvSpPr>
        <p:spPr>
          <a:xfrm>
            <a:off x="5148072" y="4133088"/>
            <a:ext cx="6101791" cy="41148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reasons / examples / details 三样都要有</a:t>
            </a:r>
          </a:p>
        </p:txBody>
      </p:sp>
      <p:sp>
        <p:nvSpPr>
          <p:cNvPr id="18" name="Rounded Rectangle 17"/>
          <p:cNvSpPr/>
          <p:nvPr/>
        </p:nvSpPr>
        <p:spPr>
          <a:xfrm>
            <a:off x="621792" y="4791456"/>
            <a:ext cx="10948111" cy="749808"/>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21792" y="4791456"/>
            <a:ext cx="54864" cy="749808"/>
          </a:xfrm>
          <a:prstGeom prst="rect">
            <a:avLst/>
          </a:prstGeom>
          <a:solidFill>
            <a:srgbClr val="B083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932688" y="4974336"/>
            <a:ext cx="4023360" cy="41148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B08300"/>
                </a:solidFill>
                <a:latin typeface="Segoe UI"/>
                <a:ea typeface="Microsoft YaHei"/>
                <a:cs typeface="Segoe UI"/>
              </a:rPr>
              <a:t>③ 有没有对讨论的贡献</a:t>
            </a:r>
          </a:p>
        </p:txBody>
      </p:sp>
      <p:sp>
        <p:nvSpPr>
          <p:cNvPr id="21" name="TextBox 20"/>
          <p:cNvSpPr txBox="1"/>
          <p:nvPr/>
        </p:nvSpPr>
        <p:spPr>
          <a:xfrm>
            <a:off x="5148072" y="4974336"/>
            <a:ext cx="6101791" cy="41148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不是重复别人说过的话</a:t>
            </a:r>
          </a:p>
        </p:txBody>
      </p:sp>
      <p:sp>
        <p:nvSpPr>
          <p:cNvPr id="22" name="Rounded Rectangle 21"/>
          <p:cNvSpPr/>
          <p:nvPr/>
        </p:nvSpPr>
        <p:spPr>
          <a:xfrm>
            <a:off x="621792" y="5632704"/>
            <a:ext cx="10948111" cy="749808"/>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621792" y="5632704"/>
            <a:ext cx="54864" cy="749808"/>
          </a:xfrm>
          <a:prstGeom prst="rect">
            <a:avLst/>
          </a:prstGeom>
          <a:solidFill>
            <a:srgbClr val="2E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32688" y="5815584"/>
            <a:ext cx="4023360" cy="41148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2E6B4F"/>
                </a:solidFill>
                <a:latin typeface="Segoe UI"/>
                <a:ea typeface="Microsoft YaHei"/>
                <a:cs typeface="Segoe UI"/>
              </a:rPr>
              <a:t>④ 句子和词准不准</a:t>
            </a:r>
          </a:p>
        </p:txBody>
      </p:sp>
      <p:sp>
        <p:nvSpPr>
          <p:cNvPr id="25" name="TextBox 24"/>
          <p:cNvSpPr txBox="1"/>
          <p:nvPr/>
        </p:nvSpPr>
        <p:spPr>
          <a:xfrm>
            <a:off x="5148072" y="5815584"/>
            <a:ext cx="6101791" cy="41148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官方原文：语言的质量与准确度同样计入分数</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3 · 3/4/5 分</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30</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SAMPLE · 先不给分数</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Response A</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700784"/>
            <a:ext cx="10948111" cy="4041648"/>
          </a:xfrm>
          <a:prstGeom prst="roundRect">
            <a:avLst>
              <a:gd name="adj" fmla="val 6000"/>
            </a:avLst>
          </a:prstGeom>
          <a:solidFill>
            <a:srgbClr val="FFFFFF"/>
          </a:solidFill>
          <a:ln w="20320">
            <a:solidFill>
              <a:srgbClr val="0E536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33272" y="1975104"/>
            <a:ext cx="10125151" cy="3858768"/>
          </a:xfrm>
          <a:prstGeom prst="rect">
            <a:avLst/>
          </a:prstGeom>
          <a:noFill/>
        </p:spPr>
        <p:txBody>
          <a:bodyPr wrap="square" lIns="0" rIns="0" tIns="0" bIns="0" anchor="t">
            <a:spAutoFit/>
          </a:bodyPr>
          <a:lstStyle/>
          <a:p>
            <a:pPr algn="l">
              <a:lnSpc>
                <a:spcPct val="124000"/>
              </a:lnSpc>
              <a:spcBef>
                <a:spcPts val="0"/>
              </a:spcBef>
              <a:spcAft>
                <a:spcPts val="1000"/>
              </a:spcAft>
            </a:pPr>
            <a:r>
              <a:rPr sz="2200" b="0" i="0" u="none">
                <a:solidFill>
                  <a:srgbClr val="172A31"/>
                </a:solidFill>
                <a:latin typeface="Segoe UI"/>
                <a:ea typeface="Microsoft YaHei"/>
                <a:cs typeface="Segoe UI"/>
              </a:rPr>
              <a:t>I agree with Kelly. I think education is more important for social mobility. Education is very useful for people. When people study in school, they can learn many things, and it can help them find a good job. A good job can make their life better. Andrew says personal connections are important, but I think education is more important. Not everyone can know important people, but everyone can go to school. So I think education is the key to social mobility because it is good for people's future.</a:t>
            </a:r>
          </a:p>
        </p:txBody>
      </p:sp>
      <p:sp>
        <p:nvSpPr>
          <p:cNvPr id="10" name="TextBox 9"/>
          <p:cNvSpPr txBox="1"/>
          <p:nvPr/>
        </p:nvSpPr>
        <p:spPr>
          <a:xfrm>
            <a:off x="621792" y="5888736"/>
            <a:ext cx="1094811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Teacher-created sample based on ETS rubric｜依据 ETS 评分标准编写的教学模拟范文</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3 · 3/4/5 分</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31</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TASK · 学生输出</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B08300"/>
                </a:solidFill>
                <a:latin typeface="Segoe UI"/>
                <a:ea typeface="Microsoft YaHei"/>
                <a:cs typeface="Segoe UI"/>
              </a:rPr>
              <a:t>Response A · 你来圈，你来打分</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673352"/>
            <a:ext cx="10948111" cy="658368"/>
          </a:xfrm>
          <a:prstGeom prst="roundRect">
            <a:avLst>
              <a:gd name="adj" fmla="val 6000"/>
            </a:avLst>
          </a:prstGeom>
          <a:solidFill>
            <a:srgbClr val="FAF2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32688" y="1828800"/>
            <a:ext cx="10308031" cy="45720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B08300"/>
                </a:solidFill>
                <a:latin typeface="Segoe UI"/>
                <a:ea typeface="Microsoft YaHei"/>
                <a:cs typeface="Segoe UI"/>
              </a:rPr>
              <a:t>在讲义上圈出五要素，找不到就写「无」。然后写一个分数。</a:t>
            </a:r>
          </a:p>
        </p:txBody>
      </p:sp>
      <p:sp>
        <p:nvSpPr>
          <p:cNvPr id="10" name="Rounded Rectangle 9"/>
          <p:cNvSpPr/>
          <p:nvPr/>
        </p:nvSpPr>
        <p:spPr>
          <a:xfrm>
            <a:off x="621792" y="2542032"/>
            <a:ext cx="6787828" cy="566928"/>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21792" y="2542032"/>
            <a:ext cx="658368" cy="566928"/>
          </a:xfrm>
          <a:prstGeom prst="roundRect">
            <a:avLst>
              <a:gd name="adj" fmla="val 6000"/>
            </a:avLst>
          </a:prstGeom>
          <a:solidFill>
            <a:srgbClr val="0E53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21792" y="2651760"/>
            <a:ext cx="658368" cy="365760"/>
          </a:xfrm>
          <a:prstGeom prst="rect">
            <a:avLst/>
          </a:prstGeom>
          <a:noFill/>
        </p:spPr>
        <p:txBody>
          <a:bodyPr wrap="square" lIns="0" rIns="0" tIns="0" bIns="0" anchor="t">
            <a:spAutoFit/>
          </a:bodyPr>
          <a:lstStyle/>
          <a:p>
            <a:pPr algn="ctr">
              <a:lnSpc>
                <a:spcPct val="116000"/>
              </a:lnSpc>
              <a:spcBef>
                <a:spcPts val="0"/>
              </a:spcBef>
              <a:spcAft>
                <a:spcPts val="0"/>
              </a:spcAft>
            </a:pPr>
            <a:r>
              <a:rPr sz="1900" b="1" i="0" u="none">
                <a:solidFill>
                  <a:srgbClr val="FFFFFF"/>
                </a:solidFill>
                <a:latin typeface="Segoe UI"/>
                <a:ea typeface="Microsoft YaHei"/>
                <a:cs typeface="Segoe UI"/>
              </a:rPr>
              <a:t>P</a:t>
            </a:r>
          </a:p>
        </p:txBody>
      </p:sp>
      <p:sp>
        <p:nvSpPr>
          <p:cNvPr id="13" name="TextBox 12"/>
          <p:cNvSpPr txBox="1"/>
          <p:nvPr/>
        </p:nvSpPr>
        <p:spPr>
          <a:xfrm>
            <a:off x="1463040" y="2660904"/>
            <a:ext cx="2377440"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0E5362"/>
                </a:solidFill>
                <a:latin typeface="Segoe UI"/>
                <a:ea typeface="Microsoft YaHei"/>
                <a:cs typeface="Segoe UI"/>
              </a:rPr>
              <a:t>Position 立场</a:t>
            </a:r>
          </a:p>
        </p:txBody>
      </p:sp>
      <p:cxnSp>
        <p:nvCxnSpPr>
          <p:cNvPr id="14" name="Connector 13"/>
          <p:cNvCxnSpPr/>
          <p:nvPr/>
        </p:nvCxnSpPr>
        <p:spPr>
          <a:xfrm>
            <a:off x="4005072" y="2962656"/>
            <a:ext cx="3203380"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21792" y="3200400"/>
            <a:ext cx="6787828" cy="566928"/>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621792" y="3200400"/>
            <a:ext cx="658368" cy="566928"/>
          </a:xfrm>
          <a:prstGeom prst="roundRect">
            <a:avLst>
              <a:gd name="adj" fmla="val 6000"/>
            </a:avLst>
          </a:prstGeom>
          <a:solidFill>
            <a:srgbClr val="2A7E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21792" y="3310128"/>
            <a:ext cx="658368" cy="365760"/>
          </a:xfrm>
          <a:prstGeom prst="rect">
            <a:avLst/>
          </a:prstGeom>
          <a:noFill/>
        </p:spPr>
        <p:txBody>
          <a:bodyPr wrap="square" lIns="0" rIns="0" tIns="0" bIns="0" anchor="t">
            <a:spAutoFit/>
          </a:bodyPr>
          <a:lstStyle/>
          <a:p>
            <a:pPr algn="ctr">
              <a:lnSpc>
                <a:spcPct val="116000"/>
              </a:lnSpc>
              <a:spcBef>
                <a:spcPts val="0"/>
              </a:spcBef>
              <a:spcAft>
                <a:spcPts val="0"/>
              </a:spcAft>
            </a:pPr>
            <a:r>
              <a:rPr sz="1900" b="1" i="0" u="none">
                <a:solidFill>
                  <a:srgbClr val="FFFFFF"/>
                </a:solidFill>
                <a:latin typeface="Segoe UI"/>
                <a:ea typeface="Microsoft YaHei"/>
                <a:cs typeface="Segoe UI"/>
              </a:rPr>
              <a:t>R</a:t>
            </a:r>
          </a:p>
        </p:txBody>
      </p:sp>
      <p:sp>
        <p:nvSpPr>
          <p:cNvPr id="18" name="TextBox 17"/>
          <p:cNvSpPr txBox="1"/>
          <p:nvPr/>
        </p:nvSpPr>
        <p:spPr>
          <a:xfrm>
            <a:off x="1463040" y="3319272"/>
            <a:ext cx="2377440"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2A7E8E"/>
                </a:solidFill>
                <a:latin typeface="Segoe UI"/>
                <a:ea typeface="Microsoft YaHei"/>
                <a:cs typeface="Segoe UI"/>
              </a:rPr>
              <a:t>Reason 理由</a:t>
            </a:r>
          </a:p>
        </p:txBody>
      </p:sp>
      <p:cxnSp>
        <p:nvCxnSpPr>
          <p:cNvPr id="19" name="Connector 18"/>
          <p:cNvCxnSpPr/>
          <p:nvPr/>
        </p:nvCxnSpPr>
        <p:spPr>
          <a:xfrm>
            <a:off x="4005072" y="3621024"/>
            <a:ext cx="3203380"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1792" y="3858768"/>
            <a:ext cx="6787828" cy="566928"/>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621792" y="3858768"/>
            <a:ext cx="658368" cy="566928"/>
          </a:xfrm>
          <a:prstGeom prst="roundRect">
            <a:avLst>
              <a:gd name="adj" fmla="val 6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21792" y="3968496"/>
            <a:ext cx="658368" cy="365760"/>
          </a:xfrm>
          <a:prstGeom prst="rect">
            <a:avLst/>
          </a:prstGeom>
          <a:noFill/>
        </p:spPr>
        <p:txBody>
          <a:bodyPr wrap="square" lIns="0" rIns="0" tIns="0" bIns="0" anchor="t">
            <a:spAutoFit/>
          </a:bodyPr>
          <a:lstStyle/>
          <a:p>
            <a:pPr algn="ctr">
              <a:lnSpc>
                <a:spcPct val="116000"/>
              </a:lnSpc>
              <a:spcBef>
                <a:spcPts val="0"/>
              </a:spcBef>
              <a:spcAft>
                <a:spcPts val="0"/>
              </a:spcAft>
            </a:pPr>
            <a:r>
              <a:rPr sz="1900" b="1" i="0" u="none">
                <a:solidFill>
                  <a:srgbClr val="FFFFFF"/>
                </a:solidFill>
                <a:latin typeface="Segoe UI"/>
                <a:ea typeface="Microsoft YaHei"/>
                <a:cs typeface="Segoe UI"/>
              </a:rPr>
              <a:t>W</a:t>
            </a:r>
          </a:p>
        </p:txBody>
      </p:sp>
      <p:sp>
        <p:nvSpPr>
          <p:cNvPr id="23" name="TextBox 22"/>
          <p:cNvSpPr txBox="1"/>
          <p:nvPr/>
        </p:nvSpPr>
        <p:spPr>
          <a:xfrm>
            <a:off x="1463040" y="3977639"/>
            <a:ext cx="2377440"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Why 解释</a:t>
            </a:r>
          </a:p>
        </p:txBody>
      </p:sp>
      <p:cxnSp>
        <p:nvCxnSpPr>
          <p:cNvPr id="24" name="Connector 23"/>
          <p:cNvCxnSpPr/>
          <p:nvPr/>
        </p:nvCxnSpPr>
        <p:spPr>
          <a:xfrm>
            <a:off x="4005072" y="4279392"/>
            <a:ext cx="3203380"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21792" y="4517136"/>
            <a:ext cx="6787828" cy="566928"/>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621792" y="4517136"/>
            <a:ext cx="658368" cy="566928"/>
          </a:xfrm>
          <a:prstGeom prst="roundRect">
            <a:avLst>
              <a:gd name="adj" fmla="val 6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21792" y="4626864"/>
            <a:ext cx="658368" cy="365760"/>
          </a:xfrm>
          <a:prstGeom prst="rect">
            <a:avLst/>
          </a:prstGeom>
          <a:noFill/>
        </p:spPr>
        <p:txBody>
          <a:bodyPr wrap="square" lIns="0" rIns="0" tIns="0" bIns="0" anchor="t">
            <a:spAutoFit/>
          </a:bodyPr>
          <a:lstStyle/>
          <a:p>
            <a:pPr algn="ctr">
              <a:lnSpc>
                <a:spcPct val="116000"/>
              </a:lnSpc>
              <a:spcBef>
                <a:spcPts val="0"/>
              </a:spcBef>
              <a:spcAft>
                <a:spcPts val="0"/>
              </a:spcAft>
            </a:pPr>
            <a:r>
              <a:rPr sz="1900" b="1" i="0" u="none">
                <a:solidFill>
                  <a:srgbClr val="FFFFFF"/>
                </a:solidFill>
                <a:latin typeface="Segoe UI"/>
                <a:ea typeface="Microsoft YaHei"/>
                <a:cs typeface="Segoe UI"/>
              </a:rPr>
              <a:t>Ex</a:t>
            </a:r>
          </a:p>
        </p:txBody>
      </p:sp>
      <p:sp>
        <p:nvSpPr>
          <p:cNvPr id="28" name="TextBox 27"/>
          <p:cNvSpPr txBox="1"/>
          <p:nvPr/>
        </p:nvSpPr>
        <p:spPr>
          <a:xfrm>
            <a:off x="1463040" y="4636007"/>
            <a:ext cx="2377440"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Example 例子</a:t>
            </a:r>
          </a:p>
        </p:txBody>
      </p:sp>
      <p:cxnSp>
        <p:nvCxnSpPr>
          <p:cNvPr id="29" name="Connector 28"/>
          <p:cNvCxnSpPr/>
          <p:nvPr/>
        </p:nvCxnSpPr>
        <p:spPr>
          <a:xfrm>
            <a:off x="4005072" y="4937759"/>
            <a:ext cx="3203380"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621792" y="5175503"/>
            <a:ext cx="6787828" cy="566928"/>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a:off x="621792" y="5175503"/>
            <a:ext cx="658368" cy="566928"/>
          </a:xfrm>
          <a:prstGeom prst="roundRect">
            <a:avLst>
              <a:gd name="adj" fmla="val 6000"/>
            </a:avLst>
          </a:prstGeom>
          <a:solidFill>
            <a:srgbClr val="B083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21792" y="5285231"/>
            <a:ext cx="658368" cy="365760"/>
          </a:xfrm>
          <a:prstGeom prst="rect">
            <a:avLst/>
          </a:prstGeom>
          <a:noFill/>
        </p:spPr>
        <p:txBody>
          <a:bodyPr wrap="square" lIns="0" rIns="0" tIns="0" bIns="0" anchor="t">
            <a:spAutoFit/>
          </a:bodyPr>
          <a:lstStyle/>
          <a:p>
            <a:pPr algn="ctr">
              <a:lnSpc>
                <a:spcPct val="116000"/>
              </a:lnSpc>
              <a:spcBef>
                <a:spcPts val="0"/>
              </a:spcBef>
              <a:spcAft>
                <a:spcPts val="0"/>
              </a:spcAft>
            </a:pPr>
            <a:r>
              <a:rPr sz="1900" b="1" i="0" u="none">
                <a:solidFill>
                  <a:srgbClr val="FFFFFF"/>
                </a:solidFill>
                <a:latin typeface="Segoe UI"/>
                <a:ea typeface="Microsoft YaHei"/>
                <a:cs typeface="Segoe UI"/>
              </a:rPr>
              <a:t>C</a:t>
            </a:r>
          </a:p>
        </p:txBody>
      </p:sp>
      <p:sp>
        <p:nvSpPr>
          <p:cNvPr id="33" name="TextBox 32"/>
          <p:cNvSpPr txBox="1"/>
          <p:nvPr/>
        </p:nvSpPr>
        <p:spPr>
          <a:xfrm>
            <a:off x="1463040" y="5294375"/>
            <a:ext cx="2377440"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B08300"/>
                </a:solidFill>
                <a:latin typeface="Segoe UI"/>
                <a:ea typeface="Microsoft YaHei"/>
                <a:cs typeface="Segoe UI"/>
              </a:rPr>
              <a:t>Contribution 贡献</a:t>
            </a:r>
          </a:p>
        </p:txBody>
      </p:sp>
      <p:cxnSp>
        <p:nvCxnSpPr>
          <p:cNvPr id="34" name="Connector 33"/>
          <p:cNvCxnSpPr/>
          <p:nvPr/>
        </p:nvCxnSpPr>
        <p:spPr>
          <a:xfrm>
            <a:off x="4005072" y="5596127"/>
            <a:ext cx="3203380"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7847545" y="2542032"/>
            <a:ext cx="3722357" cy="1371600"/>
          </a:xfrm>
          <a:prstGeom prst="roundRect">
            <a:avLst>
              <a:gd name="adj" fmla="val 6000"/>
            </a:avLst>
          </a:prstGeom>
          <a:solidFill>
            <a:srgbClr val="FBEC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8121865" y="2743200"/>
            <a:ext cx="3173717" cy="457200"/>
          </a:xfrm>
          <a:prstGeom prst="rect">
            <a:avLst/>
          </a:prstGeom>
          <a:noFill/>
        </p:spPr>
        <p:txBody>
          <a:bodyPr wrap="square" lIns="0" rIns="0" tIns="0" bIns="0" anchor="t">
            <a:spAutoFit/>
          </a:bodyPr>
          <a:lstStyle/>
          <a:p>
            <a:pPr algn="l">
              <a:lnSpc>
                <a:spcPct val="116000"/>
              </a:lnSpc>
              <a:spcBef>
                <a:spcPts val="0"/>
              </a:spcBef>
              <a:spcAft>
                <a:spcPts val="600"/>
              </a:spcAft>
            </a:pPr>
            <a:r>
              <a:rPr sz="1900" b="1" i="0" u="none">
                <a:solidFill>
                  <a:srgbClr val="C95527"/>
                </a:solidFill>
                <a:latin typeface="Segoe UI"/>
                <a:ea typeface="Microsoft YaHei"/>
                <a:cs typeface="Segoe UI"/>
              </a:rPr>
              <a:t>我给这篇</a:t>
            </a:r>
          </a:p>
        </p:txBody>
      </p:sp>
      <p:sp>
        <p:nvSpPr>
          <p:cNvPr id="37" name="TextBox 36"/>
          <p:cNvSpPr txBox="1"/>
          <p:nvPr/>
        </p:nvSpPr>
        <p:spPr>
          <a:xfrm>
            <a:off x="8121865" y="3200400"/>
            <a:ext cx="3173717" cy="548640"/>
          </a:xfrm>
          <a:prstGeom prst="rect">
            <a:avLst/>
          </a:prstGeom>
          <a:noFill/>
        </p:spPr>
        <p:txBody>
          <a:bodyPr wrap="square" lIns="0" rIns="0" tIns="0" bIns="0" anchor="t">
            <a:spAutoFit/>
          </a:bodyPr>
          <a:lstStyle/>
          <a:p>
            <a:pPr algn="l">
              <a:lnSpc>
                <a:spcPct val="116000"/>
              </a:lnSpc>
              <a:spcBef>
                <a:spcPts val="0"/>
              </a:spcBef>
              <a:spcAft>
                <a:spcPts val="0"/>
              </a:spcAft>
            </a:pPr>
            <a:r>
              <a:rPr sz="2600" b="1" i="0" u="none">
                <a:solidFill>
                  <a:srgbClr val="C95527"/>
                </a:solidFill>
                <a:latin typeface="Segoe UI"/>
                <a:ea typeface="Microsoft YaHei"/>
                <a:cs typeface="Segoe UI"/>
              </a:rPr>
              <a:t>________  分</a:t>
            </a:r>
          </a:p>
        </p:txBody>
      </p:sp>
      <p:sp>
        <p:nvSpPr>
          <p:cNvPr id="38" name="Rounded Rectangle 37"/>
          <p:cNvSpPr/>
          <p:nvPr/>
        </p:nvSpPr>
        <p:spPr>
          <a:xfrm>
            <a:off x="7847545" y="4050791"/>
            <a:ext cx="3722357" cy="2212848"/>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8121865" y="4251960"/>
            <a:ext cx="3173717" cy="1828800"/>
          </a:xfrm>
          <a:prstGeom prst="rect">
            <a:avLst/>
          </a:prstGeom>
          <a:noFill/>
        </p:spPr>
        <p:txBody>
          <a:bodyPr wrap="square" lIns="0" rIns="0" tIns="0" bIns="0" anchor="t">
            <a:spAutoFit/>
          </a:bodyPr>
          <a:lstStyle/>
          <a:p>
            <a:pPr algn="l">
              <a:lnSpc>
                <a:spcPct val="116000"/>
              </a:lnSpc>
              <a:spcBef>
                <a:spcPts val="0"/>
              </a:spcBef>
              <a:spcAft>
                <a:spcPts val="800"/>
              </a:spcAft>
            </a:pPr>
            <a:r>
              <a:rPr sz="1900" b="1" i="0" u="none">
                <a:solidFill>
                  <a:srgbClr val="0E5362"/>
                </a:solidFill>
                <a:latin typeface="Segoe UI"/>
                <a:ea typeface="Microsoft YaHei"/>
                <a:cs typeface="Segoe UI"/>
              </a:rPr>
              <a:t>打分之前先看：</a:t>
            </a:r>
          </a:p>
          <a:p>
            <a:pPr algn="l">
              <a:lnSpc>
                <a:spcPct val="120000"/>
              </a:lnSpc>
              <a:spcBef>
                <a:spcPts val="0"/>
              </a:spcBef>
              <a:spcAft>
                <a:spcPts val="0"/>
              </a:spcAft>
            </a:pPr>
            <a:r>
              <a:rPr sz="1900" b="0" i="0" u="none">
                <a:solidFill>
                  <a:srgbClr val="172A31"/>
                </a:solidFill>
                <a:latin typeface="Segoe UI"/>
                <a:ea typeface="Microsoft YaHei"/>
                <a:cs typeface="Segoe UI"/>
              </a:rPr>
              <a:t>① 有没有一句真正解释 WHY？
② 例子里有没有一个具体的人？
③ 提到 Andrew 之后，有没有加新东西？</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3 · 3/4/5 分</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32</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约 3 分</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C95527"/>
                </a:solidFill>
                <a:latin typeface="Segoe UI"/>
                <a:ea typeface="Microsoft YaHei"/>
                <a:cs typeface="Segoe UI"/>
              </a:rPr>
              <a:t>Response A · 讲评</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645920"/>
            <a:ext cx="10948111" cy="731520"/>
          </a:xfrm>
          <a:prstGeom prst="roundRect">
            <a:avLst>
              <a:gd name="adj" fmla="val 6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87552" y="1847644"/>
            <a:ext cx="10170871" cy="328071"/>
          </a:xfrm>
          <a:prstGeom prst="rect">
            <a:avLst/>
          </a:prstGeom>
          <a:noFill/>
        </p:spPr>
        <p:txBody>
          <a:bodyPr wrap="square" lIns="0" rIns="0" tIns="0" bIns="0" anchor="t">
            <a:spAutoFit/>
          </a:bodyPr>
          <a:lstStyle/>
          <a:p>
            <a:pPr algn="l">
              <a:lnSpc>
                <a:spcPct val="114000"/>
              </a:lnSpc>
              <a:spcBef>
                <a:spcPts val="0"/>
              </a:spcBef>
              <a:spcAft>
                <a:spcPts val="0"/>
              </a:spcAft>
            </a:pPr>
            <a:r>
              <a:rPr sz="2200" b="1" i="0" u="none">
                <a:solidFill>
                  <a:srgbClr val="FFFFFF"/>
                </a:solidFill>
                <a:latin typeface="Segoe UI"/>
                <a:ea typeface="Microsoft YaHei"/>
                <a:cs typeface="Segoe UI"/>
              </a:rPr>
              <a:t>它回答了问题，也选了边——但它整篇都在换词重复同一个意思。</a:t>
            </a:r>
          </a:p>
        </p:txBody>
      </p:sp>
      <p:sp>
        <p:nvSpPr>
          <p:cNvPr id="10" name="Rounded Rectangle 9"/>
          <p:cNvSpPr/>
          <p:nvPr/>
        </p:nvSpPr>
        <p:spPr>
          <a:xfrm>
            <a:off x="621792" y="2523744"/>
            <a:ext cx="5336895" cy="3291062"/>
          </a:xfrm>
          <a:prstGeom prst="roundRect">
            <a:avLst>
              <a:gd name="adj" fmla="val 6000"/>
            </a:avLst>
          </a:prstGeom>
          <a:solidFill>
            <a:srgbClr val="E7F1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14400" y="2706624"/>
            <a:ext cx="4742535" cy="36576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2E6B4F"/>
                </a:solidFill>
                <a:latin typeface="Segoe UI"/>
                <a:ea typeface="Microsoft YaHei"/>
                <a:cs typeface="Segoe UI"/>
              </a:rPr>
              <a:t>它已经做到的</a:t>
            </a:r>
          </a:p>
        </p:txBody>
      </p:sp>
      <p:sp>
        <p:nvSpPr>
          <p:cNvPr id="12" name="TextBox 11"/>
          <p:cNvSpPr txBox="1"/>
          <p:nvPr/>
        </p:nvSpPr>
        <p:spPr>
          <a:xfrm>
            <a:off x="914400" y="3145536"/>
            <a:ext cx="4742535" cy="402336"/>
          </a:xfrm>
          <a:prstGeom prst="rect">
            <a:avLst/>
          </a:prstGeom>
          <a:noFill/>
        </p:spPr>
        <p:txBody>
          <a:bodyPr wrap="square" lIns="0" rIns="0" tIns="0" bIns="0" anchor="t">
            <a:spAutoFit/>
          </a:bodyPr>
          <a:lstStyle/>
          <a:p>
            <a:pPr algn="l">
              <a:lnSpc>
                <a:spcPct val="114000"/>
              </a:lnSpc>
              <a:spcAft>
                <a:spcPts val="0"/>
              </a:spcAft>
            </a:pPr>
            <a:r>
              <a:rPr sz="1900" b="1" i="0" u="none">
                <a:solidFill>
                  <a:srgbClr val="2E6B4F"/>
                </a:solidFill>
                <a:latin typeface="Segoe UI"/>
                <a:ea typeface="Microsoft YaHei"/>
                <a:cs typeface="Segoe UI"/>
              </a:rPr>
              <a:t>√  </a:t>
            </a:r>
            <a:r>
              <a:rPr sz="1900" b="0" i="0" u="none">
                <a:solidFill>
                  <a:srgbClr val="172A31"/>
                </a:solidFill>
                <a:latin typeface="Segoe UI"/>
                <a:ea typeface="Microsoft YaHei"/>
                <a:cs typeface="Segoe UI"/>
              </a:rPr>
              <a:t>有明确立场：I agree with Kelly</a:t>
            </a:r>
          </a:p>
        </p:txBody>
      </p:sp>
      <p:sp>
        <p:nvSpPr>
          <p:cNvPr id="13" name="TextBox 12"/>
          <p:cNvSpPr txBox="1"/>
          <p:nvPr/>
        </p:nvSpPr>
        <p:spPr>
          <a:xfrm>
            <a:off x="914400" y="3675888"/>
            <a:ext cx="4742535" cy="402336"/>
          </a:xfrm>
          <a:prstGeom prst="rect">
            <a:avLst/>
          </a:prstGeom>
          <a:noFill/>
        </p:spPr>
        <p:txBody>
          <a:bodyPr wrap="square" lIns="0" rIns="0" tIns="0" bIns="0" anchor="t">
            <a:spAutoFit/>
          </a:bodyPr>
          <a:lstStyle/>
          <a:p>
            <a:pPr algn="l">
              <a:lnSpc>
                <a:spcPct val="114000"/>
              </a:lnSpc>
              <a:spcAft>
                <a:spcPts val="0"/>
              </a:spcAft>
            </a:pPr>
            <a:r>
              <a:rPr sz="1900" b="1" i="0" u="none">
                <a:solidFill>
                  <a:srgbClr val="2E6B4F"/>
                </a:solidFill>
                <a:latin typeface="Segoe UI"/>
                <a:ea typeface="Microsoft YaHei"/>
                <a:cs typeface="Segoe UI"/>
              </a:rPr>
              <a:t>√  </a:t>
            </a:r>
            <a:r>
              <a:rPr sz="1900" b="0" i="0" u="none">
                <a:solidFill>
                  <a:srgbClr val="172A31"/>
                </a:solidFill>
                <a:latin typeface="Segoe UI"/>
                <a:ea typeface="Microsoft YaHei"/>
                <a:cs typeface="Segoe UI"/>
              </a:rPr>
              <a:t>提到了 Andrew，知道要回应讨论</a:t>
            </a:r>
          </a:p>
        </p:txBody>
      </p:sp>
      <p:sp>
        <p:nvSpPr>
          <p:cNvPr id="14" name="TextBox 13"/>
          <p:cNvSpPr txBox="1"/>
          <p:nvPr/>
        </p:nvSpPr>
        <p:spPr>
          <a:xfrm>
            <a:off x="914400" y="4206240"/>
            <a:ext cx="4742535" cy="402336"/>
          </a:xfrm>
          <a:prstGeom prst="rect">
            <a:avLst/>
          </a:prstGeom>
          <a:noFill/>
        </p:spPr>
        <p:txBody>
          <a:bodyPr wrap="square" lIns="0" rIns="0" tIns="0" bIns="0" anchor="t">
            <a:spAutoFit/>
          </a:bodyPr>
          <a:lstStyle/>
          <a:p>
            <a:pPr algn="l">
              <a:lnSpc>
                <a:spcPct val="114000"/>
              </a:lnSpc>
              <a:spcAft>
                <a:spcPts val="0"/>
              </a:spcAft>
            </a:pPr>
            <a:r>
              <a:rPr sz="1900" b="1" i="0" u="none">
                <a:solidFill>
                  <a:srgbClr val="2E6B4F"/>
                </a:solidFill>
                <a:latin typeface="Segoe UI"/>
                <a:ea typeface="Microsoft YaHei"/>
                <a:cs typeface="Segoe UI"/>
              </a:rPr>
              <a:t>√  </a:t>
            </a:r>
            <a:r>
              <a:rPr sz="1900" b="0" i="0" u="none">
                <a:solidFill>
                  <a:srgbClr val="172A31"/>
                </a:solidFill>
                <a:latin typeface="Segoe UI"/>
                <a:ea typeface="Microsoft YaHei"/>
                <a:cs typeface="Segoe UI"/>
              </a:rPr>
              <a:t>字数接近 100 词，句子基本正确</a:t>
            </a:r>
          </a:p>
        </p:txBody>
      </p:sp>
      <p:sp>
        <p:nvSpPr>
          <p:cNvPr id="15" name="Rounded Rectangle 14"/>
          <p:cNvSpPr/>
          <p:nvPr/>
        </p:nvSpPr>
        <p:spPr>
          <a:xfrm>
            <a:off x="6233007" y="2523744"/>
            <a:ext cx="5336895" cy="3291062"/>
          </a:xfrm>
          <a:prstGeom prst="roundRect">
            <a:avLst>
              <a:gd name="adj" fmla="val 6000"/>
            </a:avLst>
          </a:prstGeom>
          <a:solidFill>
            <a:srgbClr val="FBEC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525615" y="2706624"/>
            <a:ext cx="4742535" cy="36576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C95527"/>
                </a:solidFill>
                <a:latin typeface="Segoe UI"/>
                <a:ea typeface="Microsoft YaHei"/>
                <a:cs typeface="Segoe UI"/>
              </a:rPr>
              <a:t>它缺的东西（丢分点）</a:t>
            </a:r>
          </a:p>
        </p:txBody>
      </p:sp>
      <p:sp>
        <p:nvSpPr>
          <p:cNvPr id="17" name="TextBox 16"/>
          <p:cNvSpPr txBox="1"/>
          <p:nvPr/>
        </p:nvSpPr>
        <p:spPr>
          <a:xfrm>
            <a:off x="6525615" y="3145536"/>
            <a:ext cx="4742535" cy="566668"/>
          </a:xfrm>
          <a:prstGeom prst="rect">
            <a:avLst/>
          </a:prstGeom>
          <a:noFill/>
        </p:spPr>
        <p:txBody>
          <a:bodyPr wrap="square" lIns="0" rIns="0" tIns="0" bIns="0" anchor="t">
            <a:spAutoFit/>
          </a:bodyPr>
          <a:lstStyle/>
          <a:p>
            <a:pPr algn="l">
              <a:lnSpc>
                <a:spcPct val="114000"/>
              </a:lnSpc>
              <a:spcAft>
                <a:spcPts val="0"/>
              </a:spcAft>
            </a:pPr>
            <a:r>
              <a:rPr sz="1900" b="1" i="0" u="none">
                <a:solidFill>
                  <a:srgbClr val="C95527"/>
                </a:solidFill>
                <a:latin typeface="Segoe UI"/>
                <a:ea typeface="Microsoft YaHei"/>
                <a:cs typeface="Segoe UI"/>
              </a:rPr>
              <a:t>×  </a:t>
            </a:r>
            <a:r>
              <a:rPr sz="1900" b="0" i="0" u="none">
                <a:solidFill>
                  <a:srgbClr val="172A31"/>
                </a:solidFill>
                <a:latin typeface="Segoe UI"/>
                <a:ea typeface="Microsoft YaHei"/>
                <a:cs typeface="Segoe UI"/>
              </a:rPr>
              <a:t>Reason 全是空词：useful / good / many things</a:t>
            </a:r>
          </a:p>
        </p:txBody>
      </p:sp>
      <p:sp>
        <p:nvSpPr>
          <p:cNvPr id="18" name="TextBox 17"/>
          <p:cNvSpPr txBox="1"/>
          <p:nvPr/>
        </p:nvSpPr>
        <p:spPr>
          <a:xfrm>
            <a:off x="6525615" y="3840220"/>
            <a:ext cx="4742535" cy="566668"/>
          </a:xfrm>
          <a:prstGeom prst="rect">
            <a:avLst/>
          </a:prstGeom>
          <a:noFill/>
        </p:spPr>
        <p:txBody>
          <a:bodyPr wrap="square" lIns="0" rIns="0" tIns="0" bIns="0" anchor="t">
            <a:spAutoFit/>
          </a:bodyPr>
          <a:lstStyle/>
          <a:p>
            <a:pPr algn="l">
              <a:lnSpc>
                <a:spcPct val="114000"/>
              </a:lnSpc>
              <a:spcAft>
                <a:spcPts val="0"/>
              </a:spcAft>
            </a:pPr>
            <a:r>
              <a:rPr sz="1900" b="1" i="0" u="none">
                <a:solidFill>
                  <a:srgbClr val="C95527"/>
                </a:solidFill>
                <a:latin typeface="Segoe UI"/>
                <a:ea typeface="Microsoft YaHei"/>
                <a:cs typeface="Segoe UI"/>
              </a:rPr>
              <a:t>×  </a:t>
            </a:r>
            <a:r>
              <a:rPr sz="1900" b="0" i="0" u="none">
                <a:solidFill>
                  <a:srgbClr val="172A31"/>
                </a:solidFill>
                <a:latin typeface="Segoe UI"/>
                <a:ea typeface="Microsoft YaHei"/>
                <a:cs typeface="Segoe UI"/>
              </a:rPr>
              <a:t>没有一句 WHY——没解释教育「怎么」帮到人</a:t>
            </a:r>
          </a:p>
        </p:txBody>
      </p:sp>
      <p:sp>
        <p:nvSpPr>
          <p:cNvPr id="19" name="TextBox 18"/>
          <p:cNvSpPr txBox="1"/>
          <p:nvPr/>
        </p:nvSpPr>
        <p:spPr>
          <a:xfrm>
            <a:off x="6525615" y="4534905"/>
            <a:ext cx="4742535" cy="566668"/>
          </a:xfrm>
          <a:prstGeom prst="rect">
            <a:avLst/>
          </a:prstGeom>
          <a:noFill/>
        </p:spPr>
        <p:txBody>
          <a:bodyPr wrap="square" lIns="0" rIns="0" tIns="0" bIns="0" anchor="t">
            <a:spAutoFit/>
          </a:bodyPr>
          <a:lstStyle/>
          <a:p>
            <a:pPr algn="l">
              <a:lnSpc>
                <a:spcPct val="114000"/>
              </a:lnSpc>
              <a:spcAft>
                <a:spcPts val="0"/>
              </a:spcAft>
            </a:pPr>
            <a:r>
              <a:rPr sz="1900" b="1" i="0" u="none">
                <a:solidFill>
                  <a:srgbClr val="C95527"/>
                </a:solidFill>
                <a:latin typeface="Segoe UI"/>
                <a:ea typeface="Microsoft YaHei"/>
                <a:cs typeface="Segoe UI"/>
              </a:rPr>
              <a:t>×  </a:t>
            </a:r>
            <a:r>
              <a:rPr sz="1900" b="0" i="0" u="none">
                <a:solidFill>
                  <a:srgbClr val="172A31"/>
                </a:solidFill>
                <a:latin typeface="Segoe UI"/>
                <a:ea typeface="Microsoft YaHei"/>
                <a:cs typeface="Segoe UI"/>
              </a:rPr>
              <a:t>没有具体例子：没有人、没有场景、没有结果</a:t>
            </a:r>
          </a:p>
        </p:txBody>
      </p:sp>
      <p:sp>
        <p:nvSpPr>
          <p:cNvPr id="20" name="TextBox 19"/>
          <p:cNvSpPr txBox="1"/>
          <p:nvPr/>
        </p:nvSpPr>
        <p:spPr>
          <a:xfrm>
            <a:off x="6525615" y="5229590"/>
            <a:ext cx="4742535" cy="402336"/>
          </a:xfrm>
          <a:prstGeom prst="rect">
            <a:avLst/>
          </a:prstGeom>
          <a:noFill/>
        </p:spPr>
        <p:txBody>
          <a:bodyPr wrap="square" lIns="0" rIns="0" tIns="0" bIns="0" anchor="t">
            <a:spAutoFit/>
          </a:bodyPr>
          <a:lstStyle/>
          <a:p>
            <a:pPr algn="l">
              <a:lnSpc>
                <a:spcPct val="114000"/>
              </a:lnSpc>
              <a:spcAft>
                <a:spcPts val="0"/>
              </a:spcAft>
            </a:pPr>
            <a:r>
              <a:rPr sz="1900" b="1" i="0" u="none">
                <a:solidFill>
                  <a:srgbClr val="C95527"/>
                </a:solidFill>
                <a:latin typeface="Segoe UI"/>
                <a:ea typeface="Microsoft YaHei"/>
                <a:cs typeface="Segoe UI"/>
              </a:rPr>
              <a:t>×  </a:t>
            </a:r>
            <a:r>
              <a:rPr sz="1900" b="0" i="0" u="none">
                <a:solidFill>
                  <a:srgbClr val="172A31"/>
                </a:solidFill>
                <a:latin typeface="Segoe UI"/>
                <a:ea typeface="Microsoft YaHei"/>
                <a:cs typeface="Segoe UI"/>
              </a:rPr>
              <a:t>回应 Andrew 只是重申立场，没有新信息</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3 · 3/4/5 分</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33</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DIAGNOSIS</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Response A 的病根：三个空词</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810512"/>
            <a:ext cx="10948111" cy="1078992"/>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21792" y="1810512"/>
            <a:ext cx="54864" cy="1078992"/>
          </a:xfrm>
          <a:prstGeom prst="rect">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32688" y="1975104"/>
            <a:ext cx="10308031" cy="411480"/>
          </a:xfrm>
          <a:prstGeom prst="rect">
            <a:avLst/>
          </a:prstGeom>
          <a:noFill/>
        </p:spPr>
        <p:txBody>
          <a:bodyPr wrap="square" lIns="0" rIns="0" tIns="0" bIns="0" anchor="t">
            <a:spAutoFit/>
          </a:bodyPr>
          <a:lstStyle/>
          <a:p>
            <a:pPr algn="l">
              <a:lnSpc>
                <a:spcPct val="116000"/>
              </a:lnSpc>
              <a:spcBef>
                <a:spcPts val="0"/>
              </a:spcBef>
              <a:spcAft>
                <a:spcPts val="0"/>
              </a:spcAft>
            </a:pPr>
            <a:r>
              <a:rPr sz="2100" b="1" i="0" u="none">
                <a:solidFill>
                  <a:srgbClr val="172A31"/>
                </a:solidFill>
                <a:latin typeface="Segoe UI"/>
                <a:ea typeface="Microsoft YaHei"/>
                <a:cs typeface="Segoe UI"/>
              </a:rPr>
              <a:t>Education is very useful for people.</a:t>
            </a:r>
          </a:p>
        </p:txBody>
      </p:sp>
      <p:sp>
        <p:nvSpPr>
          <p:cNvPr id="11" name="TextBox 10"/>
          <p:cNvSpPr txBox="1"/>
          <p:nvPr/>
        </p:nvSpPr>
        <p:spPr>
          <a:xfrm>
            <a:off x="932688" y="2432304"/>
            <a:ext cx="10308031" cy="384048"/>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C95527"/>
                </a:solidFill>
                <a:latin typeface="Segoe UI"/>
                <a:ea typeface="Microsoft YaHei"/>
                <a:cs typeface="Segoe UI"/>
              </a:rPr>
              <a:t>空词。谁？在什么事情上有用？</a:t>
            </a:r>
          </a:p>
        </p:txBody>
      </p:sp>
      <p:sp>
        <p:nvSpPr>
          <p:cNvPr id="12" name="Rounded Rectangle 11"/>
          <p:cNvSpPr/>
          <p:nvPr/>
        </p:nvSpPr>
        <p:spPr>
          <a:xfrm>
            <a:off x="621792" y="2999232"/>
            <a:ext cx="10948111" cy="1078992"/>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21792" y="2999232"/>
            <a:ext cx="54864" cy="1078992"/>
          </a:xfrm>
          <a:prstGeom prst="rect">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32688" y="3163824"/>
            <a:ext cx="10308031" cy="411480"/>
          </a:xfrm>
          <a:prstGeom prst="rect">
            <a:avLst/>
          </a:prstGeom>
          <a:noFill/>
        </p:spPr>
        <p:txBody>
          <a:bodyPr wrap="square" lIns="0" rIns="0" tIns="0" bIns="0" anchor="t">
            <a:spAutoFit/>
          </a:bodyPr>
          <a:lstStyle/>
          <a:p>
            <a:pPr algn="l">
              <a:lnSpc>
                <a:spcPct val="116000"/>
              </a:lnSpc>
              <a:spcBef>
                <a:spcPts val="0"/>
              </a:spcBef>
              <a:spcAft>
                <a:spcPts val="0"/>
              </a:spcAft>
            </a:pPr>
            <a:r>
              <a:rPr sz="2100" b="1" i="0" u="none">
                <a:solidFill>
                  <a:srgbClr val="172A31"/>
                </a:solidFill>
                <a:latin typeface="Segoe UI"/>
                <a:ea typeface="Microsoft YaHei"/>
                <a:cs typeface="Segoe UI"/>
              </a:rPr>
              <a:t>They can learn many things.</a:t>
            </a:r>
          </a:p>
        </p:txBody>
      </p:sp>
      <p:sp>
        <p:nvSpPr>
          <p:cNvPr id="15" name="TextBox 14"/>
          <p:cNvSpPr txBox="1"/>
          <p:nvPr/>
        </p:nvSpPr>
        <p:spPr>
          <a:xfrm>
            <a:off x="932688" y="3621024"/>
            <a:ext cx="10308031" cy="384048"/>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C95527"/>
                </a:solidFill>
                <a:latin typeface="Segoe UI"/>
                <a:ea typeface="Microsoft YaHei"/>
                <a:cs typeface="Segoe UI"/>
              </a:rPr>
              <a:t>空词。学到什么？学了以后能做什么？</a:t>
            </a:r>
          </a:p>
        </p:txBody>
      </p:sp>
      <p:sp>
        <p:nvSpPr>
          <p:cNvPr id="16" name="Rounded Rectangle 15"/>
          <p:cNvSpPr/>
          <p:nvPr/>
        </p:nvSpPr>
        <p:spPr>
          <a:xfrm>
            <a:off x="621792" y="4187952"/>
            <a:ext cx="10948111" cy="1078992"/>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21792" y="4187952"/>
            <a:ext cx="54864" cy="1078992"/>
          </a:xfrm>
          <a:prstGeom prst="rect">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32688" y="4352544"/>
            <a:ext cx="10308031" cy="411480"/>
          </a:xfrm>
          <a:prstGeom prst="rect">
            <a:avLst/>
          </a:prstGeom>
          <a:noFill/>
        </p:spPr>
        <p:txBody>
          <a:bodyPr wrap="square" lIns="0" rIns="0" tIns="0" bIns="0" anchor="t">
            <a:spAutoFit/>
          </a:bodyPr>
          <a:lstStyle/>
          <a:p>
            <a:pPr algn="l">
              <a:lnSpc>
                <a:spcPct val="116000"/>
              </a:lnSpc>
              <a:spcBef>
                <a:spcPts val="0"/>
              </a:spcBef>
              <a:spcAft>
                <a:spcPts val="0"/>
              </a:spcAft>
            </a:pPr>
            <a:r>
              <a:rPr sz="2100" b="1" i="0" u="none">
                <a:solidFill>
                  <a:srgbClr val="172A31"/>
                </a:solidFill>
                <a:latin typeface="Segoe UI"/>
                <a:ea typeface="Microsoft YaHei"/>
                <a:cs typeface="Segoe UI"/>
              </a:rPr>
              <a:t>A good job can make their life better.</a:t>
            </a:r>
          </a:p>
        </p:txBody>
      </p:sp>
      <p:sp>
        <p:nvSpPr>
          <p:cNvPr id="19" name="TextBox 18"/>
          <p:cNvSpPr txBox="1"/>
          <p:nvPr/>
        </p:nvSpPr>
        <p:spPr>
          <a:xfrm>
            <a:off x="932688" y="4809744"/>
            <a:ext cx="10308031" cy="384048"/>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C95527"/>
                </a:solidFill>
                <a:latin typeface="Segoe UI"/>
                <a:ea typeface="Microsoft YaHei"/>
                <a:cs typeface="Segoe UI"/>
              </a:rPr>
              <a:t>空词。怎么变好？变好在哪里？</a:t>
            </a:r>
          </a:p>
        </p:txBody>
      </p:sp>
      <p:sp>
        <p:nvSpPr>
          <p:cNvPr id="20" name="Rounded Rectangle 19"/>
          <p:cNvSpPr/>
          <p:nvPr/>
        </p:nvSpPr>
        <p:spPr>
          <a:xfrm>
            <a:off x="621792" y="5422392"/>
            <a:ext cx="10948111" cy="841248"/>
          </a:xfrm>
          <a:prstGeom prst="roundRect">
            <a:avLst>
              <a:gd name="adj" fmla="val 6000"/>
            </a:avLst>
          </a:prstGeom>
          <a:solidFill>
            <a:srgbClr val="0E53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005840" y="5623560"/>
            <a:ext cx="10170871" cy="502920"/>
          </a:xfrm>
          <a:prstGeom prst="rect">
            <a:avLst/>
          </a:prstGeom>
          <a:noFill/>
        </p:spPr>
        <p:txBody>
          <a:bodyPr wrap="square" lIns="0" rIns="0" tIns="0" bIns="0" anchor="t">
            <a:spAutoFit/>
          </a:bodyPr>
          <a:lstStyle/>
          <a:p>
            <a:pPr algn="l">
              <a:lnSpc>
                <a:spcPct val="116000"/>
              </a:lnSpc>
              <a:spcBef>
                <a:spcPts val="0"/>
              </a:spcBef>
              <a:spcAft>
                <a:spcPts val="0"/>
              </a:spcAft>
            </a:pPr>
            <a:r>
              <a:rPr sz="2100" b="1" i="0" u="none">
                <a:solidFill>
                  <a:srgbClr val="FFFFFF"/>
                </a:solidFill>
                <a:latin typeface="Segoe UI"/>
                <a:ea typeface="Microsoft YaHei"/>
                <a:cs typeface="Segoe UI"/>
              </a:rPr>
              <a:t>一个判断标准：这句话换成任何一个话题，是不是照样成立？成立 = 空词。</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3 · 3/4/5 分</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34</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SAMPLE · 先不给分数</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Response B</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700784"/>
            <a:ext cx="10948111" cy="4041648"/>
          </a:xfrm>
          <a:prstGeom prst="roundRect">
            <a:avLst>
              <a:gd name="adj" fmla="val 6000"/>
            </a:avLst>
          </a:prstGeom>
          <a:solidFill>
            <a:srgbClr val="FFFFFF"/>
          </a:solidFill>
          <a:ln w="20320">
            <a:solidFill>
              <a:srgbClr val="0E536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33272" y="1975104"/>
            <a:ext cx="10125151" cy="3858768"/>
          </a:xfrm>
          <a:prstGeom prst="rect">
            <a:avLst/>
          </a:prstGeom>
          <a:noFill/>
        </p:spPr>
        <p:txBody>
          <a:bodyPr wrap="square" lIns="0" rIns="0" tIns="0" bIns="0" anchor="t">
            <a:spAutoFit/>
          </a:bodyPr>
          <a:lstStyle/>
          <a:p>
            <a:pPr algn="l">
              <a:lnSpc>
                <a:spcPct val="124000"/>
              </a:lnSpc>
              <a:spcBef>
                <a:spcPts val="0"/>
              </a:spcBef>
              <a:spcAft>
                <a:spcPts val="1000"/>
              </a:spcAft>
            </a:pPr>
            <a:r>
              <a:rPr sz="2100" b="0" i="0" u="none">
                <a:solidFill>
                  <a:srgbClr val="172A31"/>
                </a:solidFill>
                <a:latin typeface="Segoe UI"/>
                <a:ea typeface="Microsoft YaHei"/>
                <a:cs typeface="Segoe UI"/>
              </a:rPr>
              <a:t>In my view, education matters more than personal connections for social mobility. One important reason is that education gives people skills that employers can actually check. A degree or a certificate shows that a person has completed real training, so a company is willing to interview them even if they know no one inside. For example, a student from a small town who finishes a nursing program can apply to a city hospital without knowing anyone there. I understand Andrew's point that connections open doors, but connections usually help people who already have the qualifications.</a:t>
            </a:r>
          </a:p>
        </p:txBody>
      </p:sp>
      <p:sp>
        <p:nvSpPr>
          <p:cNvPr id="10" name="TextBox 9"/>
          <p:cNvSpPr txBox="1"/>
          <p:nvPr/>
        </p:nvSpPr>
        <p:spPr>
          <a:xfrm>
            <a:off x="621792" y="5888736"/>
            <a:ext cx="1094811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Teacher-created sample based on ETS rubric｜依据 ETS 评分标准编写的教学模拟范文</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3 · 3/4/5 分</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35</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TASK · 学生输出</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B08300"/>
                </a:solidFill>
                <a:latin typeface="Segoe UI"/>
                <a:ea typeface="Microsoft YaHei"/>
                <a:cs typeface="Segoe UI"/>
              </a:rPr>
              <a:t>Response B · 你来圈，你来打分</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673352"/>
            <a:ext cx="10948111" cy="658368"/>
          </a:xfrm>
          <a:prstGeom prst="roundRect">
            <a:avLst>
              <a:gd name="adj" fmla="val 6000"/>
            </a:avLst>
          </a:prstGeom>
          <a:solidFill>
            <a:srgbClr val="FAF2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32688" y="1828800"/>
            <a:ext cx="10308031" cy="45720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B08300"/>
                </a:solidFill>
                <a:latin typeface="Segoe UI"/>
                <a:ea typeface="Microsoft YaHei"/>
                <a:cs typeface="Segoe UI"/>
              </a:rPr>
              <a:t>在讲义上圈出五要素，找不到就写「无」。然后写一个分数。</a:t>
            </a:r>
          </a:p>
        </p:txBody>
      </p:sp>
      <p:sp>
        <p:nvSpPr>
          <p:cNvPr id="10" name="Rounded Rectangle 9"/>
          <p:cNvSpPr/>
          <p:nvPr/>
        </p:nvSpPr>
        <p:spPr>
          <a:xfrm>
            <a:off x="621792" y="2542032"/>
            <a:ext cx="6787828" cy="566928"/>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21792" y="2542032"/>
            <a:ext cx="658368" cy="566928"/>
          </a:xfrm>
          <a:prstGeom prst="roundRect">
            <a:avLst>
              <a:gd name="adj" fmla="val 6000"/>
            </a:avLst>
          </a:prstGeom>
          <a:solidFill>
            <a:srgbClr val="0E53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21792" y="2651760"/>
            <a:ext cx="658368" cy="365760"/>
          </a:xfrm>
          <a:prstGeom prst="rect">
            <a:avLst/>
          </a:prstGeom>
          <a:noFill/>
        </p:spPr>
        <p:txBody>
          <a:bodyPr wrap="square" lIns="0" rIns="0" tIns="0" bIns="0" anchor="t">
            <a:spAutoFit/>
          </a:bodyPr>
          <a:lstStyle/>
          <a:p>
            <a:pPr algn="ctr">
              <a:lnSpc>
                <a:spcPct val="116000"/>
              </a:lnSpc>
              <a:spcBef>
                <a:spcPts val="0"/>
              </a:spcBef>
              <a:spcAft>
                <a:spcPts val="0"/>
              </a:spcAft>
            </a:pPr>
            <a:r>
              <a:rPr sz="1900" b="1" i="0" u="none">
                <a:solidFill>
                  <a:srgbClr val="FFFFFF"/>
                </a:solidFill>
                <a:latin typeface="Segoe UI"/>
                <a:ea typeface="Microsoft YaHei"/>
                <a:cs typeface="Segoe UI"/>
              </a:rPr>
              <a:t>P</a:t>
            </a:r>
          </a:p>
        </p:txBody>
      </p:sp>
      <p:sp>
        <p:nvSpPr>
          <p:cNvPr id="13" name="TextBox 12"/>
          <p:cNvSpPr txBox="1"/>
          <p:nvPr/>
        </p:nvSpPr>
        <p:spPr>
          <a:xfrm>
            <a:off x="1463040" y="2660904"/>
            <a:ext cx="2377440"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0E5362"/>
                </a:solidFill>
                <a:latin typeface="Segoe UI"/>
                <a:ea typeface="Microsoft YaHei"/>
                <a:cs typeface="Segoe UI"/>
              </a:rPr>
              <a:t>Position 立场</a:t>
            </a:r>
          </a:p>
        </p:txBody>
      </p:sp>
      <p:cxnSp>
        <p:nvCxnSpPr>
          <p:cNvPr id="14" name="Connector 13"/>
          <p:cNvCxnSpPr/>
          <p:nvPr/>
        </p:nvCxnSpPr>
        <p:spPr>
          <a:xfrm>
            <a:off x="4005072" y="2962656"/>
            <a:ext cx="3203380"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21792" y="3200400"/>
            <a:ext cx="6787828" cy="566928"/>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621792" y="3200400"/>
            <a:ext cx="658368" cy="566928"/>
          </a:xfrm>
          <a:prstGeom prst="roundRect">
            <a:avLst>
              <a:gd name="adj" fmla="val 6000"/>
            </a:avLst>
          </a:prstGeom>
          <a:solidFill>
            <a:srgbClr val="2A7E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21792" y="3310128"/>
            <a:ext cx="658368" cy="365760"/>
          </a:xfrm>
          <a:prstGeom prst="rect">
            <a:avLst/>
          </a:prstGeom>
          <a:noFill/>
        </p:spPr>
        <p:txBody>
          <a:bodyPr wrap="square" lIns="0" rIns="0" tIns="0" bIns="0" anchor="t">
            <a:spAutoFit/>
          </a:bodyPr>
          <a:lstStyle/>
          <a:p>
            <a:pPr algn="ctr">
              <a:lnSpc>
                <a:spcPct val="116000"/>
              </a:lnSpc>
              <a:spcBef>
                <a:spcPts val="0"/>
              </a:spcBef>
              <a:spcAft>
                <a:spcPts val="0"/>
              </a:spcAft>
            </a:pPr>
            <a:r>
              <a:rPr sz="1900" b="1" i="0" u="none">
                <a:solidFill>
                  <a:srgbClr val="FFFFFF"/>
                </a:solidFill>
                <a:latin typeface="Segoe UI"/>
                <a:ea typeface="Microsoft YaHei"/>
                <a:cs typeface="Segoe UI"/>
              </a:rPr>
              <a:t>R</a:t>
            </a:r>
          </a:p>
        </p:txBody>
      </p:sp>
      <p:sp>
        <p:nvSpPr>
          <p:cNvPr id="18" name="TextBox 17"/>
          <p:cNvSpPr txBox="1"/>
          <p:nvPr/>
        </p:nvSpPr>
        <p:spPr>
          <a:xfrm>
            <a:off x="1463040" y="3319272"/>
            <a:ext cx="2377440"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2A7E8E"/>
                </a:solidFill>
                <a:latin typeface="Segoe UI"/>
                <a:ea typeface="Microsoft YaHei"/>
                <a:cs typeface="Segoe UI"/>
              </a:rPr>
              <a:t>Reason 理由</a:t>
            </a:r>
          </a:p>
        </p:txBody>
      </p:sp>
      <p:cxnSp>
        <p:nvCxnSpPr>
          <p:cNvPr id="19" name="Connector 18"/>
          <p:cNvCxnSpPr/>
          <p:nvPr/>
        </p:nvCxnSpPr>
        <p:spPr>
          <a:xfrm>
            <a:off x="4005072" y="3621024"/>
            <a:ext cx="3203380"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1792" y="3858768"/>
            <a:ext cx="6787828" cy="566928"/>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621792" y="3858768"/>
            <a:ext cx="658368" cy="566928"/>
          </a:xfrm>
          <a:prstGeom prst="roundRect">
            <a:avLst>
              <a:gd name="adj" fmla="val 6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21792" y="3968496"/>
            <a:ext cx="658368" cy="365760"/>
          </a:xfrm>
          <a:prstGeom prst="rect">
            <a:avLst/>
          </a:prstGeom>
          <a:noFill/>
        </p:spPr>
        <p:txBody>
          <a:bodyPr wrap="square" lIns="0" rIns="0" tIns="0" bIns="0" anchor="t">
            <a:spAutoFit/>
          </a:bodyPr>
          <a:lstStyle/>
          <a:p>
            <a:pPr algn="ctr">
              <a:lnSpc>
                <a:spcPct val="116000"/>
              </a:lnSpc>
              <a:spcBef>
                <a:spcPts val="0"/>
              </a:spcBef>
              <a:spcAft>
                <a:spcPts val="0"/>
              </a:spcAft>
            </a:pPr>
            <a:r>
              <a:rPr sz="1900" b="1" i="0" u="none">
                <a:solidFill>
                  <a:srgbClr val="FFFFFF"/>
                </a:solidFill>
                <a:latin typeface="Segoe UI"/>
                <a:ea typeface="Microsoft YaHei"/>
                <a:cs typeface="Segoe UI"/>
              </a:rPr>
              <a:t>W</a:t>
            </a:r>
          </a:p>
        </p:txBody>
      </p:sp>
      <p:sp>
        <p:nvSpPr>
          <p:cNvPr id="23" name="TextBox 22"/>
          <p:cNvSpPr txBox="1"/>
          <p:nvPr/>
        </p:nvSpPr>
        <p:spPr>
          <a:xfrm>
            <a:off x="1463040" y="3977639"/>
            <a:ext cx="2377440"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Why 解释</a:t>
            </a:r>
          </a:p>
        </p:txBody>
      </p:sp>
      <p:cxnSp>
        <p:nvCxnSpPr>
          <p:cNvPr id="24" name="Connector 23"/>
          <p:cNvCxnSpPr/>
          <p:nvPr/>
        </p:nvCxnSpPr>
        <p:spPr>
          <a:xfrm>
            <a:off x="4005072" y="4279392"/>
            <a:ext cx="3203380"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21792" y="4517136"/>
            <a:ext cx="6787828" cy="566928"/>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621792" y="4517136"/>
            <a:ext cx="658368" cy="566928"/>
          </a:xfrm>
          <a:prstGeom prst="roundRect">
            <a:avLst>
              <a:gd name="adj" fmla="val 6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21792" y="4626864"/>
            <a:ext cx="658368" cy="365760"/>
          </a:xfrm>
          <a:prstGeom prst="rect">
            <a:avLst/>
          </a:prstGeom>
          <a:noFill/>
        </p:spPr>
        <p:txBody>
          <a:bodyPr wrap="square" lIns="0" rIns="0" tIns="0" bIns="0" anchor="t">
            <a:spAutoFit/>
          </a:bodyPr>
          <a:lstStyle/>
          <a:p>
            <a:pPr algn="ctr">
              <a:lnSpc>
                <a:spcPct val="116000"/>
              </a:lnSpc>
              <a:spcBef>
                <a:spcPts val="0"/>
              </a:spcBef>
              <a:spcAft>
                <a:spcPts val="0"/>
              </a:spcAft>
            </a:pPr>
            <a:r>
              <a:rPr sz="1900" b="1" i="0" u="none">
                <a:solidFill>
                  <a:srgbClr val="FFFFFF"/>
                </a:solidFill>
                <a:latin typeface="Segoe UI"/>
                <a:ea typeface="Microsoft YaHei"/>
                <a:cs typeface="Segoe UI"/>
              </a:rPr>
              <a:t>Ex</a:t>
            </a:r>
          </a:p>
        </p:txBody>
      </p:sp>
      <p:sp>
        <p:nvSpPr>
          <p:cNvPr id="28" name="TextBox 27"/>
          <p:cNvSpPr txBox="1"/>
          <p:nvPr/>
        </p:nvSpPr>
        <p:spPr>
          <a:xfrm>
            <a:off x="1463040" y="4636007"/>
            <a:ext cx="2377440"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Example 例子</a:t>
            </a:r>
          </a:p>
        </p:txBody>
      </p:sp>
      <p:cxnSp>
        <p:nvCxnSpPr>
          <p:cNvPr id="29" name="Connector 28"/>
          <p:cNvCxnSpPr/>
          <p:nvPr/>
        </p:nvCxnSpPr>
        <p:spPr>
          <a:xfrm>
            <a:off x="4005072" y="4937759"/>
            <a:ext cx="3203380"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621792" y="5175503"/>
            <a:ext cx="6787828" cy="566928"/>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a:off x="621792" y="5175503"/>
            <a:ext cx="658368" cy="566928"/>
          </a:xfrm>
          <a:prstGeom prst="roundRect">
            <a:avLst>
              <a:gd name="adj" fmla="val 6000"/>
            </a:avLst>
          </a:prstGeom>
          <a:solidFill>
            <a:srgbClr val="B083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21792" y="5285231"/>
            <a:ext cx="658368" cy="365760"/>
          </a:xfrm>
          <a:prstGeom prst="rect">
            <a:avLst/>
          </a:prstGeom>
          <a:noFill/>
        </p:spPr>
        <p:txBody>
          <a:bodyPr wrap="square" lIns="0" rIns="0" tIns="0" bIns="0" anchor="t">
            <a:spAutoFit/>
          </a:bodyPr>
          <a:lstStyle/>
          <a:p>
            <a:pPr algn="ctr">
              <a:lnSpc>
                <a:spcPct val="116000"/>
              </a:lnSpc>
              <a:spcBef>
                <a:spcPts val="0"/>
              </a:spcBef>
              <a:spcAft>
                <a:spcPts val="0"/>
              </a:spcAft>
            </a:pPr>
            <a:r>
              <a:rPr sz="1900" b="1" i="0" u="none">
                <a:solidFill>
                  <a:srgbClr val="FFFFFF"/>
                </a:solidFill>
                <a:latin typeface="Segoe UI"/>
                <a:ea typeface="Microsoft YaHei"/>
                <a:cs typeface="Segoe UI"/>
              </a:rPr>
              <a:t>C</a:t>
            </a:r>
          </a:p>
        </p:txBody>
      </p:sp>
      <p:sp>
        <p:nvSpPr>
          <p:cNvPr id="33" name="TextBox 32"/>
          <p:cNvSpPr txBox="1"/>
          <p:nvPr/>
        </p:nvSpPr>
        <p:spPr>
          <a:xfrm>
            <a:off x="1463040" y="5294375"/>
            <a:ext cx="2377440"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B08300"/>
                </a:solidFill>
                <a:latin typeface="Segoe UI"/>
                <a:ea typeface="Microsoft YaHei"/>
                <a:cs typeface="Segoe UI"/>
              </a:rPr>
              <a:t>Contribution 贡献</a:t>
            </a:r>
          </a:p>
        </p:txBody>
      </p:sp>
      <p:cxnSp>
        <p:nvCxnSpPr>
          <p:cNvPr id="34" name="Connector 33"/>
          <p:cNvCxnSpPr/>
          <p:nvPr/>
        </p:nvCxnSpPr>
        <p:spPr>
          <a:xfrm>
            <a:off x="4005072" y="5596127"/>
            <a:ext cx="3203380"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7847545" y="2542032"/>
            <a:ext cx="3722357" cy="1371600"/>
          </a:xfrm>
          <a:prstGeom prst="roundRect">
            <a:avLst>
              <a:gd name="adj" fmla="val 6000"/>
            </a:avLst>
          </a:prstGeom>
          <a:solidFill>
            <a:srgbClr val="FBEC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8121865" y="2743200"/>
            <a:ext cx="3173717" cy="457200"/>
          </a:xfrm>
          <a:prstGeom prst="rect">
            <a:avLst/>
          </a:prstGeom>
          <a:noFill/>
        </p:spPr>
        <p:txBody>
          <a:bodyPr wrap="square" lIns="0" rIns="0" tIns="0" bIns="0" anchor="t">
            <a:spAutoFit/>
          </a:bodyPr>
          <a:lstStyle/>
          <a:p>
            <a:pPr algn="l">
              <a:lnSpc>
                <a:spcPct val="116000"/>
              </a:lnSpc>
              <a:spcBef>
                <a:spcPts val="0"/>
              </a:spcBef>
              <a:spcAft>
                <a:spcPts val="600"/>
              </a:spcAft>
            </a:pPr>
            <a:r>
              <a:rPr sz="1900" b="1" i="0" u="none">
                <a:solidFill>
                  <a:srgbClr val="C95527"/>
                </a:solidFill>
                <a:latin typeface="Segoe UI"/>
                <a:ea typeface="Microsoft YaHei"/>
                <a:cs typeface="Segoe UI"/>
              </a:rPr>
              <a:t>我给这篇</a:t>
            </a:r>
          </a:p>
        </p:txBody>
      </p:sp>
      <p:sp>
        <p:nvSpPr>
          <p:cNvPr id="37" name="TextBox 36"/>
          <p:cNvSpPr txBox="1"/>
          <p:nvPr/>
        </p:nvSpPr>
        <p:spPr>
          <a:xfrm>
            <a:off x="8121865" y="3200400"/>
            <a:ext cx="3173717" cy="548640"/>
          </a:xfrm>
          <a:prstGeom prst="rect">
            <a:avLst/>
          </a:prstGeom>
          <a:noFill/>
        </p:spPr>
        <p:txBody>
          <a:bodyPr wrap="square" lIns="0" rIns="0" tIns="0" bIns="0" anchor="t">
            <a:spAutoFit/>
          </a:bodyPr>
          <a:lstStyle/>
          <a:p>
            <a:pPr algn="l">
              <a:lnSpc>
                <a:spcPct val="116000"/>
              </a:lnSpc>
              <a:spcBef>
                <a:spcPts val="0"/>
              </a:spcBef>
              <a:spcAft>
                <a:spcPts val="0"/>
              </a:spcAft>
            </a:pPr>
            <a:r>
              <a:rPr sz="2600" b="1" i="0" u="none">
                <a:solidFill>
                  <a:srgbClr val="C95527"/>
                </a:solidFill>
                <a:latin typeface="Segoe UI"/>
                <a:ea typeface="Microsoft YaHei"/>
                <a:cs typeface="Segoe UI"/>
              </a:rPr>
              <a:t>________  分</a:t>
            </a:r>
          </a:p>
        </p:txBody>
      </p:sp>
      <p:sp>
        <p:nvSpPr>
          <p:cNvPr id="38" name="Rounded Rectangle 37"/>
          <p:cNvSpPr/>
          <p:nvPr/>
        </p:nvSpPr>
        <p:spPr>
          <a:xfrm>
            <a:off x="7847545" y="4050791"/>
            <a:ext cx="3722357" cy="2212848"/>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8121865" y="4251960"/>
            <a:ext cx="3173717" cy="1828800"/>
          </a:xfrm>
          <a:prstGeom prst="rect">
            <a:avLst/>
          </a:prstGeom>
          <a:noFill/>
        </p:spPr>
        <p:txBody>
          <a:bodyPr wrap="square" lIns="0" rIns="0" tIns="0" bIns="0" anchor="t">
            <a:spAutoFit/>
          </a:bodyPr>
          <a:lstStyle/>
          <a:p>
            <a:pPr algn="l">
              <a:lnSpc>
                <a:spcPct val="116000"/>
              </a:lnSpc>
              <a:spcBef>
                <a:spcPts val="0"/>
              </a:spcBef>
              <a:spcAft>
                <a:spcPts val="800"/>
              </a:spcAft>
            </a:pPr>
            <a:r>
              <a:rPr sz="1900" b="1" i="0" u="none">
                <a:solidFill>
                  <a:srgbClr val="0E5362"/>
                </a:solidFill>
                <a:latin typeface="Segoe UI"/>
                <a:ea typeface="Microsoft YaHei"/>
                <a:cs typeface="Segoe UI"/>
              </a:rPr>
              <a:t>打分之前先看：</a:t>
            </a:r>
          </a:p>
          <a:p>
            <a:pPr algn="l">
              <a:lnSpc>
                <a:spcPct val="120000"/>
              </a:lnSpc>
              <a:spcBef>
                <a:spcPts val="0"/>
              </a:spcBef>
              <a:spcAft>
                <a:spcPts val="0"/>
              </a:spcAft>
            </a:pPr>
            <a:r>
              <a:rPr sz="1900" b="0" i="0" u="none">
                <a:solidFill>
                  <a:srgbClr val="172A31"/>
                </a:solidFill>
                <a:latin typeface="Segoe UI"/>
                <a:ea typeface="Microsoft YaHei"/>
                <a:cs typeface="Segoe UI"/>
              </a:rPr>
              <a:t>① Reason 具体了吗？具体在哪个词上？
② 例子里的那个人是谁？她做了什么？
③ 例子后面有没有写「结果」？</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3 · 3/4/5 分</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36</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约 4 分</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2A7E8E"/>
                </a:solidFill>
                <a:latin typeface="Segoe UI"/>
                <a:ea typeface="Microsoft YaHei"/>
                <a:cs typeface="Segoe UI"/>
              </a:rPr>
              <a:t>Response B · 讲评</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645920"/>
            <a:ext cx="10948111" cy="731520"/>
          </a:xfrm>
          <a:prstGeom prst="roundRect">
            <a:avLst>
              <a:gd name="adj" fmla="val 6000"/>
            </a:avLst>
          </a:prstGeom>
          <a:solidFill>
            <a:srgbClr val="2A7E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87552" y="1847644"/>
            <a:ext cx="10170871" cy="328071"/>
          </a:xfrm>
          <a:prstGeom prst="rect">
            <a:avLst/>
          </a:prstGeom>
          <a:noFill/>
        </p:spPr>
        <p:txBody>
          <a:bodyPr wrap="square" lIns="0" rIns="0" tIns="0" bIns="0" anchor="t">
            <a:spAutoFit/>
          </a:bodyPr>
          <a:lstStyle/>
          <a:p>
            <a:pPr algn="l">
              <a:lnSpc>
                <a:spcPct val="114000"/>
              </a:lnSpc>
              <a:spcBef>
                <a:spcPts val="0"/>
              </a:spcBef>
              <a:spcAft>
                <a:spcPts val="0"/>
              </a:spcAft>
            </a:pPr>
            <a:r>
              <a:rPr sz="2200" b="1" i="0" u="none">
                <a:solidFill>
                  <a:srgbClr val="FFFFFF"/>
                </a:solidFill>
                <a:latin typeface="Segoe UI"/>
                <a:ea typeface="Microsoft YaHei"/>
                <a:cs typeface="Segoe UI"/>
              </a:rPr>
              <a:t>理由具体了，也有真例子——但链条到例子就停了。</a:t>
            </a:r>
          </a:p>
        </p:txBody>
      </p:sp>
      <p:sp>
        <p:nvSpPr>
          <p:cNvPr id="10" name="Rounded Rectangle 9"/>
          <p:cNvSpPr/>
          <p:nvPr/>
        </p:nvSpPr>
        <p:spPr>
          <a:xfrm>
            <a:off x="621792" y="2523744"/>
            <a:ext cx="5336895" cy="3455395"/>
          </a:xfrm>
          <a:prstGeom prst="roundRect">
            <a:avLst>
              <a:gd name="adj" fmla="val 6000"/>
            </a:avLst>
          </a:prstGeom>
          <a:solidFill>
            <a:srgbClr val="E7F1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14400" y="2706624"/>
            <a:ext cx="4742535" cy="36576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2E6B4F"/>
                </a:solidFill>
                <a:latin typeface="Segoe UI"/>
                <a:ea typeface="Microsoft YaHei"/>
                <a:cs typeface="Segoe UI"/>
              </a:rPr>
              <a:t>它已经做到的</a:t>
            </a:r>
          </a:p>
        </p:txBody>
      </p:sp>
      <p:sp>
        <p:nvSpPr>
          <p:cNvPr id="12" name="TextBox 11"/>
          <p:cNvSpPr txBox="1"/>
          <p:nvPr/>
        </p:nvSpPr>
        <p:spPr>
          <a:xfrm>
            <a:off x="914400" y="3145536"/>
            <a:ext cx="4742535" cy="566668"/>
          </a:xfrm>
          <a:prstGeom prst="rect">
            <a:avLst/>
          </a:prstGeom>
          <a:noFill/>
        </p:spPr>
        <p:txBody>
          <a:bodyPr wrap="square" lIns="0" rIns="0" tIns="0" bIns="0" anchor="t">
            <a:spAutoFit/>
          </a:bodyPr>
          <a:lstStyle/>
          <a:p>
            <a:pPr algn="l">
              <a:lnSpc>
                <a:spcPct val="114000"/>
              </a:lnSpc>
              <a:spcAft>
                <a:spcPts val="0"/>
              </a:spcAft>
            </a:pPr>
            <a:r>
              <a:rPr sz="1900" b="1" i="0" u="none">
                <a:solidFill>
                  <a:srgbClr val="2E6B4F"/>
                </a:solidFill>
                <a:latin typeface="Segoe UI"/>
                <a:ea typeface="Microsoft YaHei"/>
                <a:cs typeface="Segoe UI"/>
              </a:rPr>
              <a:t>√  </a:t>
            </a:r>
            <a:r>
              <a:rPr sz="1900" b="0" i="0" u="none">
                <a:solidFill>
                  <a:srgbClr val="172A31"/>
                </a:solidFill>
                <a:latin typeface="Segoe UI"/>
                <a:ea typeface="Microsoft YaHei"/>
                <a:cs typeface="Segoe UI"/>
              </a:rPr>
              <a:t>Reason 具体：skills that employers can actually check</a:t>
            </a:r>
          </a:p>
        </p:txBody>
      </p:sp>
      <p:sp>
        <p:nvSpPr>
          <p:cNvPr id="13" name="TextBox 12"/>
          <p:cNvSpPr txBox="1"/>
          <p:nvPr/>
        </p:nvSpPr>
        <p:spPr>
          <a:xfrm>
            <a:off x="914400" y="3840220"/>
            <a:ext cx="4742535" cy="566668"/>
          </a:xfrm>
          <a:prstGeom prst="rect">
            <a:avLst/>
          </a:prstGeom>
          <a:noFill/>
        </p:spPr>
        <p:txBody>
          <a:bodyPr wrap="square" lIns="0" rIns="0" tIns="0" bIns="0" anchor="t">
            <a:spAutoFit/>
          </a:bodyPr>
          <a:lstStyle/>
          <a:p>
            <a:pPr algn="l">
              <a:lnSpc>
                <a:spcPct val="114000"/>
              </a:lnSpc>
              <a:spcAft>
                <a:spcPts val="0"/>
              </a:spcAft>
            </a:pPr>
            <a:r>
              <a:rPr sz="1900" b="1" i="0" u="none">
                <a:solidFill>
                  <a:srgbClr val="2E6B4F"/>
                </a:solidFill>
                <a:latin typeface="Segoe UI"/>
                <a:ea typeface="Microsoft YaHei"/>
                <a:cs typeface="Segoe UI"/>
              </a:rPr>
              <a:t>√  </a:t>
            </a:r>
            <a:r>
              <a:rPr sz="1900" b="0" i="0" u="none">
                <a:solidFill>
                  <a:srgbClr val="172A31"/>
                </a:solidFill>
                <a:latin typeface="Segoe UI"/>
                <a:ea typeface="Microsoft YaHei"/>
                <a:cs typeface="Segoe UI"/>
              </a:rPr>
              <a:t>有 WHY：a degree shows real training, so a company is willing to interview</a:t>
            </a:r>
          </a:p>
        </p:txBody>
      </p:sp>
      <p:sp>
        <p:nvSpPr>
          <p:cNvPr id="14" name="TextBox 13"/>
          <p:cNvSpPr txBox="1"/>
          <p:nvPr/>
        </p:nvSpPr>
        <p:spPr>
          <a:xfrm>
            <a:off x="914400" y="4534905"/>
            <a:ext cx="4742535" cy="566668"/>
          </a:xfrm>
          <a:prstGeom prst="rect">
            <a:avLst/>
          </a:prstGeom>
          <a:noFill/>
        </p:spPr>
        <p:txBody>
          <a:bodyPr wrap="square" lIns="0" rIns="0" tIns="0" bIns="0" anchor="t">
            <a:spAutoFit/>
          </a:bodyPr>
          <a:lstStyle/>
          <a:p>
            <a:pPr algn="l">
              <a:lnSpc>
                <a:spcPct val="114000"/>
              </a:lnSpc>
              <a:spcAft>
                <a:spcPts val="0"/>
              </a:spcAft>
            </a:pPr>
            <a:r>
              <a:rPr sz="1900" b="1" i="0" u="none">
                <a:solidFill>
                  <a:srgbClr val="2E6B4F"/>
                </a:solidFill>
                <a:latin typeface="Segoe UI"/>
                <a:ea typeface="Microsoft YaHei"/>
                <a:cs typeface="Segoe UI"/>
              </a:rPr>
              <a:t>√  </a:t>
            </a:r>
            <a:r>
              <a:rPr sz="1900" b="0" i="0" u="none">
                <a:solidFill>
                  <a:srgbClr val="172A31"/>
                </a:solidFill>
                <a:latin typeface="Segoe UI"/>
                <a:ea typeface="Microsoft YaHei"/>
                <a:cs typeface="Segoe UI"/>
              </a:rPr>
              <a:t>有真例子：a student from a small town / a nursing program / a city hospital</a:t>
            </a:r>
          </a:p>
        </p:txBody>
      </p:sp>
      <p:sp>
        <p:nvSpPr>
          <p:cNvPr id="15" name="TextBox 14"/>
          <p:cNvSpPr txBox="1"/>
          <p:nvPr/>
        </p:nvSpPr>
        <p:spPr>
          <a:xfrm>
            <a:off x="914400" y="5229590"/>
            <a:ext cx="4742535" cy="566668"/>
          </a:xfrm>
          <a:prstGeom prst="rect">
            <a:avLst/>
          </a:prstGeom>
          <a:noFill/>
        </p:spPr>
        <p:txBody>
          <a:bodyPr wrap="square" lIns="0" rIns="0" tIns="0" bIns="0" anchor="t">
            <a:spAutoFit/>
          </a:bodyPr>
          <a:lstStyle/>
          <a:p>
            <a:pPr algn="l">
              <a:lnSpc>
                <a:spcPct val="114000"/>
              </a:lnSpc>
              <a:spcAft>
                <a:spcPts val="0"/>
              </a:spcAft>
            </a:pPr>
            <a:r>
              <a:rPr sz="1900" b="1" i="0" u="none">
                <a:solidFill>
                  <a:srgbClr val="2E6B4F"/>
                </a:solidFill>
                <a:latin typeface="Segoe UI"/>
                <a:ea typeface="Microsoft YaHei"/>
                <a:cs typeface="Segoe UI"/>
              </a:rPr>
              <a:t>√  </a:t>
            </a:r>
            <a:r>
              <a:rPr sz="1900" b="0" i="0" u="none">
                <a:solidFill>
                  <a:srgbClr val="172A31"/>
                </a:solidFill>
                <a:latin typeface="Segoe UI"/>
                <a:ea typeface="Microsoft YaHei"/>
                <a:cs typeface="Segoe UI"/>
              </a:rPr>
              <a:t>回应了 Andrew，并做了区分（connections 帮的是已经有资格的人）</a:t>
            </a:r>
          </a:p>
        </p:txBody>
      </p:sp>
      <p:sp>
        <p:nvSpPr>
          <p:cNvPr id="16" name="Rounded Rectangle 15"/>
          <p:cNvSpPr/>
          <p:nvPr/>
        </p:nvSpPr>
        <p:spPr>
          <a:xfrm>
            <a:off x="6233007" y="2523744"/>
            <a:ext cx="5336895" cy="3455395"/>
          </a:xfrm>
          <a:prstGeom prst="roundRect">
            <a:avLst>
              <a:gd name="adj" fmla="val 6000"/>
            </a:avLst>
          </a:prstGeom>
          <a:solidFill>
            <a:srgbClr val="FBEC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525615" y="2706624"/>
            <a:ext cx="4742535" cy="36576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C95527"/>
                </a:solidFill>
                <a:latin typeface="Segoe UI"/>
                <a:ea typeface="Microsoft YaHei"/>
                <a:cs typeface="Segoe UI"/>
              </a:rPr>
              <a:t>它缺的东西（丢分点）</a:t>
            </a:r>
          </a:p>
        </p:txBody>
      </p:sp>
      <p:sp>
        <p:nvSpPr>
          <p:cNvPr id="18" name="TextBox 17"/>
          <p:cNvSpPr txBox="1"/>
          <p:nvPr/>
        </p:nvSpPr>
        <p:spPr>
          <a:xfrm>
            <a:off x="6525615" y="3145536"/>
            <a:ext cx="4742535" cy="566668"/>
          </a:xfrm>
          <a:prstGeom prst="rect">
            <a:avLst/>
          </a:prstGeom>
          <a:noFill/>
        </p:spPr>
        <p:txBody>
          <a:bodyPr wrap="square" lIns="0" rIns="0" tIns="0" bIns="0" anchor="t">
            <a:spAutoFit/>
          </a:bodyPr>
          <a:lstStyle/>
          <a:p>
            <a:pPr algn="l">
              <a:lnSpc>
                <a:spcPct val="114000"/>
              </a:lnSpc>
              <a:spcAft>
                <a:spcPts val="0"/>
              </a:spcAft>
            </a:pPr>
            <a:r>
              <a:rPr sz="1900" b="1" i="0" u="none">
                <a:solidFill>
                  <a:srgbClr val="C95527"/>
                </a:solidFill>
                <a:latin typeface="Segoe UI"/>
                <a:ea typeface="Microsoft YaHei"/>
                <a:cs typeface="Segoe UI"/>
              </a:rPr>
              <a:t>×  </a:t>
            </a:r>
            <a:r>
              <a:rPr sz="1900" b="0" i="0" u="none">
                <a:solidFill>
                  <a:srgbClr val="172A31"/>
                </a:solidFill>
                <a:latin typeface="Segoe UI"/>
                <a:ea typeface="Microsoft YaHei"/>
                <a:cs typeface="Segoe UI"/>
              </a:rPr>
              <a:t>例子后面缺一句 RESULT——这件事最后带来什么？</a:t>
            </a:r>
          </a:p>
        </p:txBody>
      </p:sp>
      <p:sp>
        <p:nvSpPr>
          <p:cNvPr id="19" name="TextBox 18"/>
          <p:cNvSpPr txBox="1"/>
          <p:nvPr/>
        </p:nvSpPr>
        <p:spPr>
          <a:xfrm>
            <a:off x="6525615" y="3840220"/>
            <a:ext cx="4742535" cy="566668"/>
          </a:xfrm>
          <a:prstGeom prst="rect">
            <a:avLst/>
          </a:prstGeom>
          <a:noFill/>
        </p:spPr>
        <p:txBody>
          <a:bodyPr wrap="square" lIns="0" rIns="0" tIns="0" bIns="0" anchor="t">
            <a:spAutoFit/>
          </a:bodyPr>
          <a:lstStyle/>
          <a:p>
            <a:pPr algn="l">
              <a:lnSpc>
                <a:spcPct val="114000"/>
              </a:lnSpc>
              <a:spcAft>
                <a:spcPts val="0"/>
              </a:spcAft>
            </a:pPr>
            <a:r>
              <a:rPr sz="1900" b="1" i="0" u="none">
                <a:solidFill>
                  <a:srgbClr val="C95527"/>
                </a:solidFill>
                <a:latin typeface="Segoe UI"/>
                <a:ea typeface="Microsoft YaHei"/>
                <a:cs typeface="Segoe UI"/>
              </a:rPr>
              <a:t>×  </a:t>
            </a:r>
            <a:r>
              <a:rPr sz="1900" b="0" i="0" u="none">
                <a:solidFill>
                  <a:srgbClr val="172A31"/>
                </a:solidFill>
                <a:latin typeface="Segoe UI"/>
                <a:ea typeface="Microsoft YaHei"/>
                <a:cs typeface="Segoe UI"/>
              </a:rPr>
              <a:t>Contribution 偏「让步 + 重申立场」，新角度还不够明显</a:t>
            </a:r>
          </a:p>
        </p:txBody>
      </p:sp>
      <p:sp>
        <p:nvSpPr>
          <p:cNvPr id="20" name="TextBox 19"/>
          <p:cNvSpPr txBox="1"/>
          <p:nvPr/>
        </p:nvSpPr>
        <p:spPr>
          <a:xfrm>
            <a:off x="6525615" y="4534905"/>
            <a:ext cx="4742535" cy="566668"/>
          </a:xfrm>
          <a:prstGeom prst="rect">
            <a:avLst/>
          </a:prstGeom>
          <a:noFill/>
        </p:spPr>
        <p:txBody>
          <a:bodyPr wrap="square" lIns="0" rIns="0" tIns="0" bIns="0" anchor="t">
            <a:spAutoFit/>
          </a:bodyPr>
          <a:lstStyle/>
          <a:p>
            <a:pPr algn="l">
              <a:lnSpc>
                <a:spcPct val="114000"/>
              </a:lnSpc>
              <a:spcAft>
                <a:spcPts val="0"/>
              </a:spcAft>
            </a:pPr>
            <a:r>
              <a:rPr sz="1900" b="1" i="0" u="none">
                <a:solidFill>
                  <a:srgbClr val="C95527"/>
                </a:solidFill>
                <a:latin typeface="Segoe UI"/>
                <a:ea typeface="Microsoft YaHei"/>
                <a:cs typeface="Segoe UI"/>
              </a:rPr>
              <a:t>×  </a:t>
            </a:r>
            <a:r>
              <a:rPr sz="1900" b="0" i="0" u="none">
                <a:solidFill>
                  <a:srgbClr val="172A31"/>
                </a:solidFill>
                <a:latin typeface="Segoe UI"/>
                <a:ea typeface="Microsoft YaHei"/>
                <a:cs typeface="Segoe UI"/>
              </a:rPr>
              <a:t>立场比较平，没有处理「两者其实相关」这层</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3 · 3/4/5 分</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37</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SAMPLE · 先不给分数</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Response C（上半）</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700784"/>
            <a:ext cx="10948111" cy="4041648"/>
          </a:xfrm>
          <a:prstGeom prst="roundRect">
            <a:avLst>
              <a:gd name="adj" fmla="val 6000"/>
            </a:avLst>
          </a:prstGeom>
          <a:solidFill>
            <a:srgbClr val="FFFFFF"/>
          </a:solidFill>
          <a:ln w="20320">
            <a:solidFill>
              <a:srgbClr val="0E536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33272" y="1975104"/>
            <a:ext cx="10125151" cy="3858768"/>
          </a:xfrm>
          <a:prstGeom prst="rect">
            <a:avLst/>
          </a:prstGeom>
          <a:noFill/>
        </p:spPr>
        <p:txBody>
          <a:bodyPr wrap="square" lIns="0" rIns="0" tIns="0" bIns="0" anchor="t">
            <a:spAutoFit/>
          </a:bodyPr>
          <a:lstStyle/>
          <a:p>
            <a:pPr algn="l">
              <a:lnSpc>
                <a:spcPct val="124000"/>
              </a:lnSpc>
              <a:spcBef>
                <a:spcPts val="0"/>
              </a:spcBef>
              <a:spcAft>
                <a:spcPts val="1000"/>
              </a:spcAft>
            </a:pPr>
            <a:r>
              <a:rPr sz="2200" b="0" i="0" u="none">
                <a:solidFill>
                  <a:srgbClr val="172A31"/>
                </a:solidFill>
                <a:latin typeface="Segoe UI"/>
                <a:ea typeface="Microsoft YaHei"/>
                <a:cs typeface="Segoe UI"/>
              </a:rPr>
              <a:t>I would argue that education matters more, although the two are not really separate. One important reason is that education is the one advantage a person can build without already belonging to a network. Skills can be earned by studying, while connections usually have to be inherited or introduced. This matters because students from ordinary families simply have no one to introduce them.</a:t>
            </a:r>
          </a:p>
        </p:txBody>
      </p:sp>
      <p:sp>
        <p:nvSpPr>
          <p:cNvPr id="10" name="TextBox 9"/>
          <p:cNvSpPr txBox="1"/>
          <p:nvPr/>
        </p:nvSpPr>
        <p:spPr>
          <a:xfrm>
            <a:off x="621792" y="5888736"/>
            <a:ext cx="1094811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Teacher-created sample based on ETS rubric｜依据 ETS 评分标准编写的教学模拟范文</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3 · 3/4/5 分</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38</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SAMPLE · 先不给分数</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Response C（下半）</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700784"/>
            <a:ext cx="10948111" cy="4041648"/>
          </a:xfrm>
          <a:prstGeom prst="roundRect">
            <a:avLst>
              <a:gd name="adj" fmla="val 6000"/>
            </a:avLst>
          </a:prstGeom>
          <a:solidFill>
            <a:srgbClr val="FFFFFF"/>
          </a:solidFill>
          <a:ln w="20320">
            <a:solidFill>
              <a:srgbClr val="0E536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33272" y="1975104"/>
            <a:ext cx="10125151" cy="3858768"/>
          </a:xfrm>
          <a:prstGeom prst="rect">
            <a:avLst/>
          </a:prstGeom>
          <a:noFill/>
        </p:spPr>
        <p:txBody>
          <a:bodyPr wrap="square" lIns="0" rIns="0" tIns="0" bIns="0" anchor="t">
            <a:spAutoFit/>
          </a:bodyPr>
          <a:lstStyle/>
          <a:p>
            <a:pPr algn="l">
              <a:lnSpc>
                <a:spcPct val="124000"/>
              </a:lnSpc>
              <a:spcBef>
                <a:spcPts val="0"/>
              </a:spcBef>
              <a:spcAft>
                <a:spcPts val="1000"/>
              </a:spcAft>
            </a:pPr>
            <a:r>
              <a:rPr sz="2200" b="0" i="0" u="none">
                <a:solidFill>
                  <a:srgbClr val="172A31"/>
                </a:solidFill>
                <a:latin typeface="Segoe UI"/>
                <a:ea typeface="Microsoft YaHei"/>
                <a:cs typeface="Segoe UI"/>
              </a:rPr>
              <a:t>For example, a student whose parents are farmers can finish an accounting qualification, pass a company's entrance test, and be hired by a firm where she knows nobody. As a result, her first job then becomes her first network. I agree with Andrew that connections open doors, but I would add that education is usually what gets a person into the room where those connections are formed.</a:t>
            </a:r>
          </a:p>
        </p:txBody>
      </p:sp>
      <p:sp>
        <p:nvSpPr>
          <p:cNvPr id="10" name="TextBox 9"/>
          <p:cNvSpPr txBox="1"/>
          <p:nvPr/>
        </p:nvSpPr>
        <p:spPr>
          <a:xfrm>
            <a:off x="621792" y="5888736"/>
            <a:ext cx="1094811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Teacher-created sample based on ETS rubric｜依据 ETS 评分标准编写的教学模拟范文</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3 · 3/4/5 分</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39</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TASK · 学生输出</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B08300"/>
                </a:solidFill>
                <a:latin typeface="Segoe UI"/>
                <a:ea typeface="Microsoft YaHei"/>
                <a:cs typeface="Segoe UI"/>
              </a:rPr>
              <a:t>Response C · 你来圈，你来打分</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673352"/>
            <a:ext cx="10948111" cy="658368"/>
          </a:xfrm>
          <a:prstGeom prst="roundRect">
            <a:avLst>
              <a:gd name="adj" fmla="val 6000"/>
            </a:avLst>
          </a:prstGeom>
          <a:solidFill>
            <a:srgbClr val="FAF2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32688" y="1828800"/>
            <a:ext cx="10308031" cy="45720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B08300"/>
                </a:solidFill>
                <a:latin typeface="Segoe UI"/>
                <a:ea typeface="Microsoft YaHei"/>
                <a:cs typeface="Segoe UI"/>
              </a:rPr>
              <a:t>在讲义上圈出五要素，找不到就写「无」。然后写一个分数。</a:t>
            </a:r>
          </a:p>
        </p:txBody>
      </p:sp>
      <p:sp>
        <p:nvSpPr>
          <p:cNvPr id="10" name="Rounded Rectangle 9"/>
          <p:cNvSpPr/>
          <p:nvPr/>
        </p:nvSpPr>
        <p:spPr>
          <a:xfrm>
            <a:off x="621792" y="2542032"/>
            <a:ext cx="6787828" cy="566928"/>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21792" y="2542032"/>
            <a:ext cx="658368" cy="566928"/>
          </a:xfrm>
          <a:prstGeom prst="roundRect">
            <a:avLst>
              <a:gd name="adj" fmla="val 6000"/>
            </a:avLst>
          </a:prstGeom>
          <a:solidFill>
            <a:srgbClr val="0E53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21792" y="2651760"/>
            <a:ext cx="658368" cy="365760"/>
          </a:xfrm>
          <a:prstGeom prst="rect">
            <a:avLst/>
          </a:prstGeom>
          <a:noFill/>
        </p:spPr>
        <p:txBody>
          <a:bodyPr wrap="square" lIns="0" rIns="0" tIns="0" bIns="0" anchor="t">
            <a:spAutoFit/>
          </a:bodyPr>
          <a:lstStyle/>
          <a:p>
            <a:pPr algn="ctr">
              <a:lnSpc>
                <a:spcPct val="116000"/>
              </a:lnSpc>
              <a:spcBef>
                <a:spcPts val="0"/>
              </a:spcBef>
              <a:spcAft>
                <a:spcPts val="0"/>
              </a:spcAft>
            </a:pPr>
            <a:r>
              <a:rPr sz="1900" b="1" i="0" u="none">
                <a:solidFill>
                  <a:srgbClr val="FFFFFF"/>
                </a:solidFill>
                <a:latin typeface="Segoe UI"/>
                <a:ea typeface="Microsoft YaHei"/>
                <a:cs typeface="Segoe UI"/>
              </a:rPr>
              <a:t>P</a:t>
            </a:r>
          </a:p>
        </p:txBody>
      </p:sp>
      <p:sp>
        <p:nvSpPr>
          <p:cNvPr id="13" name="TextBox 12"/>
          <p:cNvSpPr txBox="1"/>
          <p:nvPr/>
        </p:nvSpPr>
        <p:spPr>
          <a:xfrm>
            <a:off x="1463040" y="2660904"/>
            <a:ext cx="2377440"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0E5362"/>
                </a:solidFill>
                <a:latin typeface="Segoe UI"/>
                <a:ea typeface="Microsoft YaHei"/>
                <a:cs typeface="Segoe UI"/>
              </a:rPr>
              <a:t>Position 立场</a:t>
            </a:r>
          </a:p>
        </p:txBody>
      </p:sp>
      <p:cxnSp>
        <p:nvCxnSpPr>
          <p:cNvPr id="14" name="Connector 13"/>
          <p:cNvCxnSpPr/>
          <p:nvPr/>
        </p:nvCxnSpPr>
        <p:spPr>
          <a:xfrm>
            <a:off x="4005072" y="2962656"/>
            <a:ext cx="3203380"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21792" y="3200400"/>
            <a:ext cx="6787828" cy="566928"/>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621792" y="3200400"/>
            <a:ext cx="658368" cy="566928"/>
          </a:xfrm>
          <a:prstGeom prst="roundRect">
            <a:avLst>
              <a:gd name="adj" fmla="val 6000"/>
            </a:avLst>
          </a:prstGeom>
          <a:solidFill>
            <a:srgbClr val="2A7E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21792" y="3310128"/>
            <a:ext cx="658368" cy="365760"/>
          </a:xfrm>
          <a:prstGeom prst="rect">
            <a:avLst/>
          </a:prstGeom>
          <a:noFill/>
        </p:spPr>
        <p:txBody>
          <a:bodyPr wrap="square" lIns="0" rIns="0" tIns="0" bIns="0" anchor="t">
            <a:spAutoFit/>
          </a:bodyPr>
          <a:lstStyle/>
          <a:p>
            <a:pPr algn="ctr">
              <a:lnSpc>
                <a:spcPct val="116000"/>
              </a:lnSpc>
              <a:spcBef>
                <a:spcPts val="0"/>
              </a:spcBef>
              <a:spcAft>
                <a:spcPts val="0"/>
              </a:spcAft>
            </a:pPr>
            <a:r>
              <a:rPr sz="1900" b="1" i="0" u="none">
                <a:solidFill>
                  <a:srgbClr val="FFFFFF"/>
                </a:solidFill>
                <a:latin typeface="Segoe UI"/>
                <a:ea typeface="Microsoft YaHei"/>
                <a:cs typeface="Segoe UI"/>
              </a:rPr>
              <a:t>R</a:t>
            </a:r>
          </a:p>
        </p:txBody>
      </p:sp>
      <p:sp>
        <p:nvSpPr>
          <p:cNvPr id="18" name="TextBox 17"/>
          <p:cNvSpPr txBox="1"/>
          <p:nvPr/>
        </p:nvSpPr>
        <p:spPr>
          <a:xfrm>
            <a:off x="1463040" y="3319272"/>
            <a:ext cx="2377440"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2A7E8E"/>
                </a:solidFill>
                <a:latin typeface="Segoe UI"/>
                <a:ea typeface="Microsoft YaHei"/>
                <a:cs typeface="Segoe UI"/>
              </a:rPr>
              <a:t>Reason 理由</a:t>
            </a:r>
          </a:p>
        </p:txBody>
      </p:sp>
      <p:cxnSp>
        <p:nvCxnSpPr>
          <p:cNvPr id="19" name="Connector 18"/>
          <p:cNvCxnSpPr/>
          <p:nvPr/>
        </p:nvCxnSpPr>
        <p:spPr>
          <a:xfrm>
            <a:off x="4005072" y="3621024"/>
            <a:ext cx="3203380"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1792" y="3858768"/>
            <a:ext cx="6787828" cy="566928"/>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621792" y="3858768"/>
            <a:ext cx="658368" cy="566928"/>
          </a:xfrm>
          <a:prstGeom prst="roundRect">
            <a:avLst>
              <a:gd name="adj" fmla="val 6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21792" y="3968496"/>
            <a:ext cx="658368" cy="365760"/>
          </a:xfrm>
          <a:prstGeom prst="rect">
            <a:avLst/>
          </a:prstGeom>
          <a:noFill/>
        </p:spPr>
        <p:txBody>
          <a:bodyPr wrap="square" lIns="0" rIns="0" tIns="0" bIns="0" anchor="t">
            <a:spAutoFit/>
          </a:bodyPr>
          <a:lstStyle/>
          <a:p>
            <a:pPr algn="ctr">
              <a:lnSpc>
                <a:spcPct val="116000"/>
              </a:lnSpc>
              <a:spcBef>
                <a:spcPts val="0"/>
              </a:spcBef>
              <a:spcAft>
                <a:spcPts val="0"/>
              </a:spcAft>
            </a:pPr>
            <a:r>
              <a:rPr sz="1900" b="1" i="0" u="none">
                <a:solidFill>
                  <a:srgbClr val="FFFFFF"/>
                </a:solidFill>
                <a:latin typeface="Segoe UI"/>
                <a:ea typeface="Microsoft YaHei"/>
                <a:cs typeface="Segoe UI"/>
              </a:rPr>
              <a:t>W</a:t>
            </a:r>
          </a:p>
        </p:txBody>
      </p:sp>
      <p:sp>
        <p:nvSpPr>
          <p:cNvPr id="23" name="TextBox 22"/>
          <p:cNvSpPr txBox="1"/>
          <p:nvPr/>
        </p:nvSpPr>
        <p:spPr>
          <a:xfrm>
            <a:off x="1463040" y="3977639"/>
            <a:ext cx="2377440"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Why 解释</a:t>
            </a:r>
          </a:p>
        </p:txBody>
      </p:sp>
      <p:cxnSp>
        <p:nvCxnSpPr>
          <p:cNvPr id="24" name="Connector 23"/>
          <p:cNvCxnSpPr/>
          <p:nvPr/>
        </p:nvCxnSpPr>
        <p:spPr>
          <a:xfrm>
            <a:off x="4005072" y="4279392"/>
            <a:ext cx="3203380"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21792" y="4517136"/>
            <a:ext cx="6787828" cy="566928"/>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621792" y="4517136"/>
            <a:ext cx="658368" cy="566928"/>
          </a:xfrm>
          <a:prstGeom prst="roundRect">
            <a:avLst>
              <a:gd name="adj" fmla="val 6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21792" y="4626864"/>
            <a:ext cx="658368" cy="365760"/>
          </a:xfrm>
          <a:prstGeom prst="rect">
            <a:avLst/>
          </a:prstGeom>
          <a:noFill/>
        </p:spPr>
        <p:txBody>
          <a:bodyPr wrap="square" lIns="0" rIns="0" tIns="0" bIns="0" anchor="t">
            <a:spAutoFit/>
          </a:bodyPr>
          <a:lstStyle/>
          <a:p>
            <a:pPr algn="ctr">
              <a:lnSpc>
                <a:spcPct val="116000"/>
              </a:lnSpc>
              <a:spcBef>
                <a:spcPts val="0"/>
              </a:spcBef>
              <a:spcAft>
                <a:spcPts val="0"/>
              </a:spcAft>
            </a:pPr>
            <a:r>
              <a:rPr sz="1900" b="1" i="0" u="none">
                <a:solidFill>
                  <a:srgbClr val="FFFFFF"/>
                </a:solidFill>
                <a:latin typeface="Segoe UI"/>
                <a:ea typeface="Microsoft YaHei"/>
                <a:cs typeface="Segoe UI"/>
              </a:rPr>
              <a:t>Ex</a:t>
            </a:r>
          </a:p>
        </p:txBody>
      </p:sp>
      <p:sp>
        <p:nvSpPr>
          <p:cNvPr id="28" name="TextBox 27"/>
          <p:cNvSpPr txBox="1"/>
          <p:nvPr/>
        </p:nvSpPr>
        <p:spPr>
          <a:xfrm>
            <a:off x="1463040" y="4636007"/>
            <a:ext cx="2377440"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Example 例子</a:t>
            </a:r>
          </a:p>
        </p:txBody>
      </p:sp>
      <p:cxnSp>
        <p:nvCxnSpPr>
          <p:cNvPr id="29" name="Connector 28"/>
          <p:cNvCxnSpPr/>
          <p:nvPr/>
        </p:nvCxnSpPr>
        <p:spPr>
          <a:xfrm>
            <a:off x="4005072" y="4937759"/>
            <a:ext cx="3203380"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621792" y="5175503"/>
            <a:ext cx="6787828" cy="566928"/>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a:off x="621792" y="5175503"/>
            <a:ext cx="658368" cy="566928"/>
          </a:xfrm>
          <a:prstGeom prst="roundRect">
            <a:avLst>
              <a:gd name="adj" fmla="val 6000"/>
            </a:avLst>
          </a:prstGeom>
          <a:solidFill>
            <a:srgbClr val="B083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21792" y="5285231"/>
            <a:ext cx="658368" cy="365760"/>
          </a:xfrm>
          <a:prstGeom prst="rect">
            <a:avLst/>
          </a:prstGeom>
          <a:noFill/>
        </p:spPr>
        <p:txBody>
          <a:bodyPr wrap="square" lIns="0" rIns="0" tIns="0" bIns="0" anchor="t">
            <a:spAutoFit/>
          </a:bodyPr>
          <a:lstStyle/>
          <a:p>
            <a:pPr algn="ctr">
              <a:lnSpc>
                <a:spcPct val="116000"/>
              </a:lnSpc>
              <a:spcBef>
                <a:spcPts val="0"/>
              </a:spcBef>
              <a:spcAft>
                <a:spcPts val="0"/>
              </a:spcAft>
            </a:pPr>
            <a:r>
              <a:rPr sz="1900" b="1" i="0" u="none">
                <a:solidFill>
                  <a:srgbClr val="FFFFFF"/>
                </a:solidFill>
                <a:latin typeface="Segoe UI"/>
                <a:ea typeface="Microsoft YaHei"/>
                <a:cs typeface="Segoe UI"/>
              </a:rPr>
              <a:t>C</a:t>
            </a:r>
          </a:p>
        </p:txBody>
      </p:sp>
      <p:sp>
        <p:nvSpPr>
          <p:cNvPr id="33" name="TextBox 32"/>
          <p:cNvSpPr txBox="1"/>
          <p:nvPr/>
        </p:nvSpPr>
        <p:spPr>
          <a:xfrm>
            <a:off x="1463040" y="5294375"/>
            <a:ext cx="2377440"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B08300"/>
                </a:solidFill>
                <a:latin typeface="Segoe UI"/>
                <a:ea typeface="Microsoft YaHei"/>
                <a:cs typeface="Segoe UI"/>
              </a:rPr>
              <a:t>Contribution 贡献</a:t>
            </a:r>
          </a:p>
        </p:txBody>
      </p:sp>
      <p:cxnSp>
        <p:nvCxnSpPr>
          <p:cNvPr id="34" name="Connector 33"/>
          <p:cNvCxnSpPr/>
          <p:nvPr/>
        </p:nvCxnSpPr>
        <p:spPr>
          <a:xfrm>
            <a:off x="4005072" y="5596127"/>
            <a:ext cx="3203380"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7847545" y="2542032"/>
            <a:ext cx="3722357" cy="1371600"/>
          </a:xfrm>
          <a:prstGeom prst="roundRect">
            <a:avLst>
              <a:gd name="adj" fmla="val 6000"/>
            </a:avLst>
          </a:prstGeom>
          <a:solidFill>
            <a:srgbClr val="FBEC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8121865" y="2743200"/>
            <a:ext cx="3173717" cy="457200"/>
          </a:xfrm>
          <a:prstGeom prst="rect">
            <a:avLst/>
          </a:prstGeom>
          <a:noFill/>
        </p:spPr>
        <p:txBody>
          <a:bodyPr wrap="square" lIns="0" rIns="0" tIns="0" bIns="0" anchor="t">
            <a:spAutoFit/>
          </a:bodyPr>
          <a:lstStyle/>
          <a:p>
            <a:pPr algn="l">
              <a:lnSpc>
                <a:spcPct val="116000"/>
              </a:lnSpc>
              <a:spcBef>
                <a:spcPts val="0"/>
              </a:spcBef>
              <a:spcAft>
                <a:spcPts val="600"/>
              </a:spcAft>
            </a:pPr>
            <a:r>
              <a:rPr sz="1900" b="1" i="0" u="none">
                <a:solidFill>
                  <a:srgbClr val="C95527"/>
                </a:solidFill>
                <a:latin typeface="Segoe UI"/>
                <a:ea typeface="Microsoft YaHei"/>
                <a:cs typeface="Segoe UI"/>
              </a:rPr>
              <a:t>我给这篇</a:t>
            </a:r>
          </a:p>
        </p:txBody>
      </p:sp>
      <p:sp>
        <p:nvSpPr>
          <p:cNvPr id="37" name="TextBox 36"/>
          <p:cNvSpPr txBox="1"/>
          <p:nvPr/>
        </p:nvSpPr>
        <p:spPr>
          <a:xfrm>
            <a:off x="8121865" y="3200400"/>
            <a:ext cx="3173717" cy="548640"/>
          </a:xfrm>
          <a:prstGeom prst="rect">
            <a:avLst/>
          </a:prstGeom>
          <a:noFill/>
        </p:spPr>
        <p:txBody>
          <a:bodyPr wrap="square" lIns="0" rIns="0" tIns="0" bIns="0" anchor="t">
            <a:spAutoFit/>
          </a:bodyPr>
          <a:lstStyle/>
          <a:p>
            <a:pPr algn="l">
              <a:lnSpc>
                <a:spcPct val="116000"/>
              </a:lnSpc>
              <a:spcBef>
                <a:spcPts val="0"/>
              </a:spcBef>
              <a:spcAft>
                <a:spcPts val="0"/>
              </a:spcAft>
            </a:pPr>
            <a:r>
              <a:rPr sz="2600" b="1" i="0" u="none">
                <a:solidFill>
                  <a:srgbClr val="C95527"/>
                </a:solidFill>
                <a:latin typeface="Segoe UI"/>
                <a:ea typeface="Microsoft YaHei"/>
                <a:cs typeface="Segoe UI"/>
              </a:rPr>
              <a:t>________  分</a:t>
            </a:r>
          </a:p>
        </p:txBody>
      </p:sp>
      <p:sp>
        <p:nvSpPr>
          <p:cNvPr id="38" name="Rounded Rectangle 37"/>
          <p:cNvSpPr/>
          <p:nvPr/>
        </p:nvSpPr>
        <p:spPr>
          <a:xfrm>
            <a:off x="7847545" y="4050791"/>
            <a:ext cx="3722357" cy="2212848"/>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8121865" y="4251960"/>
            <a:ext cx="3173717" cy="1828800"/>
          </a:xfrm>
          <a:prstGeom prst="rect">
            <a:avLst/>
          </a:prstGeom>
          <a:noFill/>
        </p:spPr>
        <p:txBody>
          <a:bodyPr wrap="square" lIns="0" rIns="0" tIns="0" bIns="0" anchor="t">
            <a:spAutoFit/>
          </a:bodyPr>
          <a:lstStyle/>
          <a:p>
            <a:pPr algn="l">
              <a:lnSpc>
                <a:spcPct val="116000"/>
              </a:lnSpc>
              <a:spcBef>
                <a:spcPts val="0"/>
              </a:spcBef>
              <a:spcAft>
                <a:spcPts val="800"/>
              </a:spcAft>
            </a:pPr>
            <a:r>
              <a:rPr sz="1900" b="1" i="0" u="none">
                <a:solidFill>
                  <a:srgbClr val="0E5362"/>
                </a:solidFill>
                <a:latin typeface="Segoe UI"/>
                <a:ea typeface="Microsoft YaHei"/>
                <a:cs typeface="Segoe UI"/>
              </a:rPr>
              <a:t>打分之前先看：</a:t>
            </a:r>
          </a:p>
          <a:p>
            <a:pPr algn="l">
              <a:lnSpc>
                <a:spcPct val="120000"/>
              </a:lnSpc>
              <a:spcBef>
                <a:spcPts val="0"/>
              </a:spcBef>
              <a:spcAft>
                <a:spcPts val="0"/>
              </a:spcAft>
            </a:pPr>
            <a:r>
              <a:rPr sz="1900" b="0" i="0" u="none">
                <a:solidFill>
                  <a:srgbClr val="172A31"/>
                </a:solidFill>
                <a:latin typeface="Segoe UI"/>
                <a:ea typeface="Microsoft YaHei"/>
                <a:cs typeface="Segoe UI"/>
              </a:rPr>
              <a:t>① 立场句里那个 although 起什么作用？
② 例子里出现了几个动作？
③ 最后一句给讨论加了什么 Kelly 和 Andrew 都没说过的东西？</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3 · 3/4/5 分</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40</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约 5 分</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2E6B4F"/>
                </a:solidFill>
                <a:latin typeface="Segoe UI"/>
                <a:ea typeface="Microsoft YaHei"/>
                <a:cs typeface="Segoe UI"/>
              </a:rPr>
              <a:t>Response C · 讲评</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645920"/>
            <a:ext cx="10948111" cy="731520"/>
          </a:xfrm>
          <a:prstGeom prst="roundRect">
            <a:avLst>
              <a:gd name="adj" fmla="val 6000"/>
            </a:avLst>
          </a:prstGeom>
          <a:solidFill>
            <a:srgbClr val="2E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87552" y="1847644"/>
            <a:ext cx="10170871" cy="328071"/>
          </a:xfrm>
          <a:prstGeom prst="rect">
            <a:avLst/>
          </a:prstGeom>
          <a:noFill/>
        </p:spPr>
        <p:txBody>
          <a:bodyPr wrap="square" lIns="0" rIns="0" tIns="0" bIns="0" anchor="t">
            <a:spAutoFit/>
          </a:bodyPr>
          <a:lstStyle/>
          <a:p>
            <a:pPr algn="l">
              <a:lnSpc>
                <a:spcPct val="114000"/>
              </a:lnSpc>
              <a:spcBef>
                <a:spcPts val="0"/>
              </a:spcBef>
              <a:spcAft>
                <a:spcPts val="0"/>
              </a:spcAft>
            </a:pPr>
            <a:r>
              <a:rPr sz="2200" b="1" i="0" u="none">
                <a:solidFill>
                  <a:srgbClr val="FFFFFF"/>
                </a:solidFill>
                <a:latin typeface="Segoe UI"/>
                <a:ea typeface="Microsoft YaHei"/>
                <a:cs typeface="Segoe UI"/>
              </a:rPr>
              <a:t>同一个理由被推到了底：具体 → 解释 → 例子 → 结果 → 新角度。</a:t>
            </a:r>
          </a:p>
        </p:txBody>
      </p:sp>
      <p:sp>
        <p:nvSpPr>
          <p:cNvPr id="10" name="Rounded Rectangle 9"/>
          <p:cNvSpPr/>
          <p:nvPr/>
        </p:nvSpPr>
        <p:spPr>
          <a:xfrm>
            <a:off x="621792" y="2523744"/>
            <a:ext cx="5336895" cy="3328416"/>
          </a:xfrm>
          <a:prstGeom prst="roundRect">
            <a:avLst>
              <a:gd name="adj" fmla="val 6000"/>
            </a:avLst>
          </a:prstGeom>
          <a:solidFill>
            <a:srgbClr val="E7F1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14400" y="2706624"/>
            <a:ext cx="4742535" cy="36576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2E6B4F"/>
                </a:solidFill>
                <a:latin typeface="Segoe UI"/>
                <a:ea typeface="Microsoft YaHei"/>
                <a:cs typeface="Segoe UI"/>
              </a:rPr>
              <a:t>它已经做到的</a:t>
            </a:r>
          </a:p>
        </p:txBody>
      </p:sp>
      <p:sp>
        <p:nvSpPr>
          <p:cNvPr id="12" name="TextBox 11"/>
          <p:cNvSpPr txBox="1"/>
          <p:nvPr/>
        </p:nvSpPr>
        <p:spPr>
          <a:xfrm>
            <a:off x="914400" y="3145536"/>
            <a:ext cx="4742535" cy="402336"/>
          </a:xfrm>
          <a:prstGeom prst="rect">
            <a:avLst/>
          </a:prstGeom>
          <a:noFill/>
        </p:spPr>
        <p:txBody>
          <a:bodyPr wrap="square" lIns="0" rIns="0" tIns="0" bIns="0" anchor="t">
            <a:spAutoFit/>
          </a:bodyPr>
          <a:lstStyle/>
          <a:p>
            <a:pPr algn="l">
              <a:lnSpc>
                <a:spcPct val="114000"/>
              </a:lnSpc>
              <a:spcAft>
                <a:spcPts val="0"/>
              </a:spcAft>
            </a:pPr>
            <a:r>
              <a:rPr sz="1900" b="1" i="0" u="none">
                <a:solidFill>
                  <a:srgbClr val="2E6B4F"/>
                </a:solidFill>
                <a:latin typeface="Segoe UI"/>
                <a:ea typeface="Microsoft YaHei"/>
                <a:cs typeface="Segoe UI"/>
              </a:rPr>
              <a:t>√  </a:t>
            </a:r>
            <a:r>
              <a:rPr sz="1900" b="0" i="0" u="none">
                <a:solidFill>
                  <a:srgbClr val="172A31"/>
                </a:solidFill>
                <a:latin typeface="Segoe UI"/>
                <a:ea typeface="Microsoft YaHei"/>
                <a:cs typeface="Segoe UI"/>
              </a:rPr>
              <a:t>立场有条件，不是非黑即白</a:t>
            </a:r>
          </a:p>
        </p:txBody>
      </p:sp>
      <p:sp>
        <p:nvSpPr>
          <p:cNvPr id="13" name="TextBox 12"/>
          <p:cNvSpPr txBox="1"/>
          <p:nvPr/>
        </p:nvSpPr>
        <p:spPr>
          <a:xfrm>
            <a:off x="914400" y="3675888"/>
            <a:ext cx="4742535" cy="402336"/>
          </a:xfrm>
          <a:prstGeom prst="rect">
            <a:avLst/>
          </a:prstGeom>
          <a:noFill/>
        </p:spPr>
        <p:txBody>
          <a:bodyPr wrap="square" lIns="0" rIns="0" tIns="0" bIns="0" anchor="t">
            <a:spAutoFit/>
          </a:bodyPr>
          <a:lstStyle/>
          <a:p>
            <a:pPr algn="l">
              <a:lnSpc>
                <a:spcPct val="114000"/>
              </a:lnSpc>
              <a:spcAft>
                <a:spcPts val="0"/>
              </a:spcAft>
            </a:pPr>
            <a:r>
              <a:rPr sz="1900" b="1" i="0" u="none">
                <a:solidFill>
                  <a:srgbClr val="2E6B4F"/>
                </a:solidFill>
                <a:latin typeface="Segoe UI"/>
                <a:ea typeface="Microsoft YaHei"/>
                <a:cs typeface="Segoe UI"/>
              </a:rPr>
              <a:t>√  </a:t>
            </a:r>
            <a:r>
              <a:rPr sz="1900" b="0" i="0" u="none">
                <a:solidFill>
                  <a:srgbClr val="172A31"/>
                </a:solidFill>
                <a:latin typeface="Segoe UI"/>
                <a:ea typeface="Microsoft YaHei"/>
                <a:cs typeface="Segoe UI"/>
              </a:rPr>
              <a:t>理由更深：不必先有人脉就能挣到</a:t>
            </a:r>
          </a:p>
        </p:txBody>
      </p:sp>
      <p:sp>
        <p:nvSpPr>
          <p:cNvPr id="14" name="TextBox 13"/>
          <p:cNvSpPr txBox="1"/>
          <p:nvPr/>
        </p:nvSpPr>
        <p:spPr>
          <a:xfrm>
            <a:off x="914400" y="4206240"/>
            <a:ext cx="4742535" cy="402336"/>
          </a:xfrm>
          <a:prstGeom prst="rect">
            <a:avLst/>
          </a:prstGeom>
          <a:noFill/>
        </p:spPr>
        <p:txBody>
          <a:bodyPr wrap="square" lIns="0" rIns="0" tIns="0" bIns="0" anchor="t">
            <a:spAutoFit/>
          </a:bodyPr>
          <a:lstStyle/>
          <a:p>
            <a:pPr algn="l">
              <a:lnSpc>
                <a:spcPct val="114000"/>
              </a:lnSpc>
              <a:spcAft>
                <a:spcPts val="0"/>
              </a:spcAft>
            </a:pPr>
            <a:r>
              <a:rPr sz="1900" b="1" i="0" u="none">
                <a:solidFill>
                  <a:srgbClr val="2E6B4F"/>
                </a:solidFill>
                <a:latin typeface="Segoe UI"/>
                <a:ea typeface="Microsoft YaHei"/>
                <a:cs typeface="Segoe UI"/>
              </a:rPr>
              <a:t>√  </a:t>
            </a:r>
            <a:r>
              <a:rPr sz="1900" b="0" i="0" u="none">
                <a:solidFill>
                  <a:srgbClr val="172A31"/>
                </a:solidFill>
                <a:latin typeface="Segoe UI"/>
                <a:ea typeface="Microsoft YaHei"/>
                <a:cs typeface="Segoe UI"/>
              </a:rPr>
              <a:t>WHY 说清了：普通家庭没人可介绍</a:t>
            </a:r>
          </a:p>
        </p:txBody>
      </p:sp>
      <p:sp>
        <p:nvSpPr>
          <p:cNvPr id="15" name="TextBox 14"/>
          <p:cNvSpPr txBox="1"/>
          <p:nvPr/>
        </p:nvSpPr>
        <p:spPr>
          <a:xfrm>
            <a:off x="914400" y="4736592"/>
            <a:ext cx="4742535" cy="402336"/>
          </a:xfrm>
          <a:prstGeom prst="rect">
            <a:avLst/>
          </a:prstGeom>
          <a:noFill/>
        </p:spPr>
        <p:txBody>
          <a:bodyPr wrap="square" lIns="0" rIns="0" tIns="0" bIns="0" anchor="t">
            <a:spAutoFit/>
          </a:bodyPr>
          <a:lstStyle/>
          <a:p>
            <a:pPr algn="l">
              <a:lnSpc>
                <a:spcPct val="114000"/>
              </a:lnSpc>
              <a:spcAft>
                <a:spcPts val="0"/>
              </a:spcAft>
            </a:pPr>
            <a:r>
              <a:rPr sz="1900" b="1" i="0" u="none">
                <a:solidFill>
                  <a:srgbClr val="2E6B4F"/>
                </a:solidFill>
                <a:latin typeface="Segoe UI"/>
                <a:ea typeface="Microsoft YaHei"/>
                <a:cs typeface="Segoe UI"/>
              </a:rPr>
              <a:t>√  </a:t>
            </a:r>
            <a:r>
              <a:rPr sz="1900" b="0" i="0" u="none">
                <a:solidFill>
                  <a:srgbClr val="172A31"/>
                </a:solidFill>
                <a:latin typeface="Segoe UI"/>
                <a:ea typeface="Microsoft YaHei"/>
                <a:cs typeface="Segoe UI"/>
              </a:rPr>
              <a:t>例子有动作链：finish → pass → hired</a:t>
            </a:r>
          </a:p>
        </p:txBody>
      </p:sp>
      <p:sp>
        <p:nvSpPr>
          <p:cNvPr id="16" name="TextBox 15"/>
          <p:cNvSpPr txBox="1"/>
          <p:nvPr/>
        </p:nvSpPr>
        <p:spPr>
          <a:xfrm>
            <a:off x="914400" y="5266944"/>
            <a:ext cx="4742535" cy="402336"/>
          </a:xfrm>
          <a:prstGeom prst="rect">
            <a:avLst/>
          </a:prstGeom>
          <a:noFill/>
        </p:spPr>
        <p:txBody>
          <a:bodyPr wrap="square" lIns="0" rIns="0" tIns="0" bIns="0" anchor="t">
            <a:spAutoFit/>
          </a:bodyPr>
          <a:lstStyle/>
          <a:p>
            <a:pPr algn="l">
              <a:lnSpc>
                <a:spcPct val="114000"/>
              </a:lnSpc>
              <a:spcAft>
                <a:spcPts val="0"/>
              </a:spcAft>
            </a:pPr>
            <a:r>
              <a:rPr sz="1900" b="1" i="0" u="none">
                <a:solidFill>
                  <a:srgbClr val="2E6B4F"/>
                </a:solidFill>
                <a:latin typeface="Segoe UI"/>
                <a:ea typeface="Microsoft YaHei"/>
                <a:cs typeface="Segoe UI"/>
              </a:rPr>
              <a:t>√  </a:t>
            </a:r>
            <a:r>
              <a:rPr sz="1900" b="0" i="0" u="none">
                <a:solidFill>
                  <a:srgbClr val="172A31"/>
                </a:solidFill>
                <a:latin typeface="Segoe UI"/>
                <a:ea typeface="Microsoft YaHei"/>
                <a:cs typeface="Segoe UI"/>
              </a:rPr>
              <a:t>有 RESULT，也有全新角度</a:t>
            </a:r>
          </a:p>
        </p:txBody>
      </p:sp>
      <p:sp>
        <p:nvSpPr>
          <p:cNvPr id="17" name="Rounded Rectangle 16"/>
          <p:cNvSpPr/>
          <p:nvPr/>
        </p:nvSpPr>
        <p:spPr>
          <a:xfrm>
            <a:off x="6233007" y="2523744"/>
            <a:ext cx="5336895" cy="3328416"/>
          </a:xfrm>
          <a:prstGeom prst="roundRect">
            <a:avLst>
              <a:gd name="adj" fmla="val 6000"/>
            </a:avLst>
          </a:prstGeom>
          <a:solidFill>
            <a:srgbClr val="FBEC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525615" y="2706624"/>
            <a:ext cx="4742535" cy="36576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C95527"/>
                </a:solidFill>
                <a:latin typeface="Segoe UI"/>
                <a:ea typeface="Microsoft YaHei"/>
                <a:cs typeface="Segoe UI"/>
              </a:rPr>
              <a:t>它缺的东西（丢分点）</a:t>
            </a:r>
          </a:p>
        </p:txBody>
      </p:sp>
      <p:sp>
        <p:nvSpPr>
          <p:cNvPr id="19" name="TextBox 18"/>
          <p:cNvSpPr txBox="1"/>
          <p:nvPr/>
        </p:nvSpPr>
        <p:spPr>
          <a:xfrm>
            <a:off x="6525615" y="3145536"/>
            <a:ext cx="4742535" cy="402336"/>
          </a:xfrm>
          <a:prstGeom prst="rect">
            <a:avLst/>
          </a:prstGeom>
          <a:noFill/>
        </p:spPr>
        <p:txBody>
          <a:bodyPr wrap="square" lIns="0" rIns="0" tIns="0" bIns="0" anchor="t">
            <a:spAutoFit/>
          </a:bodyPr>
          <a:lstStyle/>
          <a:p>
            <a:pPr algn="l">
              <a:lnSpc>
                <a:spcPct val="114000"/>
              </a:lnSpc>
              <a:spcAft>
                <a:spcPts val="0"/>
              </a:spcAft>
            </a:pPr>
            <a:r>
              <a:rPr sz="1900" b="1" i="0" u="none">
                <a:solidFill>
                  <a:srgbClr val="C95527"/>
                </a:solidFill>
                <a:latin typeface="Segoe UI"/>
                <a:ea typeface="Microsoft YaHei"/>
                <a:cs typeface="Segoe UI"/>
              </a:rPr>
              <a:t>×  </a:t>
            </a:r>
            <a:r>
              <a:rPr sz="1900" b="0" i="0" u="none">
                <a:solidFill>
                  <a:srgbClr val="172A31"/>
                </a:solidFill>
                <a:latin typeface="Segoe UI"/>
                <a:ea typeface="Microsoft YaHei"/>
                <a:cs typeface="Segoe UI"/>
              </a:rPr>
              <a:t>还可以再补一句对 Kelly 的回应</a:t>
            </a:r>
          </a:p>
        </p:txBody>
      </p:sp>
      <p:sp>
        <p:nvSpPr>
          <p:cNvPr id="20" name="TextBox 19"/>
          <p:cNvSpPr txBox="1"/>
          <p:nvPr/>
        </p:nvSpPr>
        <p:spPr>
          <a:xfrm>
            <a:off x="6525615" y="3675888"/>
            <a:ext cx="4742535" cy="402336"/>
          </a:xfrm>
          <a:prstGeom prst="rect">
            <a:avLst/>
          </a:prstGeom>
          <a:noFill/>
        </p:spPr>
        <p:txBody>
          <a:bodyPr wrap="square" lIns="0" rIns="0" tIns="0" bIns="0" anchor="t">
            <a:spAutoFit/>
          </a:bodyPr>
          <a:lstStyle/>
          <a:p>
            <a:pPr algn="l">
              <a:lnSpc>
                <a:spcPct val="114000"/>
              </a:lnSpc>
              <a:spcAft>
                <a:spcPts val="0"/>
              </a:spcAft>
            </a:pPr>
            <a:r>
              <a:rPr sz="1900" b="1" i="0" u="none">
                <a:solidFill>
                  <a:srgbClr val="C95527"/>
                </a:solidFill>
                <a:latin typeface="Segoe UI"/>
                <a:ea typeface="Microsoft YaHei"/>
                <a:cs typeface="Segoe UI"/>
              </a:rPr>
              <a:t>×  </a:t>
            </a:r>
            <a:r>
              <a:rPr sz="1900" b="0" i="0" u="none">
                <a:solidFill>
                  <a:srgbClr val="172A31"/>
                </a:solidFill>
                <a:latin typeface="Segoe UI"/>
                <a:ea typeface="Microsoft YaHei"/>
                <a:cs typeface="Segoe UI"/>
              </a:rPr>
              <a:t>时间紧时可省，但 RESULT 不能省</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3 · 3/4/5 分</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41</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SCORES</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揭晓：3 / 4 / 5</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810512"/>
            <a:ext cx="3527450" cy="3703320"/>
          </a:xfrm>
          <a:prstGeom prst="roundRect">
            <a:avLst>
              <a:gd name="adj" fmla="val 6000"/>
            </a:avLst>
          </a:prstGeom>
          <a:solidFill>
            <a:srgbClr val="FFFFFF"/>
          </a:solidFill>
          <a:ln w="25400">
            <a:solidFill>
              <a:srgbClr val="C9552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621792" y="1810512"/>
            <a:ext cx="3527450" cy="868680"/>
          </a:xfrm>
          <a:prstGeom prst="roundRect">
            <a:avLst>
              <a:gd name="adj" fmla="val 6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21792" y="2313432"/>
            <a:ext cx="3527450" cy="365760"/>
          </a:xfrm>
          <a:prstGeom prst="rect">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21792" y="1938528"/>
            <a:ext cx="3527450" cy="548640"/>
          </a:xfrm>
          <a:prstGeom prst="rect">
            <a:avLst/>
          </a:prstGeom>
          <a:noFill/>
        </p:spPr>
        <p:txBody>
          <a:bodyPr wrap="square" lIns="0" rIns="0" tIns="0" bIns="0" anchor="t">
            <a:spAutoFit/>
          </a:bodyPr>
          <a:lstStyle/>
          <a:p>
            <a:pPr algn="ctr">
              <a:lnSpc>
                <a:spcPct val="116000"/>
              </a:lnSpc>
              <a:spcBef>
                <a:spcPts val="0"/>
              </a:spcBef>
              <a:spcAft>
                <a:spcPts val="0"/>
              </a:spcAft>
            </a:pPr>
            <a:r>
              <a:rPr sz="2000" b="1" i="0" u="none">
                <a:solidFill>
                  <a:srgbClr val="FFFFFF"/>
                </a:solidFill>
                <a:latin typeface="Segoe UI"/>
                <a:ea typeface="Microsoft YaHei"/>
                <a:cs typeface="Segoe UI"/>
              </a:rPr>
              <a:t>Response A</a:t>
            </a:r>
          </a:p>
        </p:txBody>
      </p:sp>
      <p:sp>
        <p:nvSpPr>
          <p:cNvPr id="12" name="TextBox 11"/>
          <p:cNvSpPr txBox="1"/>
          <p:nvPr/>
        </p:nvSpPr>
        <p:spPr>
          <a:xfrm>
            <a:off x="621792" y="2816352"/>
            <a:ext cx="3527450" cy="548640"/>
          </a:xfrm>
          <a:prstGeom prst="rect">
            <a:avLst/>
          </a:prstGeom>
          <a:noFill/>
        </p:spPr>
        <p:txBody>
          <a:bodyPr wrap="square" lIns="0" rIns="0" tIns="0" bIns="0" anchor="t">
            <a:spAutoFit/>
          </a:bodyPr>
          <a:lstStyle/>
          <a:p>
            <a:pPr algn="ctr">
              <a:lnSpc>
                <a:spcPct val="116000"/>
              </a:lnSpc>
              <a:spcBef>
                <a:spcPts val="0"/>
              </a:spcBef>
              <a:spcAft>
                <a:spcPts val="0"/>
              </a:spcAft>
            </a:pPr>
            <a:r>
              <a:rPr sz="3200" b="1" i="0" u="none">
                <a:solidFill>
                  <a:srgbClr val="C95527"/>
                </a:solidFill>
                <a:latin typeface="Segoe UI"/>
                <a:ea typeface="Microsoft YaHei"/>
                <a:cs typeface="Segoe UI"/>
              </a:rPr>
              <a:t>≈ 3 分</a:t>
            </a:r>
          </a:p>
        </p:txBody>
      </p:sp>
      <p:sp>
        <p:nvSpPr>
          <p:cNvPr id="13" name="TextBox 12"/>
          <p:cNvSpPr txBox="1"/>
          <p:nvPr/>
        </p:nvSpPr>
        <p:spPr>
          <a:xfrm>
            <a:off x="822960" y="3547872"/>
            <a:ext cx="3125114" cy="365760"/>
          </a:xfrm>
          <a:prstGeom prst="rect">
            <a:avLst/>
          </a:prstGeom>
          <a:noFill/>
        </p:spPr>
        <p:txBody>
          <a:bodyPr wrap="square" lIns="0" rIns="0" tIns="0" bIns="0" anchor="t">
            <a:spAutoFit/>
          </a:bodyPr>
          <a:lstStyle/>
          <a:p>
            <a:pPr algn="ctr">
              <a:lnSpc>
                <a:spcPct val="116000"/>
              </a:lnSpc>
              <a:spcBef>
                <a:spcPts val="0"/>
              </a:spcBef>
              <a:spcAft>
                <a:spcPts val="0"/>
              </a:spcAft>
            </a:pPr>
            <a:r>
              <a:rPr sz="1900" b="0" i="0" u="none">
                <a:solidFill>
                  <a:srgbClr val="172A31"/>
                </a:solidFill>
                <a:latin typeface="Segoe UI"/>
                <a:ea typeface="Microsoft YaHei"/>
                <a:cs typeface="Segoe UI"/>
              </a:rPr>
              <a:t>立场有</a:t>
            </a:r>
          </a:p>
        </p:txBody>
      </p:sp>
      <p:sp>
        <p:nvSpPr>
          <p:cNvPr id="14" name="TextBox 13"/>
          <p:cNvSpPr txBox="1"/>
          <p:nvPr/>
        </p:nvSpPr>
        <p:spPr>
          <a:xfrm>
            <a:off x="822960" y="3913632"/>
            <a:ext cx="3125114" cy="365760"/>
          </a:xfrm>
          <a:prstGeom prst="rect">
            <a:avLst/>
          </a:prstGeom>
          <a:noFill/>
        </p:spPr>
        <p:txBody>
          <a:bodyPr wrap="square" lIns="0" rIns="0" tIns="0" bIns="0" anchor="t">
            <a:spAutoFit/>
          </a:bodyPr>
          <a:lstStyle/>
          <a:p>
            <a:pPr algn="ctr">
              <a:lnSpc>
                <a:spcPct val="116000"/>
              </a:lnSpc>
              <a:spcBef>
                <a:spcPts val="0"/>
              </a:spcBef>
              <a:spcAft>
                <a:spcPts val="0"/>
              </a:spcAft>
            </a:pPr>
            <a:r>
              <a:rPr sz="1900" b="0" i="0" u="none">
                <a:solidFill>
                  <a:srgbClr val="172A31"/>
                </a:solidFill>
                <a:latin typeface="Segoe UI"/>
                <a:ea typeface="Microsoft YaHei"/>
                <a:cs typeface="Segoe UI"/>
              </a:rPr>
              <a:t>理由空</a:t>
            </a:r>
          </a:p>
        </p:txBody>
      </p:sp>
      <p:sp>
        <p:nvSpPr>
          <p:cNvPr id="15" name="TextBox 14"/>
          <p:cNvSpPr txBox="1"/>
          <p:nvPr/>
        </p:nvSpPr>
        <p:spPr>
          <a:xfrm>
            <a:off x="822960" y="4279392"/>
            <a:ext cx="3125114" cy="365760"/>
          </a:xfrm>
          <a:prstGeom prst="rect">
            <a:avLst/>
          </a:prstGeom>
          <a:noFill/>
        </p:spPr>
        <p:txBody>
          <a:bodyPr wrap="square" lIns="0" rIns="0" tIns="0" bIns="0" anchor="t">
            <a:spAutoFit/>
          </a:bodyPr>
          <a:lstStyle/>
          <a:p>
            <a:pPr algn="ctr">
              <a:lnSpc>
                <a:spcPct val="116000"/>
              </a:lnSpc>
              <a:spcBef>
                <a:spcPts val="0"/>
              </a:spcBef>
              <a:spcAft>
                <a:spcPts val="0"/>
              </a:spcAft>
            </a:pPr>
            <a:r>
              <a:rPr sz="1900" b="0" i="0" u="none">
                <a:solidFill>
                  <a:srgbClr val="172A31"/>
                </a:solidFill>
                <a:latin typeface="Segoe UI"/>
                <a:ea typeface="Microsoft YaHei"/>
                <a:cs typeface="Segoe UI"/>
              </a:rPr>
              <a:t>无 WHY</a:t>
            </a:r>
          </a:p>
        </p:txBody>
      </p:sp>
      <p:sp>
        <p:nvSpPr>
          <p:cNvPr id="16" name="TextBox 15"/>
          <p:cNvSpPr txBox="1"/>
          <p:nvPr/>
        </p:nvSpPr>
        <p:spPr>
          <a:xfrm>
            <a:off x="822960" y="4645152"/>
            <a:ext cx="3125114" cy="365760"/>
          </a:xfrm>
          <a:prstGeom prst="rect">
            <a:avLst/>
          </a:prstGeom>
          <a:noFill/>
        </p:spPr>
        <p:txBody>
          <a:bodyPr wrap="square" lIns="0" rIns="0" tIns="0" bIns="0" anchor="t">
            <a:spAutoFit/>
          </a:bodyPr>
          <a:lstStyle/>
          <a:p>
            <a:pPr algn="ctr">
              <a:lnSpc>
                <a:spcPct val="116000"/>
              </a:lnSpc>
              <a:spcBef>
                <a:spcPts val="0"/>
              </a:spcBef>
              <a:spcAft>
                <a:spcPts val="0"/>
              </a:spcAft>
            </a:pPr>
            <a:r>
              <a:rPr sz="1900" b="0" i="0" u="none">
                <a:solidFill>
                  <a:srgbClr val="172A31"/>
                </a:solidFill>
                <a:latin typeface="Segoe UI"/>
                <a:ea typeface="Microsoft YaHei"/>
                <a:cs typeface="Segoe UI"/>
              </a:rPr>
              <a:t>无例子</a:t>
            </a:r>
          </a:p>
        </p:txBody>
      </p:sp>
      <p:sp>
        <p:nvSpPr>
          <p:cNvPr id="17" name="TextBox 16"/>
          <p:cNvSpPr txBox="1"/>
          <p:nvPr/>
        </p:nvSpPr>
        <p:spPr>
          <a:xfrm>
            <a:off x="822960" y="5010912"/>
            <a:ext cx="3125114" cy="365760"/>
          </a:xfrm>
          <a:prstGeom prst="rect">
            <a:avLst/>
          </a:prstGeom>
          <a:noFill/>
        </p:spPr>
        <p:txBody>
          <a:bodyPr wrap="square" lIns="0" rIns="0" tIns="0" bIns="0" anchor="t">
            <a:spAutoFit/>
          </a:bodyPr>
          <a:lstStyle/>
          <a:p>
            <a:pPr algn="ctr">
              <a:lnSpc>
                <a:spcPct val="116000"/>
              </a:lnSpc>
              <a:spcBef>
                <a:spcPts val="0"/>
              </a:spcBef>
              <a:spcAft>
                <a:spcPts val="0"/>
              </a:spcAft>
            </a:pPr>
            <a:r>
              <a:rPr sz="1900" b="0" i="0" u="none">
                <a:solidFill>
                  <a:srgbClr val="172A31"/>
                </a:solidFill>
                <a:latin typeface="Segoe UI"/>
                <a:ea typeface="Microsoft YaHei"/>
                <a:cs typeface="Segoe UI"/>
              </a:rPr>
              <a:t>回应=重复</a:t>
            </a:r>
          </a:p>
        </p:txBody>
      </p:sp>
      <p:sp>
        <p:nvSpPr>
          <p:cNvPr id="18" name="Rounded Rectangle 17"/>
          <p:cNvSpPr/>
          <p:nvPr/>
        </p:nvSpPr>
        <p:spPr>
          <a:xfrm>
            <a:off x="4332122" y="1810512"/>
            <a:ext cx="3527450" cy="3703320"/>
          </a:xfrm>
          <a:prstGeom prst="roundRect">
            <a:avLst>
              <a:gd name="adj" fmla="val 6000"/>
            </a:avLst>
          </a:prstGeom>
          <a:solidFill>
            <a:srgbClr val="FFFFFF"/>
          </a:solidFill>
          <a:ln w="25400">
            <a:solidFill>
              <a:srgbClr val="2A7E8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4332122" y="1810512"/>
            <a:ext cx="3527450" cy="868680"/>
          </a:xfrm>
          <a:prstGeom prst="roundRect">
            <a:avLst>
              <a:gd name="adj" fmla="val 6000"/>
            </a:avLst>
          </a:prstGeom>
          <a:solidFill>
            <a:srgbClr val="2A7E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4332122" y="2313432"/>
            <a:ext cx="3527450" cy="365760"/>
          </a:xfrm>
          <a:prstGeom prst="rect">
            <a:avLst/>
          </a:prstGeom>
          <a:solidFill>
            <a:srgbClr val="2A7E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4332122" y="1938528"/>
            <a:ext cx="3527450" cy="548640"/>
          </a:xfrm>
          <a:prstGeom prst="rect">
            <a:avLst/>
          </a:prstGeom>
          <a:noFill/>
        </p:spPr>
        <p:txBody>
          <a:bodyPr wrap="square" lIns="0" rIns="0" tIns="0" bIns="0" anchor="t">
            <a:spAutoFit/>
          </a:bodyPr>
          <a:lstStyle/>
          <a:p>
            <a:pPr algn="ctr">
              <a:lnSpc>
                <a:spcPct val="116000"/>
              </a:lnSpc>
              <a:spcBef>
                <a:spcPts val="0"/>
              </a:spcBef>
              <a:spcAft>
                <a:spcPts val="0"/>
              </a:spcAft>
            </a:pPr>
            <a:r>
              <a:rPr sz="2000" b="1" i="0" u="none">
                <a:solidFill>
                  <a:srgbClr val="FFFFFF"/>
                </a:solidFill>
                <a:latin typeface="Segoe UI"/>
                <a:ea typeface="Microsoft YaHei"/>
                <a:cs typeface="Segoe UI"/>
              </a:rPr>
              <a:t>Response B</a:t>
            </a:r>
          </a:p>
        </p:txBody>
      </p:sp>
      <p:sp>
        <p:nvSpPr>
          <p:cNvPr id="22" name="TextBox 21"/>
          <p:cNvSpPr txBox="1"/>
          <p:nvPr/>
        </p:nvSpPr>
        <p:spPr>
          <a:xfrm>
            <a:off x="4332122" y="2816352"/>
            <a:ext cx="3527450" cy="548640"/>
          </a:xfrm>
          <a:prstGeom prst="rect">
            <a:avLst/>
          </a:prstGeom>
          <a:noFill/>
        </p:spPr>
        <p:txBody>
          <a:bodyPr wrap="square" lIns="0" rIns="0" tIns="0" bIns="0" anchor="t">
            <a:spAutoFit/>
          </a:bodyPr>
          <a:lstStyle/>
          <a:p>
            <a:pPr algn="ctr">
              <a:lnSpc>
                <a:spcPct val="116000"/>
              </a:lnSpc>
              <a:spcBef>
                <a:spcPts val="0"/>
              </a:spcBef>
              <a:spcAft>
                <a:spcPts val="0"/>
              </a:spcAft>
            </a:pPr>
            <a:r>
              <a:rPr sz="3200" b="1" i="0" u="none">
                <a:solidFill>
                  <a:srgbClr val="2A7E8E"/>
                </a:solidFill>
                <a:latin typeface="Segoe UI"/>
                <a:ea typeface="Microsoft YaHei"/>
                <a:cs typeface="Segoe UI"/>
              </a:rPr>
              <a:t>≈ 4 分</a:t>
            </a:r>
          </a:p>
        </p:txBody>
      </p:sp>
      <p:sp>
        <p:nvSpPr>
          <p:cNvPr id="23" name="TextBox 22"/>
          <p:cNvSpPr txBox="1"/>
          <p:nvPr/>
        </p:nvSpPr>
        <p:spPr>
          <a:xfrm>
            <a:off x="4533290" y="3547872"/>
            <a:ext cx="3125114" cy="365760"/>
          </a:xfrm>
          <a:prstGeom prst="rect">
            <a:avLst/>
          </a:prstGeom>
          <a:noFill/>
        </p:spPr>
        <p:txBody>
          <a:bodyPr wrap="square" lIns="0" rIns="0" tIns="0" bIns="0" anchor="t">
            <a:spAutoFit/>
          </a:bodyPr>
          <a:lstStyle/>
          <a:p>
            <a:pPr algn="ctr">
              <a:lnSpc>
                <a:spcPct val="116000"/>
              </a:lnSpc>
              <a:spcBef>
                <a:spcPts val="0"/>
              </a:spcBef>
              <a:spcAft>
                <a:spcPts val="0"/>
              </a:spcAft>
            </a:pPr>
            <a:r>
              <a:rPr sz="1900" b="0" i="0" u="none">
                <a:solidFill>
                  <a:srgbClr val="172A31"/>
                </a:solidFill>
                <a:latin typeface="Segoe UI"/>
                <a:ea typeface="Microsoft YaHei"/>
                <a:cs typeface="Segoe UI"/>
              </a:rPr>
              <a:t>立场有</a:t>
            </a:r>
          </a:p>
        </p:txBody>
      </p:sp>
      <p:sp>
        <p:nvSpPr>
          <p:cNvPr id="24" name="TextBox 23"/>
          <p:cNvSpPr txBox="1"/>
          <p:nvPr/>
        </p:nvSpPr>
        <p:spPr>
          <a:xfrm>
            <a:off x="4533290" y="3913632"/>
            <a:ext cx="3125114" cy="365760"/>
          </a:xfrm>
          <a:prstGeom prst="rect">
            <a:avLst/>
          </a:prstGeom>
          <a:noFill/>
        </p:spPr>
        <p:txBody>
          <a:bodyPr wrap="square" lIns="0" rIns="0" tIns="0" bIns="0" anchor="t">
            <a:spAutoFit/>
          </a:bodyPr>
          <a:lstStyle/>
          <a:p>
            <a:pPr algn="ctr">
              <a:lnSpc>
                <a:spcPct val="116000"/>
              </a:lnSpc>
              <a:spcBef>
                <a:spcPts val="0"/>
              </a:spcBef>
              <a:spcAft>
                <a:spcPts val="0"/>
              </a:spcAft>
            </a:pPr>
            <a:r>
              <a:rPr sz="1900" b="0" i="0" u="none">
                <a:solidFill>
                  <a:srgbClr val="172A31"/>
                </a:solidFill>
                <a:latin typeface="Segoe UI"/>
                <a:ea typeface="Microsoft YaHei"/>
                <a:cs typeface="Segoe UI"/>
              </a:rPr>
              <a:t>理由具体</a:t>
            </a:r>
          </a:p>
        </p:txBody>
      </p:sp>
      <p:sp>
        <p:nvSpPr>
          <p:cNvPr id="25" name="TextBox 24"/>
          <p:cNvSpPr txBox="1"/>
          <p:nvPr/>
        </p:nvSpPr>
        <p:spPr>
          <a:xfrm>
            <a:off x="4533290" y="4279392"/>
            <a:ext cx="3125114" cy="365760"/>
          </a:xfrm>
          <a:prstGeom prst="rect">
            <a:avLst/>
          </a:prstGeom>
          <a:noFill/>
        </p:spPr>
        <p:txBody>
          <a:bodyPr wrap="square" lIns="0" rIns="0" tIns="0" bIns="0" anchor="t">
            <a:spAutoFit/>
          </a:bodyPr>
          <a:lstStyle/>
          <a:p>
            <a:pPr algn="ctr">
              <a:lnSpc>
                <a:spcPct val="116000"/>
              </a:lnSpc>
              <a:spcBef>
                <a:spcPts val="0"/>
              </a:spcBef>
              <a:spcAft>
                <a:spcPts val="0"/>
              </a:spcAft>
            </a:pPr>
            <a:r>
              <a:rPr sz="1900" b="0" i="0" u="none">
                <a:solidFill>
                  <a:srgbClr val="172A31"/>
                </a:solidFill>
                <a:latin typeface="Segoe UI"/>
                <a:ea typeface="Microsoft YaHei"/>
                <a:cs typeface="Segoe UI"/>
              </a:rPr>
              <a:t>有 WHY</a:t>
            </a:r>
          </a:p>
        </p:txBody>
      </p:sp>
      <p:sp>
        <p:nvSpPr>
          <p:cNvPr id="26" name="TextBox 25"/>
          <p:cNvSpPr txBox="1"/>
          <p:nvPr/>
        </p:nvSpPr>
        <p:spPr>
          <a:xfrm>
            <a:off x="4533290" y="4645152"/>
            <a:ext cx="3125114" cy="365760"/>
          </a:xfrm>
          <a:prstGeom prst="rect">
            <a:avLst/>
          </a:prstGeom>
          <a:noFill/>
        </p:spPr>
        <p:txBody>
          <a:bodyPr wrap="square" lIns="0" rIns="0" tIns="0" bIns="0" anchor="t">
            <a:spAutoFit/>
          </a:bodyPr>
          <a:lstStyle/>
          <a:p>
            <a:pPr algn="ctr">
              <a:lnSpc>
                <a:spcPct val="116000"/>
              </a:lnSpc>
              <a:spcBef>
                <a:spcPts val="0"/>
              </a:spcBef>
              <a:spcAft>
                <a:spcPts val="0"/>
              </a:spcAft>
            </a:pPr>
            <a:r>
              <a:rPr sz="1900" b="0" i="0" u="none">
                <a:solidFill>
                  <a:srgbClr val="172A31"/>
                </a:solidFill>
                <a:latin typeface="Segoe UI"/>
                <a:ea typeface="Microsoft YaHei"/>
                <a:cs typeface="Segoe UI"/>
              </a:rPr>
              <a:t>有例子</a:t>
            </a:r>
          </a:p>
        </p:txBody>
      </p:sp>
      <p:sp>
        <p:nvSpPr>
          <p:cNvPr id="27" name="TextBox 26"/>
          <p:cNvSpPr txBox="1"/>
          <p:nvPr/>
        </p:nvSpPr>
        <p:spPr>
          <a:xfrm>
            <a:off x="4533290" y="5010912"/>
            <a:ext cx="3125114" cy="365760"/>
          </a:xfrm>
          <a:prstGeom prst="rect">
            <a:avLst/>
          </a:prstGeom>
          <a:noFill/>
        </p:spPr>
        <p:txBody>
          <a:bodyPr wrap="square" lIns="0" rIns="0" tIns="0" bIns="0" anchor="t">
            <a:spAutoFit/>
          </a:bodyPr>
          <a:lstStyle/>
          <a:p>
            <a:pPr algn="ctr">
              <a:lnSpc>
                <a:spcPct val="116000"/>
              </a:lnSpc>
              <a:spcBef>
                <a:spcPts val="0"/>
              </a:spcBef>
              <a:spcAft>
                <a:spcPts val="0"/>
              </a:spcAft>
            </a:pPr>
            <a:r>
              <a:rPr sz="1900" b="0" i="0" u="none">
                <a:solidFill>
                  <a:srgbClr val="172A31"/>
                </a:solidFill>
                <a:latin typeface="Segoe UI"/>
                <a:ea typeface="Microsoft YaHei"/>
                <a:cs typeface="Segoe UI"/>
              </a:rPr>
              <a:t>缺 RESULT</a:t>
            </a:r>
          </a:p>
        </p:txBody>
      </p:sp>
      <p:sp>
        <p:nvSpPr>
          <p:cNvPr id="28" name="Rounded Rectangle 27"/>
          <p:cNvSpPr/>
          <p:nvPr/>
        </p:nvSpPr>
        <p:spPr>
          <a:xfrm>
            <a:off x="8042452" y="1810512"/>
            <a:ext cx="3527450" cy="3703320"/>
          </a:xfrm>
          <a:prstGeom prst="roundRect">
            <a:avLst>
              <a:gd name="adj" fmla="val 6000"/>
            </a:avLst>
          </a:prstGeom>
          <a:solidFill>
            <a:srgbClr val="FFFFFF"/>
          </a:solidFill>
          <a:ln w="25400">
            <a:solidFill>
              <a:srgbClr val="2E6B4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ounded Rectangle 28"/>
          <p:cNvSpPr/>
          <p:nvPr/>
        </p:nvSpPr>
        <p:spPr>
          <a:xfrm>
            <a:off x="8042452" y="1810512"/>
            <a:ext cx="3527450" cy="868680"/>
          </a:xfrm>
          <a:prstGeom prst="roundRect">
            <a:avLst>
              <a:gd name="adj" fmla="val 6000"/>
            </a:avLst>
          </a:prstGeom>
          <a:solidFill>
            <a:srgbClr val="2E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8042452" y="2313432"/>
            <a:ext cx="3527450" cy="365760"/>
          </a:xfrm>
          <a:prstGeom prst="rect">
            <a:avLst/>
          </a:prstGeom>
          <a:solidFill>
            <a:srgbClr val="2E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8042452" y="1938528"/>
            <a:ext cx="3527450" cy="548640"/>
          </a:xfrm>
          <a:prstGeom prst="rect">
            <a:avLst/>
          </a:prstGeom>
          <a:noFill/>
        </p:spPr>
        <p:txBody>
          <a:bodyPr wrap="square" lIns="0" rIns="0" tIns="0" bIns="0" anchor="t">
            <a:spAutoFit/>
          </a:bodyPr>
          <a:lstStyle/>
          <a:p>
            <a:pPr algn="ctr">
              <a:lnSpc>
                <a:spcPct val="116000"/>
              </a:lnSpc>
              <a:spcBef>
                <a:spcPts val="0"/>
              </a:spcBef>
              <a:spcAft>
                <a:spcPts val="0"/>
              </a:spcAft>
            </a:pPr>
            <a:r>
              <a:rPr sz="2000" b="1" i="0" u="none">
                <a:solidFill>
                  <a:srgbClr val="FFFFFF"/>
                </a:solidFill>
                <a:latin typeface="Segoe UI"/>
                <a:ea typeface="Microsoft YaHei"/>
                <a:cs typeface="Segoe UI"/>
              </a:rPr>
              <a:t>Response C</a:t>
            </a:r>
          </a:p>
        </p:txBody>
      </p:sp>
      <p:sp>
        <p:nvSpPr>
          <p:cNvPr id="32" name="TextBox 31"/>
          <p:cNvSpPr txBox="1"/>
          <p:nvPr/>
        </p:nvSpPr>
        <p:spPr>
          <a:xfrm>
            <a:off x="8042452" y="2816352"/>
            <a:ext cx="3527450" cy="548640"/>
          </a:xfrm>
          <a:prstGeom prst="rect">
            <a:avLst/>
          </a:prstGeom>
          <a:noFill/>
        </p:spPr>
        <p:txBody>
          <a:bodyPr wrap="square" lIns="0" rIns="0" tIns="0" bIns="0" anchor="t">
            <a:spAutoFit/>
          </a:bodyPr>
          <a:lstStyle/>
          <a:p>
            <a:pPr algn="ctr">
              <a:lnSpc>
                <a:spcPct val="116000"/>
              </a:lnSpc>
              <a:spcBef>
                <a:spcPts val="0"/>
              </a:spcBef>
              <a:spcAft>
                <a:spcPts val="0"/>
              </a:spcAft>
            </a:pPr>
            <a:r>
              <a:rPr sz="3200" b="1" i="0" u="none">
                <a:solidFill>
                  <a:srgbClr val="2E6B4F"/>
                </a:solidFill>
                <a:latin typeface="Segoe UI"/>
                <a:ea typeface="Microsoft YaHei"/>
                <a:cs typeface="Segoe UI"/>
              </a:rPr>
              <a:t>≈ 5 分</a:t>
            </a:r>
          </a:p>
        </p:txBody>
      </p:sp>
      <p:sp>
        <p:nvSpPr>
          <p:cNvPr id="33" name="TextBox 32"/>
          <p:cNvSpPr txBox="1"/>
          <p:nvPr/>
        </p:nvSpPr>
        <p:spPr>
          <a:xfrm>
            <a:off x="8243620" y="3547872"/>
            <a:ext cx="3125114" cy="365760"/>
          </a:xfrm>
          <a:prstGeom prst="rect">
            <a:avLst/>
          </a:prstGeom>
          <a:noFill/>
        </p:spPr>
        <p:txBody>
          <a:bodyPr wrap="square" lIns="0" rIns="0" tIns="0" bIns="0" anchor="t">
            <a:spAutoFit/>
          </a:bodyPr>
          <a:lstStyle/>
          <a:p>
            <a:pPr algn="ctr">
              <a:lnSpc>
                <a:spcPct val="116000"/>
              </a:lnSpc>
              <a:spcBef>
                <a:spcPts val="0"/>
              </a:spcBef>
              <a:spcAft>
                <a:spcPts val="0"/>
              </a:spcAft>
            </a:pPr>
            <a:r>
              <a:rPr sz="1900" b="0" i="0" u="none">
                <a:solidFill>
                  <a:srgbClr val="172A31"/>
                </a:solidFill>
                <a:latin typeface="Segoe UI"/>
                <a:ea typeface="Microsoft YaHei"/>
                <a:cs typeface="Segoe UI"/>
              </a:rPr>
              <a:t>立场有条件</a:t>
            </a:r>
          </a:p>
        </p:txBody>
      </p:sp>
      <p:sp>
        <p:nvSpPr>
          <p:cNvPr id="34" name="TextBox 33"/>
          <p:cNvSpPr txBox="1"/>
          <p:nvPr/>
        </p:nvSpPr>
        <p:spPr>
          <a:xfrm>
            <a:off x="8243620" y="3913632"/>
            <a:ext cx="3125114" cy="365760"/>
          </a:xfrm>
          <a:prstGeom prst="rect">
            <a:avLst/>
          </a:prstGeom>
          <a:noFill/>
        </p:spPr>
        <p:txBody>
          <a:bodyPr wrap="square" lIns="0" rIns="0" tIns="0" bIns="0" anchor="t">
            <a:spAutoFit/>
          </a:bodyPr>
          <a:lstStyle/>
          <a:p>
            <a:pPr algn="ctr">
              <a:lnSpc>
                <a:spcPct val="116000"/>
              </a:lnSpc>
              <a:spcBef>
                <a:spcPts val="0"/>
              </a:spcBef>
              <a:spcAft>
                <a:spcPts val="0"/>
              </a:spcAft>
            </a:pPr>
            <a:r>
              <a:rPr sz="1900" b="0" i="0" u="none">
                <a:solidFill>
                  <a:srgbClr val="172A31"/>
                </a:solidFill>
                <a:latin typeface="Segoe UI"/>
                <a:ea typeface="Microsoft YaHei"/>
                <a:cs typeface="Segoe UI"/>
              </a:rPr>
              <a:t>理由更深</a:t>
            </a:r>
          </a:p>
        </p:txBody>
      </p:sp>
      <p:sp>
        <p:nvSpPr>
          <p:cNvPr id="35" name="TextBox 34"/>
          <p:cNvSpPr txBox="1"/>
          <p:nvPr/>
        </p:nvSpPr>
        <p:spPr>
          <a:xfrm>
            <a:off x="8243620" y="4279392"/>
            <a:ext cx="3125114" cy="365760"/>
          </a:xfrm>
          <a:prstGeom prst="rect">
            <a:avLst/>
          </a:prstGeom>
          <a:noFill/>
        </p:spPr>
        <p:txBody>
          <a:bodyPr wrap="square" lIns="0" rIns="0" tIns="0" bIns="0" anchor="t">
            <a:spAutoFit/>
          </a:bodyPr>
          <a:lstStyle/>
          <a:p>
            <a:pPr algn="ctr">
              <a:lnSpc>
                <a:spcPct val="116000"/>
              </a:lnSpc>
              <a:spcBef>
                <a:spcPts val="0"/>
              </a:spcBef>
              <a:spcAft>
                <a:spcPts val="0"/>
              </a:spcAft>
            </a:pPr>
            <a:r>
              <a:rPr sz="1900" b="0" i="0" u="none">
                <a:solidFill>
                  <a:srgbClr val="172A31"/>
                </a:solidFill>
                <a:latin typeface="Segoe UI"/>
                <a:ea typeface="Microsoft YaHei"/>
                <a:cs typeface="Segoe UI"/>
              </a:rPr>
              <a:t>有 WHY</a:t>
            </a:r>
          </a:p>
        </p:txBody>
      </p:sp>
      <p:sp>
        <p:nvSpPr>
          <p:cNvPr id="36" name="TextBox 35"/>
          <p:cNvSpPr txBox="1"/>
          <p:nvPr/>
        </p:nvSpPr>
        <p:spPr>
          <a:xfrm>
            <a:off x="8243620" y="4645152"/>
            <a:ext cx="3125114" cy="365760"/>
          </a:xfrm>
          <a:prstGeom prst="rect">
            <a:avLst/>
          </a:prstGeom>
          <a:noFill/>
        </p:spPr>
        <p:txBody>
          <a:bodyPr wrap="square" lIns="0" rIns="0" tIns="0" bIns="0" anchor="t">
            <a:spAutoFit/>
          </a:bodyPr>
          <a:lstStyle/>
          <a:p>
            <a:pPr algn="ctr">
              <a:lnSpc>
                <a:spcPct val="116000"/>
              </a:lnSpc>
              <a:spcBef>
                <a:spcPts val="0"/>
              </a:spcBef>
              <a:spcAft>
                <a:spcPts val="0"/>
              </a:spcAft>
            </a:pPr>
            <a:r>
              <a:rPr sz="1900" b="0" i="0" u="none">
                <a:solidFill>
                  <a:srgbClr val="172A31"/>
                </a:solidFill>
                <a:latin typeface="Segoe UI"/>
                <a:ea typeface="Microsoft YaHei"/>
                <a:cs typeface="Segoe UI"/>
              </a:rPr>
              <a:t>例子有动作链</a:t>
            </a:r>
          </a:p>
        </p:txBody>
      </p:sp>
      <p:sp>
        <p:nvSpPr>
          <p:cNvPr id="37" name="TextBox 36"/>
          <p:cNvSpPr txBox="1"/>
          <p:nvPr/>
        </p:nvSpPr>
        <p:spPr>
          <a:xfrm>
            <a:off x="8243620" y="5010912"/>
            <a:ext cx="3125114" cy="365760"/>
          </a:xfrm>
          <a:prstGeom prst="rect">
            <a:avLst/>
          </a:prstGeom>
          <a:noFill/>
        </p:spPr>
        <p:txBody>
          <a:bodyPr wrap="square" lIns="0" rIns="0" tIns="0" bIns="0" anchor="t">
            <a:spAutoFit/>
          </a:bodyPr>
          <a:lstStyle/>
          <a:p>
            <a:pPr algn="ctr">
              <a:lnSpc>
                <a:spcPct val="116000"/>
              </a:lnSpc>
              <a:spcBef>
                <a:spcPts val="0"/>
              </a:spcBef>
              <a:spcAft>
                <a:spcPts val="0"/>
              </a:spcAft>
            </a:pPr>
            <a:r>
              <a:rPr sz="1900" b="0" i="0" u="none">
                <a:solidFill>
                  <a:srgbClr val="172A31"/>
                </a:solidFill>
                <a:latin typeface="Segoe UI"/>
                <a:ea typeface="Microsoft YaHei"/>
                <a:cs typeface="Segoe UI"/>
              </a:rPr>
              <a:t>有 RESULT + 新角度</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3 · 3/4/5 分</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42</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THE JUMP · 一次只变一件事</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3 → 4 到底变了什么</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039112" y="1737360"/>
            <a:ext cx="4646523" cy="402336"/>
          </a:xfrm>
          <a:prstGeom prst="roundRect">
            <a:avLst>
              <a:gd name="adj" fmla="val 6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2039112" y="1792224"/>
            <a:ext cx="4646523" cy="365760"/>
          </a:xfrm>
          <a:prstGeom prst="rect">
            <a:avLst/>
          </a:prstGeom>
          <a:noFill/>
        </p:spPr>
        <p:txBody>
          <a:bodyPr wrap="square" lIns="0" rIns="0" tIns="0" bIns="0" anchor="t">
            <a:spAutoFit/>
          </a:bodyPr>
          <a:lstStyle/>
          <a:p>
            <a:pPr algn="ctr">
              <a:lnSpc>
                <a:spcPct val="116000"/>
              </a:lnSpc>
              <a:spcBef>
                <a:spcPts val="0"/>
              </a:spcBef>
              <a:spcAft>
                <a:spcPts val="0"/>
              </a:spcAft>
            </a:pPr>
            <a:r>
              <a:rPr sz="1900" b="1" i="0" u="none">
                <a:solidFill>
                  <a:srgbClr val="FFFFFF"/>
                </a:solidFill>
                <a:latin typeface="Segoe UI"/>
                <a:ea typeface="Microsoft YaHei"/>
                <a:cs typeface="Segoe UI"/>
              </a:rPr>
              <a:t>Response A（3 分）</a:t>
            </a:r>
          </a:p>
        </p:txBody>
      </p:sp>
      <p:sp>
        <p:nvSpPr>
          <p:cNvPr id="10" name="Rounded Rectangle 9"/>
          <p:cNvSpPr/>
          <p:nvPr/>
        </p:nvSpPr>
        <p:spPr>
          <a:xfrm>
            <a:off x="6850227" y="1737360"/>
            <a:ext cx="4719675" cy="402336"/>
          </a:xfrm>
          <a:prstGeom prst="roundRect">
            <a:avLst>
              <a:gd name="adj" fmla="val 6000"/>
            </a:avLst>
          </a:prstGeom>
          <a:solidFill>
            <a:srgbClr val="2A7E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850227" y="1792224"/>
            <a:ext cx="4719675" cy="365760"/>
          </a:xfrm>
          <a:prstGeom prst="rect">
            <a:avLst/>
          </a:prstGeom>
          <a:noFill/>
        </p:spPr>
        <p:txBody>
          <a:bodyPr wrap="square" lIns="0" rIns="0" tIns="0" bIns="0" anchor="t">
            <a:spAutoFit/>
          </a:bodyPr>
          <a:lstStyle/>
          <a:p>
            <a:pPr algn="ctr">
              <a:lnSpc>
                <a:spcPct val="116000"/>
              </a:lnSpc>
              <a:spcBef>
                <a:spcPts val="0"/>
              </a:spcBef>
              <a:spcAft>
                <a:spcPts val="0"/>
              </a:spcAft>
            </a:pPr>
            <a:r>
              <a:rPr sz="1900" b="1" i="0" u="none">
                <a:solidFill>
                  <a:srgbClr val="FFFFFF"/>
                </a:solidFill>
                <a:latin typeface="Segoe UI"/>
                <a:ea typeface="Microsoft YaHei"/>
                <a:cs typeface="Segoe UI"/>
              </a:rPr>
              <a:t>Response B（4 分）</a:t>
            </a:r>
          </a:p>
        </p:txBody>
      </p:sp>
      <p:sp>
        <p:nvSpPr>
          <p:cNvPr id="12" name="Rounded Rectangle 11"/>
          <p:cNvSpPr/>
          <p:nvPr/>
        </p:nvSpPr>
        <p:spPr>
          <a:xfrm>
            <a:off x="621792" y="2249424"/>
            <a:ext cx="10948111" cy="914400"/>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22960" y="2523744"/>
            <a:ext cx="1188720" cy="41148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0E5362"/>
                </a:solidFill>
                <a:latin typeface="Segoe UI"/>
                <a:ea typeface="Microsoft YaHei"/>
                <a:cs typeface="Segoe UI"/>
              </a:rPr>
              <a:t>理由</a:t>
            </a:r>
          </a:p>
        </p:txBody>
      </p:sp>
      <p:sp>
        <p:nvSpPr>
          <p:cNvPr id="14" name="TextBox 13"/>
          <p:cNvSpPr txBox="1"/>
          <p:nvPr/>
        </p:nvSpPr>
        <p:spPr>
          <a:xfrm>
            <a:off x="2103120" y="2395728"/>
            <a:ext cx="4536795" cy="731520"/>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627378"/>
                </a:solidFill>
                <a:latin typeface="Segoe UI"/>
                <a:ea typeface="Microsoft YaHei"/>
                <a:cs typeface="Segoe UI"/>
              </a:rPr>
              <a:t>Education is very useful for people.</a:t>
            </a:r>
          </a:p>
        </p:txBody>
      </p:sp>
      <p:sp>
        <p:nvSpPr>
          <p:cNvPr id="15" name="TextBox 14"/>
          <p:cNvSpPr txBox="1"/>
          <p:nvPr/>
        </p:nvSpPr>
        <p:spPr>
          <a:xfrm>
            <a:off x="6941667" y="2395728"/>
            <a:ext cx="4536795" cy="731520"/>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172A31"/>
                </a:solidFill>
                <a:latin typeface="Segoe UI"/>
                <a:ea typeface="Microsoft YaHei"/>
                <a:cs typeface="Segoe UI"/>
              </a:rPr>
              <a:t>Education gives people skills that employers can actually check.</a:t>
            </a:r>
          </a:p>
        </p:txBody>
      </p:sp>
      <p:sp>
        <p:nvSpPr>
          <p:cNvPr id="16" name="Rounded Rectangle 15"/>
          <p:cNvSpPr/>
          <p:nvPr/>
        </p:nvSpPr>
        <p:spPr>
          <a:xfrm>
            <a:off x="621792" y="3236976"/>
            <a:ext cx="10948111" cy="914400"/>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22960" y="3511296"/>
            <a:ext cx="1188720" cy="41148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0E5362"/>
                </a:solidFill>
                <a:latin typeface="Segoe UI"/>
                <a:ea typeface="Microsoft YaHei"/>
                <a:cs typeface="Segoe UI"/>
              </a:rPr>
              <a:t>解释</a:t>
            </a:r>
          </a:p>
        </p:txBody>
      </p:sp>
      <p:sp>
        <p:nvSpPr>
          <p:cNvPr id="18" name="TextBox 17"/>
          <p:cNvSpPr txBox="1"/>
          <p:nvPr/>
        </p:nvSpPr>
        <p:spPr>
          <a:xfrm>
            <a:off x="2103120" y="3383280"/>
            <a:ext cx="4536795" cy="731520"/>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627378"/>
                </a:solidFill>
                <a:latin typeface="Segoe UI"/>
                <a:ea typeface="Microsoft YaHei"/>
                <a:cs typeface="Segoe UI"/>
              </a:rPr>
              <a:t>（没有）</a:t>
            </a:r>
          </a:p>
        </p:txBody>
      </p:sp>
      <p:sp>
        <p:nvSpPr>
          <p:cNvPr id="19" name="TextBox 18"/>
          <p:cNvSpPr txBox="1"/>
          <p:nvPr/>
        </p:nvSpPr>
        <p:spPr>
          <a:xfrm>
            <a:off x="6941667" y="3383280"/>
            <a:ext cx="4536795" cy="731520"/>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172A31"/>
                </a:solidFill>
                <a:latin typeface="Segoe UI"/>
                <a:ea typeface="Microsoft YaHei"/>
                <a:cs typeface="Segoe UI"/>
              </a:rPr>
              <a:t>A degree shows that a person has completed real training, so a company is willing to interview them.</a:t>
            </a:r>
          </a:p>
        </p:txBody>
      </p:sp>
      <p:sp>
        <p:nvSpPr>
          <p:cNvPr id="20" name="Rounded Rectangle 19"/>
          <p:cNvSpPr/>
          <p:nvPr/>
        </p:nvSpPr>
        <p:spPr>
          <a:xfrm>
            <a:off x="621792" y="4224528"/>
            <a:ext cx="10948111" cy="914400"/>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22960" y="4498848"/>
            <a:ext cx="1188720" cy="41148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0E5362"/>
                </a:solidFill>
                <a:latin typeface="Segoe UI"/>
                <a:ea typeface="Microsoft YaHei"/>
                <a:cs typeface="Segoe UI"/>
              </a:rPr>
              <a:t>例子</a:t>
            </a:r>
          </a:p>
        </p:txBody>
      </p:sp>
      <p:sp>
        <p:nvSpPr>
          <p:cNvPr id="22" name="TextBox 21"/>
          <p:cNvSpPr txBox="1"/>
          <p:nvPr/>
        </p:nvSpPr>
        <p:spPr>
          <a:xfrm>
            <a:off x="2103120" y="4370832"/>
            <a:ext cx="4536795" cy="731520"/>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627378"/>
                </a:solidFill>
                <a:latin typeface="Segoe UI"/>
                <a:ea typeface="Microsoft YaHei"/>
                <a:cs typeface="Segoe UI"/>
              </a:rPr>
              <a:t>They can learn many things.</a:t>
            </a:r>
          </a:p>
        </p:txBody>
      </p:sp>
      <p:sp>
        <p:nvSpPr>
          <p:cNvPr id="23" name="TextBox 22"/>
          <p:cNvSpPr txBox="1"/>
          <p:nvPr/>
        </p:nvSpPr>
        <p:spPr>
          <a:xfrm>
            <a:off x="6941667" y="4370832"/>
            <a:ext cx="4536795" cy="731520"/>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172A31"/>
                </a:solidFill>
                <a:latin typeface="Segoe UI"/>
                <a:ea typeface="Microsoft YaHei"/>
                <a:cs typeface="Segoe UI"/>
              </a:rPr>
              <a:t>A student from a small town who finishes a nursing program can apply to a city hospital.</a:t>
            </a:r>
          </a:p>
        </p:txBody>
      </p:sp>
      <p:sp>
        <p:nvSpPr>
          <p:cNvPr id="24" name="Rounded Rectangle 23"/>
          <p:cNvSpPr/>
          <p:nvPr/>
        </p:nvSpPr>
        <p:spPr>
          <a:xfrm>
            <a:off x="621792" y="5212080"/>
            <a:ext cx="10948111" cy="914400"/>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822960" y="5486400"/>
            <a:ext cx="1188720" cy="41148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0E5362"/>
                </a:solidFill>
                <a:latin typeface="Segoe UI"/>
                <a:ea typeface="Microsoft YaHei"/>
                <a:cs typeface="Segoe UI"/>
              </a:rPr>
              <a:t>回应</a:t>
            </a:r>
          </a:p>
        </p:txBody>
      </p:sp>
      <p:sp>
        <p:nvSpPr>
          <p:cNvPr id="26" name="TextBox 25"/>
          <p:cNvSpPr txBox="1"/>
          <p:nvPr/>
        </p:nvSpPr>
        <p:spPr>
          <a:xfrm>
            <a:off x="2103120" y="5358384"/>
            <a:ext cx="4536795" cy="731520"/>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627378"/>
                </a:solidFill>
                <a:latin typeface="Segoe UI"/>
                <a:ea typeface="Microsoft YaHei"/>
                <a:cs typeface="Segoe UI"/>
              </a:rPr>
              <a:t>Andrew says connections are important, but I think education is more important.</a:t>
            </a:r>
          </a:p>
        </p:txBody>
      </p:sp>
      <p:sp>
        <p:nvSpPr>
          <p:cNvPr id="27" name="TextBox 26"/>
          <p:cNvSpPr txBox="1"/>
          <p:nvPr/>
        </p:nvSpPr>
        <p:spPr>
          <a:xfrm>
            <a:off x="6941667" y="5358384"/>
            <a:ext cx="4536795" cy="731520"/>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172A31"/>
                </a:solidFill>
                <a:latin typeface="Segoe UI"/>
                <a:ea typeface="Microsoft YaHei"/>
                <a:cs typeface="Segoe UI"/>
              </a:rPr>
              <a:t>Connections usually help people who already have the qualifications.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3 · 3/4/5 分</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43</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THE JUMP · 更难的那一步</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4 → 5 到底变了什么</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764792"/>
            <a:ext cx="10948111" cy="987552"/>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21792" y="1764792"/>
            <a:ext cx="54864" cy="987552"/>
          </a:xfrm>
          <a:prstGeom prst="rect">
            <a:avLst/>
          </a:prstGeom>
          <a:solidFill>
            <a:srgbClr val="2E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32688" y="1883664"/>
            <a:ext cx="10308031" cy="41148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2E6B4F"/>
                </a:solidFill>
                <a:latin typeface="Segoe UI"/>
                <a:ea typeface="Microsoft YaHei"/>
                <a:cs typeface="Segoe UI"/>
              </a:rPr>
              <a:t>① 理由再深一层</a:t>
            </a:r>
          </a:p>
        </p:txBody>
      </p:sp>
      <p:sp>
        <p:nvSpPr>
          <p:cNvPr id="11" name="TextBox 10"/>
          <p:cNvSpPr txBox="1"/>
          <p:nvPr/>
        </p:nvSpPr>
        <p:spPr>
          <a:xfrm>
            <a:off x="932688" y="2313432"/>
            <a:ext cx="10308031" cy="411480"/>
          </a:xfrm>
          <a:prstGeom prst="rect">
            <a:avLst/>
          </a:prstGeom>
          <a:noFill/>
        </p:spPr>
        <p:txBody>
          <a:bodyPr wrap="square" lIns="0" rIns="0" tIns="0" bIns="0" anchor="t">
            <a:spAutoFit/>
          </a:bodyPr>
          <a:lstStyle/>
          <a:p>
            <a:pPr algn="l">
              <a:lnSpc>
                <a:spcPct val="112000"/>
              </a:lnSpc>
              <a:spcBef>
                <a:spcPts val="0"/>
              </a:spcBef>
              <a:spcAft>
                <a:spcPts val="0"/>
              </a:spcAft>
            </a:pPr>
            <a:r>
              <a:rPr sz="1900" b="0" i="0" u="none">
                <a:solidFill>
                  <a:srgbClr val="172A31"/>
                </a:solidFill>
                <a:latin typeface="Segoe UI"/>
                <a:ea typeface="Microsoft YaHei"/>
                <a:cs typeface="Segoe UI"/>
              </a:rPr>
              <a:t>B：教育给可验证的技能。 →  C：教育是「不必先有人脉就能自己挣到」的那个优势。</a:t>
            </a:r>
          </a:p>
        </p:txBody>
      </p:sp>
      <p:sp>
        <p:nvSpPr>
          <p:cNvPr id="12" name="Rounded Rectangle 11"/>
          <p:cNvSpPr/>
          <p:nvPr/>
        </p:nvSpPr>
        <p:spPr>
          <a:xfrm>
            <a:off x="621792" y="2862072"/>
            <a:ext cx="10948111" cy="987552"/>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21792" y="2862072"/>
            <a:ext cx="54864" cy="987552"/>
          </a:xfrm>
          <a:prstGeom prst="rect">
            <a:avLst/>
          </a:prstGeom>
          <a:solidFill>
            <a:srgbClr val="2E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32688" y="2980944"/>
            <a:ext cx="10308031" cy="41148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2E6B4F"/>
                </a:solidFill>
                <a:latin typeface="Segoe UI"/>
                <a:ea typeface="Microsoft YaHei"/>
                <a:cs typeface="Segoe UI"/>
              </a:rPr>
              <a:t>② 例子多一个动作链</a:t>
            </a:r>
          </a:p>
        </p:txBody>
      </p:sp>
      <p:sp>
        <p:nvSpPr>
          <p:cNvPr id="15" name="TextBox 14"/>
          <p:cNvSpPr txBox="1"/>
          <p:nvPr/>
        </p:nvSpPr>
        <p:spPr>
          <a:xfrm>
            <a:off x="932688" y="3410712"/>
            <a:ext cx="10308031" cy="411480"/>
          </a:xfrm>
          <a:prstGeom prst="rect">
            <a:avLst/>
          </a:prstGeom>
          <a:noFill/>
        </p:spPr>
        <p:txBody>
          <a:bodyPr wrap="square" lIns="0" rIns="0" tIns="0" bIns="0" anchor="t">
            <a:spAutoFit/>
          </a:bodyPr>
          <a:lstStyle/>
          <a:p>
            <a:pPr algn="l">
              <a:lnSpc>
                <a:spcPct val="112000"/>
              </a:lnSpc>
              <a:spcBef>
                <a:spcPts val="0"/>
              </a:spcBef>
              <a:spcAft>
                <a:spcPts val="0"/>
              </a:spcAft>
            </a:pPr>
            <a:r>
              <a:rPr sz="1900" b="0" i="0" u="none">
                <a:solidFill>
                  <a:srgbClr val="172A31"/>
                </a:solidFill>
                <a:latin typeface="Segoe UI"/>
                <a:ea typeface="Microsoft YaHei"/>
                <a:cs typeface="Segoe UI"/>
              </a:rPr>
              <a:t>B：finishes a program → applies。   C：finishes → passes a test → is hired where she knows nobody。</a:t>
            </a:r>
          </a:p>
        </p:txBody>
      </p:sp>
      <p:sp>
        <p:nvSpPr>
          <p:cNvPr id="16" name="Rounded Rectangle 15"/>
          <p:cNvSpPr/>
          <p:nvPr/>
        </p:nvSpPr>
        <p:spPr>
          <a:xfrm>
            <a:off x="621792" y="3959352"/>
            <a:ext cx="10948111" cy="987552"/>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21792" y="3959352"/>
            <a:ext cx="54864" cy="987552"/>
          </a:xfrm>
          <a:prstGeom prst="rect">
            <a:avLst/>
          </a:prstGeom>
          <a:solidFill>
            <a:srgbClr val="2E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32688" y="4078224"/>
            <a:ext cx="10308031" cy="41148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2E6B4F"/>
                </a:solidFill>
                <a:latin typeface="Segoe UI"/>
                <a:ea typeface="Microsoft YaHei"/>
                <a:cs typeface="Segoe UI"/>
              </a:rPr>
              <a:t>③ 补一句 RESULT</a:t>
            </a:r>
          </a:p>
        </p:txBody>
      </p:sp>
      <p:sp>
        <p:nvSpPr>
          <p:cNvPr id="19" name="TextBox 18"/>
          <p:cNvSpPr txBox="1"/>
          <p:nvPr/>
        </p:nvSpPr>
        <p:spPr>
          <a:xfrm>
            <a:off x="932688" y="4507992"/>
            <a:ext cx="10308031" cy="411480"/>
          </a:xfrm>
          <a:prstGeom prst="rect">
            <a:avLst/>
          </a:prstGeom>
          <a:noFill/>
        </p:spPr>
        <p:txBody>
          <a:bodyPr wrap="square" lIns="0" rIns="0" tIns="0" bIns="0" anchor="t">
            <a:spAutoFit/>
          </a:bodyPr>
          <a:lstStyle/>
          <a:p>
            <a:pPr algn="l">
              <a:lnSpc>
                <a:spcPct val="112000"/>
              </a:lnSpc>
              <a:spcBef>
                <a:spcPts val="0"/>
              </a:spcBef>
              <a:spcAft>
                <a:spcPts val="0"/>
              </a:spcAft>
            </a:pPr>
            <a:r>
              <a:rPr sz="1900" b="0" i="0" u="none">
                <a:solidFill>
                  <a:srgbClr val="172A31"/>
                </a:solidFill>
                <a:latin typeface="Segoe UI"/>
                <a:ea typeface="Microsoft YaHei"/>
                <a:cs typeface="Segoe UI"/>
              </a:rPr>
              <a:t>As a result, her first job then becomes her first network.</a:t>
            </a:r>
          </a:p>
        </p:txBody>
      </p:sp>
      <p:sp>
        <p:nvSpPr>
          <p:cNvPr id="20" name="Rounded Rectangle 19"/>
          <p:cNvSpPr/>
          <p:nvPr/>
        </p:nvSpPr>
        <p:spPr>
          <a:xfrm>
            <a:off x="621792" y="5056632"/>
            <a:ext cx="10948111" cy="987552"/>
          </a:xfrm>
          <a:prstGeom prst="roundRect">
            <a:avLst>
              <a:gd name="adj" fmla="val 6000"/>
            </a:avLst>
          </a:prstGeom>
          <a:solidFill>
            <a:srgbClr val="E7F1EB"/>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21792" y="5056632"/>
            <a:ext cx="54864" cy="987552"/>
          </a:xfrm>
          <a:prstGeom prst="rect">
            <a:avLst/>
          </a:prstGeom>
          <a:solidFill>
            <a:srgbClr val="2E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32688" y="5175504"/>
            <a:ext cx="10308031" cy="41148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2E6B4F"/>
                </a:solidFill>
                <a:latin typeface="Segoe UI"/>
                <a:ea typeface="Microsoft YaHei"/>
                <a:cs typeface="Segoe UI"/>
              </a:rPr>
              <a:t>④ Contribution 给出新角度</a:t>
            </a:r>
          </a:p>
        </p:txBody>
      </p:sp>
      <p:sp>
        <p:nvSpPr>
          <p:cNvPr id="23" name="TextBox 22"/>
          <p:cNvSpPr txBox="1"/>
          <p:nvPr/>
        </p:nvSpPr>
        <p:spPr>
          <a:xfrm>
            <a:off x="932688" y="5605272"/>
            <a:ext cx="10308031" cy="411480"/>
          </a:xfrm>
          <a:prstGeom prst="rect">
            <a:avLst/>
          </a:prstGeom>
          <a:noFill/>
        </p:spPr>
        <p:txBody>
          <a:bodyPr wrap="square" lIns="0" rIns="0" tIns="0" bIns="0" anchor="t">
            <a:spAutoFit/>
          </a:bodyPr>
          <a:lstStyle/>
          <a:p>
            <a:pPr algn="l">
              <a:lnSpc>
                <a:spcPct val="112000"/>
              </a:lnSpc>
              <a:spcBef>
                <a:spcPts val="0"/>
              </a:spcBef>
              <a:spcAft>
                <a:spcPts val="0"/>
              </a:spcAft>
            </a:pPr>
            <a:r>
              <a:rPr sz="1900" b="0" i="0" u="none">
                <a:solidFill>
                  <a:srgbClr val="172A31"/>
                </a:solidFill>
                <a:latin typeface="Segoe UI"/>
                <a:ea typeface="Microsoft YaHei"/>
                <a:cs typeface="Segoe UI"/>
              </a:rPr>
              <a:t>education is what gets a person into the room where connections are formed.</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3 · 3/4/5 分</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44</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ONE IDEA · THREE LEVELS</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同一个想法的三个版本</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792224"/>
            <a:ext cx="10948111" cy="1298448"/>
          </a:xfrm>
          <a:prstGeom prst="roundRect">
            <a:avLst>
              <a:gd name="adj" fmla="val 6000"/>
            </a:avLst>
          </a:prstGeom>
          <a:solidFill>
            <a:srgbClr val="FFFFFF"/>
          </a:solidFill>
          <a:ln w="25400">
            <a:solidFill>
              <a:srgbClr val="C9552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621792" y="1792224"/>
            <a:ext cx="1234440" cy="1298448"/>
          </a:xfrm>
          <a:prstGeom prst="roundRect">
            <a:avLst>
              <a:gd name="adj" fmla="val 6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21792" y="2231136"/>
            <a:ext cx="1234440" cy="457200"/>
          </a:xfrm>
          <a:prstGeom prst="rect">
            <a:avLst/>
          </a:prstGeom>
          <a:noFill/>
        </p:spPr>
        <p:txBody>
          <a:bodyPr wrap="square" lIns="0" rIns="0" tIns="0" bIns="0" anchor="t">
            <a:spAutoFit/>
          </a:bodyPr>
          <a:lstStyle/>
          <a:p>
            <a:pPr algn="ctr">
              <a:lnSpc>
                <a:spcPct val="116000"/>
              </a:lnSpc>
              <a:spcBef>
                <a:spcPts val="0"/>
              </a:spcBef>
              <a:spcAft>
                <a:spcPts val="0"/>
              </a:spcAft>
            </a:pPr>
            <a:r>
              <a:rPr sz="2200" b="1" i="0" u="none">
                <a:solidFill>
                  <a:srgbClr val="FFFFFF"/>
                </a:solidFill>
                <a:latin typeface="Segoe UI"/>
                <a:ea typeface="Microsoft YaHei"/>
                <a:cs typeface="Segoe UI"/>
              </a:rPr>
              <a:t>3 分</a:t>
            </a:r>
          </a:p>
        </p:txBody>
      </p:sp>
      <p:sp>
        <p:nvSpPr>
          <p:cNvPr id="11" name="TextBox 10"/>
          <p:cNvSpPr txBox="1"/>
          <p:nvPr/>
        </p:nvSpPr>
        <p:spPr>
          <a:xfrm>
            <a:off x="2103120" y="1956816"/>
            <a:ext cx="9119311" cy="640080"/>
          </a:xfrm>
          <a:prstGeom prst="rect">
            <a:avLst/>
          </a:prstGeom>
          <a:noFill/>
        </p:spPr>
        <p:txBody>
          <a:bodyPr wrap="square" lIns="0" rIns="0" tIns="0" bIns="0" anchor="t">
            <a:spAutoFit/>
          </a:bodyPr>
          <a:lstStyle/>
          <a:p>
            <a:pPr algn="l">
              <a:lnSpc>
                <a:spcPct val="112000"/>
              </a:lnSpc>
              <a:spcBef>
                <a:spcPts val="0"/>
              </a:spcBef>
              <a:spcAft>
                <a:spcPts val="600"/>
              </a:spcAft>
            </a:pPr>
            <a:r>
              <a:rPr sz="2000" b="1" i="0" u="none">
                <a:solidFill>
                  <a:srgbClr val="172A31"/>
                </a:solidFill>
                <a:latin typeface="Segoe UI"/>
                <a:ea typeface="Microsoft YaHei"/>
                <a:cs typeface="Segoe UI"/>
              </a:rPr>
              <a:t>Education is useful for people.</a:t>
            </a:r>
          </a:p>
        </p:txBody>
      </p:sp>
      <p:sp>
        <p:nvSpPr>
          <p:cNvPr id="12" name="TextBox 11"/>
          <p:cNvSpPr txBox="1"/>
          <p:nvPr/>
        </p:nvSpPr>
        <p:spPr>
          <a:xfrm>
            <a:off x="2103120" y="2688336"/>
            <a:ext cx="911931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C95527"/>
                </a:solidFill>
                <a:latin typeface="Segoe UI"/>
                <a:ea typeface="Microsoft YaHei"/>
                <a:cs typeface="Segoe UI"/>
              </a:rPr>
              <a:t>换成任何话题都成立</a:t>
            </a:r>
          </a:p>
        </p:txBody>
      </p:sp>
      <p:sp>
        <p:nvSpPr>
          <p:cNvPr id="13" name="Rounded Rectangle 12"/>
          <p:cNvSpPr/>
          <p:nvPr/>
        </p:nvSpPr>
        <p:spPr>
          <a:xfrm>
            <a:off x="621792" y="3200400"/>
            <a:ext cx="10948111" cy="1298448"/>
          </a:xfrm>
          <a:prstGeom prst="roundRect">
            <a:avLst>
              <a:gd name="adj" fmla="val 6000"/>
            </a:avLst>
          </a:prstGeom>
          <a:solidFill>
            <a:srgbClr val="FFFFFF"/>
          </a:solidFill>
          <a:ln w="25400">
            <a:solidFill>
              <a:srgbClr val="2A7E8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621792" y="3200400"/>
            <a:ext cx="1234440" cy="1298448"/>
          </a:xfrm>
          <a:prstGeom prst="roundRect">
            <a:avLst>
              <a:gd name="adj" fmla="val 6000"/>
            </a:avLst>
          </a:prstGeom>
          <a:solidFill>
            <a:srgbClr val="2A7E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21792" y="3639312"/>
            <a:ext cx="1234440" cy="457200"/>
          </a:xfrm>
          <a:prstGeom prst="rect">
            <a:avLst/>
          </a:prstGeom>
          <a:noFill/>
        </p:spPr>
        <p:txBody>
          <a:bodyPr wrap="square" lIns="0" rIns="0" tIns="0" bIns="0" anchor="t">
            <a:spAutoFit/>
          </a:bodyPr>
          <a:lstStyle/>
          <a:p>
            <a:pPr algn="ctr">
              <a:lnSpc>
                <a:spcPct val="116000"/>
              </a:lnSpc>
              <a:spcBef>
                <a:spcPts val="0"/>
              </a:spcBef>
              <a:spcAft>
                <a:spcPts val="0"/>
              </a:spcAft>
            </a:pPr>
            <a:r>
              <a:rPr sz="2200" b="1" i="0" u="none">
                <a:solidFill>
                  <a:srgbClr val="FFFFFF"/>
                </a:solidFill>
                <a:latin typeface="Segoe UI"/>
                <a:ea typeface="Microsoft YaHei"/>
                <a:cs typeface="Segoe UI"/>
              </a:rPr>
              <a:t>4 分</a:t>
            </a:r>
          </a:p>
        </p:txBody>
      </p:sp>
      <p:sp>
        <p:nvSpPr>
          <p:cNvPr id="16" name="TextBox 15"/>
          <p:cNvSpPr txBox="1"/>
          <p:nvPr/>
        </p:nvSpPr>
        <p:spPr>
          <a:xfrm>
            <a:off x="2103120" y="3364992"/>
            <a:ext cx="9119311" cy="640080"/>
          </a:xfrm>
          <a:prstGeom prst="rect">
            <a:avLst/>
          </a:prstGeom>
          <a:noFill/>
        </p:spPr>
        <p:txBody>
          <a:bodyPr wrap="square" lIns="0" rIns="0" tIns="0" bIns="0" anchor="t">
            <a:spAutoFit/>
          </a:bodyPr>
          <a:lstStyle/>
          <a:p>
            <a:pPr algn="l">
              <a:lnSpc>
                <a:spcPct val="112000"/>
              </a:lnSpc>
              <a:spcBef>
                <a:spcPts val="0"/>
              </a:spcBef>
              <a:spcAft>
                <a:spcPts val="600"/>
              </a:spcAft>
            </a:pPr>
            <a:r>
              <a:rPr sz="2000" b="1" i="0" u="none">
                <a:solidFill>
                  <a:srgbClr val="172A31"/>
                </a:solidFill>
                <a:latin typeface="Segoe UI"/>
                <a:ea typeface="Microsoft YaHei"/>
                <a:cs typeface="Segoe UI"/>
              </a:rPr>
              <a:t>Education gives people skills that employers can actually check.</a:t>
            </a:r>
          </a:p>
        </p:txBody>
      </p:sp>
      <p:sp>
        <p:nvSpPr>
          <p:cNvPr id="17" name="TextBox 16"/>
          <p:cNvSpPr txBox="1"/>
          <p:nvPr/>
        </p:nvSpPr>
        <p:spPr>
          <a:xfrm>
            <a:off x="2103120" y="4096512"/>
            <a:ext cx="911931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2A7E8E"/>
                </a:solidFill>
                <a:latin typeface="Segoe UI"/>
                <a:ea typeface="Microsoft YaHei"/>
                <a:cs typeface="Segoe UI"/>
              </a:rPr>
              <a:t>有了具体内容</a:t>
            </a:r>
          </a:p>
        </p:txBody>
      </p:sp>
      <p:sp>
        <p:nvSpPr>
          <p:cNvPr id="18" name="Rounded Rectangle 17"/>
          <p:cNvSpPr/>
          <p:nvPr/>
        </p:nvSpPr>
        <p:spPr>
          <a:xfrm>
            <a:off x="621792" y="4608576"/>
            <a:ext cx="10948111" cy="1298448"/>
          </a:xfrm>
          <a:prstGeom prst="roundRect">
            <a:avLst>
              <a:gd name="adj" fmla="val 6000"/>
            </a:avLst>
          </a:prstGeom>
          <a:solidFill>
            <a:srgbClr val="FFFFFF"/>
          </a:solidFill>
          <a:ln w="25400">
            <a:solidFill>
              <a:srgbClr val="2E6B4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621792" y="4608576"/>
            <a:ext cx="1234440" cy="1298448"/>
          </a:xfrm>
          <a:prstGeom prst="roundRect">
            <a:avLst>
              <a:gd name="adj" fmla="val 6000"/>
            </a:avLst>
          </a:prstGeom>
          <a:solidFill>
            <a:srgbClr val="2E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21792" y="5047488"/>
            <a:ext cx="1234440" cy="457200"/>
          </a:xfrm>
          <a:prstGeom prst="rect">
            <a:avLst/>
          </a:prstGeom>
          <a:noFill/>
        </p:spPr>
        <p:txBody>
          <a:bodyPr wrap="square" lIns="0" rIns="0" tIns="0" bIns="0" anchor="t">
            <a:spAutoFit/>
          </a:bodyPr>
          <a:lstStyle/>
          <a:p>
            <a:pPr algn="ctr">
              <a:lnSpc>
                <a:spcPct val="116000"/>
              </a:lnSpc>
              <a:spcBef>
                <a:spcPts val="0"/>
              </a:spcBef>
              <a:spcAft>
                <a:spcPts val="0"/>
              </a:spcAft>
            </a:pPr>
            <a:r>
              <a:rPr sz="2200" b="1" i="0" u="none">
                <a:solidFill>
                  <a:srgbClr val="FFFFFF"/>
                </a:solidFill>
                <a:latin typeface="Segoe UI"/>
                <a:ea typeface="Microsoft YaHei"/>
                <a:cs typeface="Segoe UI"/>
              </a:rPr>
              <a:t>5 分</a:t>
            </a:r>
          </a:p>
        </p:txBody>
      </p:sp>
      <p:sp>
        <p:nvSpPr>
          <p:cNvPr id="21" name="TextBox 20"/>
          <p:cNvSpPr txBox="1"/>
          <p:nvPr/>
        </p:nvSpPr>
        <p:spPr>
          <a:xfrm>
            <a:off x="2103120" y="4773168"/>
            <a:ext cx="9119311" cy="640080"/>
          </a:xfrm>
          <a:prstGeom prst="rect">
            <a:avLst/>
          </a:prstGeom>
          <a:noFill/>
        </p:spPr>
        <p:txBody>
          <a:bodyPr wrap="square" lIns="0" rIns="0" tIns="0" bIns="0" anchor="t">
            <a:spAutoFit/>
          </a:bodyPr>
          <a:lstStyle/>
          <a:p>
            <a:pPr algn="l">
              <a:lnSpc>
                <a:spcPct val="112000"/>
              </a:lnSpc>
              <a:spcBef>
                <a:spcPts val="0"/>
              </a:spcBef>
              <a:spcAft>
                <a:spcPts val="600"/>
              </a:spcAft>
            </a:pPr>
            <a:r>
              <a:rPr sz="2000" b="1" i="0" u="none">
                <a:solidFill>
                  <a:srgbClr val="172A31"/>
                </a:solidFill>
                <a:latin typeface="Segoe UI"/>
                <a:ea typeface="Microsoft YaHei"/>
                <a:cs typeface="Segoe UI"/>
              </a:rPr>
              <a:t>Education is the one advantage a person can build without already belonging to a network.</a:t>
            </a:r>
          </a:p>
        </p:txBody>
      </p:sp>
      <p:sp>
        <p:nvSpPr>
          <p:cNvPr id="22" name="TextBox 21"/>
          <p:cNvSpPr txBox="1"/>
          <p:nvPr/>
        </p:nvSpPr>
        <p:spPr>
          <a:xfrm>
            <a:off x="2103120" y="5504688"/>
            <a:ext cx="911931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2E6B4F"/>
                </a:solidFill>
                <a:latin typeface="Segoe UI"/>
                <a:ea typeface="Microsoft YaHei"/>
                <a:cs typeface="Segoe UI"/>
              </a:rPr>
              <a:t>回应了这道题的争议点</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3 · 3/4/5 分</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45</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ETS OFFICIAL · Response Tips</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官方自己怎么说「贡献」</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719072"/>
            <a:ext cx="10948111" cy="1737360"/>
          </a:xfrm>
          <a:prstGeom prst="roundRect">
            <a:avLst>
              <a:gd name="adj" fmla="val 6000"/>
            </a:avLst>
          </a:prstGeom>
          <a:solidFill>
            <a:srgbClr val="FFFFFF"/>
          </a:solidFill>
          <a:ln w="20320">
            <a:solidFill>
              <a:srgbClr val="0E536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33272" y="1975104"/>
            <a:ext cx="10125151" cy="1280160"/>
          </a:xfrm>
          <a:prstGeom prst="rect">
            <a:avLst/>
          </a:prstGeom>
          <a:noFill/>
        </p:spPr>
        <p:txBody>
          <a:bodyPr wrap="square" lIns="0" rIns="0" tIns="0" bIns="0" anchor="t">
            <a:spAutoFit/>
          </a:bodyPr>
          <a:lstStyle/>
          <a:p>
            <a:pPr algn="l">
              <a:lnSpc>
                <a:spcPct val="120000"/>
              </a:lnSpc>
              <a:spcBef>
                <a:spcPts val="0"/>
              </a:spcBef>
              <a:spcAft>
                <a:spcPts val="1000"/>
              </a:spcAft>
            </a:pPr>
            <a:r>
              <a:rPr sz="2200" b="1" i="0" u="none">
                <a:solidFill>
                  <a:srgbClr val="0E5362"/>
                </a:solidFill>
                <a:latin typeface="Segoe UI"/>
                <a:ea typeface="Microsoft YaHei"/>
                <a:cs typeface="Segoe UI"/>
              </a:rPr>
              <a:t>“Be sure to add your own perspective to the discussion, not merely repeat ideas that have already been stated.”</a:t>
            </a:r>
          </a:p>
          <a:p>
            <a:pPr algn="l">
              <a:lnSpc>
                <a:spcPct val="116000"/>
              </a:lnSpc>
              <a:spcBef>
                <a:spcPts val="0"/>
              </a:spcBef>
              <a:spcAft>
                <a:spcPts val="0"/>
              </a:spcAft>
            </a:pPr>
            <a:r>
              <a:rPr sz="1900" b="0" i="0" u="none">
                <a:solidFill>
                  <a:srgbClr val="627378"/>
                </a:solidFill>
                <a:latin typeface="Segoe UI"/>
                <a:ea typeface="Microsoft YaHei"/>
                <a:cs typeface="Segoe UI"/>
              </a:rPr>
              <a:t>— ETS, TOEFL iBT Writing Practice Set 2（Academic Discussion）Response Tips</a:t>
            </a:r>
          </a:p>
        </p:txBody>
      </p:sp>
      <p:sp>
        <p:nvSpPr>
          <p:cNvPr id="10" name="Rounded Rectangle 9"/>
          <p:cNvSpPr/>
          <p:nvPr/>
        </p:nvSpPr>
        <p:spPr>
          <a:xfrm>
            <a:off x="621792" y="3730752"/>
            <a:ext cx="10948111" cy="1691640"/>
          </a:xfrm>
          <a:prstGeom prst="roundRect">
            <a:avLst>
              <a:gd name="adj" fmla="val 6000"/>
            </a:avLst>
          </a:prstGeom>
          <a:solidFill>
            <a:srgbClr val="FBEC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3959352"/>
            <a:ext cx="10170871" cy="1280160"/>
          </a:xfrm>
          <a:prstGeom prst="rect">
            <a:avLst/>
          </a:prstGeom>
          <a:noFill/>
        </p:spPr>
        <p:txBody>
          <a:bodyPr wrap="square" lIns="0" rIns="0" tIns="0" bIns="0" anchor="t">
            <a:spAutoFit/>
          </a:bodyPr>
          <a:lstStyle/>
          <a:p>
            <a:pPr algn="l">
              <a:lnSpc>
                <a:spcPct val="116000"/>
              </a:lnSpc>
              <a:spcBef>
                <a:spcPts val="0"/>
              </a:spcBef>
              <a:spcAft>
                <a:spcPts val="800"/>
              </a:spcAft>
            </a:pPr>
            <a:r>
              <a:rPr sz="2000" b="1" i="0" u="none">
                <a:solidFill>
                  <a:srgbClr val="C95527"/>
                </a:solidFill>
                <a:latin typeface="Segoe UI"/>
                <a:ea typeface="Microsoft YaHei"/>
                <a:cs typeface="Segoe UI"/>
              </a:rPr>
              <a:t>翻译成人话：</a:t>
            </a:r>
          </a:p>
          <a:p>
            <a:pPr algn="l">
              <a:lnSpc>
                <a:spcPct val="115000"/>
              </a:lnSpc>
              <a:spcBef>
                <a:spcPts val="0"/>
              </a:spcBef>
              <a:spcAft>
                <a:spcPts val="600"/>
              </a:spcAft>
            </a:pPr>
            <a:r>
              <a:rPr sz="2100" b="1" i="0" u="none">
                <a:solidFill>
                  <a:srgbClr val="172A31"/>
                </a:solidFill>
                <a:latin typeface="Segoe UI"/>
                <a:ea typeface="Microsoft YaHei"/>
                <a:cs typeface="Segoe UI"/>
              </a:rPr>
              <a:t>把同学说过的话换个词再说一遍 = 0 分贡献。读完你这句，讨论里必须多出一个新信息。</a:t>
            </a:r>
          </a:p>
          <a:p>
            <a:pPr algn="l">
              <a:lnSpc>
                <a:spcPct val="116000"/>
              </a:lnSpc>
              <a:spcBef>
                <a:spcPts val="0"/>
              </a:spcBef>
              <a:spcAft>
                <a:spcPts val="0"/>
              </a:spcAft>
            </a:pPr>
            <a:r>
              <a:rPr sz="1900" b="0" i="0" u="none">
                <a:solidFill>
                  <a:srgbClr val="627378"/>
                </a:solidFill>
                <a:latin typeface="Segoe UI"/>
                <a:ea typeface="Microsoft YaHei"/>
                <a:cs typeface="Segoe UI"/>
              </a:rPr>
              <a:t>Response A 失败在这里；Response C 拿分也在这里。</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3 · 3/4/5 分</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46</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OUTPUT · 每人一句</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B08300"/>
                </a:solidFill>
                <a:latin typeface="Segoe UI"/>
                <a:ea typeface="Microsoft YaHei"/>
                <a:cs typeface="Segoe UI"/>
              </a:rPr>
              <a:t>把 3 分句升级成 4 分句</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719072"/>
            <a:ext cx="10948111" cy="1143000"/>
          </a:xfrm>
          <a:prstGeom prst="roundRect">
            <a:avLst>
              <a:gd name="adj" fmla="val 6000"/>
            </a:avLst>
          </a:prstGeom>
          <a:solidFill>
            <a:srgbClr val="FAF2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21792" y="1719072"/>
            <a:ext cx="64008" cy="1143000"/>
          </a:xfrm>
          <a:prstGeom prst="rect">
            <a:avLst/>
          </a:prstGeom>
          <a:solidFill>
            <a:srgbClr val="B083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50976" y="1938528"/>
            <a:ext cx="10216591" cy="822960"/>
          </a:xfrm>
          <a:prstGeom prst="rect">
            <a:avLst/>
          </a:prstGeom>
          <a:noFill/>
        </p:spPr>
        <p:txBody>
          <a:bodyPr wrap="square" lIns="0" rIns="0" tIns="0" bIns="0" anchor="t">
            <a:spAutoFit/>
          </a:bodyPr>
          <a:lstStyle/>
          <a:p>
            <a:pPr algn="l">
              <a:lnSpc>
                <a:spcPct val="115000"/>
              </a:lnSpc>
              <a:spcBef>
                <a:spcPts val="0"/>
              </a:spcBef>
              <a:spcAft>
                <a:spcPts val="0"/>
              </a:spcAft>
            </a:pPr>
            <a:r>
              <a:rPr sz="2400" b="1" i="0" u="none">
                <a:solidFill>
                  <a:srgbClr val="B08300"/>
                </a:solidFill>
                <a:latin typeface="Segoe UI"/>
                <a:ea typeface="Microsoft YaHei"/>
                <a:cs typeface="Segoe UI"/>
              </a:rPr>
              <a:t>拿 Response A 里的这句：Education is very useful for people.</a:t>
            </a:r>
          </a:p>
        </p:txBody>
      </p:sp>
      <p:sp>
        <p:nvSpPr>
          <p:cNvPr id="11" name="Rounded Rectangle 10"/>
          <p:cNvSpPr/>
          <p:nvPr/>
        </p:nvSpPr>
        <p:spPr>
          <a:xfrm>
            <a:off x="621792" y="3108960"/>
            <a:ext cx="10948111" cy="658368"/>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3255264"/>
            <a:ext cx="457200"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B08300"/>
                </a:solidFill>
                <a:latin typeface="Segoe UI"/>
                <a:ea typeface="Microsoft YaHei"/>
                <a:cs typeface="Segoe UI"/>
              </a:rPr>
              <a:t>1</a:t>
            </a:r>
          </a:p>
        </p:txBody>
      </p:sp>
      <p:sp>
        <p:nvSpPr>
          <p:cNvPr id="13" name="TextBox 12"/>
          <p:cNvSpPr txBox="1"/>
          <p:nvPr/>
        </p:nvSpPr>
        <p:spPr>
          <a:xfrm>
            <a:off x="1371600" y="3255264"/>
            <a:ext cx="9850831" cy="45720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第一步：把 useful 换掉，写出教育到底给了什么（不许用 good / important / useful）</a:t>
            </a:r>
          </a:p>
        </p:txBody>
      </p:sp>
      <p:sp>
        <p:nvSpPr>
          <p:cNvPr id="14" name="Rounded Rectangle 13"/>
          <p:cNvSpPr/>
          <p:nvPr/>
        </p:nvSpPr>
        <p:spPr>
          <a:xfrm>
            <a:off x="621792" y="3858768"/>
            <a:ext cx="10948111" cy="658368"/>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77824" y="4005072"/>
            <a:ext cx="457200"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B08300"/>
                </a:solidFill>
                <a:latin typeface="Segoe UI"/>
                <a:ea typeface="Microsoft YaHei"/>
                <a:cs typeface="Segoe UI"/>
              </a:rPr>
              <a:t>2</a:t>
            </a:r>
          </a:p>
        </p:txBody>
      </p:sp>
      <p:sp>
        <p:nvSpPr>
          <p:cNvPr id="16" name="TextBox 15"/>
          <p:cNvSpPr txBox="1"/>
          <p:nvPr/>
        </p:nvSpPr>
        <p:spPr>
          <a:xfrm>
            <a:off x="1371600" y="4005072"/>
            <a:ext cx="9850831" cy="45720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第二步：加一句 This matters because …</a:t>
            </a:r>
          </a:p>
        </p:txBody>
      </p:sp>
      <p:sp>
        <p:nvSpPr>
          <p:cNvPr id="17" name="Rounded Rectangle 16"/>
          <p:cNvSpPr/>
          <p:nvPr/>
        </p:nvSpPr>
        <p:spPr>
          <a:xfrm>
            <a:off x="621792" y="4608576"/>
            <a:ext cx="10948111" cy="658368"/>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77824" y="4754880"/>
            <a:ext cx="457200"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B08300"/>
                </a:solidFill>
                <a:latin typeface="Segoe UI"/>
                <a:ea typeface="Microsoft YaHei"/>
                <a:cs typeface="Segoe UI"/>
              </a:rPr>
              <a:t>3</a:t>
            </a:r>
          </a:p>
        </p:txBody>
      </p:sp>
      <p:sp>
        <p:nvSpPr>
          <p:cNvPr id="19" name="TextBox 18"/>
          <p:cNvSpPr txBox="1"/>
          <p:nvPr/>
        </p:nvSpPr>
        <p:spPr>
          <a:xfrm>
            <a:off x="1371600" y="4754880"/>
            <a:ext cx="9850831" cy="45720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写完两句就停，不要写例子——例子是 Part 4 的事</a:t>
            </a:r>
          </a:p>
        </p:txBody>
      </p:sp>
      <p:sp>
        <p:nvSpPr>
          <p:cNvPr id="20" name="Rounded Rectangle 19"/>
          <p:cNvSpPr/>
          <p:nvPr/>
        </p:nvSpPr>
        <p:spPr>
          <a:xfrm>
            <a:off x="621792" y="5468112"/>
            <a:ext cx="720547" cy="384048"/>
          </a:xfrm>
          <a:prstGeom prst="roundRect">
            <a:avLst>
              <a:gd name="adj" fmla="val 40000"/>
            </a:avLst>
          </a:prstGeom>
          <a:solidFill>
            <a:srgbClr val="B083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21792" y="5509260"/>
            <a:ext cx="720547" cy="384048"/>
          </a:xfrm>
          <a:prstGeom prst="rect">
            <a:avLst/>
          </a:prstGeom>
          <a:noFill/>
        </p:spPr>
        <p:txBody>
          <a:bodyPr wrap="square" lIns="0" rIns="0" tIns="0" bIns="0" anchor="t">
            <a:spAutoFit/>
          </a:bodyPr>
          <a:lstStyle/>
          <a:p>
            <a:pPr algn="ctr">
              <a:lnSpc>
                <a:spcPct val="116000"/>
              </a:lnSpc>
              <a:spcBef>
                <a:spcPts val="0"/>
              </a:spcBef>
              <a:spcAft>
                <a:spcPts val="0"/>
              </a:spcAft>
            </a:pPr>
            <a:r>
              <a:rPr sz="1700" b="1" i="0" u="none">
                <a:solidFill>
                  <a:srgbClr val="FFFFFF"/>
                </a:solidFill>
                <a:latin typeface="Segoe UI"/>
                <a:ea typeface="Microsoft YaHei"/>
                <a:cs typeface="Segoe UI"/>
              </a:rPr>
              <a:t>4 分钟</a:t>
            </a:r>
          </a:p>
        </p:txBody>
      </p:sp>
      <p:sp>
        <p:nvSpPr>
          <p:cNvPr id="22" name="TextBox 21"/>
          <p:cNvSpPr txBox="1"/>
          <p:nvPr/>
        </p:nvSpPr>
        <p:spPr>
          <a:xfrm>
            <a:off x="2542032" y="5522976"/>
            <a:ext cx="8936431" cy="45720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老师会随机抽两条投影出来一起改。</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3 · 3/4/5 分</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47</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PART 3 · 收</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Part 3 小结：分数差在哪里</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901952"/>
            <a:ext cx="10948111" cy="1143000"/>
          </a:xfrm>
          <a:prstGeom prst="roundRect">
            <a:avLst>
              <a:gd name="adj" fmla="val 6000"/>
            </a:avLst>
          </a:prstGeom>
          <a:solidFill>
            <a:srgbClr val="0E53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33272" y="2157984"/>
            <a:ext cx="10125151" cy="731520"/>
          </a:xfrm>
          <a:prstGeom prst="rect">
            <a:avLst/>
          </a:prstGeom>
          <a:noFill/>
        </p:spPr>
        <p:txBody>
          <a:bodyPr wrap="square" lIns="0" rIns="0" tIns="0" bIns="0" anchor="t">
            <a:spAutoFit/>
          </a:bodyPr>
          <a:lstStyle/>
          <a:p>
            <a:pPr algn="ctr">
              <a:lnSpc>
                <a:spcPct val="116000"/>
              </a:lnSpc>
              <a:spcBef>
                <a:spcPts val="0"/>
              </a:spcBef>
              <a:spcAft>
                <a:spcPts val="0"/>
              </a:spcAft>
            </a:pPr>
            <a:r>
              <a:rPr sz="2500" b="1" i="0" u="none">
                <a:solidFill>
                  <a:srgbClr val="FFFFFF"/>
                </a:solidFill>
                <a:latin typeface="Segoe UI"/>
                <a:ea typeface="Microsoft YaHei"/>
                <a:cs typeface="Segoe UI"/>
              </a:rPr>
              <a:t>3 分和 5 分的差距，不在词汇难度，在同一个理由被推了几层。</a:t>
            </a:r>
          </a:p>
        </p:txBody>
      </p:sp>
      <p:sp>
        <p:nvSpPr>
          <p:cNvPr id="10" name="Rounded Rectangle 9"/>
          <p:cNvSpPr/>
          <p:nvPr/>
        </p:nvSpPr>
        <p:spPr>
          <a:xfrm>
            <a:off x="621792" y="3456432"/>
            <a:ext cx="2072579" cy="914400"/>
          </a:xfrm>
          <a:prstGeom prst="roundRect">
            <a:avLst>
              <a:gd name="adj" fmla="val 6000"/>
            </a:avLst>
          </a:prstGeom>
          <a:solidFill>
            <a:srgbClr val="FFFFFF"/>
          </a:solidFill>
          <a:ln w="25400">
            <a:solidFill>
              <a:srgbClr val="C9552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13232" y="3749039"/>
            <a:ext cx="1889699" cy="457200"/>
          </a:xfrm>
          <a:prstGeom prst="rect">
            <a:avLst/>
          </a:prstGeom>
          <a:noFill/>
        </p:spPr>
        <p:txBody>
          <a:bodyPr wrap="square" lIns="0" rIns="0" tIns="0" bIns="0" anchor="t">
            <a:spAutoFit/>
          </a:bodyPr>
          <a:lstStyle/>
          <a:p>
            <a:pPr algn="ctr">
              <a:lnSpc>
                <a:spcPct val="116000"/>
              </a:lnSpc>
              <a:spcBef>
                <a:spcPts val="0"/>
              </a:spcBef>
              <a:spcAft>
                <a:spcPts val="0"/>
              </a:spcAft>
            </a:pPr>
            <a:r>
              <a:rPr sz="1900" b="1" i="0" u="none">
                <a:solidFill>
                  <a:srgbClr val="C95527"/>
                </a:solidFill>
                <a:latin typeface="Segoe UI"/>
                <a:ea typeface="Microsoft YaHei"/>
                <a:cs typeface="Segoe UI"/>
              </a:rPr>
              <a:t>Reason 具体</a:t>
            </a:r>
          </a:p>
        </p:txBody>
      </p:sp>
      <p:sp>
        <p:nvSpPr>
          <p:cNvPr id="12" name="Rounded Rectangle 11"/>
          <p:cNvSpPr/>
          <p:nvPr/>
        </p:nvSpPr>
        <p:spPr>
          <a:xfrm>
            <a:off x="2840675" y="3456432"/>
            <a:ext cx="2072579" cy="914400"/>
          </a:xfrm>
          <a:prstGeom prst="roundRect">
            <a:avLst>
              <a:gd name="adj" fmla="val 6000"/>
            </a:avLst>
          </a:prstGeom>
          <a:solidFill>
            <a:srgbClr val="FFFFFF"/>
          </a:solidFill>
          <a:ln w="25400">
            <a:solidFill>
              <a:srgbClr val="C9552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932115" y="3749039"/>
            <a:ext cx="1889699" cy="457200"/>
          </a:xfrm>
          <a:prstGeom prst="rect">
            <a:avLst/>
          </a:prstGeom>
          <a:noFill/>
        </p:spPr>
        <p:txBody>
          <a:bodyPr wrap="square" lIns="0" rIns="0" tIns="0" bIns="0" anchor="t">
            <a:spAutoFit/>
          </a:bodyPr>
          <a:lstStyle/>
          <a:p>
            <a:pPr algn="ctr">
              <a:lnSpc>
                <a:spcPct val="116000"/>
              </a:lnSpc>
              <a:spcBef>
                <a:spcPts val="0"/>
              </a:spcBef>
              <a:spcAft>
                <a:spcPts val="0"/>
              </a:spcAft>
            </a:pPr>
            <a:r>
              <a:rPr sz="1900" b="1" i="0" u="none">
                <a:solidFill>
                  <a:srgbClr val="C95527"/>
                </a:solidFill>
                <a:latin typeface="Segoe UI"/>
                <a:ea typeface="Microsoft YaHei"/>
                <a:cs typeface="Segoe UI"/>
              </a:rPr>
              <a:t>+ WHY</a:t>
            </a:r>
          </a:p>
        </p:txBody>
      </p:sp>
      <p:sp>
        <p:nvSpPr>
          <p:cNvPr id="14" name="Rounded Rectangle 13"/>
          <p:cNvSpPr/>
          <p:nvPr/>
        </p:nvSpPr>
        <p:spPr>
          <a:xfrm>
            <a:off x="5059558" y="3456432"/>
            <a:ext cx="2072579" cy="914400"/>
          </a:xfrm>
          <a:prstGeom prst="roundRect">
            <a:avLst>
              <a:gd name="adj" fmla="val 6000"/>
            </a:avLst>
          </a:prstGeom>
          <a:solidFill>
            <a:srgbClr val="FFFFFF"/>
          </a:solidFill>
          <a:ln w="25400">
            <a:solidFill>
              <a:srgbClr val="2A7E8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5150998" y="3749039"/>
            <a:ext cx="1889699" cy="457200"/>
          </a:xfrm>
          <a:prstGeom prst="rect">
            <a:avLst/>
          </a:prstGeom>
          <a:noFill/>
        </p:spPr>
        <p:txBody>
          <a:bodyPr wrap="square" lIns="0" rIns="0" tIns="0" bIns="0" anchor="t">
            <a:spAutoFit/>
          </a:bodyPr>
          <a:lstStyle/>
          <a:p>
            <a:pPr algn="ctr">
              <a:lnSpc>
                <a:spcPct val="116000"/>
              </a:lnSpc>
              <a:spcBef>
                <a:spcPts val="0"/>
              </a:spcBef>
              <a:spcAft>
                <a:spcPts val="0"/>
              </a:spcAft>
            </a:pPr>
            <a:r>
              <a:rPr sz="1900" b="1" i="0" u="none">
                <a:solidFill>
                  <a:srgbClr val="2A7E8E"/>
                </a:solidFill>
                <a:latin typeface="Segoe UI"/>
                <a:ea typeface="Microsoft YaHei"/>
                <a:cs typeface="Segoe UI"/>
              </a:rPr>
              <a:t>+ Example</a:t>
            </a:r>
          </a:p>
        </p:txBody>
      </p:sp>
      <p:sp>
        <p:nvSpPr>
          <p:cNvPr id="16" name="Rounded Rectangle 15"/>
          <p:cNvSpPr/>
          <p:nvPr/>
        </p:nvSpPr>
        <p:spPr>
          <a:xfrm>
            <a:off x="7278441" y="3456432"/>
            <a:ext cx="2072579" cy="914400"/>
          </a:xfrm>
          <a:prstGeom prst="roundRect">
            <a:avLst>
              <a:gd name="adj" fmla="val 6000"/>
            </a:avLst>
          </a:prstGeom>
          <a:solidFill>
            <a:srgbClr val="FFFFFF"/>
          </a:solidFill>
          <a:ln w="25400">
            <a:solidFill>
              <a:srgbClr val="2A7E8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369881" y="3749039"/>
            <a:ext cx="1889699" cy="457200"/>
          </a:xfrm>
          <a:prstGeom prst="rect">
            <a:avLst/>
          </a:prstGeom>
          <a:noFill/>
        </p:spPr>
        <p:txBody>
          <a:bodyPr wrap="square" lIns="0" rIns="0" tIns="0" bIns="0" anchor="t">
            <a:spAutoFit/>
          </a:bodyPr>
          <a:lstStyle/>
          <a:p>
            <a:pPr algn="ctr">
              <a:lnSpc>
                <a:spcPct val="116000"/>
              </a:lnSpc>
              <a:spcBef>
                <a:spcPts val="0"/>
              </a:spcBef>
              <a:spcAft>
                <a:spcPts val="0"/>
              </a:spcAft>
            </a:pPr>
            <a:r>
              <a:rPr sz="1900" b="1" i="0" u="none">
                <a:solidFill>
                  <a:srgbClr val="2A7E8E"/>
                </a:solidFill>
                <a:latin typeface="Segoe UI"/>
                <a:ea typeface="Microsoft YaHei"/>
                <a:cs typeface="Segoe UI"/>
              </a:rPr>
              <a:t>+ Result</a:t>
            </a:r>
          </a:p>
        </p:txBody>
      </p:sp>
      <p:sp>
        <p:nvSpPr>
          <p:cNvPr id="18" name="Rounded Rectangle 17"/>
          <p:cNvSpPr/>
          <p:nvPr/>
        </p:nvSpPr>
        <p:spPr>
          <a:xfrm>
            <a:off x="9497324" y="3456432"/>
            <a:ext cx="2072579" cy="914400"/>
          </a:xfrm>
          <a:prstGeom prst="roundRect">
            <a:avLst>
              <a:gd name="adj" fmla="val 6000"/>
            </a:avLst>
          </a:prstGeom>
          <a:solidFill>
            <a:srgbClr val="FFFFFF"/>
          </a:solidFill>
          <a:ln w="25400">
            <a:solidFill>
              <a:srgbClr val="B083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9588764" y="3749039"/>
            <a:ext cx="1889699" cy="457200"/>
          </a:xfrm>
          <a:prstGeom prst="rect">
            <a:avLst/>
          </a:prstGeom>
          <a:noFill/>
        </p:spPr>
        <p:txBody>
          <a:bodyPr wrap="square" lIns="0" rIns="0" tIns="0" bIns="0" anchor="t">
            <a:spAutoFit/>
          </a:bodyPr>
          <a:lstStyle/>
          <a:p>
            <a:pPr algn="ctr">
              <a:lnSpc>
                <a:spcPct val="116000"/>
              </a:lnSpc>
              <a:spcBef>
                <a:spcPts val="0"/>
              </a:spcBef>
              <a:spcAft>
                <a:spcPts val="0"/>
              </a:spcAft>
            </a:pPr>
            <a:r>
              <a:rPr sz="1900" b="1" i="0" u="none">
                <a:solidFill>
                  <a:srgbClr val="B08300"/>
                </a:solidFill>
                <a:latin typeface="Segoe UI"/>
                <a:ea typeface="Microsoft YaHei"/>
                <a:cs typeface="Segoe UI"/>
              </a:rPr>
              <a:t>+ Contribution</a:t>
            </a:r>
          </a:p>
        </p:txBody>
      </p:sp>
      <p:sp>
        <p:nvSpPr>
          <p:cNvPr id="20" name="Rounded Rectangle 19"/>
          <p:cNvSpPr/>
          <p:nvPr/>
        </p:nvSpPr>
        <p:spPr>
          <a:xfrm>
            <a:off x="621792" y="4645152"/>
            <a:ext cx="10948111" cy="868680"/>
          </a:xfrm>
          <a:prstGeom prst="roundRect">
            <a:avLst>
              <a:gd name="adj" fmla="val 6000"/>
            </a:avLst>
          </a:prstGeom>
          <a:solidFill>
            <a:srgbClr val="FBEC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005840" y="4864608"/>
            <a:ext cx="10170871" cy="502920"/>
          </a:xfrm>
          <a:prstGeom prst="rect">
            <a:avLst/>
          </a:prstGeom>
          <a:noFill/>
        </p:spPr>
        <p:txBody>
          <a:bodyPr wrap="square" lIns="0" rIns="0" tIns="0" bIns="0" anchor="t">
            <a:spAutoFit/>
          </a:bodyPr>
          <a:lstStyle/>
          <a:p>
            <a:pPr algn="l">
              <a:lnSpc>
                <a:spcPct val="116000"/>
              </a:lnSpc>
              <a:spcBef>
                <a:spcPts val="0"/>
              </a:spcBef>
              <a:spcAft>
                <a:spcPts val="0"/>
              </a:spcAft>
            </a:pPr>
            <a:r>
              <a:rPr sz="2300" b="1" i="0" u="none">
                <a:solidFill>
                  <a:srgbClr val="C95527"/>
                </a:solidFill>
                <a:latin typeface="Segoe UI"/>
                <a:ea typeface="Microsoft YaHei"/>
                <a:cs typeface="Segoe UI"/>
              </a:rPr>
              <a:t>接下来 30 分钟：把这条链条，一层一层练出来。</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53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3" name="Connector 2"/>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4 · 展开训练</a:t>
            </a:r>
          </a:p>
        </p:txBody>
      </p:sp>
      <p:sp>
        <p:nvSpPr>
          <p:cNvPr id="5" name="TextBox 4"/>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48</a:t>
            </a:r>
          </a:p>
        </p:txBody>
      </p:sp>
      <p:sp>
        <p:nvSpPr>
          <p:cNvPr id="6" name="Rectangle 5"/>
          <p:cNvSpPr/>
          <p:nvPr/>
        </p:nvSpPr>
        <p:spPr>
          <a:xfrm>
            <a:off x="0" y="0"/>
            <a:ext cx="310896" cy="6858000"/>
          </a:xfrm>
          <a:prstGeom prst="rect">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371600" y="1481328"/>
            <a:ext cx="10033711" cy="457200"/>
          </a:xfrm>
          <a:prstGeom prst="rect">
            <a:avLst/>
          </a:prstGeom>
          <a:noFill/>
        </p:spPr>
        <p:txBody>
          <a:bodyPr wrap="square" lIns="0" rIns="0" tIns="0" bIns="0" anchor="t">
            <a:spAutoFit/>
          </a:bodyPr>
          <a:lstStyle/>
          <a:p>
            <a:pPr algn="l">
              <a:lnSpc>
                <a:spcPct val="116000"/>
              </a:lnSpc>
              <a:spcBef>
                <a:spcPts val="0"/>
              </a:spcBef>
              <a:spcAft>
                <a:spcPts val="200"/>
              </a:spcAft>
            </a:pPr>
            <a:r>
              <a:rPr sz="4600" b="1" i="0" u="none">
                <a:solidFill>
                  <a:srgbClr val="5C94A0"/>
                </a:solidFill>
                <a:latin typeface="Segoe UI"/>
                <a:ea typeface="Microsoft YaHei"/>
                <a:cs typeface="Segoe UI"/>
              </a:rPr>
              <a:t>PART 4</a:t>
            </a:r>
          </a:p>
        </p:txBody>
      </p:sp>
      <p:sp>
        <p:nvSpPr>
          <p:cNvPr id="8" name="TextBox 7"/>
          <p:cNvSpPr txBox="1"/>
          <p:nvPr/>
        </p:nvSpPr>
        <p:spPr>
          <a:xfrm>
            <a:off x="1371600" y="2395728"/>
            <a:ext cx="10033711" cy="731520"/>
          </a:xfrm>
          <a:prstGeom prst="rect">
            <a:avLst/>
          </a:prstGeom>
          <a:noFill/>
        </p:spPr>
        <p:txBody>
          <a:bodyPr wrap="square" lIns="0" rIns="0" tIns="0" bIns="0" anchor="t">
            <a:spAutoFit/>
          </a:bodyPr>
          <a:lstStyle/>
          <a:p>
            <a:pPr algn="l">
              <a:lnSpc>
                <a:spcPct val="116000"/>
              </a:lnSpc>
              <a:spcBef>
                <a:spcPts val="0"/>
              </a:spcBef>
              <a:spcAft>
                <a:spcPts val="400"/>
              </a:spcAft>
            </a:pPr>
            <a:r>
              <a:rPr sz="4200" b="1" i="0" u="none">
                <a:solidFill>
                  <a:srgbClr val="FFFFFF"/>
                </a:solidFill>
                <a:latin typeface="Segoe UI"/>
                <a:ea typeface="Microsoft YaHei"/>
                <a:cs typeface="Segoe UI"/>
              </a:rPr>
              <a:t>高分展开训练</a:t>
            </a:r>
          </a:p>
        </p:txBody>
      </p:sp>
      <p:sp>
        <p:nvSpPr>
          <p:cNvPr id="9" name="TextBox 8"/>
          <p:cNvSpPr txBox="1"/>
          <p:nvPr/>
        </p:nvSpPr>
        <p:spPr>
          <a:xfrm>
            <a:off x="1371600" y="3200400"/>
            <a:ext cx="10033711" cy="411480"/>
          </a:xfrm>
          <a:prstGeom prst="rect">
            <a:avLst/>
          </a:prstGeom>
          <a:noFill/>
        </p:spPr>
        <p:txBody>
          <a:bodyPr wrap="square" lIns="0" rIns="0" tIns="0" bIns="0" anchor="t">
            <a:spAutoFit/>
          </a:bodyPr>
          <a:lstStyle/>
          <a:p>
            <a:pPr algn="l">
              <a:lnSpc>
                <a:spcPct val="116000"/>
              </a:lnSpc>
              <a:spcBef>
                <a:spcPts val="0"/>
              </a:spcBef>
              <a:spcAft>
                <a:spcPts val="0"/>
              </a:spcAft>
            </a:pPr>
            <a:r>
              <a:rPr sz="2200" b="0" i="0" u="none">
                <a:solidFill>
                  <a:srgbClr val="9EC6CE"/>
                </a:solidFill>
                <a:latin typeface="Segoe UI"/>
                <a:ea typeface="Microsoft YaHei"/>
                <a:cs typeface="Segoe UI"/>
              </a:rPr>
              <a:t>把一个理由，写成一整段</a:t>
            </a:r>
          </a:p>
        </p:txBody>
      </p:sp>
      <p:sp>
        <p:nvSpPr>
          <p:cNvPr id="10" name="Rectangle 9"/>
          <p:cNvSpPr/>
          <p:nvPr/>
        </p:nvSpPr>
        <p:spPr>
          <a:xfrm>
            <a:off x="1371600" y="3886200"/>
            <a:ext cx="54864" cy="640080"/>
          </a:xfrm>
          <a:prstGeom prst="rect">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627632" y="3886200"/>
            <a:ext cx="9119311" cy="73152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FFFFFF"/>
                </a:solidFill>
                <a:latin typeface="Segoe UI"/>
                <a:ea typeface="Microsoft YaHei"/>
                <a:cs typeface="Segoe UI"/>
              </a:rPr>
              <a:t>本环节目标：不要停在 X is good。三步走：具体理由 → 为什么 → 例子 → 结果。</a:t>
            </a:r>
          </a:p>
        </p:txBody>
      </p:sp>
      <p:sp>
        <p:nvSpPr>
          <p:cNvPr id="12" name="Rounded Rectangle 11"/>
          <p:cNvSpPr/>
          <p:nvPr/>
        </p:nvSpPr>
        <p:spPr>
          <a:xfrm>
            <a:off x="1371600" y="4892040"/>
            <a:ext cx="841248" cy="365760"/>
          </a:xfrm>
          <a:prstGeom prst="roundRect">
            <a:avLst>
              <a:gd name="adj" fmla="val 40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371600" y="4933188"/>
            <a:ext cx="841248" cy="365760"/>
          </a:xfrm>
          <a:prstGeom prst="rect">
            <a:avLst/>
          </a:prstGeom>
          <a:noFill/>
        </p:spPr>
        <p:txBody>
          <a:bodyPr wrap="square" lIns="0" rIns="0" tIns="0" bIns="0" anchor="t">
            <a:spAutoFit/>
          </a:bodyPr>
          <a:lstStyle/>
          <a:p>
            <a:pPr algn="ctr">
              <a:lnSpc>
                <a:spcPct val="116000"/>
              </a:lnSpc>
              <a:spcBef>
                <a:spcPts val="0"/>
              </a:spcBef>
              <a:spcAft>
                <a:spcPts val="0"/>
              </a:spcAft>
            </a:pPr>
            <a:r>
              <a:rPr sz="1700" b="1" i="0" u="none">
                <a:solidFill>
                  <a:srgbClr val="FFFFFF"/>
                </a:solidFill>
                <a:latin typeface="Segoe UI"/>
                <a:ea typeface="Microsoft YaHei"/>
                <a:cs typeface="Segoe UI"/>
              </a:rPr>
              <a:t>30 分钟</a:t>
            </a:r>
          </a:p>
        </p:txBody>
      </p:sp>
      <p:sp>
        <p:nvSpPr>
          <p:cNvPr id="14" name="TextBox 13"/>
          <p:cNvSpPr txBox="1"/>
          <p:nvPr/>
        </p:nvSpPr>
        <p:spPr>
          <a:xfrm>
            <a:off x="3200400" y="4937760"/>
            <a:ext cx="8022031" cy="45720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9EC6CE"/>
                </a:solidFill>
                <a:latin typeface="Segoe UI"/>
                <a:ea typeface="Microsoft YaHei"/>
                <a:cs typeface="Segoe UI"/>
              </a:rPr>
              <a:t>基础：补 WHY · 中等：补 Example · 提高：完整链条</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4 · 展开训练</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49</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THE PROBLEM</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为什么 X is good 永远拿不到分</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719072"/>
            <a:ext cx="10948111" cy="1051560"/>
          </a:xfrm>
          <a:prstGeom prst="roundRect">
            <a:avLst>
              <a:gd name="adj" fmla="val 6000"/>
            </a:avLst>
          </a:prstGeom>
          <a:solidFill>
            <a:srgbClr val="FFFFFF"/>
          </a:solidFill>
          <a:ln w="25400">
            <a:solidFill>
              <a:srgbClr val="C9552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33272" y="1956816"/>
            <a:ext cx="10125151" cy="548640"/>
          </a:xfrm>
          <a:prstGeom prst="rect">
            <a:avLst/>
          </a:prstGeom>
          <a:noFill/>
        </p:spPr>
        <p:txBody>
          <a:bodyPr wrap="square" lIns="0" rIns="0" tIns="0" bIns="0" anchor="t">
            <a:spAutoFit/>
          </a:bodyPr>
          <a:lstStyle/>
          <a:p>
            <a:pPr algn="ctr">
              <a:lnSpc>
                <a:spcPct val="116000"/>
              </a:lnSpc>
              <a:spcBef>
                <a:spcPts val="0"/>
              </a:spcBef>
              <a:spcAft>
                <a:spcPts val="0"/>
              </a:spcAft>
            </a:pPr>
            <a:r>
              <a:rPr sz="2300" b="1" i="0" u="none">
                <a:solidFill>
                  <a:srgbClr val="627378"/>
                </a:solidFill>
                <a:latin typeface="Segoe UI"/>
                <a:ea typeface="Microsoft YaHei"/>
                <a:cs typeface="Segoe UI"/>
              </a:rPr>
              <a:t>Education is good.   Networking is important.   Part-time jobs are useful.</a:t>
            </a:r>
          </a:p>
        </p:txBody>
      </p:sp>
      <p:sp>
        <p:nvSpPr>
          <p:cNvPr id="10" name="Rounded Rectangle 9"/>
          <p:cNvSpPr/>
          <p:nvPr/>
        </p:nvSpPr>
        <p:spPr>
          <a:xfrm>
            <a:off x="621792" y="3044952"/>
            <a:ext cx="10948111" cy="960120"/>
          </a:xfrm>
          <a:prstGeom prst="roundRect">
            <a:avLst>
              <a:gd name="adj" fmla="val 6000"/>
            </a:avLst>
          </a:prstGeom>
          <a:solidFill>
            <a:srgbClr val="F3F8F9"/>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32688" y="3191256"/>
            <a:ext cx="10308031" cy="384048"/>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0E5362"/>
                </a:solidFill>
                <a:latin typeface="Segoe UI"/>
                <a:ea typeface="Microsoft YaHei"/>
                <a:cs typeface="Segoe UI"/>
              </a:rPr>
              <a:t>没有信息量</a:t>
            </a:r>
          </a:p>
        </p:txBody>
      </p:sp>
      <p:sp>
        <p:nvSpPr>
          <p:cNvPr id="12" name="TextBox 11"/>
          <p:cNvSpPr txBox="1"/>
          <p:nvPr/>
        </p:nvSpPr>
        <p:spPr>
          <a:xfrm>
            <a:off x="932688" y="3593592"/>
            <a:ext cx="1030803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读完之后，读者对这个话题的了解一点没增加。</a:t>
            </a:r>
          </a:p>
        </p:txBody>
      </p:sp>
      <p:sp>
        <p:nvSpPr>
          <p:cNvPr id="13" name="Rounded Rectangle 12"/>
          <p:cNvSpPr/>
          <p:nvPr/>
        </p:nvSpPr>
        <p:spPr>
          <a:xfrm>
            <a:off x="621792" y="4105656"/>
            <a:ext cx="10948111" cy="960120"/>
          </a:xfrm>
          <a:prstGeom prst="roundRect">
            <a:avLst>
              <a:gd name="adj" fmla="val 6000"/>
            </a:avLst>
          </a:prstGeom>
          <a:solidFill>
            <a:srgbClr val="F3F8F9"/>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32688" y="4251960"/>
            <a:ext cx="10308031" cy="384048"/>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0E5362"/>
                </a:solidFill>
                <a:latin typeface="Segoe UI"/>
                <a:ea typeface="Microsoft YaHei"/>
                <a:cs typeface="Segoe UI"/>
              </a:rPr>
              <a:t>换个话题照样成立</a:t>
            </a:r>
          </a:p>
        </p:txBody>
      </p:sp>
      <p:sp>
        <p:nvSpPr>
          <p:cNvPr id="15" name="TextBox 14"/>
          <p:cNvSpPr txBox="1"/>
          <p:nvPr/>
        </p:nvSpPr>
        <p:spPr>
          <a:xfrm>
            <a:off x="932688" y="4654296"/>
            <a:ext cx="1030803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把 Education 换成 Sports、Music、Travel——句子还是通顺的。</a:t>
            </a:r>
          </a:p>
        </p:txBody>
      </p:sp>
      <p:sp>
        <p:nvSpPr>
          <p:cNvPr id="16" name="Rounded Rectangle 15"/>
          <p:cNvSpPr/>
          <p:nvPr/>
        </p:nvSpPr>
        <p:spPr>
          <a:xfrm>
            <a:off x="621792" y="5166360"/>
            <a:ext cx="10948111" cy="960120"/>
          </a:xfrm>
          <a:prstGeom prst="roundRect">
            <a:avLst>
              <a:gd name="adj" fmla="val 6000"/>
            </a:avLst>
          </a:prstGeom>
          <a:solidFill>
            <a:srgbClr val="F3F8F9"/>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932688" y="5312664"/>
            <a:ext cx="10308031" cy="384048"/>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0E5362"/>
                </a:solidFill>
                <a:latin typeface="Segoe UI"/>
                <a:ea typeface="Microsoft YaHei"/>
                <a:cs typeface="Segoe UI"/>
              </a:rPr>
              <a:t>阅卷人无法判断你会不会英语</a:t>
            </a:r>
          </a:p>
        </p:txBody>
      </p:sp>
      <p:sp>
        <p:nvSpPr>
          <p:cNvPr id="18" name="TextBox 17"/>
          <p:cNvSpPr txBox="1"/>
          <p:nvPr/>
        </p:nvSpPr>
        <p:spPr>
          <a:xfrm>
            <a:off x="932688" y="5715000"/>
            <a:ext cx="1030803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因为这句话初中生也写得出来。</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4 · 展开训练</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50</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THE METHOD</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三步走：把空句子变成一段话</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856232"/>
            <a:ext cx="10948111" cy="1243584"/>
          </a:xfrm>
          <a:prstGeom prst="roundRect">
            <a:avLst>
              <a:gd name="adj" fmla="val 6000"/>
            </a:avLst>
          </a:prstGeom>
          <a:solidFill>
            <a:srgbClr val="FFFFFF"/>
          </a:solidFill>
          <a:ln w="22860">
            <a:solidFill>
              <a:srgbClr val="C9552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621792" y="1856232"/>
            <a:ext cx="1371600" cy="1243584"/>
          </a:xfrm>
          <a:prstGeom prst="roundRect">
            <a:avLst>
              <a:gd name="adj" fmla="val 6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21792" y="2276856"/>
            <a:ext cx="1371600" cy="411480"/>
          </a:xfrm>
          <a:prstGeom prst="rect">
            <a:avLst/>
          </a:prstGeom>
          <a:noFill/>
        </p:spPr>
        <p:txBody>
          <a:bodyPr wrap="square" lIns="0" rIns="0" tIns="0" bIns="0" anchor="t">
            <a:spAutoFit/>
          </a:bodyPr>
          <a:lstStyle/>
          <a:p>
            <a:pPr algn="ctr">
              <a:lnSpc>
                <a:spcPct val="116000"/>
              </a:lnSpc>
              <a:spcBef>
                <a:spcPts val="0"/>
              </a:spcBef>
              <a:spcAft>
                <a:spcPts val="0"/>
              </a:spcAft>
            </a:pPr>
            <a:r>
              <a:rPr sz="1900" b="1" i="0" u="none">
                <a:solidFill>
                  <a:srgbClr val="FFFFFF"/>
                </a:solidFill>
                <a:latin typeface="Segoe UI"/>
                <a:ea typeface="Microsoft YaHei"/>
                <a:cs typeface="Segoe UI"/>
              </a:rPr>
              <a:t>STEP 1</a:t>
            </a:r>
          </a:p>
        </p:txBody>
      </p:sp>
      <p:sp>
        <p:nvSpPr>
          <p:cNvPr id="11" name="TextBox 10"/>
          <p:cNvSpPr txBox="1"/>
          <p:nvPr/>
        </p:nvSpPr>
        <p:spPr>
          <a:xfrm>
            <a:off x="2249424" y="2039112"/>
            <a:ext cx="3840480" cy="822960"/>
          </a:xfrm>
          <a:prstGeom prst="rect">
            <a:avLst/>
          </a:prstGeom>
          <a:noFill/>
        </p:spPr>
        <p:txBody>
          <a:bodyPr wrap="square" lIns="0" rIns="0" tIns="0" bIns="0" anchor="t">
            <a:spAutoFit/>
          </a:bodyPr>
          <a:lstStyle/>
          <a:p>
            <a:pPr algn="l">
              <a:lnSpc>
                <a:spcPct val="116000"/>
              </a:lnSpc>
              <a:spcBef>
                <a:spcPts val="0"/>
              </a:spcBef>
              <a:spcAft>
                <a:spcPts val="400"/>
              </a:spcAft>
            </a:pPr>
            <a:r>
              <a:rPr sz="2100" b="1" i="0" u="none">
                <a:solidFill>
                  <a:srgbClr val="C95527"/>
                </a:solidFill>
                <a:latin typeface="Segoe UI"/>
                <a:ea typeface="Microsoft YaHei"/>
                <a:cs typeface="Segoe UI"/>
              </a:rPr>
              <a:t>Specific Reason</a:t>
            </a:r>
          </a:p>
          <a:p>
            <a:pPr algn="l">
              <a:lnSpc>
                <a:spcPct val="116000"/>
              </a:lnSpc>
              <a:spcBef>
                <a:spcPts val="0"/>
              </a:spcBef>
              <a:spcAft>
                <a:spcPts val="0"/>
              </a:spcAft>
            </a:pPr>
            <a:r>
              <a:rPr sz="1900" b="0" i="0" u="none">
                <a:solidFill>
                  <a:srgbClr val="627378"/>
                </a:solidFill>
                <a:latin typeface="Segoe UI"/>
                <a:ea typeface="Microsoft YaHei"/>
                <a:cs typeface="Segoe UI"/>
              </a:rPr>
              <a:t>把空词换成具体内容</a:t>
            </a:r>
          </a:p>
        </p:txBody>
      </p:sp>
      <p:sp>
        <p:nvSpPr>
          <p:cNvPr id="12" name="TextBox 11"/>
          <p:cNvSpPr txBox="1"/>
          <p:nvPr/>
        </p:nvSpPr>
        <p:spPr>
          <a:xfrm>
            <a:off x="6291072" y="2258568"/>
            <a:ext cx="5004511" cy="45720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172A31"/>
                </a:solidFill>
                <a:latin typeface="Segoe UI"/>
                <a:ea typeface="Microsoft YaHei"/>
                <a:cs typeface="Segoe UI"/>
              </a:rPr>
              <a:t>It helps ______ develop ______.</a:t>
            </a:r>
          </a:p>
        </p:txBody>
      </p:sp>
      <p:sp>
        <p:nvSpPr>
          <p:cNvPr id="13" name="Rounded Rectangle 12"/>
          <p:cNvSpPr/>
          <p:nvPr/>
        </p:nvSpPr>
        <p:spPr>
          <a:xfrm>
            <a:off x="621792" y="3227832"/>
            <a:ext cx="10948111" cy="1243584"/>
          </a:xfrm>
          <a:prstGeom prst="roundRect">
            <a:avLst>
              <a:gd name="adj" fmla="val 6000"/>
            </a:avLst>
          </a:prstGeom>
          <a:solidFill>
            <a:srgbClr val="FFFFFF"/>
          </a:solidFill>
          <a:ln w="22860">
            <a:solidFill>
              <a:srgbClr val="2A7E8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621792" y="3227832"/>
            <a:ext cx="1371600" cy="1243584"/>
          </a:xfrm>
          <a:prstGeom prst="roundRect">
            <a:avLst>
              <a:gd name="adj" fmla="val 6000"/>
            </a:avLst>
          </a:prstGeom>
          <a:solidFill>
            <a:srgbClr val="2A7E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21792" y="3648456"/>
            <a:ext cx="1371600" cy="411480"/>
          </a:xfrm>
          <a:prstGeom prst="rect">
            <a:avLst/>
          </a:prstGeom>
          <a:noFill/>
        </p:spPr>
        <p:txBody>
          <a:bodyPr wrap="square" lIns="0" rIns="0" tIns="0" bIns="0" anchor="t">
            <a:spAutoFit/>
          </a:bodyPr>
          <a:lstStyle/>
          <a:p>
            <a:pPr algn="ctr">
              <a:lnSpc>
                <a:spcPct val="116000"/>
              </a:lnSpc>
              <a:spcBef>
                <a:spcPts val="0"/>
              </a:spcBef>
              <a:spcAft>
                <a:spcPts val="0"/>
              </a:spcAft>
            </a:pPr>
            <a:r>
              <a:rPr sz="1900" b="1" i="0" u="none">
                <a:solidFill>
                  <a:srgbClr val="FFFFFF"/>
                </a:solidFill>
                <a:latin typeface="Segoe UI"/>
                <a:ea typeface="Microsoft YaHei"/>
                <a:cs typeface="Segoe UI"/>
              </a:rPr>
              <a:t>STEP 2</a:t>
            </a:r>
          </a:p>
        </p:txBody>
      </p:sp>
      <p:sp>
        <p:nvSpPr>
          <p:cNvPr id="16" name="TextBox 15"/>
          <p:cNvSpPr txBox="1"/>
          <p:nvPr/>
        </p:nvSpPr>
        <p:spPr>
          <a:xfrm>
            <a:off x="2249424" y="3410712"/>
            <a:ext cx="3840480" cy="822960"/>
          </a:xfrm>
          <a:prstGeom prst="rect">
            <a:avLst/>
          </a:prstGeom>
          <a:noFill/>
        </p:spPr>
        <p:txBody>
          <a:bodyPr wrap="square" lIns="0" rIns="0" tIns="0" bIns="0" anchor="t">
            <a:spAutoFit/>
          </a:bodyPr>
          <a:lstStyle/>
          <a:p>
            <a:pPr algn="l">
              <a:lnSpc>
                <a:spcPct val="116000"/>
              </a:lnSpc>
              <a:spcBef>
                <a:spcPts val="0"/>
              </a:spcBef>
              <a:spcAft>
                <a:spcPts val="400"/>
              </a:spcAft>
            </a:pPr>
            <a:r>
              <a:rPr sz="2100" b="1" i="0" u="none">
                <a:solidFill>
                  <a:srgbClr val="2A7E8E"/>
                </a:solidFill>
                <a:latin typeface="Segoe UI"/>
                <a:ea typeface="Microsoft YaHei"/>
                <a:cs typeface="Segoe UI"/>
              </a:rPr>
              <a:t>WHY</a:t>
            </a:r>
          </a:p>
          <a:p>
            <a:pPr algn="l">
              <a:lnSpc>
                <a:spcPct val="116000"/>
              </a:lnSpc>
              <a:spcBef>
                <a:spcPts val="0"/>
              </a:spcBef>
              <a:spcAft>
                <a:spcPts val="0"/>
              </a:spcAft>
            </a:pPr>
            <a:r>
              <a:rPr sz="1900" b="0" i="0" u="none">
                <a:solidFill>
                  <a:srgbClr val="627378"/>
                </a:solidFill>
                <a:latin typeface="Segoe UI"/>
                <a:ea typeface="Microsoft YaHei"/>
                <a:cs typeface="Segoe UI"/>
              </a:rPr>
              <a:t>解释为什么 / 怎么发生</a:t>
            </a:r>
          </a:p>
        </p:txBody>
      </p:sp>
      <p:sp>
        <p:nvSpPr>
          <p:cNvPr id="17" name="TextBox 16"/>
          <p:cNvSpPr txBox="1"/>
          <p:nvPr/>
        </p:nvSpPr>
        <p:spPr>
          <a:xfrm>
            <a:off x="6291072" y="3630168"/>
            <a:ext cx="5004511" cy="45720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172A31"/>
                </a:solidFill>
                <a:latin typeface="Segoe UI"/>
                <a:ea typeface="Microsoft YaHei"/>
                <a:cs typeface="Segoe UI"/>
              </a:rPr>
              <a:t>This matters because ______.</a:t>
            </a:r>
          </a:p>
        </p:txBody>
      </p:sp>
      <p:sp>
        <p:nvSpPr>
          <p:cNvPr id="18" name="Rounded Rectangle 17"/>
          <p:cNvSpPr/>
          <p:nvPr/>
        </p:nvSpPr>
        <p:spPr>
          <a:xfrm>
            <a:off x="621792" y="4599432"/>
            <a:ext cx="10948111" cy="1243584"/>
          </a:xfrm>
          <a:prstGeom prst="roundRect">
            <a:avLst>
              <a:gd name="adj" fmla="val 6000"/>
            </a:avLst>
          </a:prstGeom>
          <a:solidFill>
            <a:srgbClr val="FFFFFF"/>
          </a:solidFill>
          <a:ln w="22860">
            <a:solidFill>
              <a:srgbClr val="2E6B4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621792" y="4599432"/>
            <a:ext cx="1371600" cy="1243584"/>
          </a:xfrm>
          <a:prstGeom prst="roundRect">
            <a:avLst>
              <a:gd name="adj" fmla="val 6000"/>
            </a:avLst>
          </a:prstGeom>
          <a:solidFill>
            <a:srgbClr val="2E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21792" y="5020056"/>
            <a:ext cx="1371600" cy="411480"/>
          </a:xfrm>
          <a:prstGeom prst="rect">
            <a:avLst/>
          </a:prstGeom>
          <a:noFill/>
        </p:spPr>
        <p:txBody>
          <a:bodyPr wrap="square" lIns="0" rIns="0" tIns="0" bIns="0" anchor="t">
            <a:spAutoFit/>
          </a:bodyPr>
          <a:lstStyle/>
          <a:p>
            <a:pPr algn="ctr">
              <a:lnSpc>
                <a:spcPct val="116000"/>
              </a:lnSpc>
              <a:spcBef>
                <a:spcPts val="0"/>
              </a:spcBef>
              <a:spcAft>
                <a:spcPts val="0"/>
              </a:spcAft>
            </a:pPr>
            <a:r>
              <a:rPr sz="1900" b="1" i="0" u="none">
                <a:solidFill>
                  <a:srgbClr val="FFFFFF"/>
                </a:solidFill>
                <a:latin typeface="Segoe UI"/>
                <a:ea typeface="Microsoft YaHei"/>
                <a:cs typeface="Segoe UI"/>
              </a:rPr>
              <a:t>STEP 3</a:t>
            </a:r>
          </a:p>
        </p:txBody>
      </p:sp>
      <p:sp>
        <p:nvSpPr>
          <p:cNvPr id="21" name="TextBox 20"/>
          <p:cNvSpPr txBox="1"/>
          <p:nvPr/>
        </p:nvSpPr>
        <p:spPr>
          <a:xfrm>
            <a:off x="2249424" y="4782312"/>
            <a:ext cx="3840480" cy="822960"/>
          </a:xfrm>
          <a:prstGeom prst="rect">
            <a:avLst/>
          </a:prstGeom>
          <a:noFill/>
        </p:spPr>
        <p:txBody>
          <a:bodyPr wrap="square" lIns="0" rIns="0" tIns="0" bIns="0" anchor="t">
            <a:spAutoFit/>
          </a:bodyPr>
          <a:lstStyle/>
          <a:p>
            <a:pPr algn="l">
              <a:lnSpc>
                <a:spcPct val="116000"/>
              </a:lnSpc>
              <a:spcBef>
                <a:spcPts val="0"/>
              </a:spcBef>
              <a:spcAft>
                <a:spcPts val="400"/>
              </a:spcAft>
            </a:pPr>
            <a:r>
              <a:rPr sz="2100" b="1" i="0" u="none">
                <a:solidFill>
                  <a:srgbClr val="2E6B4F"/>
                </a:solidFill>
                <a:latin typeface="Segoe UI"/>
                <a:ea typeface="Microsoft YaHei"/>
                <a:cs typeface="Segoe UI"/>
              </a:rPr>
              <a:t>Example + Result</a:t>
            </a:r>
          </a:p>
          <a:p>
            <a:pPr algn="l">
              <a:lnSpc>
                <a:spcPct val="116000"/>
              </a:lnSpc>
              <a:spcBef>
                <a:spcPts val="0"/>
              </a:spcBef>
              <a:spcAft>
                <a:spcPts val="0"/>
              </a:spcAft>
            </a:pPr>
            <a:r>
              <a:rPr sz="1900" b="0" i="0" u="none">
                <a:solidFill>
                  <a:srgbClr val="627378"/>
                </a:solidFill>
                <a:latin typeface="Segoe UI"/>
                <a:ea typeface="Microsoft YaHei"/>
                <a:cs typeface="Segoe UI"/>
              </a:rPr>
              <a:t>谁 + 做什么 + 结果</a:t>
            </a:r>
          </a:p>
        </p:txBody>
      </p:sp>
      <p:sp>
        <p:nvSpPr>
          <p:cNvPr id="22" name="TextBox 21"/>
          <p:cNvSpPr txBox="1"/>
          <p:nvPr/>
        </p:nvSpPr>
        <p:spPr>
          <a:xfrm>
            <a:off x="6291072" y="5001768"/>
            <a:ext cx="5004511" cy="45720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172A31"/>
                </a:solidFill>
                <a:latin typeface="Segoe UI"/>
                <a:ea typeface="Microsoft YaHei"/>
                <a:cs typeface="Segoe UI"/>
              </a:rPr>
              <a:t>For example, ______. As a result, ______.</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4 · 展开训练</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51</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WORKED EXAMPLE</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STEP 1 · 把空词换成具体理由</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700784"/>
            <a:ext cx="10948111" cy="2834640"/>
          </a:xfrm>
          <a:prstGeom prst="roundRect">
            <a:avLst>
              <a:gd name="adj" fmla="val 6000"/>
            </a:avLst>
          </a:prstGeom>
          <a:solidFill>
            <a:srgbClr val="E7F1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21792" y="1700784"/>
            <a:ext cx="64008" cy="2834640"/>
          </a:xfrm>
          <a:prstGeom prst="rect">
            <a:avLst/>
          </a:prstGeom>
          <a:solidFill>
            <a:srgbClr val="2E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96112" y="1883664"/>
            <a:ext cx="10399471" cy="310896"/>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2E6B4F"/>
                </a:solidFill>
                <a:latin typeface="Segoe UI"/>
                <a:ea typeface="Microsoft YaHei"/>
                <a:cs typeface="Segoe UI"/>
              </a:rPr>
              <a:t>老师示范  WORKED EXAMPLE</a:t>
            </a:r>
          </a:p>
        </p:txBody>
      </p:sp>
      <p:sp>
        <p:nvSpPr>
          <p:cNvPr id="11" name="TextBox 10"/>
          <p:cNvSpPr txBox="1"/>
          <p:nvPr/>
        </p:nvSpPr>
        <p:spPr>
          <a:xfrm>
            <a:off x="896112" y="2267712"/>
            <a:ext cx="1234440" cy="365760"/>
          </a:xfrm>
          <a:prstGeom prst="rect">
            <a:avLst/>
          </a:prstGeom>
          <a:noFill/>
        </p:spPr>
        <p:txBody>
          <a:bodyPr wrap="square" lIns="0" rIns="0" tIns="0" bIns="0" anchor="t">
            <a:spAutoFit/>
          </a:bodyPr>
          <a:lstStyle/>
          <a:p>
            <a:pPr algn="l">
              <a:lnSpc>
                <a:spcPct val="116000"/>
              </a:lnSpc>
              <a:spcBef>
                <a:spcPts val="0"/>
              </a:spcBef>
              <a:spcAft>
                <a:spcPts val="0"/>
              </a:spcAft>
            </a:pPr>
            <a:r>
              <a:rPr sz="1800" b="1" i="0" u="none">
                <a:solidFill>
                  <a:srgbClr val="2E6B4F"/>
                </a:solidFill>
                <a:latin typeface="Segoe UI"/>
                <a:ea typeface="Microsoft YaHei"/>
                <a:cs typeface="Segoe UI"/>
              </a:rPr>
              <a:t>空句</a:t>
            </a:r>
          </a:p>
        </p:txBody>
      </p:sp>
      <p:sp>
        <p:nvSpPr>
          <p:cNvPr id="12" name="TextBox 11"/>
          <p:cNvSpPr txBox="1"/>
          <p:nvPr/>
        </p:nvSpPr>
        <p:spPr>
          <a:xfrm>
            <a:off x="2130552" y="2240280"/>
            <a:ext cx="9119311" cy="457200"/>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172A31"/>
                </a:solidFill>
                <a:latin typeface="Segoe UI"/>
                <a:ea typeface="Microsoft YaHei"/>
                <a:cs typeface="Segoe UI"/>
              </a:rPr>
              <a:t>Education is useful.</a:t>
            </a:r>
          </a:p>
        </p:txBody>
      </p:sp>
      <p:sp>
        <p:nvSpPr>
          <p:cNvPr id="13" name="TextBox 12"/>
          <p:cNvSpPr txBox="1"/>
          <p:nvPr/>
        </p:nvSpPr>
        <p:spPr>
          <a:xfrm>
            <a:off x="896112" y="2798064"/>
            <a:ext cx="1234440" cy="365760"/>
          </a:xfrm>
          <a:prstGeom prst="rect">
            <a:avLst/>
          </a:prstGeom>
          <a:noFill/>
        </p:spPr>
        <p:txBody>
          <a:bodyPr wrap="square" lIns="0" rIns="0" tIns="0" bIns="0" anchor="t">
            <a:spAutoFit/>
          </a:bodyPr>
          <a:lstStyle/>
          <a:p>
            <a:pPr algn="l">
              <a:lnSpc>
                <a:spcPct val="116000"/>
              </a:lnSpc>
              <a:spcBef>
                <a:spcPts val="0"/>
              </a:spcBef>
              <a:spcAft>
                <a:spcPts val="0"/>
              </a:spcAft>
            </a:pPr>
            <a:r>
              <a:rPr sz="1800" b="1" i="0" u="none">
                <a:solidFill>
                  <a:srgbClr val="2E6B4F"/>
                </a:solidFill>
                <a:latin typeface="Segoe UI"/>
                <a:ea typeface="Microsoft YaHei"/>
                <a:cs typeface="Segoe UI"/>
              </a:rPr>
              <a:t>问自己</a:t>
            </a:r>
          </a:p>
        </p:txBody>
      </p:sp>
      <p:sp>
        <p:nvSpPr>
          <p:cNvPr id="14" name="TextBox 13"/>
          <p:cNvSpPr txBox="1"/>
          <p:nvPr/>
        </p:nvSpPr>
        <p:spPr>
          <a:xfrm>
            <a:off x="2130552" y="2770632"/>
            <a:ext cx="9119311" cy="457200"/>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172A31"/>
                </a:solidFill>
                <a:latin typeface="Segoe UI"/>
                <a:ea typeface="Microsoft YaHei"/>
                <a:cs typeface="Segoe UI"/>
              </a:rPr>
              <a:t>有用在什么事情上？它到底给了人什么？</a:t>
            </a:r>
          </a:p>
        </p:txBody>
      </p:sp>
      <p:sp>
        <p:nvSpPr>
          <p:cNvPr id="15" name="TextBox 14"/>
          <p:cNvSpPr txBox="1"/>
          <p:nvPr/>
        </p:nvSpPr>
        <p:spPr>
          <a:xfrm>
            <a:off x="896112" y="3328416"/>
            <a:ext cx="1234440" cy="365760"/>
          </a:xfrm>
          <a:prstGeom prst="rect">
            <a:avLst/>
          </a:prstGeom>
          <a:noFill/>
        </p:spPr>
        <p:txBody>
          <a:bodyPr wrap="square" lIns="0" rIns="0" tIns="0" bIns="0" anchor="t">
            <a:spAutoFit/>
          </a:bodyPr>
          <a:lstStyle/>
          <a:p>
            <a:pPr algn="l">
              <a:lnSpc>
                <a:spcPct val="116000"/>
              </a:lnSpc>
              <a:spcBef>
                <a:spcPts val="0"/>
              </a:spcBef>
              <a:spcAft>
                <a:spcPts val="0"/>
              </a:spcAft>
            </a:pPr>
            <a:r>
              <a:rPr sz="1800" b="1" i="0" u="none">
                <a:solidFill>
                  <a:srgbClr val="2E6B4F"/>
                </a:solidFill>
                <a:latin typeface="Segoe UI"/>
                <a:ea typeface="Microsoft YaHei"/>
                <a:cs typeface="Segoe UI"/>
              </a:rPr>
              <a:t>具体版</a:t>
            </a:r>
          </a:p>
        </p:txBody>
      </p:sp>
      <p:sp>
        <p:nvSpPr>
          <p:cNvPr id="16" name="TextBox 15"/>
          <p:cNvSpPr txBox="1"/>
          <p:nvPr/>
        </p:nvSpPr>
        <p:spPr>
          <a:xfrm>
            <a:off x="2130552" y="3300984"/>
            <a:ext cx="9119311" cy="457200"/>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172A31"/>
                </a:solidFill>
                <a:latin typeface="Segoe UI"/>
                <a:ea typeface="Microsoft YaHei"/>
                <a:cs typeface="Segoe UI"/>
              </a:rPr>
              <a:t>Education gives people skills that employers can actually check.</a:t>
            </a:r>
          </a:p>
        </p:txBody>
      </p:sp>
      <p:sp>
        <p:nvSpPr>
          <p:cNvPr id="17" name="TextBox 16"/>
          <p:cNvSpPr txBox="1"/>
          <p:nvPr/>
        </p:nvSpPr>
        <p:spPr>
          <a:xfrm>
            <a:off x="896112" y="3858768"/>
            <a:ext cx="1234440" cy="365760"/>
          </a:xfrm>
          <a:prstGeom prst="rect">
            <a:avLst/>
          </a:prstGeom>
          <a:noFill/>
        </p:spPr>
        <p:txBody>
          <a:bodyPr wrap="square" lIns="0" rIns="0" tIns="0" bIns="0" anchor="t">
            <a:spAutoFit/>
          </a:bodyPr>
          <a:lstStyle/>
          <a:p>
            <a:pPr algn="l">
              <a:lnSpc>
                <a:spcPct val="116000"/>
              </a:lnSpc>
              <a:spcBef>
                <a:spcPts val="0"/>
              </a:spcBef>
              <a:spcAft>
                <a:spcPts val="0"/>
              </a:spcAft>
            </a:pPr>
            <a:r>
              <a:rPr sz="1800" b="1" i="0" u="none">
                <a:solidFill>
                  <a:srgbClr val="2E6B4F"/>
                </a:solidFill>
                <a:latin typeface="Segoe UI"/>
                <a:ea typeface="Microsoft YaHei"/>
                <a:cs typeface="Segoe UI"/>
              </a:rPr>
              <a:t>再深一层</a:t>
            </a:r>
          </a:p>
        </p:txBody>
      </p:sp>
      <p:sp>
        <p:nvSpPr>
          <p:cNvPr id="18" name="TextBox 17"/>
          <p:cNvSpPr txBox="1"/>
          <p:nvPr/>
        </p:nvSpPr>
        <p:spPr>
          <a:xfrm>
            <a:off x="2130552" y="3831335"/>
            <a:ext cx="9119311" cy="457200"/>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172A31"/>
                </a:solidFill>
                <a:latin typeface="Segoe UI"/>
                <a:ea typeface="Microsoft YaHei"/>
                <a:cs typeface="Segoe UI"/>
              </a:rPr>
              <a:t>Education is the one advantage a person can build without already knowing anyone.</a:t>
            </a:r>
          </a:p>
        </p:txBody>
      </p:sp>
      <p:sp>
        <p:nvSpPr>
          <p:cNvPr id="19" name="Rounded Rectangle 18"/>
          <p:cNvSpPr/>
          <p:nvPr/>
        </p:nvSpPr>
        <p:spPr>
          <a:xfrm>
            <a:off x="621792" y="4507992"/>
            <a:ext cx="10948111" cy="1371600"/>
          </a:xfrm>
          <a:prstGeom prst="roundRect">
            <a:avLst>
              <a:gd name="adj" fmla="val 6000"/>
            </a:avLst>
          </a:prstGeom>
          <a:solidFill>
            <a:srgbClr val="F3F8F9"/>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950976" y="4718304"/>
            <a:ext cx="10262311" cy="1005840"/>
          </a:xfrm>
          <a:prstGeom prst="rect">
            <a:avLst/>
          </a:prstGeom>
          <a:noFill/>
        </p:spPr>
        <p:txBody>
          <a:bodyPr wrap="square" lIns="0" rIns="0" tIns="0" bIns="0" anchor="t">
            <a:spAutoFit/>
          </a:bodyPr>
          <a:lstStyle/>
          <a:p>
            <a:pPr algn="l">
              <a:lnSpc>
                <a:spcPct val="116000"/>
              </a:lnSpc>
              <a:spcBef>
                <a:spcPts val="0"/>
              </a:spcBef>
              <a:spcAft>
                <a:spcPts val="800"/>
              </a:spcAft>
            </a:pPr>
            <a:r>
              <a:rPr sz="2000" b="1" i="0" u="none">
                <a:solidFill>
                  <a:srgbClr val="0E5362"/>
                </a:solidFill>
                <a:latin typeface="Segoe UI"/>
                <a:ea typeface="Microsoft YaHei"/>
                <a:cs typeface="Segoe UI"/>
              </a:rPr>
              <a:t>可直接套用的四个句型：</a:t>
            </a:r>
          </a:p>
          <a:p>
            <a:pPr algn="l">
              <a:lnSpc>
                <a:spcPct val="116000"/>
              </a:lnSpc>
              <a:spcBef>
                <a:spcPts val="0"/>
              </a:spcBef>
              <a:spcAft>
                <a:spcPts val="600"/>
              </a:spcAft>
            </a:pPr>
            <a:r>
              <a:rPr sz="1900" b="0" i="0" u="none">
                <a:solidFill>
                  <a:srgbClr val="172A31"/>
                </a:solidFill>
                <a:latin typeface="Segoe UI"/>
                <a:ea typeface="Microsoft YaHei"/>
                <a:cs typeface="Segoe UI"/>
              </a:rPr>
              <a:t>It helps ______ develop ______.    It gives ______ the ______ needed to ______.</a:t>
            </a:r>
          </a:p>
          <a:p>
            <a:pPr algn="l">
              <a:lnSpc>
                <a:spcPct val="116000"/>
              </a:lnSpc>
              <a:spcBef>
                <a:spcPts val="0"/>
              </a:spcBef>
              <a:spcAft>
                <a:spcPts val="0"/>
              </a:spcAft>
            </a:pPr>
            <a:r>
              <a:rPr sz="1900" b="0" i="0" u="none">
                <a:solidFill>
                  <a:srgbClr val="172A31"/>
                </a:solidFill>
                <a:latin typeface="Segoe UI"/>
                <a:ea typeface="Microsoft YaHei"/>
                <a:cs typeface="Segoe UI"/>
              </a:rPr>
              <a:t>It lets ______ do ______ without ______.    It is the one ______ that ______.</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4 · 展开训练</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52</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DRILL 1 · 学生输出</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练习 1 · 把空词换成具体理由</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609344"/>
            <a:ext cx="479145" cy="347472"/>
          </a:xfrm>
          <a:prstGeom prst="roundRect">
            <a:avLst>
              <a:gd name="adj" fmla="val 40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21792" y="1650492"/>
            <a:ext cx="479145" cy="347472"/>
          </a:xfrm>
          <a:prstGeom prst="rect">
            <a:avLst/>
          </a:prstGeom>
          <a:noFill/>
        </p:spPr>
        <p:txBody>
          <a:bodyPr wrap="square" lIns="0" rIns="0" tIns="0" bIns="0" anchor="t">
            <a:spAutoFit/>
          </a:bodyPr>
          <a:lstStyle/>
          <a:p>
            <a:pPr algn="ctr">
              <a:lnSpc>
                <a:spcPct val="116000"/>
              </a:lnSpc>
              <a:spcBef>
                <a:spcPts val="0"/>
              </a:spcBef>
              <a:spcAft>
                <a:spcPts val="0"/>
              </a:spcAft>
            </a:pPr>
            <a:r>
              <a:rPr sz="1700" b="1" i="0" u="none">
                <a:solidFill>
                  <a:srgbClr val="FFFFFF"/>
                </a:solidFill>
                <a:latin typeface="Segoe UI"/>
                <a:ea typeface="Microsoft YaHei"/>
                <a:cs typeface="Segoe UI"/>
              </a:rPr>
              <a:t>基础</a:t>
            </a:r>
          </a:p>
        </p:txBody>
      </p:sp>
      <p:sp>
        <p:nvSpPr>
          <p:cNvPr id="10" name="TextBox 9"/>
          <p:cNvSpPr txBox="1"/>
          <p:nvPr/>
        </p:nvSpPr>
        <p:spPr>
          <a:xfrm>
            <a:off x="1320393" y="1655064"/>
            <a:ext cx="10194645"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172A31"/>
                </a:solidFill>
                <a:latin typeface="Segoe UI"/>
                <a:ea typeface="Microsoft YaHei"/>
                <a:cs typeface="Segoe UI"/>
              </a:rPr>
              <a:t>每题只写一行，句子里不许出现 good / important / useful。</a:t>
            </a:r>
          </a:p>
        </p:txBody>
      </p:sp>
      <p:sp>
        <p:nvSpPr>
          <p:cNvPr id="11" name="Rounded Rectangle 10"/>
          <p:cNvSpPr/>
          <p:nvPr/>
        </p:nvSpPr>
        <p:spPr>
          <a:xfrm>
            <a:off x="621792" y="2103120"/>
            <a:ext cx="10948111" cy="950976"/>
          </a:xfrm>
          <a:prstGeom prst="roundRect">
            <a:avLst>
              <a:gd name="adj" fmla="val 6000"/>
            </a:avLst>
          </a:prstGeom>
          <a:solidFill>
            <a:srgbClr val="E7F1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21792" y="2103120"/>
            <a:ext cx="64008" cy="950976"/>
          </a:xfrm>
          <a:prstGeom prst="rect">
            <a:avLst/>
          </a:prstGeom>
          <a:solidFill>
            <a:srgbClr val="2E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96112" y="2148839"/>
            <a:ext cx="2377440" cy="27432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2E6B4F"/>
                </a:solidFill>
                <a:latin typeface="Segoe UI"/>
                <a:ea typeface="Microsoft YaHei"/>
                <a:cs typeface="Segoe UI"/>
              </a:rPr>
              <a:t>示范  EXAMPLE</a:t>
            </a:r>
          </a:p>
        </p:txBody>
      </p:sp>
      <p:sp>
        <p:nvSpPr>
          <p:cNvPr id="14" name="TextBox 13"/>
          <p:cNvSpPr txBox="1"/>
          <p:nvPr/>
        </p:nvSpPr>
        <p:spPr>
          <a:xfrm>
            <a:off x="896112" y="2404872"/>
            <a:ext cx="10399471" cy="274320"/>
          </a:xfrm>
          <a:prstGeom prst="rect">
            <a:avLst/>
          </a:prstGeom>
          <a:noFill/>
        </p:spPr>
        <p:txBody>
          <a:bodyPr wrap="square" lIns="0" rIns="0" tIns="0" bIns="0" anchor="t">
            <a:spAutoFit/>
          </a:bodyPr>
          <a:lstStyle/>
          <a:p>
            <a:pPr algn="l">
              <a:lnSpc>
                <a:spcPct val="108000"/>
              </a:lnSpc>
              <a:spcAft>
                <a:spcPts val="0"/>
              </a:spcAft>
            </a:pPr>
            <a:r>
              <a:rPr sz="1900" b="1" i="0" u="none">
                <a:solidFill>
                  <a:srgbClr val="C95527"/>
                </a:solidFill>
                <a:latin typeface="Segoe UI"/>
                <a:ea typeface="Microsoft YaHei"/>
                <a:cs typeface="Segoe UI"/>
              </a:rPr>
              <a:t>×  </a:t>
            </a:r>
            <a:r>
              <a:rPr sz="1900" b="0" i="0" u="none">
                <a:solidFill>
                  <a:srgbClr val="627378"/>
                </a:solidFill>
                <a:latin typeface="Segoe UI"/>
                <a:ea typeface="Microsoft YaHei"/>
                <a:cs typeface="Segoe UI"/>
              </a:rPr>
              <a:t>Networking is helpful.</a:t>
            </a:r>
          </a:p>
        </p:txBody>
      </p:sp>
      <p:sp>
        <p:nvSpPr>
          <p:cNvPr id="15" name="TextBox 14"/>
          <p:cNvSpPr txBox="1"/>
          <p:nvPr/>
        </p:nvSpPr>
        <p:spPr>
          <a:xfrm>
            <a:off x="896112" y="2679191"/>
            <a:ext cx="10399471" cy="274320"/>
          </a:xfrm>
          <a:prstGeom prst="rect">
            <a:avLst/>
          </a:prstGeom>
          <a:noFill/>
        </p:spPr>
        <p:txBody>
          <a:bodyPr wrap="square" lIns="0" rIns="0" tIns="0" bIns="0" anchor="t">
            <a:spAutoFit/>
          </a:bodyPr>
          <a:lstStyle/>
          <a:p>
            <a:pPr algn="l">
              <a:lnSpc>
                <a:spcPct val="108000"/>
              </a:lnSpc>
              <a:spcAft>
                <a:spcPts val="0"/>
              </a:spcAft>
            </a:pPr>
            <a:r>
              <a:rPr sz="1900" b="1" i="0" u="none">
                <a:solidFill>
                  <a:srgbClr val="2E6B4F"/>
                </a:solidFill>
                <a:latin typeface="Segoe UI"/>
                <a:ea typeface="Microsoft YaHei"/>
                <a:cs typeface="Segoe UI"/>
              </a:rPr>
              <a:t>√  </a:t>
            </a:r>
            <a:r>
              <a:rPr sz="1900" b="1" i="0" u="none">
                <a:solidFill>
                  <a:srgbClr val="172A31"/>
                </a:solidFill>
                <a:latin typeface="Segoe UI"/>
                <a:ea typeface="Microsoft YaHei"/>
                <a:cs typeface="Segoe UI"/>
              </a:rPr>
              <a:t>Networking helps people hear about jobs before they are advertised.</a:t>
            </a:r>
          </a:p>
        </p:txBody>
      </p:sp>
      <p:sp>
        <p:nvSpPr>
          <p:cNvPr id="16" name="Rounded Rectangle 15"/>
          <p:cNvSpPr/>
          <p:nvPr/>
        </p:nvSpPr>
        <p:spPr>
          <a:xfrm>
            <a:off x="621792" y="3182112"/>
            <a:ext cx="384048" cy="384048"/>
          </a:xfrm>
          <a:prstGeom prst="roundRect">
            <a:avLst>
              <a:gd name="adj" fmla="val 50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21792" y="3232404"/>
            <a:ext cx="384048" cy="365760"/>
          </a:xfrm>
          <a:prstGeom prst="rect">
            <a:avLst/>
          </a:prstGeom>
          <a:noFill/>
        </p:spPr>
        <p:txBody>
          <a:bodyPr wrap="square" lIns="0" rIns="0" tIns="0" bIns="0" anchor="t">
            <a:spAutoFit/>
          </a:bodyPr>
          <a:lstStyle/>
          <a:p>
            <a:pPr algn="ctr">
              <a:lnSpc>
                <a:spcPct val="116000"/>
              </a:lnSpc>
              <a:spcBef>
                <a:spcPts val="0"/>
              </a:spcBef>
              <a:spcAft>
                <a:spcPts val="0"/>
              </a:spcAft>
            </a:pPr>
            <a:r>
              <a:rPr sz="1700" b="1" i="0" u="none">
                <a:solidFill>
                  <a:srgbClr val="FFFFFF"/>
                </a:solidFill>
                <a:latin typeface="Segoe UI"/>
                <a:ea typeface="Microsoft YaHei"/>
                <a:cs typeface="Segoe UI"/>
              </a:rPr>
              <a:t>1</a:t>
            </a:r>
          </a:p>
        </p:txBody>
      </p:sp>
      <p:sp>
        <p:nvSpPr>
          <p:cNvPr id="18" name="TextBox 17"/>
          <p:cNvSpPr txBox="1"/>
          <p:nvPr/>
        </p:nvSpPr>
        <p:spPr>
          <a:xfrm>
            <a:off x="1133856" y="3191256"/>
            <a:ext cx="10436047" cy="365760"/>
          </a:xfrm>
          <a:prstGeom prst="rect">
            <a:avLst/>
          </a:prstGeom>
          <a:noFill/>
        </p:spPr>
        <p:txBody>
          <a:bodyPr wrap="square" lIns="0" rIns="0" tIns="0" bIns="0" anchor="t">
            <a:spAutoFit/>
          </a:bodyPr>
          <a:lstStyle/>
          <a:p>
            <a:pPr algn="l">
              <a:lnSpc>
                <a:spcPct val="110000"/>
              </a:lnSpc>
              <a:spcBef>
                <a:spcPts val="0"/>
              </a:spcBef>
              <a:spcAft>
                <a:spcPts val="0"/>
              </a:spcAft>
            </a:pPr>
            <a:r>
              <a:rPr sz="1900" b="1" i="0" u="none">
                <a:solidFill>
                  <a:srgbClr val="172A31"/>
                </a:solidFill>
                <a:latin typeface="Segoe UI"/>
                <a:ea typeface="Microsoft YaHei"/>
                <a:cs typeface="Segoe UI"/>
              </a:rPr>
              <a:t>Networking helps people ______.</a:t>
            </a:r>
          </a:p>
        </p:txBody>
      </p:sp>
      <p:sp>
        <p:nvSpPr>
          <p:cNvPr id="19" name="TextBox 18"/>
          <p:cNvSpPr txBox="1"/>
          <p:nvPr/>
        </p:nvSpPr>
        <p:spPr>
          <a:xfrm>
            <a:off x="1133856" y="3593591"/>
            <a:ext cx="10436047" cy="292608"/>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C95527"/>
                </a:solidFill>
                <a:latin typeface="Segoe UI"/>
                <a:ea typeface="Microsoft YaHei"/>
                <a:cs typeface="Segoe UI"/>
              </a:rPr>
              <a:t>提示：hear about jobs / before they are advertised</a:t>
            </a:r>
          </a:p>
        </p:txBody>
      </p:sp>
      <p:cxnSp>
        <p:nvCxnSpPr>
          <p:cNvPr id="20" name="Connector 19"/>
          <p:cNvCxnSpPr/>
          <p:nvPr/>
        </p:nvCxnSpPr>
        <p:spPr>
          <a:xfrm>
            <a:off x="1133856" y="4032503"/>
            <a:ext cx="10436047"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21792" y="4233671"/>
            <a:ext cx="384048" cy="384048"/>
          </a:xfrm>
          <a:prstGeom prst="roundRect">
            <a:avLst>
              <a:gd name="adj" fmla="val 50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21792" y="4283963"/>
            <a:ext cx="384048" cy="365760"/>
          </a:xfrm>
          <a:prstGeom prst="rect">
            <a:avLst/>
          </a:prstGeom>
          <a:noFill/>
        </p:spPr>
        <p:txBody>
          <a:bodyPr wrap="square" lIns="0" rIns="0" tIns="0" bIns="0" anchor="t">
            <a:spAutoFit/>
          </a:bodyPr>
          <a:lstStyle/>
          <a:p>
            <a:pPr algn="ctr">
              <a:lnSpc>
                <a:spcPct val="116000"/>
              </a:lnSpc>
              <a:spcBef>
                <a:spcPts val="0"/>
              </a:spcBef>
              <a:spcAft>
                <a:spcPts val="0"/>
              </a:spcAft>
            </a:pPr>
            <a:r>
              <a:rPr sz="1700" b="1" i="0" u="none">
                <a:solidFill>
                  <a:srgbClr val="FFFFFF"/>
                </a:solidFill>
                <a:latin typeface="Segoe UI"/>
                <a:ea typeface="Microsoft YaHei"/>
                <a:cs typeface="Segoe UI"/>
              </a:rPr>
              <a:t>2</a:t>
            </a:r>
          </a:p>
        </p:txBody>
      </p:sp>
      <p:sp>
        <p:nvSpPr>
          <p:cNvPr id="23" name="TextBox 22"/>
          <p:cNvSpPr txBox="1"/>
          <p:nvPr/>
        </p:nvSpPr>
        <p:spPr>
          <a:xfrm>
            <a:off x="1133856" y="4242815"/>
            <a:ext cx="10436047" cy="365760"/>
          </a:xfrm>
          <a:prstGeom prst="rect">
            <a:avLst/>
          </a:prstGeom>
          <a:noFill/>
        </p:spPr>
        <p:txBody>
          <a:bodyPr wrap="square" lIns="0" rIns="0" tIns="0" bIns="0" anchor="t">
            <a:spAutoFit/>
          </a:bodyPr>
          <a:lstStyle/>
          <a:p>
            <a:pPr algn="l">
              <a:lnSpc>
                <a:spcPct val="110000"/>
              </a:lnSpc>
              <a:spcBef>
                <a:spcPts val="0"/>
              </a:spcBef>
              <a:spcAft>
                <a:spcPts val="0"/>
              </a:spcAft>
            </a:pPr>
            <a:r>
              <a:rPr sz="1900" b="1" i="0" u="none">
                <a:solidFill>
                  <a:srgbClr val="172A31"/>
                </a:solidFill>
                <a:latin typeface="Segoe UI"/>
                <a:ea typeface="Microsoft YaHei"/>
                <a:cs typeface="Segoe UI"/>
              </a:rPr>
              <a:t>A university degree lets a student ______.</a:t>
            </a:r>
          </a:p>
        </p:txBody>
      </p:sp>
      <p:sp>
        <p:nvSpPr>
          <p:cNvPr id="24" name="TextBox 23"/>
          <p:cNvSpPr txBox="1"/>
          <p:nvPr/>
        </p:nvSpPr>
        <p:spPr>
          <a:xfrm>
            <a:off x="1133856" y="4645151"/>
            <a:ext cx="10436047" cy="292608"/>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C95527"/>
                </a:solidFill>
                <a:latin typeface="Segoe UI"/>
                <a:ea typeface="Microsoft YaHei"/>
                <a:cs typeface="Segoe UI"/>
              </a:rPr>
              <a:t>提示：prove real training / to a stranger</a:t>
            </a:r>
          </a:p>
        </p:txBody>
      </p:sp>
      <p:cxnSp>
        <p:nvCxnSpPr>
          <p:cNvPr id="25" name="Connector 24"/>
          <p:cNvCxnSpPr/>
          <p:nvPr/>
        </p:nvCxnSpPr>
        <p:spPr>
          <a:xfrm>
            <a:off x="1133856" y="5084063"/>
            <a:ext cx="10436047"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621792" y="5285231"/>
            <a:ext cx="384048" cy="384048"/>
          </a:xfrm>
          <a:prstGeom prst="roundRect">
            <a:avLst>
              <a:gd name="adj" fmla="val 50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21792" y="5335523"/>
            <a:ext cx="384048" cy="365760"/>
          </a:xfrm>
          <a:prstGeom prst="rect">
            <a:avLst/>
          </a:prstGeom>
          <a:noFill/>
        </p:spPr>
        <p:txBody>
          <a:bodyPr wrap="square" lIns="0" rIns="0" tIns="0" bIns="0" anchor="t">
            <a:spAutoFit/>
          </a:bodyPr>
          <a:lstStyle/>
          <a:p>
            <a:pPr algn="ctr">
              <a:lnSpc>
                <a:spcPct val="116000"/>
              </a:lnSpc>
              <a:spcBef>
                <a:spcPts val="0"/>
              </a:spcBef>
              <a:spcAft>
                <a:spcPts val="0"/>
              </a:spcAft>
            </a:pPr>
            <a:r>
              <a:rPr sz="1700" b="1" i="0" u="none">
                <a:solidFill>
                  <a:srgbClr val="FFFFFF"/>
                </a:solidFill>
                <a:latin typeface="Segoe UI"/>
                <a:ea typeface="Microsoft YaHei"/>
                <a:cs typeface="Segoe UI"/>
              </a:rPr>
              <a:t>3</a:t>
            </a:r>
          </a:p>
        </p:txBody>
      </p:sp>
      <p:sp>
        <p:nvSpPr>
          <p:cNvPr id="28" name="TextBox 27"/>
          <p:cNvSpPr txBox="1"/>
          <p:nvPr/>
        </p:nvSpPr>
        <p:spPr>
          <a:xfrm>
            <a:off x="1133856" y="5294375"/>
            <a:ext cx="10436047" cy="365760"/>
          </a:xfrm>
          <a:prstGeom prst="rect">
            <a:avLst/>
          </a:prstGeom>
          <a:noFill/>
        </p:spPr>
        <p:txBody>
          <a:bodyPr wrap="square" lIns="0" rIns="0" tIns="0" bIns="0" anchor="t">
            <a:spAutoFit/>
          </a:bodyPr>
          <a:lstStyle/>
          <a:p>
            <a:pPr algn="l">
              <a:lnSpc>
                <a:spcPct val="110000"/>
              </a:lnSpc>
              <a:spcBef>
                <a:spcPts val="0"/>
              </a:spcBef>
              <a:spcAft>
                <a:spcPts val="0"/>
              </a:spcAft>
            </a:pPr>
            <a:r>
              <a:rPr sz="1900" b="1" i="0" u="none">
                <a:solidFill>
                  <a:srgbClr val="172A31"/>
                </a:solidFill>
                <a:latin typeface="Segoe UI"/>
                <a:ea typeface="Microsoft YaHei"/>
                <a:cs typeface="Segoe UI"/>
              </a:rPr>
              <a:t>A part-time job helps a student ______.</a:t>
            </a:r>
          </a:p>
        </p:txBody>
      </p:sp>
      <p:sp>
        <p:nvSpPr>
          <p:cNvPr id="29" name="TextBox 28"/>
          <p:cNvSpPr txBox="1"/>
          <p:nvPr/>
        </p:nvSpPr>
        <p:spPr>
          <a:xfrm>
            <a:off x="1133856" y="5696711"/>
            <a:ext cx="10436047" cy="292608"/>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C95527"/>
                </a:solidFill>
                <a:latin typeface="Segoe UI"/>
                <a:ea typeface="Microsoft YaHei"/>
                <a:cs typeface="Segoe UI"/>
              </a:rPr>
              <a:t>提示：deal with real customers / real money</a:t>
            </a:r>
          </a:p>
        </p:txBody>
      </p:sp>
      <p:cxnSp>
        <p:nvCxnSpPr>
          <p:cNvPr id="30" name="Connector 29"/>
          <p:cNvCxnSpPr/>
          <p:nvPr/>
        </p:nvCxnSpPr>
        <p:spPr>
          <a:xfrm>
            <a:off x="1133856" y="6135623"/>
            <a:ext cx="10436047"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4 · 展开训练</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53</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DRILL 1 · 学生输出</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练习 1（续）· 换一个方向</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609344"/>
            <a:ext cx="479145" cy="347472"/>
          </a:xfrm>
          <a:prstGeom prst="roundRect">
            <a:avLst>
              <a:gd name="adj" fmla="val 40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21792" y="1650492"/>
            <a:ext cx="479145" cy="347472"/>
          </a:xfrm>
          <a:prstGeom prst="rect">
            <a:avLst/>
          </a:prstGeom>
          <a:noFill/>
        </p:spPr>
        <p:txBody>
          <a:bodyPr wrap="square" lIns="0" rIns="0" tIns="0" bIns="0" anchor="t">
            <a:spAutoFit/>
          </a:bodyPr>
          <a:lstStyle/>
          <a:p>
            <a:pPr algn="ctr">
              <a:lnSpc>
                <a:spcPct val="116000"/>
              </a:lnSpc>
              <a:spcBef>
                <a:spcPts val="0"/>
              </a:spcBef>
              <a:spcAft>
                <a:spcPts val="0"/>
              </a:spcAft>
            </a:pPr>
            <a:r>
              <a:rPr sz="1700" b="1" i="0" u="none">
                <a:solidFill>
                  <a:srgbClr val="FFFFFF"/>
                </a:solidFill>
                <a:latin typeface="Segoe UI"/>
                <a:ea typeface="Microsoft YaHei"/>
                <a:cs typeface="Segoe UI"/>
              </a:rPr>
              <a:t>基础</a:t>
            </a:r>
          </a:p>
        </p:txBody>
      </p:sp>
      <p:sp>
        <p:nvSpPr>
          <p:cNvPr id="10" name="TextBox 9"/>
          <p:cNvSpPr txBox="1"/>
          <p:nvPr/>
        </p:nvSpPr>
        <p:spPr>
          <a:xfrm>
            <a:off x="1320393" y="1655064"/>
            <a:ext cx="10194645"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172A31"/>
                </a:solidFill>
                <a:latin typeface="Segoe UI"/>
                <a:ea typeface="Microsoft YaHei"/>
                <a:cs typeface="Segoe UI"/>
              </a:rPr>
              <a:t>同样一行。这两句和今天的官方题直接相关。</a:t>
            </a:r>
          </a:p>
        </p:txBody>
      </p:sp>
      <p:sp>
        <p:nvSpPr>
          <p:cNvPr id="11" name="Rounded Rectangle 10"/>
          <p:cNvSpPr/>
          <p:nvPr/>
        </p:nvSpPr>
        <p:spPr>
          <a:xfrm>
            <a:off x="621792" y="2103120"/>
            <a:ext cx="10948111" cy="950976"/>
          </a:xfrm>
          <a:prstGeom prst="roundRect">
            <a:avLst>
              <a:gd name="adj" fmla="val 6000"/>
            </a:avLst>
          </a:prstGeom>
          <a:solidFill>
            <a:srgbClr val="E7F1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21792" y="2103120"/>
            <a:ext cx="64008" cy="950976"/>
          </a:xfrm>
          <a:prstGeom prst="rect">
            <a:avLst/>
          </a:prstGeom>
          <a:solidFill>
            <a:srgbClr val="2E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96112" y="2148839"/>
            <a:ext cx="2377440" cy="27432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2E6B4F"/>
                </a:solidFill>
                <a:latin typeface="Segoe UI"/>
                <a:ea typeface="Microsoft YaHei"/>
                <a:cs typeface="Segoe UI"/>
              </a:rPr>
              <a:t>示范  EXAMPLE</a:t>
            </a:r>
          </a:p>
        </p:txBody>
      </p:sp>
      <p:sp>
        <p:nvSpPr>
          <p:cNvPr id="14" name="TextBox 13"/>
          <p:cNvSpPr txBox="1"/>
          <p:nvPr/>
        </p:nvSpPr>
        <p:spPr>
          <a:xfrm>
            <a:off x="896112" y="2404872"/>
            <a:ext cx="10399471" cy="274320"/>
          </a:xfrm>
          <a:prstGeom prst="rect">
            <a:avLst/>
          </a:prstGeom>
          <a:noFill/>
        </p:spPr>
        <p:txBody>
          <a:bodyPr wrap="square" lIns="0" rIns="0" tIns="0" bIns="0" anchor="t">
            <a:spAutoFit/>
          </a:bodyPr>
          <a:lstStyle/>
          <a:p>
            <a:pPr algn="l">
              <a:lnSpc>
                <a:spcPct val="108000"/>
              </a:lnSpc>
              <a:spcAft>
                <a:spcPts val="0"/>
              </a:spcAft>
            </a:pPr>
            <a:r>
              <a:rPr sz="1900" b="1" i="0" u="none">
                <a:solidFill>
                  <a:srgbClr val="C95527"/>
                </a:solidFill>
                <a:latin typeface="Segoe UI"/>
                <a:ea typeface="Microsoft YaHei"/>
                <a:cs typeface="Segoe UI"/>
              </a:rPr>
              <a:t>×  </a:t>
            </a:r>
            <a:r>
              <a:rPr sz="1900" b="0" i="0" u="none">
                <a:solidFill>
                  <a:srgbClr val="627378"/>
                </a:solidFill>
                <a:latin typeface="Segoe UI"/>
                <a:ea typeface="Microsoft YaHei"/>
                <a:cs typeface="Segoe UI"/>
              </a:rPr>
              <a:t>A mentor is important.</a:t>
            </a:r>
          </a:p>
        </p:txBody>
      </p:sp>
      <p:sp>
        <p:nvSpPr>
          <p:cNvPr id="15" name="TextBox 14"/>
          <p:cNvSpPr txBox="1"/>
          <p:nvPr/>
        </p:nvSpPr>
        <p:spPr>
          <a:xfrm>
            <a:off x="896112" y="2679191"/>
            <a:ext cx="10399471" cy="274320"/>
          </a:xfrm>
          <a:prstGeom prst="rect">
            <a:avLst/>
          </a:prstGeom>
          <a:noFill/>
        </p:spPr>
        <p:txBody>
          <a:bodyPr wrap="square" lIns="0" rIns="0" tIns="0" bIns="0" anchor="t">
            <a:spAutoFit/>
          </a:bodyPr>
          <a:lstStyle/>
          <a:p>
            <a:pPr algn="l">
              <a:lnSpc>
                <a:spcPct val="108000"/>
              </a:lnSpc>
              <a:spcAft>
                <a:spcPts val="0"/>
              </a:spcAft>
            </a:pPr>
            <a:r>
              <a:rPr sz="1900" b="1" i="0" u="none">
                <a:solidFill>
                  <a:srgbClr val="2E6B4F"/>
                </a:solidFill>
                <a:latin typeface="Segoe UI"/>
                <a:ea typeface="Microsoft YaHei"/>
                <a:cs typeface="Segoe UI"/>
              </a:rPr>
              <a:t>√  </a:t>
            </a:r>
            <a:r>
              <a:rPr sz="1900" b="1" i="0" u="none">
                <a:solidFill>
                  <a:srgbClr val="172A31"/>
                </a:solidFill>
                <a:latin typeface="Segoe UI"/>
                <a:ea typeface="Microsoft YaHei"/>
                <a:cs typeface="Segoe UI"/>
              </a:rPr>
              <a:t>A mentor helps a young worker avoid mistakes nobody warns you about.</a:t>
            </a:r>
          </a:p>
        </p:txBody>
      </p:sp>
      <p:sp>
        <p:nvSpPr>
          <p:cNvPr id="16" name="Rounded Rectangle 15"/>
          <p:cNvSpPr/>
          <p:nvPr/>
        </p:nvSpPr>
        <p:spPr>
          <a:xfrm>
            <a:off x="621792" y="3182112"/>
            <a:ext cx="384048" cy="384048"/>
          </a:xfrm>
          <a:prstGeom prst="roundRect">
            <a:avLst>
              <a:gd name="adj" fmla="val 50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21792" y="3232404"/>
            <a:ext cx="384048" cy="365760"/>
          </a:xfrm>
          <a:prstGeom prst="rect">
            <a:avLst/>
          </a:prstGeom>
          <a:noFill/>
        </p:spPr>
        <p:txBody>
          <a:bodyPr wrap="square" lIns="0" rIns="0" tIns="0" bIns="0" anchor="t">
            <a:spAutoFit/>
          </a:bodyPr>
          <a:lstStyle/>
          <a:p>
            <a:pPr algn="ctr">
              <a:lnSpc>
                <a:spcPct val="116000"/>
              </a:lnSpc>
              <a:spcBef>
                <a:spcPts val="0"/>
              </a:spcBef>
              <a:spcAft>
                <a:spcPts val="0"/>
              </a:spcAft>
            </a:pPr>
            <a:r>
              <a:rPr sz="1700" b="1" i="0" u="none">
                <a:solidFill>
                  <a:srgbClr val="FFFFFF"/>
                </a:solidFill>
                <a:latin typeface="Segoe UI"/>
                <a:ea typeface="Microsoft YaHei"/>
                <a:cs typeface="Segoe UI"/>
              </a:rPr>
              <a:t>1</a:t>
            </a:r>
          </a:p>
        </p:txBody>
      </p:sp>
      <p:sp>
        <p:nvSpPr>
          <p:cNvPr id="18" name="TextBox 17"/>
          <p:cNvSpPr txBox="1"/>
          <p:nvPr/>
        </p:nvSpPr>
        <p:spPr>
          <a:xfrm>
            <a:off x="1133856" y="3191256"/>
            <a:ext cx="10436047" cy="365760"/>
          </a:xfrm>
          <a:prstGeom prst="rect">
            <a:avLst/>
          </a:prstGeom>
          <a:noFill/>
        </p:spPr>
        <p:txBody>
          <a:bodyPr wrap="square" lIns="0" rIns="0" tIns="0" bIns="0" anchor="t">
            <a:spAutoFit/>
          </a:bodyPr>
          <a:lstStyle/>
          <a:p>
            <a:pPr algn="l">
              <a:lnSpc>
                <a:spcPct val="110000"/>
              </a:lnSpc>
              <a:spcBef>
                <a:spcPts val="0"/>
              </a:spcBef>
              <a:spcAft>
                <a:spcPts val="0"/>
              </a:spcAft>
            </a:pPr>
            <a:r>
              <a:rPr sz="1900" b="1" i="0" u="none">
                <a:solidFill>
                  <a:srgbClr val="172A31"/>
                </a:solidFill>
                <a:latin typeface="Segoe UI"/>
                <a:ea typeface="Microsoft YaHei"/>
                <a:cs typeface="Segoe UI"/>
              </a:rPr>
              <a:t>Knowing the right people helps someone ______.</a:t>
            </a:r>
          </a:p>
        </p:txBody>
      </p:sp>
      <p:sp>
        <p:nvSpPr>
          <p:cNvPr id="19" name="TextBox 18"/>
          <p:cNvSpPr txBox="1"/>
          <p:nvPr/>
        </p:nvSpPr>
        <p:spPr>
          <a:xfrm>
            <a:off x="1133856" y="3593591"/>
            <a:ext cx="10436047" cy="292608"/>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C95527"/>
                </a:solidFill>
                <a:latin typeface="Segoe UI"/>
                <a:ea typeface="Microsoft YaHei"/>
                <a:cs typeface="Segoe UI"/>
              </a:rPr>
              <a:t>提示：be introduced / be trusted faster</a:t>
            </a:r>
          </a:p>
        </p:txBody>
      </p:sp>
      <p:cxnSp>
        <p:nvCxnSpPr>
          <p:cNvPr id="20" name="Connector 19"/>
          <p:cNvCxnSpPr/>
          <p:nvPr/>
        </p:nvCxnSpPr>
        <p:spPr>
          <a:xfrm>
            <a:off x="1133856" y="4032503"/>
            <a:ext cx="10436047"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21792" y="4233671"/>
            <a:ext cx="384048" cy="384048"/>
          </a:xfrm>
          <a:prstGeom prst="roundRect">
            <a:avLst>
              <a:gd name="adj" fmla="val 50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21792" y="4283963"/>
            <a:ext cx="384048" cy="365760"/>
          </a:xfrm>
          <a:prstGeom prst="rect">
            <a:avLst/>
          </a:prstGeom>
          <a:noFill/>
        </p:spPr>
        <p:txBody>
          <a:bodyPr wrap="square" lIns="0" rIns="0" tIns="0" bIns="0" anchor="t">
            <a:spAutoFit/>
          </a:bodyPr>
          <a:lstStyle/>
          <a:p>
            <a:pPr algn="ctr">
              <a:lnSpc>
                <a:spcPct val="116000"/>
              </a:lnSpc>
              <a:spcBef>
                <a:spcPts val="0"/>
              </a:spcBef>
              <a:spcAft>
                <a:spcPts val="0"/>
              </a:spcAft>
            </a:pPr>
            <a:r>
              <a:rPr sz="1700" b="1" i="0" u="none">
                <a:solidFill>
                  <a:srgbClr val="FFFFFF"/>
                </a:solidFill>
                <a:latin typeface="Segoe UI"/>
                <a:ea typeface="Microsoft YaHei"/>
                <a:cs typeface="Segoe UI"/>
              </a:rPr>
              <a:t>2</a:t>
            </a:r>
          </a:p>
        </p:txBody>
      </p:sp>
      <p:sp>
        <p:nvSpPr>
          <p:cNvPr id="23" name="TextBox 22"/>
          <p:cNvSpPr txBox="1"/>
          <p:nvPr/>
        </p:nvSpPr>
        <p:spPr>
          <a:xfrm>
            <a:off x="1133856" y="4242815"/>
            <a:ext cx="10436047" cy="365760"/>
          </a:xfrm>
          <a:prstGeom prst="rect">
            <a:avLst/>
          </a:prstGeom>
          <a:noFill/>
        </p:spPr>
        <p:txBody>
          <a:bodyPr wrap="square" lIns="0" rIns="0" tIns="0" bIns="0" anchor="t">
            <a:spAutoFit/>
          </a:bodyPr>
          <a:lstStyle/>
          <a:p>
            <a:pPr algn="l">
              <a:lnSpc>
                <a:spcPct val="110000"/>
              </a:lnSpc>
              <a:spcBef>
                <a:spcPts val="0"/>
              </a:spcBef>
              <a:spcAft>
                <a:spcPts val="0"/>
              </a:spcAft>
            </a:pPr>
            <a:r>
              <a:rPr sz="1900" b="1" i="0" u="none">
                <a:solidFill>
                  <a:srgbClr val="172A31"/>
                </a:solidFill>
                <a:latin typeface="Segoe UI"/>
                <a:ea typeface="Microsoft YaHei"/>
                <a:cs typeface="Segoe UI"/>
              </a:rPr>
              <a:t>A scholarship lets a student ______.</a:t>
            </a:r>
          </a:p>
        </p:txBody>
      </p:sp>
      <p:sp>
        <p:nvSpPr>
          <p:cNvPr id="24" name="TextBox 23"/>
          <p:cNvSpPr txBox="1"/>
          <p:nvPr/>
        </p:nvSpPr>
        <p:spPr>
          <a:xfrm>
            <a:off x="1133856" y="4645151"/>
            <a:ext cx="10436047" cy="292608"/>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C95527"/>
                </a:solidFill>
                <a:latin typeface="Segoe UI"/>
                <a:ea typeface="Microsoft YaHei"/>
                <a:cs typeface="Segoe UI"/>
              </a:rPr>
              <a:t>提示：study without / pay for</a:t>
            </a:r>
          </a:p>
        </p:txBody>
      </p:sp>
      <p:cxnSp>
        <p:nvCxnSpPr>
          <p:cNvPr id="25" name="Connector 24"/>
          <p:cNvCxnSpPr/>
          <p:nvPr/>
        </p:nvCxnSpPr>
        <p:spPr>
          <a:xfrm>
            <a:off x="1133856" y="5084063"/>
            <a:ext cx="10436047"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621792" y="5285231"/>
            <a:ext cx="384048" cy="384048"/>
          </a:xfrm>
          <a:prstGeom prst="roundRect">
            <a:avLst>
              <a:gd name="adj" fmla="val 50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21792" y="5335523"/>
            <a:ext cx="384048" cy="365760"/>
          </a:xfrm>
          <a:prstGeom prst="rect">
            <a:avLst/>
          </a:prstGeom>
          <a:noFill/>
        </p:spPr>
        <p:txBody>
          <a:bodyPr wrap="square" lIns="0" rIns="0" tIns="0" bIns="0" anchor="t">
            <a:spAutoFit/>
          </a:bodyPr>
          <a:lstStyle/>
          <a:p>
            <a:pPr algn="ctr">
              <a:lnSpc>
                <a:spcPct val="116000"/>
              </a:lnSpc>
              <a:spcBef>
                <a:spcPts val="0"/>
              </a:spcBef>
              <a:spcAft>
                <a:spcPts val="0"/>
              </a:spcAft>
            </a:pPr>
            <a:r>
              <a:rPr sz="1700" b="1" i="0" u="none">
                <a:solidFill>
                  <a:srgbClr val="FFFFFF"/>
                </a:solidFill>
                <a:latin typeface="Segoe UI"/>
                <a:ea typeface="Microsoft YaHei"/>
                <a:cs typeface="Segoe UI"/>
              </a:rPr>
              <a:t>3</a:t>
            </a:r>
          </a:p>
        </p:txBody>
      </p:sp>
      <p:sp>
        <p:nvSpPr>
          <p:cNvPr id="28" name="TextBox 27"/>
          <p:cNvSpPr txBox="1"/>
          <p:nvPr/>
        </p:nvSpPr>
        <p:spPr>
          <a:xfrm>
            <a:off x="1133856" y="5294375"/>
            <a:ext cx="10436047" cy="365760"/>
          </a:xfrm>
          <a:prstGeom prst="rect">
            <a:avLst/>
          </a:prstGeom>
          <a:noFill/>
        </p:spPr>
        <p:txBody>
          <a:bodyPr wrap="square" lIns="0" rIns="0" tIns="0" bIns="0" anchor="t">
            <a:spAutoFit/>
          </a:bodyPr>
          <a:lstStyle/>
          <a:p>
            <a:pPr algn="l">
              <a:lnSpc>
                <a:spcPct val="110000"/>
              </a:lnSpc>
              <a:spcBef>
                <a:spcPts val="0"/>
              </a:spcBef>
              <a:spcAft>
                <a:spcPts val="0"/>
              </a:spcAft>
            </a:pPr>
            <a:r>
              <a:rPr sz="1900" b="1" i="0" u="none">
                <a:solidFill>
                  <a:srgbClr val="172A31"/>
                </a:solidFill>
                <a:latin typeface="Segoe UI"/>
                <a:ea typeface="Microsoft YaHei"/>
                <a:cs typeface="Segoe UI"/>
              </a:rPr>
              <a:t>A professional certificate gives a person ______.</a:t>
            </a:r>
          </a:p>
        </p:txBody>
      </p:sp>
      <p:sp>
        <p:nvSpPr>
          <p:cNvPr id="29" name="TextBox 28"/>
          <p:cNvSpPr txBox="1"/>
          <p:nvPr/>
        </p:nvSpPr>
        <p:spPr>
          <a:xfrm>
            <a:off x="1133856" y="5696711"/>
            <a:ext cx="10436047" cy="292608"/>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C95527"/>
                </a:solidFill>
                <a:latin typeface="Segoe UI"/>
                <a:ea typeface="Microsoft YaHei"/>
                <a:cs typeface="Segoe UI"/>
              </a:rPr>
              <a:t>提示：proof / stranger / hire</a:t>
            </a:r>
          </a:p>
        </p:txBody>
      </p:sp>
      <p:cxnSp>
        <p:nvCxnSpPr>
          <p:cNvPr id="30" name="Connector 29"/>
          <p:cNvCxnSpPr/>
          <p:nvPr/>
        </p:nvCxnSpPr>
        <p:spPr>
          <a:xfrm>
            <a:off x="1133856" y="6135623"/>
            <a:ext cx="10436047"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4 · 展开训练</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54</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WORKED EXAMPLE</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STEP 2 · WHY 的三个提问法</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719072"/>
            <a:ext cx="3527450" cy="1051560"/>
          </a:xfrm>
          <a:prstGeom prst="roundRect">
            <a:avLst>
              <a:gd name="adj" fmla="val 6000"/>
            </a:avLst>
          </a:prstGeom>
          <a:solidFill>
            <a:srgbClr val="FBEC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41248" y="1901952"/>
            <a:ext cx="3088538" cy="731520"/>
          </a:xfrm>
          <a:prstGeom prst="rect">
            <a:avLst/>
          </a:prstGeom>
          <a:noFill/>
        </p:spPr>
        <p:txBody>
          <a:bodyPr wrap="square" lIns="0" rIns="0" tIns="0" bIns="0" anchor="t">
            <a:spAutoFit/>
          </a:bodyPr>
          <a:lstStyle/>
          <a:p>
            <a:pPr algn="ctr">
              <a:lnSpc>
                <a:spcPct val="116000"/>
              </a:lnSpc>
              <a:spcBef>
                <a:spcPts val="0"/>
              </a:spcBef>
              <a:spcAft>
                <a:spcPts val="600"/>
              </a:spcAft>
            </a:pPr>
            <a:r>
              <a:rPr sz="2000" b="1" i="0" u="none">
                <a:solidFill>
                  <a:srgbClr val="C95527"/>
                </a:solidFill>
                <a:latin typeface="Segoe UI"/>
                <a:ea typeface="Microsoft YaHei"/>
                <a:cs typeface="Segoe UI"/>
              </a:rPr>
              <a:t>为什么这件事重要？</a:t>
            </a:r>
          </a:p>
          <a:p>
            <a:pPr algn="ctr">
              <a:lnSpc>
                <a:spcPct val="116000"/>
              </a:lnSpc>
              <a:spcBef>
                <a:spcPts val="0"/>
              </a:spcBef>
              <a:spcAft>
                <a:spcPts val="0"/>
              </a:spcAft>
            </a:pPr>
            <a:r>
              <a:rPr sz="1900" b="0" i="0" u="none">
                <a:solidFill>
                  <a:srgbClr val="172A31"/>
                </a:solidFill>
                <a:latin typeface="Segoe UI"/>
                <a:ea typeface="Microsoft YaHei"/>
                <a:cs typeface="Segoe UI"/>
              </a:rPr>
              <a:t>Why does this matter?</a:t>
            </a:r>
          </a:p>
        </p:txBody>
      </p:sp>
      <p:sp>
        <p:nvSpPr>
          <p:cNvPr id="10" name="Rounded Rectangle 9"/>
          <p:cNvSpPr/>
          <p:nvPr/>
        </p:nvSpPr>
        <p:spPr>
          <a:xfrm>
            <a:off x="4332122" y="1719072"/>
            <a:ext cx="3527450" cy="1051560"/>
          </a:xfrm>
          <a:prstGeom prst="roundRect">
            <a:avLst>
              <a:gd name="adj" fmla="val 6000"/>
            </a:avLst>
          </a:prstGeom>
          <a:solidFill>
            <a:srgbClr val="FBEC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551578" y="1901952"/>
            <a:ext cx="3088538" cy="731520"/>
          </a:xfrm>
          <a:prstGeom prst="rect">
            <a:avLst/>
          </a:prstGeom>
          <a:noFill/>
        </p:spPr>
        <p:txBody>
          <a:bodyPr wrap="square" lIns="0" rIns="0" tIns="0" bIns="0" anchor="t">
            <a:spAutoFit/>
          </a:bodyPr>
          <a:lstStyle/>
          <a:p>
            <a:pPr algn="ctr">
              <a:lnSpc>
                <a:spcPct val="116000"/>
              </a:lnSpc>
              <a:spcBef>
                <a:spcPts val="0"/>
              </a:spcBef>
              <a:spcAft>
                <a:spcPts val="600"/>
              </a:spcAft>
            </a:pPr>
            <a:r>
              <a:rPr sz="2000" b="1" i="0" u="none">
                <a:solidFill>
                  <a:srgbClr val="C95527"/>
                </a:solidFill>
                <a:latin typeface="Segoe UI"/>
                <a:ea typeface="Microsoft YaHei"/>
                <a:cs typeface="Segoe UI"/>
              </a:rPr>
              <a:t>它到底是怎么发生的？</a:t>
            </a:r>
          </a:p>
          <a:p>
            <a:pPr algn="ctr">
              <a:lnSpc>
                <a:spcPct val="116000"/>
              </a:lnSpc>
              <a:spcBef>
                <a:spcPts val="0"/>
              </a:spcBef>
              <a:spcAft>
                <a:spcPts val="0"/>
              </a:spcAft>
            </a:pPr>
            <a:r>
              <a:rPr sz="1900" b="0" i="0" u="none">
                <a:solidFill>
                  <a:srgbClr val="172A31"/>
                </a:solidFill>
                <a:latin typeface="Segoe UI"/>
                <a:ea typeface="Microsoft YaHei"/>
                <a:cs typeface="Segoe UI"/>
              </a:rPr>
              <a:t>How does it actually happen?</a:t>
            </a:r>
          </a:p>
        </p:txBody>
      </p:sp>
      <p:sp>
        <p:nvSpPr>
          <p:cNvPr id="12" name="Rounded Rectangle 11"/>
          <p:cNvSpPr/>
          <p:nvPr/>
        </p:nvSpPr>
        <p:spPr>
          <a:xfrm>
            <a:off x="8042452" y="1719072"/>
            <a:ext cx="3527450" cy="1051560"/>
          </a:xfrm>
          <a:prstGeom prst="roundRect">
            <a:avLst>
              <a:gd name="adj" fmla="val 6000"/>
            </a:avLst>
          </a:prstGeom>
          <a:solidFill>
            <a:srgbClr val="FBEC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261908" y="1901952"/>
            <a:ext cx="3088538" cy="731520"/>
          </a:xfrm>
          <a:prstGeom prst="rect">
            <a:avLst/>
          </a:prstGeom>
          <a:noFill/>
        </p:spPr>
        <p:txBody>
          <a:bodyPr wrap="square" lIns="0" rIns="0" tIns="0" bIns="0" anchor="t">
            <a:spAutoFit/>
          </a:bodyPr>
          <a:lstStyle/>
          <a:p>
            <a:pPr algn="ctr">
              <a:lnSpc>
                <a:spcPct val="116000"/>
              </a:lnSpc>
              <a:spcBef>
                <a:spcPts val="0"/>
              </a:spcBef>
              <a:spcAft>
                <a:spcPts val="600"/>
              </a:spcAft>
            </a:pPr>
            <a:r>
              <a:rPr sz="2000" b="1" i="0" u="none">
                <a:solidFill>
                  <a:srgbClr val="C95527"/>
                </a:solidFill>
                <a:latin typeface="Segoe UI"/>
                <a:ea typeface="Microsoft YaHei"/>
                <a:cs typeface="Segoe UI"/>
              </a:rPr>
              <a:t>谁最需要它？</a:t>
            </a:r>
          </a:p>
          <a:p>
            <a:pPr algn="ctr">
              <a:lnSpc>
                <a:spcPct val="116000"/>
              </a:lnSpc>
              <a:spcBef>
                <a:spcPts val="0"/>
              </a:spcBef>
              <a:spcAft>
                <a:spcPts val="0"/>
              </a:spcAft>
            </a:pPr>
            <a:r>
              <a:rPr sz="1900" b="0" i="0" u="none">
                <a:solidFill>
                  <a:srgbClr val="172A31"/>
                </a:solidFill>
                <a:latin typeface="Segoe UI"/>
                <a:ea typeface="Microsoft YaHei"/>
                <a:cs typeface="Segoe UI"/>
              </a:rPr>
              <a:t>Who needs it most?</a:t>
            </a:r>
          </a:p>
        </p:txBody>
      </p:sp>
      <p:sp>
        <p:nvSpPr>
          <p:cNvPr id="14" name="Rounded Rectangle 13"/>
          <p:cNvSpPr/>
          <p:nvPr/>
        </p:nvSpPr>
        <p:spPr>
          <a:xfrm>
            <a:off x="621792" y="2953512"/>
            <a:ext cx="10948111" cy="2304288"/>
          </a:xfrm>
          <a:prstGeom prst="roundRect">
            <a:avLst>
              <a:gd name="adj" fmla="val 6000"/>
            </a:avLst>
          </a:prstGeom>
          <a:solidFill>
            <a:srgbClr val="E7F1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621792" y="2953512"/>
            <a:ext cx="64008" cy="2304288"/>
          </a:xfrm>
          <a:prstGeom prst="rect">
            <a:avLst/>
          </a:prstGeom>
          <a:solidFill>
            <a:srgbClr val="2E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96112" y="3136392"/>
            <a:ext cx="10399471" cy="310896"/>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2E6B4F"/>
                </a:solidFill>
                <a:latin typeface="Segoe UI"/>
                <a:ea typeface="Microsoft YaHei"/>
                <a:cs typeface="Segoe UI"/>
              </a:rPr>
              <a:t>老师示范  WORKED EXAMPLE</a:t>
            </a:r>
          </a:p>
        </p:txBody>
      </p:sp>
      <p:sp>
        <p:nvSpPr>
          <p:cNvPr id="17" name="TextBox 16"/>
          <p:cNvSpPr txBox="1"/>
          <p:nvPr/>
        </p:nvSpPr>
        <p:spPr>
          <a:xfrm>
            <a:off x="896112" y="3520440"/>
            <a:ext cx="1234440" cy="365760"/>
          </a:xfrm>
          <a:prstGeom prst="rect">
            <a:avLst/>
          </a:prstGeom>
          <a:noFill/>
        </p:spPr>
        <p:txBody>
          <a:bodyPr wrap="square" lIns="0" rIns="0" tIns="0" bIns="0" anchor="t">
            <a:spAutoFit/>
          </a:bodyPr>
          <a:lstStyle/>
          <a:p>
            <a:pPr algn="l">
              <a:lnSpc>
                <a:spcPct val="116000"/>
              </a:lnSpc>
              <a:spcBef>
                <a:spcPts val="0"/>
              </a:spcBef>
              <a:spcAft>
                <a:spcPts val="0"/>
              </a:spcAft>
            </a:pPr>
            <a:r>
              <a:rPr sz="1800" b="1" i="0" u="none">
                <a:solidFill>
                  <a:srgbClr val="2E6B4F"/>
                </a:solidFill>
                <a:latin typeface="Segoe UI"/>
                <a:ea typeface="Microsoft YaHei"/>
                <a:cs typeface="Segoe UI"/>
              </a:rPr>
              <a:t>Reason</a:t>
            </a:r>
          </a:p>
        </p:txBody>
      </p:sp>
      <p:sp>
        <p:nvSpPr>
          <p:cNvPr id="18" name="TextBox 17"/>
          <p:cNvSpPr txBox="1"/>
          <p:nvPr/>
        </p:nvSpPr>
        <p:spPr>
          <a:xfrm>
            <a:off x="2130552" y="3493008"/>
            <a:ext cx="9119311" cy="457200"/>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172A31"/>
                </a:solidFill>
                <a:latin typeface="Segoe UI"/>
                <a:ea typeface="Microsoft YaHei"/>
                <a:cs typeface="Segoe UI"/>
              </a:rPr>
              <a:t>Education gives people skills that employers can actually check.</a:t>
            </a:r>
          </a:p>
        </p:txBody>
      </p:sp>
      <p:sp>
        <p:nvSpPr>
          <p:cNvPr id="19" name="TextBox 18"/>
          <p:cNvSpPr txBox="1"/>
          <p:nvPr/>
        </p:nvSpPr>
        <p:spPr>
          <a:xfrm>
            <a:off x="896112" y="4050791"/>
            <a:ext cx="1234440" cy="365760"/>
          </a:xfrm>
          <a:prstGeom prst="rect">
            <a:avLst/>
          </a:prstGeom>
          <a:noFill/>
        </p:spPr>
        <p:txBody>
          <a:bodyPr wrap="square" lIns="0" rIns="0" tIns="0" bIns="0" anchor="t">
            <a:spAutoFit/>
          </a:bodyPr>
          <a:lstStyle/>
          <a:p>
            <a:pPr algn="l">
              <a:lnSpc>
                <a:spcPct val="116000"/>
              </a:lnSpc>
              <a:spcBef>
                <a:spcPts val="0"/>
              </a:spcBef>
              <a:spcAft>
                <a:spcPts val="0"/>
              </a:spcAft>
            </a:pPr>
            <a:r>
              <a:rPr sz="1800" b="1" i="0" u="none">
                <a:solidFill>
                  <a:srgbClr val="2E6B4F"/>
                </a:solidFill>
                <a:latin typeface="Segoe UI"/>
                <a:ea typeface="Microsoft YaHei"/>
                <a:cs typeface="Segoe UI"/>
              </a:rPr>
              <a:t>WHY ①</a:t>
            </a:r>
          </a:p>
        </p:txBody>
      </p:sp>
      <p:sp>
        <p:nvSpPr>
          <p:cNvPr id="20" name="TextBox 19"/>
          <p:cNvSpPr txBox="1"/>
          <p:nvPr/>
        </p:nvSpPr>
        <p:spPr>
          <a:xfrm>
            <a:off x="2130552" y="4023359"/>
            <a:ext cx="9119311" cy="457200"/>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172A31"/>
                </a:solidFill>
                <a:latin typeface="Segoe UI"/>
                <a:ea typeface="Microsoft YaHei"/>
                <a:cs typeface="Segoe UI"/>
              </a:rPr>
              <a:t>This matters because a company cannot judge a stranger in a ten-minute interview.</a:t>
            </a:r>
          </a:p>
        </p:txBody>
      </p:sp>
      <p:sp>
        <p:nvSpPr>
          <p:cNvPr id="21" name="TextBox 20"/>
          <p:cNvSpPr txBox="1"/>
          <p:nvPr/>
        </p:nvSpPr>
        <p:spPr>
          <a:xfrm>
            <a:off x="896112" y="4581144"/>
            <a:ext cx="1234440" cy="365760"/>
          </a:xfrm>
          <a:prstGeom prst="rect">
            <a:avLst/>
          </a:prstGeom>
          <a:noFill/>
        </p:spPr>
        <p:txBody>
          <a:bodyPr wrap="square" lIns="0" rIns="0" tIns="0" bIns="0" anchor="t">
            <a:spAutoFit/>
          </a:bodyPr>
          <a:lstStyle/>
          <a:p>
            <a:pPr algn="l">
              <a:lnSpc>
                <a:spcPct val="116000"/>
              </a:lnSpc>
              <a:spcBef>
                <a:spcPts val="0"/>
              </a:spcBef>
              <a:spcAft>
                <a:spcPts val="0"/>
              </a:spcAft>
            </a:pPr>
            <a:r>
              <a:rPr sz="1800" b="1" i="0" u="none">
                <a:solidFill>
                  <a:srgbClr val="2E6B4F"/>
                </a:solidFill>
                <a:latin typeface="Segoe UI"/>
                <a:ea typeface="Microsoft YaHei"/>
                <a:cs typeface="Segoe UI"/>
              </a:rPr>
              <a:t>WHY ②</a:t>
            </a:r>
          </a:p>
        </p:txBody>
      </p:sp>
      <p:sp>
        <p:nvSpPr>
          <p:cNvPr id="22" name="TextBox 21"/>
          <p:cNvSpPr txBox="1"/>
          <p:nvPr/>
        </p:nvSpPr>
        <p:spPr>
          <a:xfrm>
            <a:off x="2130552" y="4553712"/>
            <a:ext cx="9119311" cy="457200"/>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172A31"/>
                </a:solidFill>
                <a:latin typeface="Segoe UI"/>
                <a:ea typeface="Microsoft YaHei"/>
                <a:cs typeface="Segoe UI"/>
              </a:rPr>
              <a:t>A certificate is the only proof a stranger will accept.</a:t>
            </a:r>
          </a:p>
        </p:txBody>
      </p:sp>
      <p:sp>
        <p:nvSpPr>
          <p:cNvPr id="23" name="Rounded Rectangle 22"/>
          <p:cNvSpPr/>
          <p:nvPr/>
        </p:nvSpPr>
        <p:spPr>
          <a:xfrm>
            <a:off x="621792" y="5056632"/>
            <a:ext cx="10948111" cy="713232"/>
          </a:xfrm>
          <a:prstGeom prst="roundRect">
            <a:avLst>
              <a:gd name="adj" fmla="val 6000"/>
            </a:avLst>
          </a:prstGeom>
          <a:solidFill>
            <a:srgbClr val="FFFFFF"/>
          </a:solidFill>
          <a:ln w="20320">
            <a:solidFill>
              <a:srgbClr val="C9552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50976" y="5239512"/>
            <a:ext cx="10262311" cy="41148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禁止：because it is helpful / because it is good for them —— 这是把理由再说一遍，不是 WHY。</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4 · 展开训练</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55</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DRILL 2 · 学生输出</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练习 2 · 补一句 WHY</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609344"/>
            <a:ext cx="479145" cy="347472"/>
          </a:xfrm>
          <a:prstGeom prst="roundRect">
            <a:avLst>
              <a:gd name="adj" fmla="val 40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21792" y="1650492"/>
            <a:ext cx="479145" cy="347472"/>
          </a:xfrm>
          <a:prstGeom prst="rect">
            <a:avLst/>
          </a:prstGeom>
          <a:noFill/>
        </p:spPr>
        <p:txBody>
          <a:bodyPr wrap="square" lIns="0" rIns="0" tIns="0" bIns="0" anchor="t">
            <a:spAutoFit/>
          </a:bodyPr>
          <a:lstStyle/>
          <a:p>
            <a:pPr algn="ctr">
              <a:lnSpc>
                <a:spcPct val="116000"/>
              </a:lnSpc>
              <a:spcBef>
                <a:spcPts val="0"/>
              </a:spcBef>
              <a:spcAft>
                <a:spcPts val="0"/>
              </a:spcAft>
            </a:pPr>
            <a:r>
              <a:rPr sz="1700" b="1" i="0" u="none">
                <a:solidFill>
                  <a:srgbClr val="FFFFFF"/>
                </a:solidFill>
                <a:latin typeface="Segoe UI"/>
                <a:ea typeface="Microsoft YaHei"/>
                <a:cs typeface="Segoe UI"/>
              </a:rPr>
              <a:t>基础</a:t>
            </a:r>
          </a:p>
        </p:txBody>
      </p:sp>
      <p:sp>
        <p:nvSpPr>
          <p:cNvPr id="10" name="TextBox 9"/>
          <p:cNvSpPr txBox="1"/>
          <p:nvPr/>
        </p:nvSpPr>
        <p:spPr>
          <a:xfrm>
            <a:off x="1320393" y="1655064"/>
            <a:ext cx="10194645"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172A31"/>
                </a:solidFill>
                <a:latin typeface="Segoe UI"/>
                <a:ea typeface="Microsoft YaHei"/>
                <a:cs typeface="Segoe UI"/>
              </a:rPr>
              <a:t>用 This matters because … 起头，一句话写完。</a:t>
            </a:r>
          </a:p>
        </p:txBody>
      </p:sp>
      <p:sp>
        <p:nvSpPr>
          <p:cNvPr id="11" name="Rounded Rectangle 10"/>
          <p:cNvSpPr/>
          <p:nvPr/>
        </p:nvSpPr>
        <p:spPr>
          <a:xfrm>
            <a:off x="621792" y="2103120"/>
            <a:ext cx="10948111" cy="950976"/>
          </a:xfrm>
          <a:prstGeom prst="roundRect">
            <a:avLst>
              <a:gd name="adj" fmla="val 6000"/>
            </a:avLst>
          </a:prstGeom>
          <a:solidFill>
            <a:srgbClr val="E7F1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21792" y="2103120"/>
            <a:ext cx="64008" cy="950976"/>
          </a:xfrm>
          <a:prstGeom prst="rect">
            <a:avLst/>
          </a:prstGeom>
          <a:solidFill>
            <a:srgbClr val="2E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96112" y="2148839"/>
            <a:ext cx="2377440" cy="27432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2E6B4F"/>
                </a:solidFill>
                <a:latin typeface="Segoe UI"/>
                <a:ea typeface="Microsoft YaHei"/>
                <a:cs typeface="Segoe UI"/>
              </a:rPr>
              <a:t>示范  EXAMPLE</a:t>
            </a:r>
          </a:p>
        </p:txBody>
      </p:sp>
      <p:sp>
        <p:nvSpPr>
          <p:cNvPr id="14" name="TextBox 13"/>
          <p:cNvSpPr txBox="1"/>
          <p:nvPr/>
        </p:nvSpPr>
        <p:spPr>
          <a:xfrm>
            <a:off x="896112" y="2404872"/>
            <a:ext cx="10399471" cy="274320"/>
          </a:xfrm>
          <a:prstGeom prst="rect">
            <a:avLst/>
          </a:prstGeom>
          <a:noFill/>
        </p:spPr>
        <p:txBody>
          <a:bodyPr wrap="square" lIns="0" rIns="0" tIns="0" bIns="0" anchor="t">
            <a:spAutoFit/>
          </a:bodyPr>
          <a:lstStyle/>
          <a:p>
            <a:pPr algn="l">
              <a:lnSpc>
                <a:spcPct val="108000"/>
              </a:lnSpc>
              <a:spcAft>
                <a:spcPts val="0"/>
              </a:spcAft>
            </a:pPr>
            <a:r>
              <a:rPr sz="1900" b="1" i="0" u="none">
                <a:solidFill>
                  <a:srgbClr val="C95527"/>
                </a:solidFill>
                <a:latin typeface="Segoe UI"/>
                <a:ea typeface="Microsoft YaHei"/>
                <a:cs typeface="Segoe UI"/>
              </a:rPr>
              <a:t>×  </a:t>
            </a:r>
            <a:r>
              <a:rPr sz="1900" b="0" i="0" u="none">
                <a:solidFill>
                  <a:srgbClr val="627378"/>
                </a:solidFill>
                <a:latin typeface="Segoe UI"/>
                <a:ea typeface="Microsoft YaHei"/>
                <a:cs typeface="Segoe UI"/>
              </a:rPr>
              <a:t>Networking helps people hear about jobs early, because it is useful.</a:t>
            </a:r>
          </a:p>
        </p:txBody>
      </p:sp>
      <p:sp>
        <p:nvSpPr>
          <p:cNvPr id="15" name="TextBox 14"/>
          <p:cNvSpPr txBox="1"/>
          <p:nvPr/>
        </p:nvSpPr>
        <p:spPr>
          <a:xfrm>
            <a:off x="896112" y="2679191"/>
            <a:ext cx="10399471" cy="274320"/>
          </a:xfrm>
          <a:prstGeom prst="rect">
            <a:avLst/>
          </a:prstGeom>
          <a:noFill/>
        </p:spPr>
        <p:txBody>
          <a:bodyPr wrap="square" lIns="0" rIns="0" tIns="0" bIns="0" anchor="t">
            <a:spAutoFit/>
          </a:bodyPr>
          <a:lstStyle/>
          <a:p>
            <a:pPr algn="l">
              <a:lnSpc>
                <a:spcPct val="108000"/>
              </a:lnSpc>
              <a:spcAft>
                <a:spcPts val="0"/>
              </a:spcAft>
            </a:pPr>
            <a:r>
              <a:rPr sz="1900" b="1" i="0" u="none">
                <a:solidFill>
                  <a:srgbClr val="2E6B4F"/>
                </a:solidFill>
                <a:latin typeface="Segoe UI"/>
                <a:ea typeface="Microsoft YaHei"/>
                <a:cs typeface="Segoe UI"/>
              </a:rPr>
              <a:t>√  </a:t>
            </a:r>
            <a:r>
              <a:rPr sz="1900" b="1" i="0" u="none">
                <a:solidFill>
                  <a:srgbClr val="172A31"/>
                </a:solidFill>
                <a:latin typeface="Segoe UI"/>
                <a:ea typeface="Microsoft YaHei"/>
                <a:cs typeface="Segoe UI"/>
              </a:rPr>
              <a:t>This matters because many good jobs are filled before anyone sees the advertisement.</a:t>
            </a:r>
          </a:p>
        </p:txBody>
      </p:sp>
      <p:sp>
        <p:nvSpPr>
          <p:cNvPr id="16" name="Rounded Rectangle 15"/>
          <p:cNvSpPr/>
          <p:nvPr/>
        </p:nvSpPr>
        <p:spPr>
          <a:xfrm>
            <a:off x="621792" y="3182112"/>
            <a:ext cx="384048" cy="384048"/>
          </a:xfrm>
          <a:prstGeom prst="roundRect">
            <a:avLst>
              <a:gd name="adj" fmla="val 50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21792" y="3232404"/>
            <a:ext cx="384048" cy="365760"/>
          </a:xfrm>
          <a:prstGeom prst="rect">
            <a:avLst/>
          </a:prstGeom>
          <a:noFill/>
        </p:spPr>
        <p:txBody>
          <a:bodyPr wrap="square" lIns="0" rIns="0" tIns="0" bIns="0" anchor="t">
            <a:spAutoFit/>
          </a:bodyPr>
          <a:lstStyle/>
          <a:p>
            <a:pPr algn="ctr">
              <a:lnSpc>
                <a:spcPct val="116000"/>
              </a:lnSpc>
              <a:spcBef>
                <a:spcPts val="0"/>
              </a:spcBef>
              <a:spcAft>
                <a:spcPts val="0"/>
              </a:spcAft>
            </a:pPr>
            <a:r>
              <a:rPr sz="1700" b="1" i="0" u="none">
                <a:solidFill>
                  <a:srgbClr val="FFFFFF"/>
                </a:solidFill>
                <a:latin typeface="Segoe UI"/>
                <a:ea typeface="Microsoft YaHei"/>
                <a:cs typeface="Segoe UI"/>
              </a:rPr>
              <a:t>1</a:t>
            </a:r>
          </a:p>
        </p:txBody>
      </p:sp>
      <p:sp>
        <p:nvSpPr>
          <p:cNvPr id="18" name="TextBox 17"/>
          <p:cNvSpPr txBox="1"/>
          <p:nvPr/>
        </p:nvSpPr>
        <p:spPr>
          <a:xfrm>
            <a:off x="1133856" y="3191256"/>
            <a:ext cx="10436047" cy="365760"/>
          </a:xfrm>
          <a:prstGeom prst="rect">
            <a:avLst/>
          </a:prstGeom>
          <a:noFill/>
        </p:spPr>
        <p:txBody>
          <a:bodyPr wrap="square" lIns="0" rIns="0" tIns="0" bIns="0" anchor="t">
            <a:spAutoFit/>
          </a:bodyPr>
          <a:lstStyle/>
          <a:p>
            <a:pPr algn="l">
              <a:lnSpc>
                <a:spcPct val="110000"/>
              </a:lnSpc>
              <a:spcBef>
                <a:spcPts val="0"/>
              </a:spcBef>
              <a:spcAft>
                <a:spcPts val="0"/>
              </a:spcAft>
            </a:pPr>
            <a:r>
              <a:rPr sz="1900" b="1" i="0" u="none">
                <a:solidFill>
                  <a:srgbClr val="172A31"/>
                </a:solidFill>
                <a:latin typeface="Segoe UI"/>
                <a:ea typeface="Microsoft YaHei"/>
                <a:cs typeface="Segoe UI"/>
              </a:rPr>
              <a:t>A degree lets a student prove real training to a stranger.  →  This matters because ______.</a:t>
            </a:r>
          </a:p>
        </p:txBody>
      </p:sp>
      <p:sp>
        <p:nvSpPr>
          <p:cNvPr id="19" name="TextBox 18"/>
          <p:cNvSpPr txBox="1"/>
          <p:nvPr/>
        </p:nvSpPr>
        <p:spPr>
          <a:xfrm>
            <a:off x="1133856" y="3593591"/>
            <a:ext cx="10436047" cy="292608"/>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C95527"/>
                </a:solidFill>
                <a:latin typeface="Segoe UI"/>
                <a:ea typeface="Microsoft YaHei"/>
                <a:cs typeface="Segoe UI"/>
              </a:rPr>
              <a:t>提问：招聘的人从没见过你，他凭什么相信你？</a:t>
            </a:r>
          </a:p>
        </p:txBody>
      </p:sp>
      <p:cxnSp>
        <p:nvCxnSpPr>
          <p:cNvPr id="20" name="Connector 19"/>
          <p:cNvCxnSpPr/>
          <p:nvPr/>
        </p:nvCxnSpPr>
        <p:spPr>
          <a:xfrm>
            <a:off x="1133856" y="4032503"/>
            <a:ext cx="10436047"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21792" y="4233671"/>
            <a:ext cx="384048" cy="384048"/>
          </a:xfrm>
          <a:prstGeom prst="roundRect">
            <a:avLst>
              <a:gd name="adj" fmla="val 50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21792" y="4283963"/>
            <a:ext cx="384048" cy="365760"/>
          </a:xfrm>
          <a:prstGeom prst="rect">
            <a:avLst/>
          </a:prstGeom>
          <a:noFill/>
        </p:spPr>
        <p:txBody>
          <a:bodyPr wrap="square" lIns="0" rIns="0" tIns="0" bIns="0" anchor="t">
            <a:spAutoFit/>
          </a:bodyPr>
          <a:lstStyle/>
          <a:p>
            <a:pPr algn="ctr">
              <a:lnSpc>
                <a:spcPct val="116000"/>
              </a:lnSpc>
              <a:spcBef>
                <a:spcPts val="0"/>
              </a:spcBef>
              <a:spcAft>
                <a:spcPts val="0"/>
              </a:spcAft>
            </a:pPr>
            <a:r>
              <a:rPr sz="1700" b="1" i="0" u="none">
                <a:solidFill>
                  <a:srgbClr val="FFFFFF"/>
                </a:solidFill>
                <a:latin typeface="Segoe UI"/>
                <a:ea typeface="Microsoft YaHei"/>
                <a:cs typeface="Segoe UI"/>
              </a:rPr>
              <a:t>2</a:t>
            </a:r>
          </a:p>
        </p:txBody>
      </p:sp>
      <p:sp>
        <p:nvSpPr>
          <p:cNvPr id="23" name="TextBox 22"/>
          <p:cNvSpPr txBox="1"/>
          <p:nvPr/>
        </p:nvSpPr>
        <p:spPr>
          <a:xfrm>
            <a:off x="1133856" y="4242815"/>
            <a:ext cx="10436047" cy="365760"/>
          </a:xfrm>
          <a:prstGeom prst="rect">
            <a:avLst/>
          </a:prstGeom>
          <a:noFill/>
        </p:spPr>
        <p:txBody>
          <a:bodyPr wrap="square" lIns="0" rIns="0" tIns="0" bIns="0" anchor="t">
            <a:spAutoFit/>
          </a:bodyPr>
          <a:lstStyle/>
          <a:p>
            <a:pPr algn="l">
              <a:lnSpc>
                <a:spcPct val="110000"/>
              </a:lnSpc>
              <a:spcBef>
                <a:spcPts val="0"/>
              </a:spcBef>
              <a:spcAft>
                <a:spcPts val="0"/>
              </a:spcAft>
            </a:pPr>
            <a:r>
              <a:rPr sz="1900" b="1" i="0" u="none">
                <a:solidFill>
                  <a:srgbClr val="172A31"/>
                </a:solidFill>
                <a:latin typeface="Segoe UI"/>
                <a:ea typeface="Microsoft YaHei"/>
                <a:cs typeface="Segoe UI"/>
              </a:rPr>
              <a:t>A part-time job teaches a student how a workplace really runs.  →  This matters because ______.</a:t>
            </a:r>
          </a:p>
        </p:txBody>
      </p:sp>
      <p:sp>
        <p:nvSpPr>
          <p:cNvPr id="24" name="TextBox 23"/>
          <p:cNvSpPr txBox="1"/>
          <p:nvPr/>
        </p:nvSpPr>
        <p:spPr>
          <a:xfrm>
            <a:off x="1133856" y="4645151"/>
            <a:ext cx="10436047" cy="292608"/>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C95527"/>
                </a:solidFill>
                <a:latin typeface="Segoe UI"/>
                <a:ea typeface="Microsoft YaHei"/>
                <a:cs typeface="Segoe UI"/>
              </a:rPr>
              <a:t>提问：课堂上学不到的到底是哪一部分？</a:t>
            </a:r>
          </a:p>
        </p:txBody>
      </p:sp>
      <p:cxnSp>
        <p:nvCxnSpPr>
          <p:cNvPr id="25" name="Connector 24"/>
          <p:cNvCxnSpPr/>
          <p:nvPr/>
        </p:nvCxnSpPr>
        <p:spPr>
          <a:xfrm>
            <a:off x="1133856" y="5084063"/>
            <a:ext cx="10436047"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4 · 展开训练</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56</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DRILL 2 · 学生输出</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练习 2（续）· 再补两句 WHY</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609344"/>
            <a:ext cx="479145" cy="347472"/>
          </a:xfrm>
          <a:prstGeom prst="roundRect">
            <a:avLst>
              <a:gd name="adj" fmla="val 40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21792" y="1650492"/>
            <a:ext cx="479145" cy="347472"/>
          </a:xfrm>
          <a:prstGeom prst="rect">
            <a:avLst/>
          </a:prstGeom>
          <a:noFill/>
        </p:spPr>
        <p:txBody>
          <a:bodyPr wrap="square" lIns="0" rIns="0" tIns="0" bIns="0" anchor="t">
            <a:spAutoFit/>
          </a:bodyPr>
          <a:lstStyle/>
          <a:p>
            <a:pPr algn="ctr">
              <a:lnSpc>
                <a:spcPct val="116000"/>
              </a:lnSpc>
              <a:spcBef>
                <a:spcPts val="0"/>
              </a:spcBef>
              <a:spcAft>
                <a:spcPts val="0"/>
              </a:spcAft>
            </a:pPr>
            <a:r>
              <a:rPr sz="1700" b="1" i="0" u="none">
                <a:solidFill>
                  <a:srgbClr val="FFFFFF"/>
                </a:solidFill>
                <a:latin typeface="Segoe UI"/>
                <a:ea typeface="Microsoft YaHei"/>
                <a:cs typeface="Segoe UI"/>
              </a:rPr>
              <a:t>基础</a:t>
            </a:r>
          </a:p>
        </p:txBody>
      </p:sp>
      <p:sp>
        <p:nvSpPr>
          <p:cNvPr id="10" name="TextBox 9"/>
          <p:cNvSpPr txBox="1"/>
          <p:nvPr/>
        </p:nvSpPr>
        <p:spPr>
          <a:xfrm>
            <a:off x="1320393" y="1655064"/>
            <a:ext cx="10194645"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172A31"/>
                </a:solidFill>
                <a:latin typeface="Segoe UI"/>
                <a:ea typeface="Microsoft YaHei"/>
                <a:cs typeface="Segoe UI"/>
              </a:rPr>
              <a:t>还是一句话。这两条直接可以用进今天的作文。</a:t>
            </a:r>
          </a:p>
        </p:txBody>
      </p:sp>
      <p:sp>
        <p:nvSpPr>
          <p:cNvPr id="11" name="Rounded Rectangle 10"/>
          <p:cNvSpPr/>
          <p:nvPr/>
        </p:nvSpPr>
        <p:spPr>
          <a:xfrm>
            <a:off x="621792" y="2103120"/>
            <a:ext cx="10948111" cy="950976"/>
          </a:xfrm>
          <a:prstGeom prst="roundRect">
            <a:avLst>
              <a:gd name="adj" fmla="val 6000"/>
            </a:avLst>
          </a:prstGeom>
          <a:solidFill>
            <a:srgbClr val="E7F1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21792" y="2103120"/>
            <a:ext cx="64008" cy="950976"/>
          </a:xfrm>
          <a:prstGeom prst="rect">
            <a:avLst/>
          </a:prstGeom>
          <a:solidFill>
            <a:srgbClr val="2E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96112" y="2148839"/>
            <a:ext cx="2377440" cy="27432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2E6B4F"/>
                </a:solidFill>
                <a:latin typeface="Segoe UI"/>
                <a:ea typeface="Microsoft YaHei"/>
                <a:cs typeface="Segoe UI"/>
              </a:rPr>
              <a:t>示范  EXAMPLE</a:t>
            </a:r>
          </a:p>
        </p:txBody>
      </p:sp>
      <p:sp>
        <p:nvSpPr>
          <p:cNvPr id="14" name="TextBox 13"/>
          <p:cNvSpPr txBox="1"/>
          <p:nvPr/>
        </p:nvSpPr>
        <p:spPr>
          <a:xfrm>
            <a:off x="896112" y="2404872"/>
            <a:ext cx="10399471" cy="274320"/>
          </a:xfrm>
          <a:prstGeom prst="rect">
            <a:avLst/>
          </a:prstGeom>
          <a:noFill/>
        </p:spPr>
        <p:txBody>
          <a:bodyPr wrap="square" lIns="0" rIns="0" tIns="0" bIns="0" anchor="t">
            <a:spAutoFit/>
          </a:bodyPr>
          <a:lstStyle/>
          <a:p>
            <a:pPr algn="l">
              <a:lnSpc>
                <a:spcPct val="108000"/>
              </a:lnSpc>
              <a:spcAft>
                <a:spcPts val="0"/>
              </a:spcAft>
            </a:pPr>
            <a:r>
              <a:rPr sz="1900" b="1" i="0" u="none">
                <a:solidFill>
                  <a:srgbClr val="C95527"/>
                </a:solidFill>
                <a:latin typeface="Segoe UI"/>
                <a:ea typeface="Microsoft YaHei"/>
                <a:cs typeface="Segoe UI"/>
              </a:rPr>
              <a:t>×  </a:t>
            </a:r>
            <a:r>
              <a:rPr sz="1900" b="0" i="0" u="none">
                <a:solidFill>
                  <a:srgbClr val="627378"/>
                </a:solidFill>
                <a:latin typeface="Segoe UI"/>
                <a:ea typeface="Microsoft YaHei"/>
                <a:cs typeface="Segoe UI"/>
              </a:rPr>
              <a:t>Education is important because education is very useful.</a:t>
            </a:r>
          </a:p>
        </p:txBody>
      </p:sp>
      <p:sp>
        <p:nvSpPr>
          <p:cNvPr id="15" name="TextBox 14"/>
          <p:cNvSpPr txBox="1"/>
          <p:nvPr/>
        </p:nvSpPr>
        <p:spPr>
          <a:xfrm>
            <a:off x="896112" y="2679191"/>
            <a:ext cx="10399471" cy="274320"/>
          </a:xfrm>
          <a:prstGeom prst="rect">
            <a:avLst/>
          </a:prstGeom>
          <a:noFill/>
        </p:spPr>
        <p:txBody>
          <a:bodyPr wrap="square" lIns="0" rIns="0" tIns="0" bIns="0" anchor="t">
            <a:spAutoFit/>
          </a:bodyPr>
          <a:lstStyle/>
          <a:p>
            <a:pPr algn="l">
              <a:lnSpc>
                <a:spcPct val="108000"/>
              </a:lnSpc>
              <a:spcAft>
                <a:spcPts val="0"/>
              </a:spcAft>
            </a:pPr>
            <a:r>
              <a:rPr sz="1900" b="1" i="0" u="none">
                <a:solidFill>
                  <a:srgbClr val="2E6B4F"/>
                </a:solidFill>
                <a:latin typeface="Segoe UI"/>
                <a:ea typeface="Microsoft YaHei"/>
                <a:cs typeface="Segoe UI"/>
              </a:rPr>
              <a:t>√  </a:t>
            </a:r>
            <a:r>
              <a:rPr sz="1900" b="1" i="0" u="none">
                <a:solidFill>
                  <a:srgbClr val="172A31"/>
                </a:solidFill>
                <a:latin typeface="Segoe UI"/>
                <a:ea typeface="Microsoft YaHei"/>
                <a:cs typeface="Segoe UI"/>
              </a:rPr>
              <a:t>This matters because students from ordinary families have no one to introduce them.</a:t>
            </a:r>
          </a:p>
        </p:txBody>
      </p:sp>
      <p:sp>
        <p:nvSpPr>
          <p:cNvPr id="16" name="Rounded Rectangle 15"/>
          <p:cNvSpPr/>
          <p:nvPr/>
        </p:nvSpPr>
        <p:spPr>
          <a:xfrm>
            <a:off x="621792" y="3182112"/>
            <a:ext cx="384048" cy="384048"/>
          </a:xfrm>
          <a:prstGeom prst="roundRect">
            <a:avLst>
              <a:gd name="adj" fmla="val 50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21792" y="3232404"/>
            <a:ext cx="384048" cy="365760"/>
          </a:xfrm>
          <a:prstGeom prst="rect">
            <a:avLst/>
          </a:prstGeom>
          <a:noFill/>
        </p:spPr>
        <p:txBody>
          <a:bodyPr wrap="square" lIns="0" rIns="0" tIns="0" bIns="0" anchor="t">
            <a:spAutoFit/>
          </a:bodyPr>
          <a:lstStyle/>
          <a:p>
            <a:pPr algn="ctr">
              <a:lnSpc>
                <a:spcPct val="116000"/>
              </a:lnSpc>
              <a:spcBef>
                <a:spcPts val="0"/>
              </a:spcBef>
              <a:spcAft>
                <a:spcPts val="0"/>
              </a:spcAft>
            </a:pPr>
            <a:r>
              <a:rPr sz="1700" b="1" i="0" u="none">
                <a:solidFill>
                  <a:srgbClr val="FFFFFF"/>
                </a:solidFill>
                <a:latin typeface="Segoe UI"/>
                <a:ea typeface="Microsoft YaHei"/>
                <a:cs typeface="Segoe UI"/>
              </a:rPr>
              <a:t>1</a:t>
            </a:r>
          </a:p>
        </p:txBody>
      </p:sp>
      <p:sp>
        <p:nvSpPr>
          <p:cNvPr id="18" name="TextBox 17"/>
          <p:cNvSpPr txBox="1"/>
          <p:nvPr/>
        </p:nvSpPr>
        <p:spPr>
          <a:xfrm>
            <a:off x="1133856" y="3191256"/>
            <a:ext cx="10436047" cy="365760"/>
          </a:xfrm>
          <a:prstGeom prst="rect">
            <a:avLst/>
          </a:prstGeom>
          <a:noFill/>
        </p:spPr>
        <p:txBody>
          <a:bodyPr wrap="square" lIns="0" rIns="0" tIns="0" bIns="0" anchor="t">
            <a:spAutoFit/>
          </a:bodyPr>
          <a:lstStyle/>
          <a:p>
            <a:pPr algn="l">
              <a:lnSpc>
                <a:spcPct val="110000"/>
              </a:lnSpc>
              <a:spcBef>
                <a:spcPts val="0"/>
              </a:spcBef>
              <a:spcAft>
                <a:spcPts val="0"/>
              </a:spcAft>
            </a:pPr>
            <a:r>
              <a:rPr sz="1900" b="1" i="0" u="none">
                <a:solidFill>
                  <a:srgbClr val="172A31"/>
                </a:solidFill>
                <a:latin typeface="Segoe UI"/>
                <a:ea typeface="Microsoft YaHei"/>
                <a:cs typeface="Segoe UI"/>
              </a:rPr>
              <a:t>Knowing the right people helps someone be trusted faster.  →  This matters because ______.</a:t>
            </a:r>
          </a:p>
        </p:txBody>
      </p:sp>
      <p:sp>
        <p:nvSpPr>
          <p:cNvPr id="19" name="TextBox 18"/>
          <p:cNvSpPr txBox="1"/>
          <p:nvPr/>
        </p:nvSpPr>
        <p:spPr>
          <a:xfrm>
            <a:off x="1133856" y="3593591"/>
            <a:ext cx="10436047" cy="292608"/>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C95527"/>
                </a:solidFill>
                <a:latin typeface="Segoe UI"/>
                <a:ea typeface="Microsoft YaHei"/>
                <a:cs typeface="Segoe UI"/>
              </a:rPr>
              <a:t>提问：陌生人凭什么信任你？中间人起了什么作用？</a:t>
            </a:r>
          </a:p>
        </p:txBody>
      </p:sp>
      <p:cxnSp>
        <p:nvCxnSpPr>
          <p:cNvPr id="20" name="Connector 19"/>
          <p:cNvCxnSpPr/>
          <p:nvPr/>
        </p:nvCxnSpPr>
        <p:spPr>
          <a:xfrm>
            <a:off x="1133856" y="4032503"/>
            <a:ext cx="10436047"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21792" y="4233671"/>
            <a:ext cx="384048" cy="384048"/>
          </a:xfrm>
          <a:prstGeom prst="roundRect">
            <a:avLst>
              <a:gd name="adj" fmla="val 50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21792" y="4283963"/>
            <a:ext cx="384048" cy="365760"/>
          </a:xfrm>
          <a:prstGeom prst="rect">
            <a:avLst/>
          </a:prstGeom>
          <a:noFill/>
        </p:spPr>
        <p:txBody>
          <a:bodyPr wrap="square" lIns="0" rIns="0" tIns="0" bIns="0" anchor="t">
            <a:spAutoFit/>
          </a:bodyPr>
          <a:lstStyle/>
          <a:p>
            <a:pPr algn="ctr">
              <a:lnSpc>
                <a:spcPct val="116000"/>
              </a:lnSpc>
              <a:spcBef>
                <a:spcPts val="0"/>
              </a:spcBef>
              <a:spcAft>
                <a:spcPts val="0"/>
              </a:spcAft>
            </a:pPr>
            <a:r>
              <a:rPr sz="1700" b="1" i="0" u="none">
                <a:solidFill>
                  <a:srgbClr val="FFFFFF"/>
                </a:solidFill>
                <a:latin typeface="Segoe UI"/>
                <a:ea typeface="Microsoft YaHei"/>
                <a:cs typeface="Segoe UI"/>
              </a:rPr>
              <a:t>2</a:t>
            </a:r>
          </a:p>
        </p:txBody>
      </p:sp>
      <p:sp>
        <p:nvSpPr>
          <p:cNvPr id="23" name="TextBox 22"/>
          <p:cNvSpPr txBox="1"/>
          <p:nvPr/>
        </p:nvSpPr>
        <p:spPr>
          <a:xfrm>
            <a:off x="1133856" y="4242815"/>
            <a:ext cx="10436047" cy="365760"/>
          </a:xfrm>
          <a:prstGeom prst="rect">
            <a:avLst/>
          </a:prstGeom>
          <a:noFill/>
        </p:spPr>
        <p:txBody>
          <a:bodyPr wrap="square" lIns="0" rIns="0" tIns="0" bIns="0" anchor="t">
            <a:spAutoFit/>
          </a:bodyPr>
          <a:lstStyle/>
          <a:p>
            <a:pPr algn="l">
              <a:lnSpc>
                <a:spcPct val="110000"/>
              </a:lnSpc>
              <a:spcBef>
                <a:spcPts val="0"/>
              </a:spcBef>
              <a:spcAft>
                <a:spcPts val="0"/>
              </a:spcAft>
            </a:pPr>
            <a:r>
              <a:rPr sz="1900" b="1" i="0" u="none">
                <a:solidFill>
                  <a:srgbClr val="172A31"/>
                </a:solidFill>
                <a:latin typeface="Segoe UI"/>
                <a:ea typeface="Microsoft YaHei"/>
                <a:cs typeface="Segoe UI"/>
              </a:rPr>
              <a:t>A certificate gives a person proof that a stranger will accept.  →  This matters because ______.</a:t>
            </a:r>
          </a:p>
        </p:txBody>
      </p:sp>
      <p:sp>
        <p:nvSpPr>
          <p:cNvPr id="24" name="TextBox 23"/>
          <p:cNvSpPr txBox="1"/>
          <p:nvPr/>
        </p:nvSpPr>
        <p:spPr>
          <a:xfrm>
            <a:off x="1133856" y="4645151"/>
            <a:ext cx="10436047" cy="292608"/>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C95527"/>
                </a:solidFill>
                <a:latin typeface="Segoe UI"/>
                <a:ea typeface="Microsoft YaHei"/>
                <a:cs typeface="Segoe UI"/>
              </a:rPr>
              <a:t>提问：如果没有这张证书，这个人要花多久才能证明自己？</a:t>
            </a:r>
          </a:p>
        </p:txBody>
      </p:sp>
      <p:cxnSp>
        <p:nvCxnSpPr>
          <p:cNvPr id="25" name="Connector 24"/>
          <p:cNvCxnSpPr/>
          <p:nvPr/>
        </p:nvCxnSpPr>
        <p:spPr>
          <a:xfrm>
            <a:off x="1133856" y="5084063"/>
            <a:ext cx="10436047"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4 · 展开训练</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57</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OUTPUT · 每人一条</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B08300"/>
                </a:solidFill>
                <a:latin typeface="Segoe UI"/>
                <a:ea typeface="Microsoft YaHei"/>
                <a:cs typeface="Segoe UI"/>
              </a:rPr>
              <a:t>读你的 WHY</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719072"/>
            <a:ext cx="10948111" cy="1143000"/>
          </a:xfrm>
          <a:prstGeom prst="roundRect">
            <a:avLst>
              <a:gd name="adj" fmla="val 6000"/>
            </a:avLst>
          </a:prstGeom>
          <a:solidFill>
            <a:srgbClr val="FAF2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21792" y="1719072"/>
            <a:ext cx="64008" cy="1143000"/>
          </a:xfrm>
          <a:prstGeom prst="rect">
            <a:avLst/>
          </a:prstGeom>
          <a:solidFill>
            <a:srgbClr val="B083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50976" y="1938528"/>
            <a:ext cx="10216591" cy="822960"/>
          </a:xfrm>
          <a:prstGeom prst="rect">
            <a:avLst/>
          </a:prstGeom>
          <a:noFill/>
        </p:spPr>
        <p:txBody>
          <a:bodyPr wrap="square" lIns="0" rIns="0" tIns="0" bIns="0" anchor="t">
            <a:spAutoFit/>
          </a:bodyPr>
          <a:lstStyle/>
          <a:p>
            <a:pPr algn="l">
              <a:lnSpc>
                <a:spcPct val="115000"/>
              </a:lnSpc>
              <a:spcBef>
                <a:spcPts val="0"/>
              </a:spcBef>
              <a:spcAft>
                <a:spcPts val="0"/>
              </a:spcAft>
            </a:pPr>
            <a:r>
              <a:rPr sz="2400" b="1" i="0" u="none">
                <a:solidFill>
                  <a:srgbClr val="B08300"/>
                </a:solidFill>
                <a:latin typeface="Segoe UI"/>
                <a:ea typeface="Microsoft YaHei"/>
                <a:cs typeface="Segoe UI"/>
              </a:rPr>
              <a:t>读出你写的任意一句 This matters because …</a:t>
            </a:r>
          </a:p>
        </p:txBody>
      </p:sp>
      <p:sp>
        <p:nvSpPr>
          <p:cNvPr id="11" name="Rounded Rectangle 10"/>
          <p:cNvSpPr/>
          <p:nvPr/>
        </p:nvSpPr>
        <p:spPr>
          <a:xfrm>
            <a:off x="621792" y="3108960"/>
            <a:ext cx="10948111" cy="658368"/>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3255264"/>
            <a:ext cx="457200"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B08300"/>
                </a:solidFill>
                <a:latin typeface="Segoe UI"/>
                <a:ea typeface="Microsoft YaHei"/>
                <a:cs typeface="Segoe UI"/>
              </a:rPr>
              <a:t>1</a:t>
            </a:r>
          </a:p>
        </p:txBody>
      </p:sp>
      <p:sp>
        <p:nvSpPr>
          <p:cNvPr id="13" name="TextBox 12"/>
          <p:cNvSpPr txBox="1"/>
          <p:nvPr/>
        </p:nvSpPr>
        <p:spPr>
          <a:xfrm>
            <a:off x="1371600" y="3255264"/>
            <a:ext cx="9850831" cy="45720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其他人只判断一件事：这句是不是把理由换个词又说了一遍？</a:t>
            </a:r>
          </a:p>
        </p:txBody>
      </p:sp>
      <p:sp>
        <p:nvSpPr>
          <p:cNvPr id="14" name="Rounded Rectangle 13"/>
          <p:cNvSpPr/>
          <p:nvPr/>
        </p:nvSpPr>
        <p:spPr>
          <a:xfrm>
            <a:off x="621792" y="3858768"/>
            <a:ext cx="10948111" cy="658368"/>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77824" y="4005072"/>
            <a:ext cx="457200"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B08300"/>
                </a:solidFill>
                <a:latin typeface="Segoe UI"/>
                <a:ea typeface="Microsoft YaHei"/>
                <a:cs typeface="Segoe UI"/>
              </a:rPr>
              <a:t>2</a:t>
            </a:r>
          </a:p>
        </p:txBody>
      </p:sp>
      <p:sp>
        <p:nvSpPr>
          <p:cNvPr id="16" name="TextBox 15"/>
          <p:cNvSpPr txBox="1"/>
          <p:nvPr/>
        </p:nvSpPr>
        <p:spPr>
          <a:xfrm>
            <a:off x="1371600" y="4005072"/>
            <a:ext cx="9850831" cy="45720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如果是——现场改，加入一个新信息（一个人、一个场景、一个障碍）</a:t>
            </a:r>
          </a:p>
        </p:txBody>
      </p:sp>
      <p:sp>
        <p:nvSpPr>
          <p:cNvPr id="17" name="Rounded Rectangle 16"/>
          <p:cNvSpPr/>
          <p:nvPr/>
        </p:nvSpPr>
        <p:spPr>
          <a:xfrm>
            <a:off x="621792" y="4608576"/>
            <a:ext cx="10948111" cy="658368"/>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77824" y="4754880"/>
            <a:ext cx="457200"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B08300"/>
                </a:solidFill>
                <a:latin typeface="Segoe UI"/>
                <a:ea typeface="Microsoft YaHei"/>
                <a:cs typeface="Segoe UI"/>
              </a:rPr>
              <a:t>3</a:t>
            </a:r>
          </a:p>
        </p:txBody>
      </p:sp>
      <p:sp>
        <p:nvSpPr>
          <p:cNvPr id="19" name="TextBox 18"/>
          <p:cNvSpPr txBox="1"/>
          <p:nvPr/>
        </p:nvSpPr>
        <p:spPr>
          <a:xfrm>
            <a:off x="1371600" y="4754880"/>
            <a:ext cx="9850831" cy="45720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彭子骞可以只读练习 2 的第 1 题</a:t>
            </a:r>
          </a:p>
        </p:txBody>
      </p:sp>
      <p:sp>
        <p:nvSpPr>
          <p:cNvPr id="20" name="Rounded Rectangle 19"/>
          <p:cNvSpPr/>
          <p:nvPr/>
        </p:nvSpPr>
        <p:spPr>
          <a:xfrm>
            <a:off x="621792" y="5468112"/>
            <a:ext cx="720547" cy="384048"/>
          </a:xfrm>
          <a:prstGeom prst="roundRect">
            <a:avLst>
              <a:gd name="adj" fmla="val 40000"/>
            </a:avLst>
          </a:prstGeom>
          <a:solidFill>
            <a:srgbClr val="B083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21792" y="5509260"/>
            <a:ext cx="720547" cy="384048"/>
          </a:xfrm>
          <a:prstGeom prst="rect">
            <a:avLst/>
          </a:prstGeom>
          <a:noFill/>
        </p:spPr>
        <p:txBody>
          <a:bodyPr wrap="square" lIns="0" rIns="0" tIns="0" bIns="0" anchor="t">
            <a:spAutoFit/>
          </a:bodyPr>
          <a:lstStyle/>
          <a:p>
            <a:pPr algn="ctr">
              <a:lnSpc>
                <a:spcPct val="116000"/>
              </a:lnSpc>
              <a:spcBef>
                <a:spcPts val="0"/>
              </a:spcBef>
              <a:spcAft>
                <a:spcPts val="0"/>
              </a:spcAft>
            </a:pPr>
            <a:r>
              <a:rPr sz="1700" b="1" i="0" u="none">
                <a:solidFill>
                  <a:srgbClr val="FFFFFF"/>
                </a:solidFill>
                <a:latin typeface="Segoe UI"/>
                <a:ea typeface="Microsoft YaHei"/>
                <a:cs typeface="Segoe UI"/>
              </a:rPr>
              <a:t>4 分钟</a:t>
            </a:r>
          </a:p>
        </p:txBody>
      </p:sp>
      <p:sp>
        <p:nvSpPr>
          <p:cNvPr id="22" name="TextBox 21"/>
          <p:cNvSpPr txBox="1"/>
          <p:nvPr/>
        </p:nvSpPr>
        <p:spPr>
          <a:xfrm>
            <a:off x="2542032" y="5522976"/>
            <a:ext cx="8936431" cy="45720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老师把最好的两条抄在白板上，Part 6 写作时可以直接用。</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4 · 展开训练</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58</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WORKED EXAMPLE</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STEP 3 · 例子 = 谁 + 做什么 + 结果</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700784"/>
            <a:ext cx="10948111" cy="914400"/>
          </a:xfrm>
          <a:prstGeom prst="roundRect">
            <a:avLst>
              <a:gd name="adj" fmla="val 6000"/>
            </a:avLst>
          </a:prstGeom>
          <a:solidFill>
            <a:srgbClr val="FFFFFF"/>
          </a:solidFill>
          <a:ln w="22860">
            <a:solidFill>
              <a:srgbClr val="C9552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987552" y="1847088"/>
            <a:ext cx="3017520" cy="621792"/>
          </a:xfrm>
          <a:prstGeom prst="roundRect">
            <a:avLst>
              <a:gd name="adj" fmla="val 6000"/>
            </a:avLst>
          </a:prstGeom>
          <a:solidFill>
            <a:srgbClr val="FBEC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87552" y="1956816"/>
            <a:ext cx="3017520" cy="411480"/>
          </a:xfrm>
          <a:prstGeom prst="rect">
            <a:avLst/>
          </a:prstGeom>
          <a:noFill/>
        </p:spPr>
        <p:txBody>
          <a:bodyPr wrap="square" lIns="0" rIns="0" tIns="0" bIns="0" anchor="t">
            <a:spAutoFit/>
          </a:bodyPr>
          <a:lstStyle/>
          <a:p>
            <a:pPr algn="ctr">
              <a:lnSpc>
                <a:spcPct val="116000"/>
              </a:lnSpc>
              <a:spcAft>
                <a:spcPts val="0"/>
              </a:spcAft>
            </a:pPr>
            <a:r>
              <a:rPr sz="1900" b="1" i="0" u="none">
                <a:solidFill>
                  <a:srgbClr val="C95527"/>
                </a:solidFill>
                <a:latin typeface="Segoe UI"/>
                <a:ea typeface="Microsoft YaHei"/>
                <a:cs typeface="Segoe UI"/>
              </a:rPr>
              <a:t>WHO  </a:t>
            </a:r>
            <a:r>
              <a:rPr sz="1900" b="0" i="0" u="none">
                <a:solidFill>
                  <a:srgbClr val="172A31"/>
                </a:solidFill>
                <a:latin typeface="Segoe UI"/>
                <a:ea typeface="Microsoft YaHei"/>
                <a:cs typeface="Segoe UI"/>
              </a:rPr>
              <a:t>一个具体的人</a:t>
            </a:r>
          </a:p>
        </p:txBody>
      </p:sp>
      <p:sp>
        <p:nvSpPr>
          <p:cNvPr id="11" name="Rounded Rectangle 10"/>
          <p:cNvSpPr/>
          <p:nvPr/>
        </p:nvSpPr>
        <p:spPr>
          <a:xfrm>
            <a:off x="4370832" y="1847088"/>
            <a:ext cx="3017520" cy="621792"/>
          </a:xfrm>
          <a:prstGeom prst="roundRect">
            <a:avLst>
              <a:gd name="adj" fmla="val 6000"/>
            </a:avLst>
          </a:prstGeom>
          <a:solidFill>
            <a:srgbClr val="FBEC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4370832" y="1956816"/>
            <a:ext cx="3017520" cy="411480"/>
          </a:xfrm>
          <a:prstGeom prst="rect">
            <a:avLst/>
          </a:prstGeom>
          <a:noFill/>
        </p:spPr>
        <p:txBody>
          <a:bodyPr wrap="square" lIns="0" rIns="0" tIns="0" bIns="0" anchor="t">
            <a:spAutoFit/>
          </a:bodyPr>
          <a:lstStyle/>
          <a:p>
            <a:pPr algn="ctr">
              <a:lnSpc>
                <a:spcPct val="116000"/>
              </a:lnSpc>
              <a:spcAft>
                <a:spcPts val="0"/>
              </a:spcAft>
            </a:pPr>
            <a:r>
              <a:rPr sz="1900" b="1" i="0" u="none">
                <a:solidFill>
                  <a:srgbClr val="C95527"/>
                </a:solidFill>
                <a:latin typeface="Segoe UI"/>
                <a:ea typeface="Microsoft YaHei"/>
                <a:cs typeface="Segoe UI"/>
              </a:rPr>
              <a:t>ACTION  </a:t>
            </a:r>
            <a:r>
              <a:rPr sz="1900" b="0" i="0" u="none">
                <a:solidFill>
                  <a:srgbClr val="172A31"/>
                </a:solidFill>
                <a:latin typeface="Segoe UI"/>
                <a:ea typeface="Microsoft YaHei"/>
                <a:cs typeface="Segoe UI"/>
              </a:rPr>
              <a:t>他做了什么</a:t>
            </a:r>
          </a:p>
        </p:txBody>
      </p:sp>
      <p:sp>
        <p:nvSpPr>
          <p:cNvPr id="13" name="Rounded Rectangle 12"/>
          <p:cNvSpPr/>
          <p:nvPr/>
        </p:nvSpPr>
        <p:spPr>
          <a:xfrm>
            <a:off x="7754112" y="1847088"/>
            <a:ext cx="3017520" cy="621792"/>
          </a:xfrm>
          <a:prstGeom prst="roundRect">
            <a:avLst>
              <a:gd name="adj" fmla="val 6000"/>
            </a:avLst>
          </a:prstGeom>
          <a:solidFill>
            <a:srgbClr val="FBEC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754112" y="1956816"/>
            <a:ext cx="3017520" cy="411480"/>
          </a:xfrm>
          <a:prstGeom prst="rect">
            <a:avLst/>
          </a:prstGeom>
          <a:noFill/>
        </p:spPr>
        <p:txBody>
          <a:bodyPr wrap="square" lIns="0" rIns="0" tIns="0" bIns="0" anchor="t">
            <a:spAutoFit/>
          </a:bodyPr>
          <a:lstStyle/>
          <a:p>
            <a:pPr algn="ctr">
              <a:lnSpc>
                <a:spcPct val="116000"/>
              </a:lnSpc>
              <a:spcAft>
                <a:spcPts val="0"/>
              </a:spcAft>
            </a:pPr>
            <a:r>
              <a:rPr sz="1900" b="1" i="0" u="none">
                <a:solidFill>
                  <a:srgbClr val="C95527"/>
                </a:solidFill>
                <a:latin typeface="Segoe UI"/>
                <a:ea typeface="Microsoft YaHei"/>
                <a:cs typeface="Segoe UI"/>
              </a:rPr>
              <a:t>RESULT  </a:t>
            </a:r>
            <a:r>
              <a:rPr sz="1900" b="0" i="0" u="none">
                <a:solidFill>
                  <a:srgbClr val="172A31"/>
                </a:solidFill>
                <a:latin typeface="Segoe UI"/>
                <a:ea typeface="Microsoft YaHei"/>
                <a:cs typeface="Segoe UI"/>
              </a:rPr>
              <a:t>最后怎么样</a:t>
            </a:r>
          </a:p>
        </p:txBody>
      </p:sp>
      <p:sp>
        <p:nvSpPr>
          <p:cNvPr id="15" name="Rounded Rectangle 14"/>
          <p:cNvSpPr/>
          <p:nvPr/>
        </p:nvSpPr>
        <p:spPr>
          <a:xfrm>
            <a:off x="621792" y="2798064"/>
            <a:ext cx="10948111" cy="2834640"/>
          </a:xfrm>
          <a:prstGeom prst="roundRect">
            <a:avLst>
              <a:gd name="adj" fmla="val 6000"/>
            </a:avLst>
          </a:prstGeom>
          <a:solidFill>
            <a:srgbClr val="E7F1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621792" y="2798064"/>
            <a:ext cx="64008" cy="2834640"/>
          </a:xfrm>
          <a:prstGeom prst="rect">
            <a:avLst/>
          </a:prstGeom>
          <a:solidFill>
            <a:srgbClr val="2E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96112" y="2980944"/>
            <a:ext cx="10399471" cy="310896"/>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2E6B4F"/>
                </a:solidFill>
                <a:latin typeface="Segoe UI"/>
                <a:ea typeface="Microsoft YaHei"/>
                <a:cs typeface="Segoe UI"/>
              </a:rPr>
              <a:t>老师示范  WORKED EXAMPLE</a:t>
            </a:r>
          </a:p>
        </p:txBody>
      </p:sp>
      <p:sp>
        <p:nvSpPr>
          <p:cNvPr id="18" name="TextBox 17"/>
          <p:cNvSpPr txBox="1"/>
          <p:nvPr/>
        </p:nvSpPr>
        <p:spPr>
          <a:xfrm>
            <a:off x="896112" y="3364992"/>
            <a:ext cx="1234440" cy="365760"/>
          </a:xfrm>
          <a:prstGeom prst="rect">
            <a:avLst/>
          </a:prstGeom>
          <a:noFill/>
        </p:spPr>
        <p:txBody>
          <a:bodyPr wrap="square" lIns="0" rIns="0" tIns="0" bIns="0" anchor="t">
            <a:spAutoFit/>
          </a:bodyPr>
          <a:lstStyle/>
          <a:p>
            <a:pPr algn="l">
              <a:lnSpc>
                <a:spcPct val="116000"/>
              </a:lnSpc>
              <a:spcBef>
                <a:spcPts val="0"/>
              </a:spcBef>
              <a:spcAft>
                <a:spcPts val="0"/>
              </a:spcAft>
            </a:pPr>
            <a:r>
              <a:rPr sz="1800" b="1" i="0" u="none">
                <a:solidFill>
                  <a:srgbClr val="2E6B4F"/>
                </a:solidFill>
                <a:latin typeface="Segoe UI"/>
                <a:ea typeface="Microsoft YaHei"/>
                <a:cs typeface="Segoe UI"/>
              </a:rPr>
              <a:t>坏例子</a:t>
            </a:r>
          </a:p>
        </p:txBody>
      </p:sp>
      <p:sp>
        <p:nvSpPr>
          <p:cNvPr id="19" name="TextBox 18"/>
          <p:cNvSpPr txBox="1"/>
          <p:nvPr/>
        </p:nvSpPr>
        <p:spPr>
          <a:xfrm>
            <a:off x="2130552" y="3337560"/>
            <a:ext cx="9119311" cy="457200"/>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172A31"/>
                </a:solidFill>
                <a:latin typeface="Segoe UI"/>
                <a:ea typeface="Microsoft YaHei"/>
                <a:cs typeface="Segoe UI"/>
              </a:rPr>
              <a:t>Many people can get a good job after studying.</a:t>
            </a:r>
          </a:p>
        </p:txBody>
      </p:sp>
      <p:sp>
        <p:nvSpPr>
          <p:cNvPr id="20" name="TextBox 19"/>
          <p:cNvSpPr txBox="1"/>
          <p:nvPr/>
        </p:nvSpPr>
        <p:spPr>
          <a:xfrm>
            <a:off x="896112" y="3895344"/>
            <a:ext cx="1234440" cy="365760"/>
          </a:xfrm>
          <a:prstGeom prst="rect">
            <a:avLst/>
          </a:prstGeom>
          <a:noFill/>
        </p:spPr>
        <p:txBody>
          <a:bodyPr wrap="square" lIns="0" rIns="0" tIns="0" bIns="0" anchor="t">
            <a:spAutoFit/>
          </a:bodyPr>
          <a:lstStyle/>
          <a:p>
            <a:pPr algn="l">
              <a:lnSpc>
                <a:spcPct val="116000"/>
              </a:lnSpc>
              <a:spcBef>
                <a:spcPts val="0"/>
              </a:spcBef>
              <a:spcAft>
                <a:spcPts val="0"/>
              </a:spcAft>
            </a:pPr>
            <a:r>
              <a:rPr sz="1800" b="1" i="0" u="none">
                <a:solidFill>
                  <a:srgbClr val="2E6B4F"/>
                </a:solidFill>
                <a:latin typeface="Segoe UI"/>
                <a:ea typeface="Microsoft YaHei"/>
                <a:cs typeface="Segoe UI"/>
              </a:rPr>
              <a:t>问题</a:t>
            </a:r>
          </a:p>
        </p:txBody>
      </p:sp>
      <p:sp>
        <p:nvSpPr>
          <p:cNvPr id="21" name="TextBox 20"/>
          <p:cNvSpPr txBox="1"/>
          <p:nvPr/>
        </p:nvSpPr>
        <p:spPr>
          <a:xfrm>
            <a:off x="2130552" y="3867911"/>
            <a:ext cx="9119311" cy="457200"/>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172A31"/>
                </a:solidFill>
                <a:latin typeface="Segoe UI"/>
                <a:ea typeface="Microsoft YaHei"/>
                <a:cs typeface="Segoe UI"/>
              </a:rPr>
              <a:t>没有人、没有动作、没有结果——等于什么都没说。</a:t>
            </a:r>
          </a:p>
        </p:txBody>
      </p:sp>
      <p:sp>
        <p:nvSpPr>
          <p:cNvPr id="22" name="TextBox 21"/>
          <p:cNvSpPr txBox="1"/>
          <p:nvPr/>
        </p:nvSpPr>
        <p:spPr>
          <a:xfrm>
            <a:off x="896112" y="4425696"/>
            <a:ext cx="1234440" cy="365760"/>
          </a:xfrm>
          <a:prstGeom prst="rect">
            <a:avLst/>
          </a:prstGeom>
          <a:noFill/>
        </p:spPr>
        <p:txBody>
          <a:bodyPr wrap="square" lIns="0" rIns="0" tIns="0" bIns="0" anchor="t">
            <a:spAutoFit/>
          </a:bodyPr>
          <a:lstStyle/>
          <a:p>
            <a:pPr algn="l">
              <a:lnSpc>
                <a:spcPct val="116000"/>
              </a:lnSpc>
              <a:spcBef>
                <a:spcPts val="0"/>
              </a:spcBef>
              <a:spcAft>
                <a:spcPts val="0"/>
              </a:spcAft>
            </a:pPr>
            <a:r>
              <a:rPr sz="1800" b="1" i="0" u="none">
                <a:solidFill>
                  <a:srgbClr val="2E6B4F"/>
                </a:solidFill>
                <a:latin typeface="Segoe UI"/>
                <a:ea typeface="Microsoft YaHei"/>
                <a:cs typeface="Segoe UI"/>
              </a:rPr>
              <a:t>好例子</a:t>
            </a:r>
          </a:p>
        </p:txBody>
      </p:sp>
      <p:sp>
        <p:nvSpPr>
          <p:cNvPr id="23" name="TextBox 22"/>
          <p:cNvSpPr txBox="1"/>
          <p:nvPr/>
        </p:nvSpPr>
        <p:spPr>
          <a:xfrm>
            <a:off x="2130552" y="4398264"/>
            <a:ext cx="9119311" cy="457200"/>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172A31"/>
                </a:solidFill>
                <a:latin typeface="Segoe UI"/>
                <a:ea typeface="Microsoft YaHei"/>
                <a:cs typeface="Segoe UI"/>
              </a:rPr>
              <a:t>A student from a small town who finishes a nursing program can apply to a city hospital without knowing anyone there.</a:t>
            </a:r>
          </a:p>
        </p:txBody>
      </p:sp>
      <p:sp>
        <p:nvSpPr>
          <p:cNvPr id="24" name="TextBox 23"/>
          <p:cNvSpPr txBox="1"/>
          <p:nvPr/>
        </p:nvSpPr>
        <p:spPr>
          <a:xfrm>
            <a:off x="896112" y="4956048"/>
            <a:ext cx="1234440" cy="365760"/>
          </a:xfrm>
          <a:prstGeom prst="rect">
            <a:avLst/>
          </a:prstGeom>
          <a:noFill/>
        </p:spPr>
        <p:txBody>
          <a:bodyPr wrap="square" lIns="0" rIns="0" tIns="0" bIns="0" anchor="t">
            <a:spAutoFit/>
          </a:bodyPr>
          <a:lstStyle/>
          <a:p>
            <a:pPr algn="l">
              <a:lnSpc>
                <a:spcPct val="116000"/>
              </a:lnSpc>
              <a:spcBef>
                <a:spcPts val="0"/>
              </a:spcBef>
              <a:spcAft>
                <a:spcPts val="0"/>
              </a:spcAft>
            </a:pPr>
            <a:r>
              <a:rPr sz="1800" b="1" i="0" u="none">
                <a:solidFill>
                  <a:srgbClr val="2E6B4F"/>
                </a:solidFill>
                <a:latin typeface="Segoe UI"/>
                <a:ea typeface="Microsoft YaHei"/>
                <a:cs typeface="Segoe UI"/>
              </a:rPr>
              <a:t>加结果</a:t>
            </a:r>
          </a:p>
        </p:txBody>
      </p:sp>
      <p:sp>
        <p:nvSpPr>
          <p:cNvPr id="25" name="TextBox 24"/>
          <p:cNvSpPr txBox="1"/>
          <p:nvPr/>
        </p:nvSpPr>
        <p:spPr>
          <a:xfrm>
            <a:off x="2130552" y="4928616"/>
            <a:ext cx="9119311" cy="457200"/>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172A31"/>
                </a:solidFill>
                <a:latin typeface="Segoe UI"/>
                <a:ea typeface="Microsoft YaHei"/>
                <a:cs typeface="Segoe UI"/>
              </a:rPr>
              <a:t>As a result, her family's situation no longer decides where she can work.</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4 · 展开训练</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59</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DRILL 3 · 学生输出</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练习 3 · 补一个例子</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609344"/>
            <a:ext cx="479145" cy="347472"/>
          </a:xfrm>
          <a:prstGeom prst="roundRect">
            <a:avLst>
              <a:gd name="adj" fmla="val 40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21792" y="1650492"/>
            <a:ext cx="479145" cy="347472"/>
          </a:xfrm>
          <a:prstGeom prst="rect">
            <a:avLst/>
          </a:prstGeom>
          <a:noFill/>
        </p:spPr>
        <p:txBody>
          <a:bodyPr wrap="square" lIns="0" rIns="0" tIns="0" bIns="0" anchor="t">
            <a:spAutoFit/>
          </a:bodyPr>
          <a:lstStyle/>
          <a:p>
            <a:pPr algn="ctr">
              <a:lnSpc>
                <a:spcPct val="116000"/>
              </a:lnSpc>
              <a:spcBef>
                <a:spcPts val="0"/>
              </a:spcBef>
              <a:spcAft>
                <a:spcPts val="0"/>
              </a:spcAft>
            </a:pPr>
            <a:r>
              <a:rPr sz="1700" b="1" i="0" u="none">
                <a:solidFill>
                  <a:srgbClr val="FFFFFF"/>
                </a:solidFill>
                <a:latin typeface="Segoe UI"/>
                <a:ea typeface="Microsoft YaHei"/>
                <a:cs typeface="Segoe UI"/>
              </a:rPr>
              <a:t>中等</a:t>
            </a:r>
          </a:p>
        </p:txBody>
      </p:sp>
      <p:sp>
        <p:nvSpPr>
          <p:cNvPr id="10" name="TextBox 9"/>
          <p:cNvSpPr txBox="1"/>
          <p:nvPr/>
        </p:nvSpPr>
        <p:spPr>
          <a:xfrm>
            <a:off x="1320393" y="1655064"/>
            <a:ext cx="10194645"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172A31"/>
                </a:solidFill>
                <a:latin typeface="Segoe UI"/>
                <a:ea typeface="Microsoft YaHei"/>
                <a:cs typeface="Segoe UI"/>
              </a:rPr>
              <a:t>用 For example, a student who … 起头。必须出现一个人和一个动作。</a:t>
            </a:r>
          </a:p>
        </p:txBody>
      </p:sp>
      <p:sp>
        <p:nvSpPr>
          <p:cNvPr id="11" name="Rounded Rectangle 10"/>
          <p:cNvSpPr/>
          <p:nvPr/>
        </p:nvSpPr>
        <p:spPr>
          <a:xfrm>
            <a:off x="621792" y="2103120"/>
            <a:ext cx="10948111" cy="950976"/>
          </a:xfrm>
          <a:prstGeom prst="roundRect">
            <a:avLst>
              <a:gd name="adj" fmla="val 6000"/>
            </a:avLst>
          </a:prstGeom>
          <a:solidFill>
            <a:srgbClr val="E7F1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21792" y="2103120"/>
            <a:ext cx="64008" cy="950976"/>
          </a:xfrm>
          <a:prstGeom prst="rect">
            <a:avLst/>
          </a:prstGeom>
          <a:solidFill>
            <a:srgbClr val="2E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96112" y="2148839"/>
            <a:ext cx="2377440" cy="27432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2E6B4F"/>
                </a:solidFill>
                <a:latin typeface="Segoe UI"/>
                <a:ea typeface="Microsoft YaHei"/>
                <a:cs typeface="Segoe UI"/>
              </a:rPr>
              <a:t>示范  EXAMPLE</a:t>
            </a:r>
          </a:p>
        </p:txBody>
      </p:sp>
      <p:sp>
        <p:nvSpPr>
          <p:cNvPr id="14" name="TextBox 13"/>
          <p:cNvSpPr txBox="1"/>
          <p:nvPr/>
        </p:nvSpPr>
        <p:spPr>
          <a:xfrm>
            <a:off x="896112" y="2404872"/>
            <a:ext cx="10399471" cy="274320"/>
          </a:xfrm>
          <a:prstGeom prst="rect">
            <a:avLst/>
          </a:prstGeom>
          <a:noFill/>
        </p:spPr>
        <p:txBody>
          <a:bodyPr wrap="square" lIns="0" rIns="0" tIns="0" bIns="0" anchor="t">
            <a:spAutoFit/>
          </a:bodyPr>
          <a:lstStyle/>
          <a:p>
            <a:pPr algn="l">
              <a:lnSpc>
                <a:spcPct val="108000"/>
              </a:lnSpc>
              <a:spcAft>
                <a:spcPts val="0"/>
              </a:spcAft>
            </a:pPr>
            <a:r>
              <a:rPr sz="1900" b="1" i="0" u="none">
                <a:solidFill>
                  <a:srgbClr val="C95527"/>
                </a:solidFill>
                <a:latin typeface="Segoe UI"/>
                <a:ea typeface="Microsoft YaHei"/>
                <a:cs typeface="Segoe UI"/>
              </a:rPr>
              <a:t>×  </a:t>
            </a:r>
            <a:r>
              <a:rPr sz="1900" b="0" i="0" u="none">
                <a:solidFill>
                  <a:srgbClr val="627378"/>
                </a:solidFill>
                <a:latin typeface="Segoe UI"/>
                <a:ea typeface="Microsoft YaHei"/>
                <a:cs typeface="Segoe UI"/>
              </a:rPr>
              <a:t>For example, education can help many people find jobs.</a:t>
            </a:r>
          </a:p>
        </p:txBody>
      </p:sp>
      <p:sp>
        <p:nvSpPr>
          <p:cNvPr id="15" name="TextBox 14"/>
          <p:cNvSpPr txBox="1"/>
          <p:nvPr/>
        </p:nvSpPr>
        <p:spPr>
          <a:xfrm>
            <a:off x="896112" y="2679191"/>
            <a:ext cx="10399471" cy="274320"/>
          </a:xfrm>
          <a:prstGeom prst="rect">
            <a:avLst/>
          </a:prstGeom>
          <a:noFill/>
        </p:spPr>
        <p:txBody>
          <a:bodyPr wrap="square" lIns="0" rIns="0" tIns="0" bIns="0" anchor="t">
            <a:spAutoFit/>
          </a:bodyPr>
          <a:lstStyle/>
          <a:p>
            <a:pPr algn="l">
              <a:lnSpc>
                <a:spcPct val="108000"/>
              </a:lnSpc>
              <a:spcAft>
                <a:spcPts val="0"/>
              </a:spcAft>
            </a:pPr>
            <a:r>
              <a:rPr sz="1900" b="1" i="0" u="none">
                <a:solidFill>
                  <a:srgbClr val="2E6B4F"/>
                </a:solidFill>
                <a:latin typeface="Segoe UI"/>
                <a:ea typeface="Microsoft YaHei"/>
                <a:cs typeface="Segoe UI"/>
              </a:rPr>
              <a:t>√  </a:t>
            </a:r>
            <a:r>
              <a:rPr sz="1900" b="1" i="0" u="none">
                <a:solidFill>
                  <a:srgbClr val="172A31"/>
                </a:solidFill>
                <a:latin typeface="Segoe UI"/>
                <a:ea typeface="Microsoft YaHei"/>
                <a:cs typeface="Segoe UI"/>
              </a:rPr>
              <a:t>For example, a student who finishes an accounting course can pass a company's test.</a:t>
            </a:r>
          </a:p>
        </p:txBody>
      </p:sp>
      <p:sp>
        <p:nvSpPr>
          <p:cNvPr id="16" name="Rounded Rectangle 15"/>
          <p:cNvSpPr/>
          <p:nvPr/>
        </p:nvSpPr>
        <p:spPr>
          <a:xfrm>
            <a:off x="621792" y="3182112"/>
            <a:ext cx="384048" cy="384048"/>
          </a:xfrm>
          <a:prstGeom prst="roundRect">
            <a:avLst>
              <a:gd name="adj" fmla="val 50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21792" y="3232404"/>
            <a:ext cx="384048" cy="365760"/>
          </a:xfrm>
          <a:prstGeom prst="rect">
            <a:avLst/>
          </a:prstGeom>
          <a:noFill/>
        </p:spPr>
        <p:txBody>
          <a:bodyPr wrap="square" lIns="0" rIns="0" tIns="0" bIns="0" anchor="t">
            <a:spAutoFit/>
          </a:bodyPr>
          <a:lstStyle/>
          <a:p>
            <a:pPr algn="ctr">
              <a:lnSpc>
                <a:spcPct val="116000"/>
              </a:lnSpc>
              <a:spcBef>
                <a:spcPts val="0"/>
              </a:spcBef>
              <a:spcAft>
                <a:spcPts val="0"/>
              </a:spcAft>
            </a:pPr>
            <a:r>
              <a:rPr sz="1700" b="1" i="0" u="none">
                <a:solidFill>
                  <a:srgbClr val="FFFFFF"/>
                </a:solidFill>
                <a:latin typeface="Segoe UI"/>
                <a:ea typeface="Microsoft YaHei"/>
                <a:cs typeface="Segoe UI"/>
              </a:rPr>
              <a:t>1</a:t>
            </a:r>
          </a:p>
        </p:txBody>
      </p:sp>
      <p:sp>
        <p:nvSpPr>
          <p:cNvPr id="18" name="TextBox 17"/>
          <p:cNvSpPr txBox="1"/>
          <p:nvPr/>
        </p:nvSpPr>
        <p:spPr>
          <a:xfrm>
            <a:off x="1133856" y="3191256"/>
            <a:ext cx="10436047" cy="365760"/>
          </a:xfrm>
          <a:prstGeom prst="rect">
            <a:avLst/>
          </a:prstGeom>
          <a:noFill/>
        </p:spPr>
        <p:txBody>
          <a:bodyPr wrap="square" lIns="0" rIns="0" tIns="0" bIns="0" anchor="t">
            <a:spAutoFit/>
          </a:bodyPr>
          <a:lstStyle/>
          <a:p>
            <a:pPr algn="l">
              <a:lnSpc>
                <a:spcPct val="110000"/>
              </a:lnSpc>
              <a:spcBef>
                <a:spcPts val="0"/>
              </a:spcBef>
              <a:spcAft>
                <a:spcPts val="0"/>
              </a:spcAft>
            </a:pPr>
            <a:r>
              <a:rPr sz="1900" b="1" i="0" u="none">
                <a:solidFill>
                  <a:srgbClr val="172A31"/>
                </a:solidFill>
                <a:latin typeface="Segoe UI"/>
                <a:ea typeface="Microsoft YaHei"/>
                <a:cs typeface="Segoe UI"/>
              </a:rPr>
              <a:t>Reason：Education gives people skills employers can check.  →  For example, ______.</a:t>
            </a:r>
          </a:p>
        </p:txBody>
      </p:sp>
      <p:sp>
        <p:nvSpPr>
          <p:cNvPr id="19" name="TextBox 18"/>
          <p:cNvSpPr txBox="1"/>
          <p:nvPr/>
        </p:nvSpPr>
        <p:spPr>
          <a:xfrm>
            <a:off x="1133856" y="3593591"/>
            <a:ext cx="10436047" cy="292608"/>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C95527"/>
                </a:solidFill>
                <a:latin typeface="Segoe UI"/>
                <a:ea typeface="Microsoft YaHei"/>
                <a:cs typeface="Segoe UI"/>
              </a:rPr>
              <a:t>关键词：accounting course / entrance test / hired</a:t>
            </a:r>
          </a:p>
        </p:txBody>
      </p:sp>
      <p:cxnSp>
        <p:nvCxnSpPr>
          <p:cNvPr id="20" name="Connector 19"/>
          <p:cNvCxnSpPr/>
          <p:nvPr/>
        </p:nvCxnSpPr>
        <p:spPr>
          <a:xfrm>
            <a:off x="1133856" y="4032503"/>
            <a:ext cx="10436047"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133856" y="4416551"/>
            <a:ext cx="10436047"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21792" y="4617719"/>
            <a:ext cx="384048" cy="384048"/>
          </a:xfrm>
          <a:prstGeom prst="roundRect">
            <a:avLst>
              <a:gd name="adj" fmla="val 50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21792" y="4668011"/>
            <a:ext cx="384048" cy="365760"/>
          </a:xfrm>
          <a:prstGeom prst="rect">
            <a:avLst/>
          </a:prstGeom>
          <a:noFill/>
        </p:spPr>
        <p:txBody>
          <a:bodyPr wrap="square" lIns="0" rIns="0" tIns="0" bIns="0" anchor="t">
            <a:spAutoFit/>
          </a:bodyPr>
          <a:lstStyle/>
          <a:p>
            <a:pPr algn="ctr">
              <a:lnSpc>
                <a:spcPct val="116000"/>
              </a:lnSpc>
              <a:spcBef>
                <a:spcPts val="0"/>
              </a:spcBef>
              <a:spcAft>
                <a:spcPts val="0"/>
              </a:spcAft>
            </a:pPr>
            <a:r>
              <a:rPr sz="1700" b="1" i="0" u="none">
                <a:solidFill>
                  <a:srgbClr val="FFFFFF"/>
                </a:solidFill>
                <a:latin typeface="Segoe UI"/>
                <a:ea typeface="Microsoft YaHei"/>
                <a:cs typeface="Segoe UI"/>
              </a:rPr>
              <a:t>2</a:t>
            </a:r>
          </a:p>
        </p:txBody>
      </p:sp>
      <p:sp>
        <p:nvSpPr>
          <p:cNvPr id="24" name="TextBox 23"/>
          <p:cNvSpPr txBox="1"/>
          <p:nvPr/>
        </p:nvSpPr>
        <p:spPr>
          <a:xfrm>
            <a:off x="1133856" y="4626863"/>
            <a:ext cx="10436047" cy="365760"/>
          </a:xfrm>
          <a:prstGeom prst="rect">
            <a:avLst/>
          </a:prstGeom>
          <a:noFill/>
        </p:spPr>
        <p:txBody>
          <a:bodyPr wrap="square" lIns="0" rIns="0" tIns="0" bIns="0" anchor="t">
            <a:spAutoFit/>
          </a:bodyPr>
          <a:lstStyle/>
          <a:p>
            <a:pPr algn="l">
              <a:lnSpc>
                <a:spcPct val="110000"/>
              </a:lnSpc>
              <a:spcBef>
                <a:spcPts val="0"/>
              </a:spcBef>
              <a:spcAft>
                <a:spcPts val="0"/>
              </a:spcAft>
            </a:pPr>
            <a:r>
              <a:rPr sz="1900" b="1" i="0" u="none">
                <a:solidFill>
                  <a:srgbClr val="172A31"/>
                </a:solidFill>
                <a:latin typeface="Segoe UI"/>
                <a:ea typeface="Microsoft YaHei"/>
                <a:cs typeface="Segoe UI"/>
              </a:rPr>
              <a:t>Reason：Networking helps people hear about jobs early.  →  For example, ______.</a:t>
            </a:r>
          </a:p>
        </p:txBody>
      </p:sp>
      <p:sp>
        <p:nvSpPr>
          <p:cNvPr id="25" name="TextBox 24"/>
          <p:cNvSpPr txBox="1"/>
          <p:nvPr/>
        </p:nvSpPr>
        <p:spPr>
          <a:xfrm>
            <a:off x="1133856" y="5029199"/>
            <a:ext cx="10436047" cy="292608"/>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C95527"/>
                </a:solidFill>
                <a:latin typeface="Segoe UI"/>
                <a:ea typeface="Microsoft YaHei"/>
                <a:cs typeface="Segoe UI"/>
              </a:rPr>
              <a:t>关键词：her uncle / a small company / before the job was posted</a:t>
            </a:r>
          </a:p>
        </p:txBody>
      </p:sp>
      <p:cxnSp>
        <p:nvCxnSpPr>
          <p:cNvPr id="26" name="Connector 25"/>
          <p:cNvCxnSpPr/>
          <p:nvPr/>
        </p:nvCxnSpPr>
        <p:spPr>
          <a:xfrm>
            <a:off x="1133856" y="5468111"/>
            <a:ext cx="10436047"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133856" y="5852159"/>
            <a:ext cx="10436047"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4 · 展开训练</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60</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DRILL 3 · 学生输出</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练习 3（续）· 再补一个例子</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609344"/>
            <a:ext cx="479145" cy="347472"/>
          </a:xfrm>
          <a:prstGeom prst="roundRect">
            <a:avLst>
              <a:gd name="adj" fmla="val 40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21792" y="1650492"/>
            <a:ext cx="479145" cy="347472"/>
          </a:xfrm>
          <a:prstGeom prst="rect">
            <a:avLst/>
          </a:prstGeom>
          <a:noFill/>
        </p:spPr>
        <p:txBody>
          <a:bodyPr wrap="square" lIns="0" rIns="0" tIns="0" bIns="0" anchor="t">
            <a:spAutoFit/>
          </a:bodyPr>
          <a:lstStyle/>
          <a:p>
            <a:pPr algn="ctr">
              <a:lnSpc>
                <a:spcPct val="116000"/>
              </a:lnSpc>
              <a:spcBef>
                <a:spcPts val="0"/>
              </a:spcBef>
              <a:spcAft>
                <a:spcPts val="0"/>
              </a:spcAft>
            </a:pPr>
            <a:r>
              <a:rPr sz="1700" b="1" i="0" u="none">
                <a:solidFill>
                  <a:srgbClr val="FFFFFF"/>
                </a:solidFill>
                <a:latin typeface="Segoe UI"/>
                <a:ea typeface="Microsoft YaHei"/>
                <a:cs typeface="Segoe UI"/>
              </a:rPr>
              <a:t>中等</a:t>
            </a:r>
          </a:p>
        </p:txBody>
      </p:sp>
      <p:sp>
        <p:nvSpPr>
          <p:cNvPr id="10" name="TextBox 9"/>
          <p:cNvSpPr txBox="1"/>
          <p:nvPr/>
        </p:nvSpPr>
        <p:spPr>
          <a:xfrm>
            <a:off x="1320393" y="1655064"/>
            <a:ext cx="10194645"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172A31"/>
                </a:solidFill>
                <a:latin typeface="Segoe UI"/>
                <a:ea typeface="Microsoft YaHei"/>
                <a:cs typeface="Segoe UI"/>
              </a:rPr>
              <a:t>同样要求：一个人 + 一个动作。写两行。</a:t>
            </a:r>
          </a:p>
        </p:txBody>
      </p:sp>
      <p:sp>
        <p:nvSpPr>
          <p:cNvPr id="11" name="Rounded Rectangle 10"/>
          <p:cNvSpPr/>
          <p:nvPr/>
        </p:nvSpPr>
        <p:spPr>
          <a:xfrm>
            <a:off x="621792" y="2103120"/>
            <a:ext cx="10948111" cy="950976"/>
          </a:xfrm>
          <a:prstGeom prst="roundRect">
            <a:avLst>
              <a:gd name="adj" fmla="val 6000"/>
            </a:avLst>
          </a:prstGeom>
          <a:solidFill>
            <a:srgbClr val="E7F1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21792" y="2103120"/>
            <a:ext cx="64008" cy="950976"/>
          </a:xfrm>
          <a:prstGeom prst="rect">
            <a:avLst/>
          </a:prstGeom>
          <a:solidFill>
            <a:srgbClr val="2E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96112" y="2148839"/>
            <a:ext cx="2377440" cy="27432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2E6B4F"/>
                </a:solidFill>
                <a:latin typeface="Segoe UI"/>
                <a:ea typeface="Microsoft YaHei"/>
                <a:cs typeface="Segoe UI"/>
              </a:rPr>
              <a:t>示范  EXAMPLE</a:t>
            </a:r>
          </a:p>
        </p:txBody>
      </p:sp>
      <p:sp>
        <p:nvSpPr>
          <p:cNvPr id="14" name="TextBox 13"/>
          <p:cNvSpPr txBox="1"/>
          <p:nvPr/>
        </p:nvSpPr>
        <p:spPr>
          <a:xfrm>
            <a:off x="896112" y="2404872"/>
            <a:ext cx="10399471" cy="274320"/>
          </a:xfrm>
          <a:prstGeom prst="rect">
            <a:avLst/>
          </a:prstGeom>
          <a:noFill/>
        </p:spPr>
        <p:txBody>
          <a:bodyPr wrap="square" lIns="0" rIns="0" tIns="0" bIns="0" anchor="t">
            <a:spAutoFit/>
          </a:bodyPr>
          <a:lstStyle/>
          <a:p>
            <a:pPr algn="l">
              <a:lnSpc>
                <a:spcPct val="108000"/>
              </a:lnSpc>
              <a:spcAft>
                <a:spcPts val="0"/>
              </a:spcAft>
            </a:pPr>
            <a:r>
              <a:rPr sz="1900" b="1" i="0" u="none">
                <a:solidFill>
                  <a:srgbClr val="C95527"/>
                </a:solidFill>
                <a:latin typeface="Segoe UI"/>
                <a:ea typeface="Microsoft YaHei"/>
                <a:cs typeface="Segoe UI"/>
              </a:rPr>
              <a:t>×  </a:t>
            </a:r>
            <a:r>
              <a:rPr sz="1900" b="0" i="0" u="none">
                <a:solidFill>
                  <a:srgbClr val="627378"/>
                </a:solidFill>
                <a:latin typeface="Segoe UI"/>
                <a:ea typeface="Microsoft YaHei"/>
                <a:cs typeface="Segoe UI"/>
              </a:rPr>
              <a:t>For example, part-time jobs teach students many useful things.</a:t>
            </a:r>
          </a:p>
        </p:txBody>
      </p:sp>
      <p:sp>
        <p:nvSpPr>
          <p:cNvPr id="15" name="TextBox 14"/>
          <p:cNvSpPr txBox="1"/>
          <p:nvPr/>
        </p:nvSpPr>
        <p:spPr>
          <a:xfrm>
            <a:off x="896112" y="2679191"/>
            <a:ext cx="10399471" cy="274320"/>
          </a:xfrm>
          <a:prstGeom prst="rect">
            <a:avLst/>
          </a:prstGeom>
          <a:noFill/>
        </p:spPr>
        <p:txBody>
          <a:bodyPr wrap="square" lIns="0" rIns="0" tIns="0" bIns="0" anchor="t">
            <a:spAutoFit/>
          </a:bodyPr>
          <a:lstStyle/>
          <a:p>
            <a:pPr algn="l">
              <a:lnSpc>
                <a:spcPct val="108000"/>
              </a:lnSpc>
              <a:spcAft>
                <a:spcPts val="0"/>
              </a:spcAft>
            </a:pPr>
            <a:r>
              <a:rPr sz="1900" b="1" i="0" u="none">
                <a:solidFill>
                  <a:srgbClr val="2E6B4F"/>
                </a:solidFill>
                <a:latin typeface="Segoe UI"/>
                <a:ea typeface="Microsoft YaHei"/>
                <a:cs typeface="Segoe UI"/>
              </a:rPr>
              <a:t>√  </a:t>
            </a:r>
            <a:r>
              <a:rPr sz="1900" b="1" i="0" u="none">
                <a:solidFill>
                  <a:srgbClr val="172A31"/>
                </a:solidFill>
                <a:latin typeface="Segoe UI"/>
                <a:ea typeface="Microsoft YaHei"/>
                <a:cs typeface="Segoe UI"/>
              </a:rPr>
              <a:t>For example, a student in a café must apologize to a customer whose order is late.</a:t>
            </a:r>
          </a:p>
        </p:txBody>
      </p:sp>
      <p:sp>
        <p:nvSpPr>
          <p:cNvPr id="16" name="Rounded Rectangle 15"/>
          <p:cNvSpPr/>
          <p:nvPr/>
        </p:nvSpPr>
        <p:spPr>
          <a:xfrm>
            <a:off x="621792" y="3182112"/>
            <a:ext cx="384048" cy="384048"/>
          </a:xfrm>
          <a:prstGeom prst="roundRect">
            <a:avLst>
              <a:gd name="adj" fmla="val 50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21792" y="3232404"/>
            <a:ext cx="384048" cy="365760"/>
          </a:xfrm>
          <a:prstGeom prst="rect">
            <a:avLst/>
          </a:prstGeom>
          <a:noFill/>
        </p:spPr>
        <p:txBody>
          <a:bodyPr wrap="square" lIns="0" rIns="0" tIns="0" bIns="0" anchor="t">
            <a:spAutoFit/>
          </a:bodyPr>
          <a:lstStyle/>
          <a:p>
            <a:pPr algn="ctr">
              <a:lnSpc>
                <a:spcPct val="116000"/>
              </a:lnSpc>
              <a:spcBef>
                <a:spcPts val="0"/>
              </a:spcBef>
              <a:spcAft>
                <a:spcPts val="0"/>
              </a:spcAft>
            </a:pPr>
            <a:r>
              <a:rPr sz="1700" b="1" i="0" u="none">
                <a:solidFill>
                  <a:srgbClr val="FFFFFF"/>
                </a:solidFill>
                <a:latin typeface="Segoe UI"/>
                <a:ea typeface="Microsoft YaHei"/>
                <a:cs typeface="Segoe UI"/>
              </a:rPr>
              <a:t>1</a:t>
            </a:r>
          </a:p>
        </p:txBody>
      </p:sp>
      <p:sp>
        <p:nvSpPr>
          <p:cNvPr id="18" name="TextBox 17"/>
          <p:cNvSpPr txBox="1"/>
          <p:nvPr/>
        </p:nvSpPr>
        <p:spPr>
          <a:xfrm>
            <a:off x="1133856" y="3191256"/>
            <a:ext cx="10436047" cy="365760"/>
          </a:xfrm>
          <a:prstGeom prst="rect">
            <a:avLst/>
          </a:prstGeom>
          <a:noFill/>
        </p:spPr>
        <p:txBody>
          <a:bodyPr wrap="square" lIns="0" rIns="0" tIns="0" bIns="0" anchor="t">
            <a:spAutoFit/>
          </a:bodyPr>
          <a:lstStyle/>
          <a:p>
            <a:pPr algn="l">
              <a:lnSpc>
                <a:spcPct val="110000"/>
              </a:lnSpc>
              <a:spcBef>
                <a:spcPts val="0"/>
              </a:spcBef>
              <a:spcAft>
                <a:spcPts val="0"/>
              </a:spcAft>
            </a:pPr>
            <a:r>
              <a:rPr sz="1900" b="1" i="0" u="none">
                <a:solidFill>
                  <a:srgbClr val="172A31"/>
                </a:solidFill>
                <a:latin typeface="Segoe UI"/>
                <a:ea typeface="Microsoft YaHei"/>
                <a:cs typeface="Segoe UI"/>
              </a:rPr>
              <a:t>Reason：A part-time job teaches a student how a workplace really runs.  →  For example, ______.</a:t>
            </a:r>
          </a:p>
        </p:txBody>
      </p:sp>
      <p:sp>
        <p:nvSpPr>
          <p:cNvPr id="19" name="TextBox 18"/>
          <p:cNvSpPr txBox="1"/>
          <p:nvPr/>
        </p:nvSpPr>
        <p:spPr>
          <a:xfrm>
            <a:off x="1133856" y="3593591"/>
            <a:ext cx="10436047" cy="292608"/>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C95527"/>
                </a:solidFill>
                <a:latin typeface="Segoe UI"/>
                <a:ea typeface="Microsoft YaHei"/>
                <a:cs typeface="Segoe UI"/>
              </a:rPr>
              <a:t>关键词：café / late order / angry customer / manager</a:t>
            </a:r>
          </a:p>
        </p:txBody>
      </p:sp>
      <p:cxnSp>
        <p:nvCxnSpPr>
          <p:cNvPr id="20" name="Connector 19"/>
          <p:cNvCxnSpPr/>
          <p:nvPr/>
        </p:nvCxnSpPr>
        <p:spPr>
          <a:xfrm>
            <a:off x="1133856" y="4032503"/>
            <a:ext cx="10436047"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133856" y="4416551"/>
            <a:ext cx="10436047"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21792" y="4617719"/>
            <a:ext cx="384048" cy="384048"/>
          </a:xfrm>
          <a:prstGeom prst="roundRect">
            <a:avLst>
              <a:gd name="adj" fmla="val 50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21792" y="4668011"/>
            <a:ext cx="384048" cy="365760"/>
          </a:xfrm>
          <a:prstGeom prst="rect">
            <a:avLst/>
          </a:prstGeom>
          <a:noFill/>
        </p:spPr>
        <p:txBody>
          <a:bodyPr wrap="square" lIns="0" rIns="0" tIns="0" bIns="0" anchor="t">
            <a:spAutoFit/>
          </a:bodyPr>
          <a:lstStyle/>
          <a:p>
            <a:pPr algn="ctr">
              <a:lnSpc>
                <a:spcPct val="116000"/>
              </a:lnSpc>
              <a:spcBef>
                <a:spcPts val="0"/>
              </a:spcBef>
              <a:spcAft>
                <a:spcPts val="0"/>
              </a:spcAft>
            </a:pPr>
            <a:r>
              <a:rPr sz="1700" b="1" i="0" u="none">
                <a:solidFill>
                  <a:srgbClr val="FFFFFF"/>
                </a:solidFill>
                <a:latin typeface="Segoe UI"/>
                <a:ea typeface="Microsoft YaHei"/>
                <a:cs typeface="Segoe UI"/>
              </a:rPr>
              <a:t>2</a:t>
            </a:r>
          </a:p>
        </p:txBody>
      </p:sp>
      <p:sp>
        <p:nvSpPr>
          <p:cNvPr id="24" name="TextBox 23"/>
          <p:cNvSpPr txBox="1"/>
          <p:nvPr/>
        </p:nvSpPr>
        <p:spPr>
          <a:xfrm>
            <a:off x="1133856" y="4626863"/>
            <a:ext cx="10436047" cy="365760"/>
          </a:xfrm>
          <a:prstGeom prst="rect">
            <a:avLst/>
          </a:prstGeom>
          <a:noFill/>
        </p:spPr>
        <p:txBody>
          <a:bodyPr wrap="square" lIns="0" rIns="0" tIns="0" bIns="0" anchor="t">
            <a:spAutoFit/>
          </a:bodyPr>
          <a:lstStyle/>
          <a:p>
            <a:pPr algn="l">
              <a:lnSpc>
                <a:spcPct val="110000"/>
              </a:lnSpc>
              <a:spcBef>
                <a:spcPts val="0"/>
              </a:spcBef>
              <a:spcAft>
                <a:spcPts val="0"/>
              </a:spcAft>
            </a:pPr>
            <a:r>
              <a:rPr sz="1900" b="1" i="0" u="none">
                <a:solidFill>
                  <a:srgbClr val="172A31"/>
                </a:solidFill>
                <a:latin typeface="Segoe UI"/>
                <a:ea typeface="Microsoft YaHei"/>
                <a:cs typeface="Segoe UI"/>
              </a:rPr>
              <a:t>Reason：A mentor helps a young worker avoid mistakes.  →  For example, ______.</a:t>
            </a:r>
          </a:p>
        </p:txBody>
      </p:sp>
      <p:sp>
        <p:nvSpPr>
          <p:cNvPr id="25" name="TextBox 24"/>
          <p:cNvSpPr txBox="1"/>
          <p:nvPr/>
        </p:nvSpPr>
        <p:spPr>
          <a:xfrm>
            <a:off x="1133856" y="5029199"/>
            <a:ext cx="10436047" cy="292608"/>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C95527"/>
                </a:solidFill>
                <a:latin typeface="Segoe UI"/>
                <a:ea typeface="Microsoft YaHei"/>
                <a:cs typeface="Segoe UI"/>
              </a:rPr>
              <a:t>关键词：first report / her manager / rewrite before sending</a:t>
            </a:r>
          </a:p>
        </p:txBody>
      </p:sp>
      <p:cxnSp>
        <p:nvCxnSpPr>
          <p:cNvPr id="26" name="Connector 25"/>
          <p:cNvCxnSpPr/>
          <p:nvPr/>
        </p:nvCxnSpPr>
        <p:spPr>
          <a:xfrm>
            <a:off x="1133856" y="5468111"/>
            <a:ext cx="10436047"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133856" y="5852159"/>
            <a:ext cx="10436047"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4 · 展开训练</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61</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DRILL 4 · 学生输出</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练习 4 · 补一句结果</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609344"/>
            <a:ext cx="479145" cy="347472"/>
          </a:xfrm>
          <a:prstGeom prst="roundRect">
            <a:avLst>
              <a:gd name="adj" fmla="val 40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21792" y="1650492"/>
            <a:ext cx="479145" cy="347472"/>
          </a:xfrm>
          <a:prstGeom prst="rect">
            <a:avLst/>
          </a:prstGeom>
          <a:noFill/>
        </p:spPr>
        <p:txBody>
          <a:bodyPr wrap="square" lIns="0" rIns="0" tIns="0" bIns="0" anchor="t">
            <a:spAutoFit/>
          </a:bodyPr>
          <a:lstStyle/>
          <a:p>
            <a:pPr algn="ctr">
              <a:lnSpc>
                <a:spcPct val="116000"/>
              </a:lnSpc>
              <a:spcBef>
                <a:spcPts val="0"/>
              </a:spcBef>
              <a:spcAft>
                <a:spcPts val="0"/>
              </a:spcAft>
            </a:pPr>
            <a:r>
              <a:rPr sz="1700" b="1" i="0" u="none">
                <a:solidFill>
                  <a:srgbClr val="FFFFFF"/>
                </a:solidFill>
                <a:latin typeface="Segoe UI"/>
                <a:ea typeface="Microsoft YaHei"/>
                <a:cs typeface="Segoe UI"/>
              </a:rPr>
              <a:t>中等</a:t>
            </a:r>
          </a:p>
        </p:txBody>
      </p:sp>
      <p:sp>
        <p:nvSpPr>
          <p:cNvPr id="10" name="TextBox 9"/>
          <p:cNvSpPr txBox="1"/>
          <p:nvPr/>
        </p:nvSpPr>
        <p:spPr>
          <a:xfrm>
            <a:off x="1320393" y="1655064"/>
            <a:ext cx="10194645"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172A31"/>
                </a:solidFill>
                <a:latin typeface="Segoe UI"/>
                <a:ea typeface="Microsoft YaHei"/>
                <a:cs typeface="Segoe UI"/>
              </a:rPr>
              <a:t>用 As a result, … 起头。结果要看得见，不要写 it is very good。</a:t>
            </a:r>
          </a:p>
        </p:txBody>
      </p:sp>
      <p:sp>
        <p:nvSpPr>
          <p:cNvPr id="11" name="Rounded Rectangle 10"/>
          <p:cNvSpPr/>
          <p:nvPr/>
        </p:nvSpPr>
        <p:spPr>
          <a:xfrm>
            <a:off x="621792" y="2103120"/>
            <a:ext cx="10948111" cy="950976"/>
          </a:xfrm>
          <a:prstGeom prst="roundRect">
            <a:avLst>
              <a:gd name="adj" fmla="val 6000"/>
            </a:avLst>
          </a:prstGeom>
          <a:solidFill>
            <a:srgbClr val="E7F1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21792" y="2103120"/>
            <a:ext cx="64008" cy="950976"/>
          </a:xfrm>
          <a:prstGeom prst="rect">
            <a:avLst/>
          </a:prstGeom>
          <a:solidFill>
            <a:srgbClr val="2E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96112" y="2148839"/>
            <a:ext cx="2377440" cy="27432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2E6B4F"/>
                </a:solidFill>
                <a:latin typeface="Segoe UI"/>
                <a:ea typeface="Microsoft YaHei"/>
                <a:cs typeface="Segoe UI"/>
              </a:rPr>
              <a:t>示范  EXAMPLE</a:t>
            </a:r>
          </a:p>
        </p:txBody>
      </p:sp>
      <p:sp>
        <p:nvSpPr>
          <p:cNvPr id="14" name="TextBox 13"/>
          <p:cNvSpPr txBox="1"/>
          <p:nvPr/>
        </p:nvSpPr>
        <p:spPr>
          <a:xfrm>
            <a:off x="896112" y="2404872"/>
            <a:ext cx="10399471" cy="274320"/>
          </a:xfrm>
          <a:prstGeom prst="rect">
            <a:avLst/>
          </a:prstGeom>
          <a:noFill/>
        </p:spPr>
        <p:txBody>
          <a:bodyPr wrap="square" lIns="0" rIns="0" tIns="0" bIns="0" anchor="t">
            <a:spAutoFit/>
          </a:bodyPr>
          <a:lstStyle/>
          <a:p>
            <a:pPr algn="l">
              <a:lnSpc>
                <a:spcPct val="108000"/>
              </a:lnSpc>
              <a:spcAft>
                <a:spcPts val="0"/>
              </a:spcAft>
            </a:pPr>
            <a:r>
              <a:rPr sz="1900" b="1" i="0" u="none">
                <a:solidFill>
                  <a:srgbClr val="C95527"/>
                </a:solidFill>
                <a:latin typeface="Segoe UI"/>
                <a:ea typeface="Microsoft YaHei"/>
                <a:cs typeface="Segoe UI"/>
              </a:rPr>
              <a:t>×  </a:t>
            </a:r>
            <a:r>
              <a:rPr sz="1900" b="0" i="0" u="none">
                <a:solidFill>
                  <a:srgbClr val="627378"/>
                </a:solidFill>
                <a:latin typeface="Segoe UI"/>
                <a:ea typeface="Microsoft YaHei"/>
                <a:cs typeface="Segoe UI"/>
              </a:rPr>
              <a:t>As a result, it is very good for her future.</a:t>
            </a:r>
          </a:p>
        </p:txBody>
      </p:sp>
      <p:sp>
        <p:nvSpPr>
          <p:cNvPr id="15" name="TextBox 14"/>
          <p:cNvSpPr txBox="1"/>
          <p:nvPr/>
        </p:nvSpPr>
        <p:spPr>
          <a:xfrm>
            <a:off x="896112" y="2679191"/>
            <a:ext cx="10399471" cy="274320"/>
          </a:xfrm>
          <a:prstGeom prst="rect">
            <a:avLst/>
          </a:prstGeom>
          <a:noFill/>
        </p:spPr>
        <p:txBody>
          <a:bodyPr wrap="square" lIns="0" rIns="0" tIns="0" bIns="0" anchor="t">
            <a:spAutoFit/>
          </a:bodyPr>
          <a:lstStyle/>
          <a:p>
            <a:pPr algn="l">
              <a:lnSpc>
                <a:spcPct val="108000"/>
              </a:lnSpc>
              <a:spcAft>
                <a:spcPts val="0"/>
              </a:spcAft>
            </a:pPr>
            <a:r>
              <a:rPr sz="1900" b="1" i="0" u="none">
                <a:solidFill>
                  <a:srgbClr val="2E6B4F"/>
                </a:solidFill>
                <a:latin typeface="Segoe UI"/>
                <a:ea typeface="Microsoft YaHei"/>
                <a:cs typeface="Segoe UI"/>
              </a:rPr>
              <a:t>√  </a:t>
            </a:r>
            <a:r>
              <a:rPr sz="1900" b="1" i="0" u="none">
                <a:solidFill>
                  <a:srgbClr val="172A31"/>
                </a:solidFill>
                <a:latin typeface="Segoe UI"/>
                <a:ea typeface="Microsoft YaHei"/>
                <a:cs typeface="Segoe UI"/>
              </a:rPr>
              <a:t>As a result, her family's situation no longer decides where she can work.</a:t>
            </a:r>
          </a:p>
        </p:txBody>
      </p:sp>
      <p:sp>
        <p:nvSpPr>
          <p:cNvPr id="16" name="Rounded Rectangle 15"/>
          <p:cNvSpPr/>
          <p:nvPr/>
        </p:nvSpPr>
        <p:spPr>
          <a:xfrm>
            <a:off x="621792" y="3182112"/>
            <a:ext cx="384048" cy="384048"/>
          </a:xfrm>
          <a:prstGeom prst="roundRect">
            <a:avLst>
              <a:gd name="adj" fmla="val 50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21792" y="3232404"/>
            <a:ext cx="384048" cy="365760"/>
          </a:xfrm>
          <a:prstGeom prst="rect">
            <a:avLst/>
          </a:prstGeom>
          <a:noFill/>
        </p:spPr>
        <p:txBody>
          <a:bodyPr wrap="square" lIns="0" rIns="0" tIns="0" bIns="0" anchor="t">
            <a:spAutoFit/>
          </a:bodyPr>
          <a:lstStyle/>
          <a:p>
            <a:pPr algn="ctr">
              <a:lnSpc>
                <a:spcPct val="116000"/>
              </a:lnSpc>
              <a:spcBef>
                <a:spcPts val="0"/>
              </a:spcBef>
              <a:spcAft>
                <a:spcPts val="0"/>
              </a:spcAft>
            </a:pPr>
            <a:r>
              <a:rPr sz="1700" b="1" i="0" u="none">
                <a:solidFill>
                  <a:srgbClr val="FFFFFF"/>
                </a:solidFill>
                <a:latin typeface="Segoe UI"/>
                <a:ea typeface="Microsoft YaHei"/>
                <a:cs typeface="Segoe UI"/>
              </a:rPr>
              <a:t>1</a:t>
            </a:r>
          </a:p>
        </p:txBody>
      </p:sp>
      <p:sp>
        <p:nvSpPr>
          <p:cNvPr id="18" name="TextBox 17"/>
          <p:cNvSpPr txBox="1"/>
          <p:nvPr/>
        </p:nvSpPr>
        <p:spPr>
          <a:xfrm>
            <a:off x="1133856" y="3191256"/>
            <a:ext cx="10436047" cy="365760"/>
          </a:xfrm>
          <a:prstGeom prst="rect">
            <a:avLst/>
          </a:prstGeom>
          <a:noFill/>
        </p:spPr>
        <p:txBody>
          <a:bodyPr wrap="square" lIns="0" rIns="0" tIns="0" bIns="0" anchor="t">
            <a:spAutoFit/>
          </a:bodyPr>
          <a:lstStyle/>
          <a:p>
            <a:pPr algn="l">
              <a:lnSpc>
                <a:spcPct val="110000"/>
              </a:lnSpc>
              <a:spcBef>
                <a:spcPts val="0"/>
              </a:spcBef>
              <a:spcAft>
                <a:spcPts val="0"/>
              </a:spcAft>
            </a:pPr>
            <a:r>
              <a:rPr sz="1900" b="1" i="0" u="none">
                <a:solidFill>
                  <a:srgbClr val="172A31"/>
                </a:solidFill>
                <a:latin typeface="Segoe UI"/>
                <a:ea typeface="Microsoft YaHei"/>
                <a:cs typeface="Segoe UI"/>
              </a:rPr>
              <a:t>……a student passes a company's entrance test and is hired.  →  As a result, ______.</a:t>
            </a:r>
          </a:p>
        </p:txBody>
      </p:sp>
      <p:sp>
        <p:nvSpPr>
          <p:cNvPr id="19" name="TextBox 18"/>
          <p:cNvSpPr txBox="1"/>
          <p:nvPr/>
        </p:nvSpPr>
        <p:spPr>
          <a:xfrm>
            <a:off x="1133856" y="3593591"/>
            <a:ext cx="10436047" cy="292608"/>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C95527"/>
                </a:solidFill>
                <a:latin typeface="Segoe UI"/>
                <a:ea typeface="Microsoft YaHei"/>
                <a:cs typeface="Segoe UI"/>
              </a:rPr>
              <a:t>提问：她的人生因此改变了什么？（钱？城市？下一份工作？）</a:t>
            </a:r>
          </a:p>
        </p:txBody>
      </p:sp>
      <p:cxnSp>
        <p:nvCxnSpPr>
          <p:cNvPr id="20" name="Connector 19"/>
          <p:cNvCxnSpPr/>
          <p:nvPr/>
        </p:nvCxnSpPr>
        <p:spPr>
          <a:xfrm>
            <a:off x="1133856" y="4032503"/>
            <a:ext cx="10436047"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21792" y="4233671"/>
            <a:ext cx="384048" cy="384048"/>
          </a:xfrm>
          <a:prstGeom prst="roundRect">
            <a:avLst>
              <a:gd name="adj" fmla="val 50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21792" y="4283963"/>
            <a:ext cx="384048" cy="365760"/>
          </a:xfrm>
          <a:prstGeom prst="rect">
            <a:avLst/>
          </a:prstGeom>
          <a:noFill/>
        </p:spPr>
        <p:txBody>
          <a:bodyPr wrap="square" lIns="0" rIns="0" tIns="0" bIns="0" anchor="t">
            <a:spAutoFit/>
          </a:bodyPr>
          <a:lstStyle/>
          <a:p>
            <a:pPr algn="ctr">
              <a:lnSpc>
                <a:spcPct val="116000"/>
              </a:lnSpc>
              <a:spcBef>
                <a:spcPts val="0"/>
              </a:spcBef>
              <a:spcAft>
                <a:spcPts val="0"/>
              </a:spcAft>
            </a:pPr>
            <a:r>
              <a:rPr sz="1700" b="1" i="0" u="none">
                <a:solidFill>
                  <a:srgbClr val="FFFFFF"/>
                </a:solidFill>
                <a:latin typeface="Segoe UI"/>
                <a:ea typeface="Microsoft YaHei"/>
                <a:cs typeface="Segoe UI"/>
              </a:rPr>
              <a:t>2</a:t>
            </a:r>
          </a:p>
        </p:txBody>
      </p:sp>
      <p:sp>
        <p:nvSpPr>
          <p:cNvPr id="23" name="TextBox 22"/>
          <p:cNvSpPr txBox="1"/>
          <p:nvPr/>
        </p:nvSpPr>
        <p:spPr>
          <a:xfrm>
            <a:off x="1133856" y="4242815"/>
            <a:ext cx="10436047" cy="365760"/>
          </a:xfrm>
          <a:prstGeom prst="rect">
            <a:avLst/>
          </a:prstGeom>
          <a:noFill/>
        </p:spPr>
        <p:txBody>
          <a:bodyPr wrap="square" lIns="0" rIns="0" tIns="0" bIns="0" anchor="t">
            <a:spAutoFit/>
          </a:bodyPr>
          <a:lstStyle/>
          <a:p>
            <a:pPr algn="l">
              <a:lnSpc>
                <a:spcPct val="110000"/>
              </a:lnSpc>
              <a:spcBef>
                <a:spcPts val="0"/>
              </a:spcBef>
              <a:spcAft>
                <a:spcPts val="0"/>
              </a:spcAft>
            </a:pPr>
            <a:r>
              <a:rPr sz="1900" b="1" i="0" u="none">
                <a:solidFill>
                  <a:srgbClr val="172A31"/>
                </a:solidFill>
                <a:latin typeface="Segoe UI"/>
                <a:ea typeface="Microsoft YaHei"/>
                <a:cs typeface="Segoe UI"/>
              </a:rPr>
              <a:t>……a student hears about a job from her uncle before it is advertised.  →  As a result, ______.</a:t>
            </a:r>
          </a:p>
        </p:txBody>
      </p:sp>
      <p:sp>
        <p:nvSpPr>
          <p:cNvPr id="24" name="TextBox 23"/>
          <p:cNvSpPr txBox="1"/>
          <p:nvPr/>
        </p:nvSpPr>
        <p:spPr>
          <a:xfrm>
            <a:off x="1133856" y="4645151"/>
            <a:ext cx="10436047" cy="292608"/>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C95527"/>
                </a:solidFill>
                <a:latin typeface="Segoe UI"/>
                <a:ea typeface="Microsoft YaHei"/>
                <a:cs typeface="Segoe UI"/>
              </a:rPr>
              <a:t>提问：其他求职者晚了多久？她省下了什么？</a:t>
            </a:r>
          </a:p>
        </p:txBody>
      </p:sp>
      <p:cxnSp>
        <p:nvCxnSpPr>
          <p:cNvPr id="25" name="Connector 24"/>
          <p:cNvCxnSpPr/>
          <p:nvPr/>
        </p:nvCxnSpPr>
        <p:spPr>
          <a:xfrm>
            <a:off x="1133856" y="5084063"/>
            <a:ext cx="10436047"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621792" y="5285231"/>
            <a:ext cx="384048" cy="384048"/>
          </a:xfrm>
          <a:prstGeom prst="roundRect">
            <a:avLst>
              <a:gd name="adj" fmla="val 50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21792" y="5335523"/>
            <a:ext cx="384048" cy="365760"/>
          </a:xfrm>
          <a:prstGeom prst="rect">
            <a:avLst/>
          </a:prstGeom>
          <a:noFill/>
        </p:spPr>
        <p:txBody>
          <a:bodyPr wrap="square" lIns="0" rIns="0" tIns="0" bIns="0" anchor="t">
            <a:spAutoFit/>
          </a:bodyPr>
          <a:lstStyle/>
          <a:p>
            <a:pPr algn="ctr">
              <a:lnSpc>
                <a:spcPct val="116000"/>
              </a:lnSpc>
              <a:spcBef>
                <a:spcPts val="0"/>
              </a:spcBef>
              <a:spcAft>
                <a:spcPts val="0"/>
              </a:spcAft>
            </a:pPr>
            <a:r>
              <a:rPr sz="1700" b="1" i="0" u="none">
                <a:solidFill>
                  <a:srgbClr val="FFFFFF"/>
                </a:solidFill>
                <a:latin typeface="Segoe UI"/>
                <a:ea typeface="Microsoft YaHei"/>
                <a:cs typeface="Segoe UI"/>
              </a:rPr>
              <a:t>3</a:t>
            </a:r>
          </a:p>
        </p:txBody>
      </p:sp>
      <p:sp>
        <p:nvSpPr>
          <p:cNvPr id="28" name="TextBox 27"/>
          <p:cNvSpPr txBox="1"/>
          <p:nvPr/>
        </p:nvSpPr>
        <p:spPr>
          <a:xfrm>
            <a:off x="1133856" y="5294375"/>
            <a:ext cx="10436047" cy="365760"/>
          </a:xfrm>
          <a:prstGeom prst="rect">
            <a:avLst/>
          </a:prstGeom>
          <a:noFill/>
        </p:spPr>
        <p:txBody>
          <a:bodyPr wrap="square" lIns="0" rIns="0" tIns="0" bIns="0" anchor="t">
            <a:spAutoFit/>
          </a:bodyPr>
          <a:lstStyle/>
          <a:p>
            <a:pPr algn="l">
              <a:lnSpc>
                <a:spcPct val="110000"/>
              </a:lnSpc>
              <a:spcBef>
                <a:spcPts val="0"/>
              </a:spcBef>
              <a:spcAft>
                <a:spcPts val="0"/>
              </a:spcAft>
            </a:pPr>
            <a:r>
              <a:rPr sz="1900" b="1" i="0" u="none">
                <a:solidFill>
                  <a:srgbClr val="172A31"/>
                </a:solidFill>
                <a:latin typeface="Segoe UI"/>
                <a:ea typeface="Microsoft YaHei"/>
                <a:cs typeface="Segoe UI"/>
              </a:rPr>
              <a:t>……a student calms down an angry customer at a café.  →  As a result, ______.</a:t>
            </a:r>
          </a:p>
        </p:txBody>
      </p:sp>
      <p:sp>
        <p:nvSpPr>
          <p:cNvPr id="29" name="TextBox 28"/>
          <p:cNvSpPr txBox="1"/>
          <p:nvPr/>
        </p:nvSpPr>
        <p:spPr>
          <a:xfrm>
            <a:off x="1133856" y="5696711"/>
            <a:ext cx="10436047" cy="292608"/>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C95527"/>
                </a:solidFill>
                <a:latin typeface="Segoe UI"/>
                <a:ea typeface="Microsoft YaHei"/>
                <a:cs typeface="Segoe UI"/>
              </a:rPr>
              <a:t>提问：这件事让她学会了什么，下次能做什么？</a:t>
            </a:r>
          </a:p>
        </p:txBody>
      </p:sp>
      <p:cxnSp>
        <p:nvCxnSpPr>
          <p:cNvPr id="30" name="Connector 29"/>
          <p:cNvCxnSpPr/>
          <p:nvPr/>
        </p:nvCxnSpPr>
        <p:spPr>
          <a:xfrm>
            <a:off x="1133856" y="6135623"/>
            <a:ext cx="10436047"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4 · 展开训练</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62</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OUTPUT · 每人一条</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B08300"/>
                </a:solidFill>
                <a:latin typeface="Segoe UI"/>
                <a:ea typeface="Microsoft YaHei"/>
                <a:cs typeface="Segoe UI"/>
              </a:rPr>
              <a:t>读一条完整的三句话</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719072"/>
            <a:ext cx="10948111" cy="1143000"/>
          </a:xfrm>
          <a:prstGeom prst="roundRect">
            <a:avLst>
              <a:gd name="adj" fmla="val 6000"/>
            </a:avLst>
          </a:prstGeom>
          <a:solidFill>
            <a:srgbClr val="FAF2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21792" y="1719072"/>
            <a:ext cx="64008" cy="1143000"/>
          </a:xfrm>
          <a:prstGeom prst="rect">
            <a:avLst/>
          </a:prstGeom>
          <a:solidFill>
            <a:srgbClr val="B083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50976" y="1938528"/>
            <a:ext cx="10216591" cy="822960"/>
          </a:xfrm>
          <a:prstGeom prst="rect">
            <a:avLst/>
          </a:prstGeom>
          <a:noFill/>
        </p:spPr>
        <p:txBody>
          <a:bodyPr wrap="square" lIns="0" rIns="0" tIns="0" bIns="0" anchor="t">
            <a:spAutoFit/>
          </a:bodyPr>
          <a:lstStyle/>
          <a:p>
            <a:pPr algn="l">
              <a:lnSpc>
                <a:spcPct val="115000"/>
              </a:lnSpc>
              <a:spcBef>
                <a:spcPts val="0"/>
              </a:spcBef>
              <a:spcAft>
                <a:spcPts val="0"/>
              </a:spcAft>
            </a:pPr>
            <a:r>
              <a:rPr sz="2400" b="1" i="0" u="none">
                <a:solidFill>
                  <a:srgbClr val="B08300"/>
                </a:solidFill>
                <a:latin typeface="Segoe UI"/>
                <a:ea typeface="Microsoft YaHei"/>
                <a:cs typeface="Segoe UI"/>
              </a:rPr>
              <a:t>Reason → WHY → Example → Result，四句连读。</a:t>
            </a:r>
          </a:p>
        </p:txBody>
      </p:sp>
      <p:sp>
        <p:nvSpPr>
          <p:cNvPr id="11" name="Rounded Rectangle 10"/>
          <p:cNvSpPr/>
          <p:nvPr/>
        </p:nvSpPr>
        <p:spPr>
          <a:xfrm>
            <a:off x="621792" y="3108960"/>
            <a:ext cx="10948111" cy="658368"/>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3255264"/>
            <a:ext cx="457200"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B08300"/>
                </a:solidFill>
                <a:latin typeface="Segoe UI"/>
                <a:ea typeface="Microsoft YaHei"/>
                <a:cs typeface="Segoe UI"/>
              </a:rPr>
              <a:t>1</a:t>
            </a:r>
          </a:p>
        </p:txBody>
      </p:sp>
      <p:sp>
        <p:nvSpPr>
          <p:cNvPr id="13" name="TextBox 12"/>
          <p:cNvSpPr txBox="1"/>
          <p:nvPr/>
        </p:nvSpPr>
        <p:spPr>
          <a:xfrm>
            <a:off x="1371600" y="3255264"/>
            <a:ext cx="9850831" cy="45720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读之前先在心里数：我这四句里有几个具体名词？</a:t>
            </a:r>
          </a:p>
        </p:txBody>
      </p:sp>
      <p:sp>
        <p:nvSpPr>
          <p:cNvPr id="14" name="Rounded Rectangle 13"/>
          <p:cNvSpPr/>
          <p:nvPr/>
        </p:nvSpPr>
        <p:spPr>
          <a:xfrm>
            <a:off x="621792" y="3858768"/>
            <a:ext cx="10948111" cy="658368"/>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77824" y="4005072"/>
            <a:ext cx="457200"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B08300"/>
                </a:solidFill>
                <a:latin typeface="Segoe UI"/>
                <a:ea typeface="Microsoft YaHei"/>
                <a:cs typeface="Segoe UI"/>
              </a:rPr>
              <a:t>2</a:t>
            </a:r>
          </a:p>
        </p:txBody>
      </p:sp>
      <p:sp>
        <p:nvSpPr>
          <p:cNvPr id="16" name="TextBox 15"/>
          <p:cNvSpPr txBox="1"/>
          <p:nvPr/>
        </p:nvSpPr>
        <p:spPr>
          <a:xfrm>
            <a:off x="1371600" y="4005072"/>
            <a:ext cx="9850831" cy="45720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少于三个 —— 说明还不够具体</a:t>
            </a:r>
          </a:p>
        </p:txBody>
      </p:sp>
      <p:sp>
        <p:nvSpPr>
          <p:cNvPr id="17" name="Rounded Rectangle 16"/>
          <p:cNvSpPr/>
          <p:nvPr/>
        </p:nvSpPr>
        <p:spPr>
          <a:xfrm>
            <a:off x="621792" y="4608576"/>
            <a:ext cx="10948111" cy="658368"/>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77824" y="4754880"/>
            <a:ext cx="457200"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B08300"/>
                </a:solidFill>
                <a:latin typeface="Segoe UI"/>
                <a:ea typeface="Microsoft YaHei"/>
                <a:cs typeface="Segoe UI"/>
              </a:rPr>
              <a:t>3</a:t>
            </a:r>
          </a:p>
        </p:txBody>
      </p:sp>
      <p:sp>
        <p:nvSpPr>
          <p:cNvPr id="19" name="TextBox 18"/>
          <p:cNvSpPr txBox="1"/>
          <p:nvPr/>
        </p:nvSpPr>
        <p:spPr>
          <a:xfrm>
            <a:off x="1371600" y="4754880"/>
            <a:ext cx="9850831" cy="45720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同伴只回答一个问题：你听完之后，脑子里有没有出现一个画面？</a:t>
            </a:r>
          </a:p>
        </p:txBody>
      </p:sp>
      <p:sp>
        <p:nvSpPr>
          <p:cNvPr id="20" name="Rounded Rectangle 19"/>
          <p:cNvSpPr/>
          <p:nvPr/>
        </p:nvSpPr>
        <p:spPr>
          <a:xfrm>
            <a:off x="621792" y="5468112"/>
            <a:ext cx="720547" cy="384048"/>
          </a:xfrm>
          <a:prstGeom prst="roundRect">
            <a:avLst>
              <a:gd name="adj" fmla="val 40000"/>
            </a:avLst>
          </a:prstGeom>
          <a:solidFill>
            <a:srgbClr val="B083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21792" y="5509260"/>
            <a:ext cx="720547" cy="384048"/>
          </a:xfrm>
          <a:prstGeom prst="rect">
            <a:avLst/>
          </a:prstGeom>
          <a:noFill/>
        </p:spPr>
        <p:txBody>
          <a:bodyPr wrap="square" lIns="0" rIns="0" tIns="0" bIns="0" anchor="t">
            <a:spAutoFit/>
          </a:bodyPr>
          <a:lstStyle/>
          <a:p>
            <a:pPr algn="ctr">
              <a:lnSpc>
                <a:spcPct val="116000"/>
              </a:lnSpc>
              <a:spcBef>
                <a:spcPts val="0"/>
              </a:spcBef>
              <a:spcAft>
                <a:spcPts val="0"/>
              </a:spcAft>
            </a:pPr>
            <a:r>
              <a:rPr sz="1700" b="1" i="0" u="none">
                <a:solidFill>
                  <a:srgbClr val="FFFFFF"/>
                </a:solidFill>
                <a:latin typeface="Segoe UI"/>
                <a:ea typeface="Microsoft YaHei"/>
                <a:cs typeface="Segoe UI"/>
              </a:rPr>
              <a:t>5 分钟</a:t>
            </a:r>
          </a:p>
        </p:txBody>
      </p:sp>
      <p:sp>
        <p:nvSpPr>
          <p:cNvPr id="22" name="TextBox 21"/>
          <p:cNvSpPr txBox="1"/>
          <p:nvPr/>
        </p:nvSpPr>
        <p:spPr>
          <a:xfrm>
            <a:off x="2542032" y="5522976"/>
            <a:ext cx="8936431" cy="45720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彭子骞读三句即可（Reason + WHY + Example）。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4 · 展开训练</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63</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FULL CHAIN · A</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完整链条示范 · 支持 education</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700784"/>
            <a:ext cx="10948111" cy="3456432"/>
          </a:xfrm>
          <a:prstGeom prst="roundRect">
            <a:avLst>
              <a:gd name="adj" fmla="val 6000"/>
            </a:avLst>
          </a:prstGeom>
          <a:solidFill>
            <a:srgbClr val="E7F1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21792" y="1700784"/>
            <a:ext cx="64008" cy="3456432"/>
          </a:xfrm>
          <a:prstGeom prst="rect">
            <a:avLst/>
          </a:prstGeom>
          <a:solidFill>
            <a:srgbClr val="2E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96112" y="1883664"/>
            <a:ext cx="10399471" cy="310896"/>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2E6B4F"/>
                </a:solidFill>
                <a:latin typeface="Segoe UI"/>
                <a:ea typeface="Microsoft YaHei"/>
                <a:cs typeface="Segoe UI"/>
              </a:rPr>
              <a:t>老师示范 · 这就是 Part 3 里 Response C 的骨架</a:t>
            </a:r>
          </a:p>
        </p:txBody>
      </p:sp>
      <p:sp>
        <p:nvSpPr>
          <p:cNvPr id="11" name="TextBox 10"/>
          <p:cNvSpPr txBox="1"/>
          <p:nvPr/>
        </p:nvSpPr>
        <p:spPr>
          <a:xfrm>
            <a:off x="896112" y="2267712"/>
            <a:ext cx="1691640" cy="365760"/>
          </a:xfrm>
          <a:prstGeom prst="rect">
            <a:avLst/>
          </a:prstGeom>
          <a:noFill/>
        </p:spPr>
        <p:txBody>
          <a:bodyPr wrap="square" lIns="0" rIns="0" tIns="0" bIns="0" anchor="t">
            <a:spAutoFit/>
          </a:bodyPr>
          <a:lstStyle/>
          <a:p>
            <a:pPr algn="l">
              <a:lnSpc>
                <a:spcPct val="116000"/>
              </a:lnSpc>
              <a:spcBef>
                <a:spcPts val="0"/>
              </a:spcBef>
              <a:spcAft>
                <a:spcPts val="0"/>
              </a:spcAft>
            </a:pPr>
            <a:r>
              <a:rPr sz="1800" b="1" i="0" u="none">
                <a:solidFill>
                  <a:srgbClr val="2E6B4F"/>
                </a:solidFill>
                <a:latin typeface="Segoe UI"/>
                <a:ea typeface="Microsoft YaHei"/>
                <a:cs typeface="Segoe UI"/>
              </a:rPr>
              <a:t>REASON</a:t>
            </a:r>
          </a:p>
        </p:txBody>
      </p:sp>
      <p:sp>
        <p:nvSpPr>
          <p:cNvPr id="12" name="TextBox 11"/>
          <p:cNvSpPr txBox="1"/>
          <p:nvPr/>
        </p:nvSpPr>
        <p:spPr>
          <a:xfrm>
            <a:off x="2587752" y="2240280"/>
            <a:ext cx="8662111" cy="457200"/>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172A31"/>
                </a:solidFill>
                <a:latin typeface="Segoe UI"/>
                <a:ea typeface="Microsoft YaHei"/>
                <a:cs typeface="Segoe UI"/>
              </a:rPr>
              <a:t>Education is the one advantage a person can build without already knowing anyone.</a:t>
            </a:r>
          </a:p>
        </p:txBody>
      </p:sp>
      <p:sp>
        <p:nvSpPr>
          <p:cNvPr id="13" name="TextBox 12"/>
          <p:cNvSpPr txBox="1"/>
          <p:nvPr/>
        </p:nvSpPr>
        <p:spPr>
          <a:xfrm>
            <a:off x="896112" y="2816352"/>
            <a:ext cx="1691640" cy="365760"/>
          </a:xfrm>
          <a:prstGeom prst="rect">
            <a:avLst/>
          </a:prstGeom>
          <a:noFill/>
        </p:spPr>
        <p:txBody>
          <a:bodyPr wrap="square" lIns="0" rIns="0" tIns="0" bIns="0" anchor="t">
            <a:spAutoFit/>
          </a:bodyPr>
          <a:lstStyle/>
          <a:p>
            <a:pPr algn="l">
              <a:lnSpc>
                <a:spcPct val="116000"/>
              </a:lnSpc>
              <a:spcBef>
                <a:spcPts val="0"/>
              </a:spcBef>
              <a:spcAft>
                <a:spcPts val="0"/>
              </a:spcAft>
            </a:pPr>
            <a:r>
              <a:rPr sz="1800" b="1" i="0" u="none">
                <a:solidFill>
                  <a:srgbClr val="2E6B4F"/>
                </a:solidFill>
                <a:latin typeface="Segoe UI"/>
                <a:ea typeface="Microsoft YaHei"/>
                <a:cs typeface="Segoe UI"/>
              </a:rPr>
              <a:t>WHY</a:t>
            </a:r>
          </a:p>
        </p:txBody>
      </p:sp>
      <p:sp>
        <p:nvSpPr>
          <p:cNvPr id="14" name="TextBox 13"/>
          <p:cNvSpPr txBox="1"/>
          <p:nvPr/>
        </p:nvSpPr>
        <p:spPr>
          <a:xfrm>
            <a:off x="2587752" y="2788920"/>
            <a:ext cx="8662111" cy="457200"/>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172A31"/>
                </a:solidFill>
                <a:latin typeface="Segoe UI"/>
                <a:ea typeface="Microsoft YaHei"/>
                <a:cs typeface="Segoe UI"/>
              </a:rPr>
              <a:t>This matters because students from ordinary families have no one to introduce them.</a:t>
            </a:r>
          </a:p>
        </p:txBody>
      </p:sp>
      <p:sp>
        <p:nvSpPr>
          <p:cNvPr id="15" name="TextBox 14"/>
          <p:cNvSpPr txBox="1"/>
          <p:nvPr/>
        </p:nvSpPr>
        <p:spPr>
          <a:xfrm>
            <a:off x="896112" y="3364992"/>
            <a:ext cx="1691640" cy="365760"/>
          </a:xfrm>
          <a:prstGeom prst="rect">
            <a:avLst/>
          </a:prstGeom>
          <a:noFill/>
        </p:spPr>
        <p:txBody>
          <a:bodyPr wrap="square" lIns="0" rIns="0" tIns="0" bIns="0" anchor="t">
            <a:spAutoFit/>
          </a:bodyPr>
          <a:lstStyle/>
          <a:p>
            <a:pPr algn="l">
              <a:lnSpc>
                <a:spcPct val="116000"/>
              </a:lnSpc>
              <a:spcBef>
                <a:spcPts val="0"/>
              </a:spcBef>
              <a:spcAft>
                <a:spcPts val="0"/>
              </a:spcAft>
            </a:pPr>
            <a:r>
              <a:rPr sz="1800" b="1" i="0" u="none">
                <a:solidFill>
                  <a:srgbClr val="2E6B4F"/>
                </a:solidFill>
                <a:latin typeface="Segoe UI"/>
                <a:ea typeface="Microsoft YaHei"/>
                <a:cs typeface="Segoe UI"/>
              </a:rPr>
              <a:t>EXAMPLE</a:t>
            </a:r>
          </a:p>
        </p:txBody>
      </p:sp>
      <p:sp>
        <p:nvSpPr>
          <p:cNvPr id="16" name="TextBox 15"/>
          <p:cNvSpPr txBox="1"/>
          <p:nvPr/>
        </p:nvSpPr>
        <p:spPr>
          <a:xfrm>
            <a:off x="2587752" y="3337560"/>
            <a:ext cx="8662111" cy="457200"/>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172A31"/>
                </a:solidFill>
                <a:latin typeface="Segoe UI"/>
                <a:ea typeface="Microsoft YaHei"/>
                <a:cs typeface="Segoe UI"/>
              </a:rPr>
              <a:t>For example, a student whose parents are farmers can finish an accounting qualification and pass a company's entrance test.</a:t>
            </a:r>
          </a:p>
        </p:txBody>
      </p:sp>
      <p:sp>
        <p:nvSpPr>
          <p:cNvPr id="17" name="TextBox 16"/>
          <p:cNvSpPr txBox="1"/>
          <p:nvPr/>
        </p:nvSpPr>
        <p:spPr>
          <a:xfrm>
            <a:off x="896112" y="3913632"/>
            <a:ext cx="1691640" cy="365760"/>
          </a:xfrm>
          <a:prstGeom prst="rect">
            <a:avLst/>
          </a:prstGeom>
          <a:noFill/>
        </p:spPr>
        <p:txBody>
          <a:bodyPr wrap="square" lIns="0" rIns="0" tIns="0" bIns="0" anchor="t">
            <a:spAutoFit/>
          </a:bodyPr>
          <a:lstStyle/>
          <a:p>
            <a:pPr algn="l">
              <a:lnSpc>
                <a:spcPct val="116000"/>
              </a:lnSpc>
              <a:spcBef>
                <a:spcPts val="0"/>
              </a:spcBef>
              <a:spcAft>
                <a:spcPts val="0"/>
              </a:spcAft>
            </a:pPr>
            <a:r>
              <a:rPr sz="1800" b="1" i="0" u="none">
                <a:solidFill>
                  <a:srgbClr val="2E6B4F"/>
                </a:solidFill>
                <a:latin typeface="Segoe UI"/>
                <a:ea typeface="Microsoft YaHei"/>
                <a:cs typeface="Segoe UI"/>
              </a:rPr>
              <a:t>RESULT</a:t>
            </a:r>
          </a:p>
        </p:txBody>
      </p:sp>
      <p:sp>
        <p:nvSpPr>
          <p:cNvPr id="18" name="TextBox 17"/>
          <p:cNvSpPr txBox="1"/>
          <p:nvPr/>
        </p:nvSpPr>
        <p:spPr>
          <a:xfrm>
            <a:off x="2587752" y="3886200"/>
            <a:ext cx="8662111" cy="457200"/>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172A31"/>
                </a:solidFill>
                <a:latin typeface="Segoe UI"/>
                <a:ea typeface="Microsoft YaHei"/>
                <a:cs typeface="Segoe UI"/>
              </a:rPr>
              <a:t>As a result, she is hired by a firm where she knows nobody.</a:t>
            </a:r>
          </a:p>
        </p:txBody>
      </p:sp>
      <p:sp>
        <p:nvSpPr>
          <p:cNvPr id="19" name="TextBox 18"/>
          <p:cNvSpPr txBox="1"/>
          <p:nvPr/>
        </p:nvSpPr>
        <p:spPr>
          <a:xfrm>
            <a:off x="896112" y="4462272"/>
            <a:ext cx="1691640" cy="365760"/>
          </a:xfrm>
          <a:prstGeom prst="rect">
            <a:avLst/>
          </a:prstGeom>
          <a:noFill/>
        </p:spPr>
        <p:txBody>
          <a:bodyPr wrap="square" lIns="0" rIns="0" tIns="0" bIns="0" anchor="t">
            <a:spAutoFit/>
          </a:bodyPr>
          <a:lstStyle/>
          <a:p>
            <a:pPr algn="l">
              <a:lnSpc>
                <a:spcPct val="116000"/>
              </a:lnSpc>
              <a:spcBef>
                <a:spcPts val="0"/>
              </a:spcBef>
              <a:spcAft>
                <a:spcPts val="0"/>
              </a:spcAft>
            </a:pPr>
            <a:r>
              <a:rPr sz="1800" b="1" i="0" u="none">
                <a:solidFill>
                  <a:srgbClr val="2E6B4F"/>
                </a:solidFill>
                <a:latin typeface="Segoe UI"/>
                <a:ea typeface="Microsoft YaHei"/>
                <a:cs typeface="Segoe UI"/>
              </a:rPr>
              <a:t>CONTRIBUTION</a:t>
            </a:r>
          </a:p>
        </p:txBody>
      </p:sp>
      <p:sp>
        <p:nvSpPr>
          <p:cNvPr id="20" name="TextBox 19"/>
          <p:cNvSpPr txBox="1"/>
          <p:nvPr/>
        </p:nvSpPr>
        <p:spPr>
          <a:xfrm>
            <a:off x="2587752" y="4434840"/>
            <a:ext cx="8662111" cy="457200"/>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172A31"/>
                </a:solidFill>
                <a:latin typeface="Segoe UI"/>
                <a:ea typeface="Microsoft YaHei"/>
                <a:cs typeface="Segoe UI"/>
              </a:rPr>
              <a:t>Education is usually what gets a person into the room where connections are formed.</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4 · 展开训练</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64</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FULL CHAIN · B</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完整链条示范 · 支持 connections</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700784"/>
            <a:ext cx="10948111" cy="3456432"/>
          </a:xfrm>
          <a:prstGeom prst="roundRect">
            <a:avLst>
              <a:gd name="adj" fmla="val 6000"/>
            </a:avLst>
          </a:prstGeom>
          <a:solidFill>
            <a:srgbClr val="FBEC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21792" y="1700784"/>
            <a:ext cx="64008" cy="3456432"/>
          </a:xfrm>
          <a:prstGeom prst="rect">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96112" y="1883664"/>
            <a:ext cx="10399471" cy="310896"/>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老师示范 · 作业里如果你想选另一边，用这条</a:t>
            </a:r>
          </a:p>
        </p:txBody>
      </p:sp>
      <p:sp>
        <p:nvSpPr>
          <p:cNvPr id="11" name="TextBox 10"/>
          <p:cNvSpPr txBox="1"/>
          <p:nvPr/>
        </p:nvSpPr>
        <p:spPr>
          <a:xfrm>
            <a:off x="896112" y="2267712"/>
            <a:ext cx="1691640" cy="365760"/>
          </a:xfrm>
          <a:prstGeom prst="rect">
            <a:avLst/>
          </a:prstGeom>
          <a:noFill/>
        </p:spPr>
        <p:txBody>
          <a:bodyPr wrap="square" lIns="0" rIns="0" tIns="0" bIns="0" anchor="t">
            <a:spAutoFit/>
          </a:bodyPr>
          <a:lstStyle/>
          <a:p>
            <a:pPr algn="l">
              <a:lnSpc>
                <a:spcPct val="116000"/>
              </a:lnSpc>
              <a:spcBef>
                <a:spcPts val="0"/>
              </a:spcBef>
              <a:spcAft>
                <a:spcPts val="0"/>
              </a:spcAft>
            </a:pPr>
            <a:r>
              <a:rPr sz="1800" b="1" i="0" u="none">
                <a:solidFill>
                  <a:srgbClr val="C95527"/>
                </a:solidFill>
                <a:latin typeface="Segoe UI"/>
                <a:ea typeface="Microsoft YaHei"/>
                <a:cs typeface="Segoe UI"/>
              </a:rPr>
              <a:t>REASON</a:t>
            </a:r>
          </a:p>
        </p:txBody>
      </p:sp>
      <p:sp>
        <p:nvSpPr>
          <p:cNvPr id="12" name="TextBox 11"/>
          <p:cNvSpPr txBox="1"/>
          <p:nvPr/>
        </p:nvSpPr>
        <p:spPr>
          <a:xfrm>
            <a:off x="2587752" y="2240280"/>
            <a:ext cx="8662111" cy="457200"/>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172A31"/>
                </a:solidFill>
                <a:latin typeface="Segoe UI"/>
                <a:ea typeface="Microsoft YaHei"/>
                <a:cs typeface="Segoe UI"/>
              </a:rPr>
              <a:t>Personal connections decide who even hears about an opportunity in the first place.</a:t>
            </a:r>
          </a:p>
        </p:txBody>
      </p:sp>
      <p:sp>
        <p:nvSpPr>
          <p:cNvPr id="13" name="TextBox 12"/>
          <p:cNvSpPr txBox="1"/>
          <p:nvPr/>
        </p:nvSpPr>
        <p:spPr>
          <a:xfrm>
            <a:off x="896112" y="2816352"/>
            <a:ext cx="1691640" cy="365760"/>
          </a:xfrm>
          <a:prstGeom prst="rect">
            <a:avLst/>
          </a:prstGeom>
          <a:noFill/>
        </p:spPr>
        <p:txBody>
          <a:bodyPr wrap="square" lIns="0" rIns="0" tIns="0" bIns="0" anchor="t">
            <a:spAutoFit/>
          </a:bodyPr>
          <a:lstStyle/>
          <a:p>
            <a:pPr algn="l">
              <a:lnSpc>
                <a:spcPct val="116000"/>
              </a:lnSpc>
              <a:spcBef>
                <a:spcPts val="0"/>
              </a:spcBef>
              <a:spcAft>
                <a:spcPts val="0"/>
              </a:spcAft>
            </a:pPr>
            <a:r>
              <a:rPr sz="1800" b="1" i="0" u="none">
                <a:solidFill>
                  <a:srgbClr val="C95527"/>
                </a:solidFill>
                <a:latin typeface="Segoe UI"/>
                <a:ea typeface="Microsoft YaHei"/>
                <a:cs typeface="Segoe UI"/>
              </a:rPr>
              <a:t>WHY</a:t>
            </a:r>
          </a:p>
        </p:txBody>
      </p:sp>
      <p:sp>
        <p:nvSpPr>
          <p:cNvPr id="14" name="TextBox 13"/>
          <p:cNvSpPr txBox="1"/>
          <p:nvPr/>
        </p:nvSpPr>
        <p:spPr>
          <a:xfrm>
            <a:off x="2587752" y="2788920"/>
            <a:ext cx="8662111" cy="457200"/>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172A31"/>
                </a:solidFill>
                <a:latin typeface="Segoe UI"/>
                <a:ea typeface="Microsoft YaHei"/>
                <a:cs typeface="Segoe UI"/>
              </a:rPr>
              <a:t>This matters because most good positions are filled before they are ever advertised.</a:t>
            </a:r>
          </a:p>
        </p:txBody>
      </p:sp>
      <p:sp>
        <p:nvSpPr>
          <p:cNvPr id="15" name="TextBox 14"/>
          <p:cNvSpPr txBox="1"/>
          <p:nvPr/>
        </p:nvSpPr>
        <p:spPr>
          <a:xfrm>
            <a:off x="896112" y="3364992"/>
            <a:ext cx="1691640" cy="365760"/>
          </a:xfrm>
          <a:prstGeom prst="rect">
            <a:avLst/>
          </a:prstGeom>
          <a:noFill/>
        </p:spPr>
        <p:txBody>
          <a:bodyPr wrap="square" lIns="0" rIns="0" tIns="0" bIns="0" anchor="t">
            <a:spAutoFit/>
          </a:bodyPr>
          <a:lstStyle/>
          <a:p>
            <a:pPr algn="l">
              <a:lnSpc>
                <a:spcPct val="116000"/>
              </a:lnSpc>
              <a:spcBef>
                <a:spcPts val="0"/>
              </a:spcBef>
              <a:spcAft>
                <a:spcPts val="0"/>
              </a:spcAft>
            </a:pPr>
            <a:r>
              <a:rPr sz="1800" b="1" i="0" u="none">
                <a:solidFill>
                  <a:srgbClr val="C95527"/>
                </a:solidFill>
                <a:latin typeface="Segoe UI"/>
                <a:ea typeface="Microsoft YaHei"/>
                <a:cs typeface="Segoe UI"/>
              </a:rPr>
              <a:t>EXAMPLE</a:t>
            </a:r>
          </a:p>
        </p:txBody>
      </p:sp>
      <p:sp>
        <p:nvSpPr>
          <p:cNvPr id="16" name="TextBox 15"/>
          <p:cNvSpPr txBox="1"/>
          <p:nvPr/>
        </p:nvSpPr>
        <p:spPr>
          <a:xfrm>
            <a:off x="2587752" y="3337560"/>
            <a:ext cx="8662111" cy="457200"/>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172A31"/>
                </a:solidFill>
                <a:latin typeface="Segoe UI"/>
                <a:ea typeface="Microsoft YaHei"/>
                <a:cs typeface="Segoe UI"/>
              </a:rPr>
              <a:t>For example, a graduate whose neighbour works in a design studio is told about an opening two weeks early.</a:t>
            </a:r>
          </a:p>
        </p:txBody>
      </p:sp>
      <p:sp>
        <p:nvSpPr>
          <p:cNvPr id="17" name="TextBox 16"/>
          <p:cNvSpPr txBox="1"/>
          <p:nvPr/>
        </p:nvSpPr>
        <p:spPr>
          <a:xfrm>
            <a:off x="896112" y="3913632"/>
            <a:ext cx="1691640" cy="365760"/>
          </a:xfrm>
          <a:prstGeom prst="rect">
            <a:avLst/>
          </a:prstGeom>
          <a:noFill/>
        </p:spPr>
        <p:txBody>
          <a:bodyPr wrap="square" lIns="0" rIns="0" tIns="0" bIns="0" anchor="t">
            <a:spAutoFit/>
          </a:bodyPr>
          <a:lstStyle/>
          <a:p>
            <a:pPr algn="l">
              <a:lnSpc>
                <a:spcPct val="116000"/>
              </a:lnSpc>
              <a:spcBef>
                <a:spcPts val="0"/>
              </a:spcBef>
              <a:spcAft>
                <a:spcPts val="0"/>
              </a:spcAft>
            </a:pPr>
            <a:r>
              <a:rPr sz="1800" b="1" i="0" u="none">
                <a:solidFill>
                  <a:srgbClr val="C95527"/>
                </a:solidFill>
                <a:latin typeface="Segoe UI"/>
                <a:ea typeface="Microsoft YaHei"/>
                <a:cs typeface="Segoe UI"/>
              </a:rPr>
              <a:t>RESULT</a:t>
            </a:r>
          </a:p>
        </p:txBody>
      </p:sp>
      <p:sp>
        <p:nvSpPr>
          <p:cNvPr id="18" name="TextBox 17"/>
          <p:cNvSpPr txBox="1"/>
          <p:nvPr/>
        </p:nvSpPr>
        <p:spPr>
          <a:xfrm>
            <a:off x="2587752" y="3886200"/>
            <a:ext cx="8662111" cy="457200"/>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172A31"/>
                </a:solidFill>
                <a:latin typeface="Segoe UI"/>
                <a:ea typeface="Microsoft YaHei"/>
                <a:cs typeface="Segoe UI"/>
              </a:rPr>
              <a:t>As a result, she applies while there are still three candidates instead of three hundred.</a:t>
            </a:r>
          </a:p>
        </p:txBody>
      </p:sp>
      <p:sp>
        <p:nvSpPr>
          <p:cNvPr id="19" name="TextBox 18"/>
          <p:cNvSpPr txBox="1"/>
          <p:nvPr/>
        </p:nvSpPr>
        <p:spPr>
          <a:xfrm>
            <a:off x="896112" y="4462272"/>
            <a:ext cx="1691640" cy="365760"/>
          </a:xfrm>
          <a:prstGeom prst="rect">
            <a:avLst/>
          </a:prstGeom>
          <a:noFill/>
        </p:spPr>
        <p:txBody>
          <a:bodyPr wrap="square" lIns="0" rIns="0" tIns="0" bIns="0" anchor="t">
            <a:spAutoFit/>
          </a:bodyPr>
          <a:lstStyle/>
          <a:p>
            <a:pPr algn="l">
              <a:lnSpc>
                <a:spcPct val="116000"/>
              </a:lnSpc>
              <a:spcBef>
                <a:spcPts val="0"/>
              </a:spcBef>
              <a:spcAft>
                <a:spcPts val="0"/>
              </a:spcAft>
            </a:pPr>
            <a:r>
              <a:rPr sz="1800" b="1" i="0" u="none">
                <a:solidFill>
                  <a:srgbClr val="C95527"/>
                </a:solidFill>
                <a:latin typeface="Segoe UI"/>
                <a:ea typeface="Microsoft YaHei"/>
                <a:cs typeface="Segoe UI"/>
              </a:rPr>
              <a:t>CONTRIBUTION</a:t>
            </a:r>
          </a:p>
        </p:txBody>
      </p:sp>
      <p:sp>
        <p:nvSpPr>
          <p:cNvPr id="20" name="TextBox 19"/>
          <p:cNvSpPr txBox="1"/>
          <p:nvPr/>
        </p:nvSpPr>
        <p:spPr>
          <a:xfrm>
            <a:off x="2587752" y="4434840"/>
            <a:ext cx="8662111" cy="457200"/>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172A31"/>
                </a:solidFill>
                <a:latin typeface="Segoe UI"/>
                <a:ea typeface="Microsoft YaHei"/>
                <a:cs typeface="Segoe UI"/>
              </a:rPr>
              <a:t>A degree gets you considered; a connection gets you considered first.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4 · 展开训练</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65</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DRILL 5 · 学生输出</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B08300"/>
                </a:solidFill>
                <a:latin typeface="Segoe UI"/>
                <a:ea typeface="Microsoft YaHei"/>
                <a:cs typeface="Segoe UI"/>
              </a:rPr>
              <a:t>练习 5 · 自己写一条完整链条</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609344"/>
            <a:ext cx="479145" cy="347472"/>
          </a:xfrm>
          <a:prstGeom prst="roundRect">
            <a:avLst>
              <a:gd name="adj" fmla="val 40000"/>
            </a:avLst>
          </a:prstGeom>
          <a:solidFill>
            <a:srgbClr val="B083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21792" y="1650492"/>
            <a:ext cx="479145" cy="347472"/>
          </a:xfrm>
          <a:prstGeom prst="rect">
            <a:avLst/>
          </a:prstGeom>
          <a:noFill/>
        </p:spPr>
        <p:txBody>
          <a:bodyPr wrap="square" lIns="0" rIns="0" tIns="0" bIns="0" anchor="t">
            <a:spAutoFit/>
          </a:bodyPr>
          <a:lstStyle/>
          <a:p>
            <a:pPr algn="ctr">
              <a:lnSpc>
                <a:spcPct val="116000"/>
              </a:lnSpc>
              <a:spcBef>
                <a:spcPts val="0"/>
              </a:spcBef>
              <a:spcAft>
                <a:spcPts val="0"/>
              </a:spcAft>
            </a:pPr>
            <a:r>
              <a:rPr sz="1700" b="1" i="0" u="none">
                <a:solidFill>
                  <a:srgbClr val="FFFFFF"/>
                </a:solidFill>
                <a:latin typeface="Segoe UI"/>
                <a:ea typeface="Microsoft YaHei"/>
                <a:cs typeface="Segoe UI"/>
              </a:rPr>
              <a:t>提高</a:t>
            </a:r>
          </a:p>
        </p:txBody>
      </p:sp>
      <p:sp>
        <p:nvSpPr>
          <p:cNvPr id="10" name="TextBox 9"/>
          <p:cNvSpPr txBox="1"/>
          <p:nvPr/>
        </p:nvSpPr>
        <p:spPr>
          <a:xfrm>
            <a:off x="1320393" y="1655064"/>
            <a:ext cx="10194645"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172A31"/>
                </a:solidFill>
                <a:latin typeface="Segoe UI"/>
                <a:ea typeface="Microsoft YaHei"/>
                <a:cs typeface="Segoe UI"/>
              </a:rPr>
              <a:t>支持 education。不许照抄示范，Reason 必须换一个。</a:t>
            </a:r>
          </a:p>
        </p:txBody>
      </p:sp>
      <p:sp>
        <p:nvSpPr>
          <p:cNvPr id="11" name="Rounded Rectangle 10"/>
          <p:cNvSpPr/>
          <p:nvPr/>
        </p:nvSpPr>
        <p:spPr>
          <a:xfrm>
            <a:off x="621792" y="2176272"/>
            <a:ext cx="1691640" cy="457200"/>
          </a:xfrm>
          <a:prstGeom prst="roundRect">
            <a:avLst>
              <a:gd name="adj" fmla="val 6000"/>
            </a:avLst>
          </a:prstGeom>
          <a:solidFill>
            <a:srgbClr val="B083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21792" y="2258568"/>
            <a:ext cx="1691640" cy="365760"/>
          </a:xfrm>
          <a:prstGeom prst="rect">
            <a:avLst/>
          </a:prstGeom>
          <a:noFill/>
        </p:spPr>
        <p:txBody>
          <a:bodyPr wrap="square" lIns="0" rIns="0" tIns="0" bIns="0" anchor="t">
            <a:spAutoFit/>
          </a:bodyPr>
          <a:lstStyle/>
          <a:p>
            <a:pPr algn="ctr">
              <a:lnSpc>
                <a:spcPct val="116000"/>
              </a:lnSpc>
              <a:spcBef>
                <a:spcPts val="0"/>
              </a:spcBef>
              <a:spcAft>
                <a:spcPts val="0"/>
              </a:spcAft>
            </a:pPr>
            <a:r>
              <a:rPr sz="1900" b="1" i="0" u="none">
                <a:solidFill>
                  <a:srgbClr val="FFFFFF"/>
                </a:solidFill>
                <a:latin typeface="Segoe UI"/>
                <a:ea typeface="Microsoft YaHei"/>
                <a:cs typeface="Segoe UI"/>
              </a:rPr>
              <a:t>REASON</a:t>
            </a:r>
          </a:p>
        </p:txBody>
      </p:sp>
      <p:sp>
        <p:nvSpPr>
          <p:cNvPr id="13" name="TextBox 12"/>
          <p:cNvSpPr txBox="1"/>
          <p:nvPr/>
        </p:nvSpPr>
        <p:spPr>
          <a:xfrm>
            <a:off x="2496312" y="2231136"/>
            <a:ext cx="902787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教育还给了人什么？（时间？选择权？语言？信心？）</a:t>
            </a:r>
          </a:p>
        </p:txBody>
      </p:sp>
      <p:cxnSp>
        <p:nvCxnSpPr>
          <p:cNvPr id="14" name="Connector 13"/>
          <p:cNvCxnSpPr/>
          <p:nvPr/>
        </p:nvCxnSpPr>
        <p:spPr>
          <a:xfrm>
            <a:off x="2496312" y="2651760"/>
            <a:ext cx="9073591"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496312" y="3035808"/>
            <a:ext cx="9073591"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21792" y="3255263"/>
            <a:ext cx="1691640" cy="457200"/>
          </a:xfrm>
          <a:prstGeom prst="roundRect">
            <a:avLst>
              <a:gd name="adj" fmla="val 6000"/>
            </a:avLst>
          </a:prstGeom>
          <a:solidFill>
            <a:srgbClr val="B083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21792" y="3337559"/>
            <a:ext cx="1691640" cy="365760"/>
          </a:xfrm>
          <a:prstGeom prst="rect">
            <a:avLst/>
          </a:prstGeom>
          <a:noFill/>
        </p:spPr>
        <p:txBody>
          <a:bodyPr wrap="square" lIns="0" rIns="0" tIns="0" bIns="0" anchor="t">
            <a:spAutoFit/>
          </a:bodyPr>
          <a:lstStyle/>
          <a:p>
            <a:pPr algn="ctr">
              <a:lnSpc>
                <a:spcPct val="116000"/>
              </a:lnSpc>
              <a:spcBef>
                <a:spcPts val="0"/>
              </a:spcBef>
              <a:spcAft>
                <a:spcPts val="0"/>
              </a:spcAft>
            </a:pPr>
            <a:r>
              <a:rPr sz="1900" b="1" i="0" u="none">
                <a:solidFill>
                  <a:srgbClr val="FFFFFF"/>
                </a:solidFill>
                <a:latin typeface="Segoe UI"/>
                <a:ea typeface="Microsoft YaHei"/>
                <a:cs typeface="Segoe UI"/>
              </a:rPr>
              <a:t>WHY</a:t>
            </a:r>
          </a:p>
        </p:txBody>
      </p:sp>
      <p:sp>
        <p:nvSpPr>
          <p:cNvPr id="18" name="TextBox 17"/>
          <p:cNvSpPr txBox="1"/>
          <p:nvPr/>
        </p:nvSpPr>
        <p:spPr>
          <a:xfrm>
            <a:off x="2496312" y="3310127"/>
            <a:ext cx="902787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This matters because ______</a:t>
            </a:r>
          </a:p>
        </p:txBody>
      </p:sp>
      <p:cxnSp>
        <p:nvCxnSpPr>
          <p:cNvPr id="19" name="Connector 18"/>
          <p:cNvCxnSpPr/>
          <p:nvPr/>
        </p:nvCxnSpPr>
        <p:spPr>
          <a:xfrm>
            <a:off x="2496312" y="3730752"/>
            <a:ext cx="9073591"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496312" y="4114800"/>
            <a:ext cx="9073591"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21792" y="4334255"/>
            <a:ext cx="1691640" cy="457200"/>
          </a:xfrm>
          <a:prstGeom prst="roundRect">
            <a:avLst>
              <a:gd name="adj" fmla="val 6000"/>
            </a:avLst>
          </a:prstGeom>
          <a:solidFill>
            <a:srgbClr val="B083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21792" y="4416551"/>
            <a:ext cx="1691640" cy="365760"/>
          </a:xfrm>
          <a:prstGeom prst="rect">
            <a:avLst/>
          </a:prstGeom>
          <a:noFill/>
        </p:spPr>
        <p:txBody>
          <a:bodyPr wrap="square" lIns="0" rIns="0" tIns="0" bIns="0" anchor="t">
            <a:spAutoFit/>
          </a:bodyPr>
          <a:lstStyle/>
          <a:p>
            <a:pPr algn="ctr">
              <a:lnSpc>
                <a:spcPct val="116000"/>
              </a:lnSpc>
              <a:spcBef>
                <a:spcPts val="0"/>
              </a:spcBef>
              <a:spcAft>
                <a:spcPts val="0"/>
              </a:spcAft>
            </a:pPr>
            <a:r>
              <a:rPr sz="1900" b="1" i="0" u="none">
                <a:solidFill>
                  <a:srgbClr val="FFFFFF"/>
                </a:solidFill>
                <a:latin typeface="Segoe UI"/>
                <a:ea typeface="Microsoft YaHei"/>
                <a:cs typeface="Segoe UI"/>
              </a:rPr>
              <a:t>EXAMPLE</a:t>
            </a:r>
          </a:p>
        </p:txBody>
      </p:sp>
      <p:sp>
        <p:nvSpPr>
          <p:cNvPr id="23" name="TextBox 22"/>
          <p:cNvSpPr txBox="1"/>
          <p:nvPr/>
        </p:nvSpPr>
        <p:spPr>
          <a:xfrm>
            <a:off x="2496312" y="4389119"/>
            <a:ext cx="902787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For example, a student who ______</a:t>
            </a:r>
          </a:p>
        </p:txBody>
      </p:sp>
      <p:cxnSp>
        <p:nvCxnSpPr>
          <p:cNvPr id="24" name="Connector 23"/>
          <p:cNvCxnSpPr/>
          <p:nvPr/>
        </p:nvCxnSpPr>
        <p:spPr>
          <a:xfrm>
            <a:off x="2496312" y="4809744"/>
            <a:ext cx="9073591"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2496312" y="5193792"/>
            <a:ext cx="9073591"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621792" y="5413247"/>
            <a:ext cx="1691640" cy="457200"/>
          </a:xfrm>
          <a:prstGeom prst="roundRect">
            <a:avLst>
              <a:gd name="adj" fmla="val 6000"/>
            </a:avLst>
          </a:prstGeom>
          <a:solidFill>
            <a:srgbClr val="B083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21792" y="5495543"/>
            <a:ext cx="1691640" cy="365760"/>
          </a:xfrm>
          <a:prstGeom prst="rect">
            <a:avLst/>
          </a:prstGeom>
          <a:noFill/>
        </p:spPr>
        <p:txBody>
          <a:bodyPr wrap="square" lIns="0" rIns="0" tIns="0" bIns="0" anchor="t">
            <a:spAutoFit/>
          </a:bodyPr>
          <a:lstStyle/>
          <a:p>
            <a:pPr algn="ctr">
              <a:lnSpc>
                <a:spcPct val="116000"/>
              </a:lnSpc>
              <a:spcBef>
                <a:spcPts val="0"/>
              </a:spcBef>
              <a:spcAft>
                <a:spcPts val="0"/>
              </a:spcAft>
            </a:pPr>
            <a:r>
              <a:rPr sz="1900" b="1" i="0" u="none">
                <a:solidFill>
                  <a:srgbClr val="FFFFFF"/>
                </a:solidFill>
                <a:latin typeface="Segoe UI"/>
                <a:ea typeface="Microsoft YaHei"/>
                <a:cs typeface="Segoe UI"/>
              </a:rPr>
              <a:t>RESULT</a:t>
            </a:r>
          </a:p>
        </p:txBody>
      </p:sp>
      <p:sp>
        <p:nvSpPr>
          <p:cNvPr id="28" name="TextBox 27"/>
          <p:cNvSpPr txBox="1"/>
          <p:nvPr/>
        </p:nvSpPr>
        <p:spPr>
          <a:xfrm>
            <a:off x="2496312" y="5468111"/>
            <a:ext cx="902787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As a result, ______</a:t>
            </a:r>
          </a:p>
        </p:txBody>
      </p:sp>
      <p:cxnSp>
        <p:nvCxnSpPr>
          <p:cNvPr id="29" name="Connector 28"/>
          <p:cNvCxnSpPr/>
          <p:nvPr/>
        </p:nvCxnSpPr>
        <p:spPr>
          <a:xfrm>
            <a:off x="2496312" y="5888736"/>
            <a:ext cx="9073591"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496312" y="6272783"/>
            <a:ext cx="9073591"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4 · 展开训练</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66</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DRILL 6 · 学生输出</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B08300"/>
                </a:solidFill>
                <a:latin typeface="Segoe UI"/>
                <a:ea typeface="Microsoft YaHei"/>
                <a:cs typeface="Segoe UI"/>
              </a:rPr>
              <a:t>练习 6 · 换到对面去写</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609344"/>
            <a:ext cx="1203350" cy="347472"/>
          </a:xfrm>
          <a:prstGeom prst="roundRect">
            <a:avLst>
              <a:gd name="adj" fmla="val 40000"/>
            </a:avLst>
          </a:prstGeom>
          <a:solidFill>
            <a:srgbClr val="B083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21792" y="1650492"/>
            <a:ext cx="1203350" cy="347472"/>
          </a:xfrm>
          <a:prstGeom prst="rect">
            <a:avLst/>
          </a:prstGeom>
          <a:noFill/>
        </p:spPr>
        <p:txBody>
          <a:bodyPr wrap="square" lIns="0" rIns="0" tIns="0" bIns="0" anchor="t">
            <a:spAutoFit/>
          </a:bodyPr>
          <a:lstStyle/>
          <a:p>
            <a:pPr algn="ctr">
              <a:lnSpc>
                <a:spcPct val="116000"/>
              </a:lnSpc>
              <a:spcBef>
                <a:spcPts val="0"/>
              </a:spcBef>
              <a:spcAft>
                <a:spcPts val="0"/>
              </a:spcAft>
            </a:pPr>
            <a:r>
              <a:rPr sz="1700" b="1" i="0" u="none">
                <a:solidFill>
                  <a:srgbClr val="FFFFFF"/>
                </a:solidFill>
                <a:latin typeface="Segoe UI"/>
                <a:ea typeface="Microsoft YaHei"/>
                <a:cs typeface="Segoe UI"/>
              </a:rPr>
              <a:t>提高 · 无支架</a:t>
            </a:r>
          </a:p>
        </p:txBody>
      </p:sp>
      <p:sp>
        <p:nvSpPr>
          <p:cNvPr id="10" name="TextBox 9"/>
          <p:cNvSpPr txBox="1"/>
          <p:nvPr/>
        </p:nvSpPr>
        <p:spPr>
          <a:xfrm>
            <a:off x="2044598" y="1655064"/>
            <a:ext cx="9470440"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172A31"/>
                </a:solidFill>
                <a:latin typeface="Segoe UI"/>
                <a:ea typeface="Microsoft YaHei"/>
                <a:cs typeface="Segoe UI"/>
              </a:rPr>
              <a:t>这次支持 Andrew（connections）。四行，不给句型。</a:t>
            </a:r>
          </a:p>
        </p:txBody>
      </p:sp>
      <p:sp>
        <p:nvSpPr>
          <p:cNvPr id="11" name="Rounded Rectangle 10"/>
          <p:cNvSpPr/>
          <p:nvPr/>
        </p:nvSpPr>
        <p:spPr>
          <a:xfrm>
            <a:off x="621792" y="2157984"/>
            <a:ext cx="10948111" cy="786384"/>
          </a:xfrm>
          <a:prstGeom prst="roundRect">
            <a:avLst>
              <a:gd name="adj" fmla="val 6000"/>
            </a:avLst>
          </a:prstGeom>
          <a:solidFill>
            <a:srgbClr val="F3F8F9"/>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32688" y="2322576"/>
            <a:ext cx="10308031" cy="50292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0E5362"/>
                </a:solidFill>
                <a:latin typeface="Segoe UI"/>
                <a:ea typeface="Microsoft YaHei"/>
                <a:cs typeface="Segoe UI"/>
              </a:rPr>
              <a:t>为什么要练对面？因为考场上你可能拿到一道你并不同意的题——方法必须和立场无关。</a:t>
            </a:r>
          </a:p>
        </p:txBody>
      </p:sp>
      <p:cxnSp>
        <p:nvCxnSpPr>
          <p:cNvPr id="13" name="Connector 12"/>
          <p:cNvCxnSpPr/>
          <p:nvPr/>
        </p:nvCxnSpPr>
        <p:spPr>
          <a:xfrm>
            <a:off x="621792" y="3319272"/>
            <a:ext cx="10948111"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21792" y="3794760"/>
            <a:ext cx="10948111"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21792" y="4270248"/>
            <a:ext cx="10948111"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21792" y="4745736"/>
            <a:ext cx="10948111"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21792" y="5221224"/>
            <a:ext cx="10948111"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21792" y="5696712"/>
            <a:ext cx="10948111"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21792" y="6172200"/>
            <a:ext cx="10948111"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4 · 展开训练</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67</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TOP 5 MISTAKES</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展开时最常见的 5 个错误</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764792"/>
            <a:ext cx="10948111" cy="786384"/>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21792" y="1764792"/>
            <a:ext cx="54864" cy="786384"/>
          </a:xfrm>
          <a:prstGeom prst="rect">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32688" y="1965960"/>
            <a:ext cx="6021461" cy="41148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172A31"/>
                </a:solidFill>
                <a:latin typeface="Segoe UI"/>
                <a:ea typeface="Microsoft YaHei"/>
                <a:cs typeface="Segoe UI"/>
              </a:rPr>
              <a:t>Reason 里还留着 good / important / useful</a:t>
            </a:r>
          </a:p>
        </p:txBody>
      </p:sp>
      <p:sp>
        <p:nvSpPr>
          <p:cNvPr id="11" name="TextBox 10"/>
          <p:cNvSpPr txBox="1"/>
          <p:nvPr/>
        </p:nvSpPr>
        <p:spPr>
          <a:xfrm>
            <a:off x="6971696" y="1965960"/>
            <a:ext cx="4323886" cy="41148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2E6B4F"/>
                </a:solidFill>
                <a:latin typeface="Segoe UI"/>
                <a:ea typeface="Microsoft YaHei"/>
                <a:cs typeface="Segoe UI"/>
              </a:rPr>
              <a:t>→ 换成一个具体动词短语</a:t>
            </a:r>
          </a:p>
        </p:txBody>
      </p:sp>
      <p:sp>
        <p:nvSpPr>
          <p:cNvPr id="12" name="Rounded Rectangle 11"/>
          <p:cNvSpPr/>
          <p:nvPr/>
        </p:nvSpPr>
        <p:spPr>
          <a:xfrm>
            <a:off x="621792" y="2642615"/>
            <a:ext cx="10948111" cy="786384"/>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21792" y="2642615"/>
            <a:ext cx="54864" cy="786384"/>
          </a:xfrm>
          <a:prstGeom prst="rect">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32688" y="2843784"/>
            <a:ext cx="6021461" cy="41148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172A31"/>
                </a:solidFill>
                <a:latin typeface="Segoe UI"/>
                <a:ea typeface="Microsoft YaHei"/>
                <a:cs typeface="Segoe UI"/>
              </a:rPr>
              <a:t>WHY 只是把 Reason 换个词说一遍</a:t>
            </a:r>
          </a:p>
        </p:txBody>
      </p:sp>
      <p:sp>
        <p:nvSpPr>
          <p:cNvPr id="15" name="TextBox 14"/>
          <p:cNvSpPr txBox="1"/>
          <p:nvPr/>
        </p:nvSpPr>
        <p:spPr>
          <a:xfrm>
            <a:off x="6971696" y="2843784"/>
            <a:ext cx="4323886" cy="41148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2E6B4F"/>
                </a:solidFill>
                <a:latin typeface="Segoe UI"/>
                <a:ea typeface="Microsoft YaHei"/>
                <a:cs typeface="Segoe UI"/>
              </a:rPr>
              <a:t>→ 加一个障碍或一个对比</a:t>
            </a:r>
          </a:p>
        </p:txBody>
      </p:sp>
      <p:sp>
        <p:nvSpPr>
          <p:cNvPr id="16" name="Rounded Rectangle 15"/>
          <p:cNvSpPr/>
          <p:nvPr/>
        </p:nvSpPr>
        <p:spPr>
          <a:xfrm>
            <a:off x="621792" y="3520439"/>
            <a:ext cx="10948111" cy="786384"/>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21792" y="3520439"/>
            <a:ext cx="54864" cy="786384"/>
          </a:xfrm>
          <a:prstGeom prst="rect">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32688" y="3721607"/>
            <a:ext cx="6021461" cy="41148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172A31"/>
                </a:solidFill>
                <a:latin typeface="Segoe UI"/>
                <a:ea typeface="Microsoft YaHei"/>
                <a:cs typeface="Segoe UI"/>
              </a:rPr>
              <a:t>例子里没有人，只有 many students</a:t>
            </a:r>
          </a:p>
        </p:txBody>
      </p:sp>
      <p:sp>
        <p:nvSpPr>
          <p:cNvPr id="19" name="TextBox 18"/>
          <p:cNvSpPr txBox="1"/>
          <p:nvPr/>
        </p:nvSpPr>
        <p:spPr>
          <a:xfrm>
            <a:off x="6971696" y="3721607"/>
            <a:ext cx="4323886" cy="41148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2E6B4F"/>
                </a:solidFill>
                <a:latin typeface="Segoe UI"/>
                <a:ea typeface="Microsoft YaHei"/>
                <a:cs typeface="Segoe UI"/>
              </a:rPr>
              <a:t>→ 改成 a student who …</a:t>
            </a:r>
          </a:p>
        </p:txBody>
      </p:sp>
      <p:sp>
        <p:nvSpPr>
          <p:cNvPr id="20" name="Rounded Rectangle 19"/>
          <p:cNvSpPr/>
          <p:nvPr/>
        </p:nvSpPr>
        <p:spPr>
          <a:xfrm>
            <a:off x="621792" y="4398264"/>
            <a:ext cx="10948111" cy="786384"/>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21792" y="4398264"/>
            <a:ext cx="54864" cy="786384"/>
          </a:xfrm>
          <a:prstGeom prst="rect">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32688" y="4599431"/>
            <a:ext cx="6021461" cy="41148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172A31"/>
                </a:solidFill>
                <a:latin typeface="Segoe UI"/>
                <a:ea typeface="Microsoft YaHei"/>
                <a:cs typeface="Segoe UI"/>
              </a:rPr>
              <a:t>例子写完就结束，没有结果</a:t>
            </a:r>
          </a:p>
        </p:txBody>
      </p:sp>
      <p:sp>
        <p:nvSpPr>
          <p:cNvPr id="23" name="TextBox 22"/>
          <p:cNvSpPr txBox="1"/>
          <p:nvPr/>
        </p:nvSpPr>
        <p:spPr>
          <a:xfrm>
            <a:off x="6971696" y="4599431"/>
            <a:ext cx="4323886" cy="41148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2E6B4F"/>
                </a:solidFill>
                <a:latin typeface="Segoe UI"/>
                <a:ea typeface="Microsoft YaHei"/>
                <a:cs typeface="Segoe UI"/>
              </a:rPr>
              <a:t>→ 补一句 As a result, …</a:t>
            </a:r>
          </a:p>
        </p:txBody>
      </p:sp>
      <p:sp>
        <p:nvSpPr>
          <p:cNvPr id="24" name="Rounded Rectangle 23"/>
          <p:cNvSpPr/>
          <p:nvPr/>
        </p:nvSpPr>
        <p:spPr>
          <a:xfrm>
            <a:off x="621792" y="5276088"/>
            <a:ext cx="10948111" cy="786384"/>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621792" y="5276088"/>
            <a:ext cx="54864" cy="786384"/>
          </a:xfrm>
          <a:prstGeom prst="rect">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932688" y="5477255"/>
            <a:ext cx="6021461" cy="41148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172A31"/>
                </a:solidFill>
                <a:latin typeface="Segoe UI"/>
                <a:ea typeface="Microsoft YaHei"/>
                <a:cs typeface="Segoe UI"/>
              </a:rPr>
              <a:t>三个理由各写两句</a:t>
            </a:r>
          </a:p>
        </p:txBody>
      </p:sp>
      <p:sp>
        <p:nvSpPr>
          <p:cNvPr id="27" name="TextBox 26"/>
          <p:cNvSpPr txBox="1"/>
          <p:nvPr/>
        </p:nvSpPr>
        <p:spPr>
          <a:xfrm>
            <a:off x="6971696" y="5477255"/>
            <a:ext cx="4323886" cy="41148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2E6B4F"/>
                </a:solidFill>
                <a:latin typeface="Segoe UI"/>
                <a:ea typeface="Microsoft YaHei"/>
                <a:cs typeface="Segoe UI"/>
              </a:rPr>
              <a:t>→ 一个理由写六句，分数更高</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4 · 展开训练</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68</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WORD BANK · social mobility</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本题专用替换词库</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719072"/>
            <a:ext cx="10948111" cy="457200"/>
          </a:xfrm>
          <a:prstGeom prst="roundRect">
            <a:avLst>
              <a:gd name="adj" fmla="val 6000"/>
            </a:avLst>
          </a:prstGeom>
          <a:solidFill>
            <a:srgbClr val="0E53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96112" y="1801368"/>
            <a:ext cx="3657600"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FFFFFF"/>
                </a:solidFill>
                <a:latin typeface="Segoe UI"/>
                <a:ea typeface="Microsoft YaHei"/>
                <a:cs typeface="Segoe UI"/>
              </a:rPr>
              <a:t>空词</a:t>
            </a:r>
          </a:p>
        </p:txBody>
      </p:sp>
      <p:sp>
        <p:nvSpPr>
          <p:cNvPr id="10" name="TextBox 9"/>
          <p:cNvSpPr txBox="1"/>
          <p:nvPr/>
        </p:nvSpPr>
        <p:spPr>
          <a:xfrm>
            <a:off x="4828031" y="1801368"/>
            <a:ext cx="646755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FFFFFF"/>
                </a:solidFill>
                <a:latin typeface="Segoe UI"/>
                <a:ea typeface="Microsoft YaHei"/>
                <a:cs typeface="Segoe UI"/>
              </a:rPr>
              <a:t>换成</a:t>
            </a:r>
          </a:p>
        </p:txBody>
      </p:sp>
      <p:sp>
        <p:nvSpPr>
          <p:cNvPr id="11" name="Rounded Rectangle 10"/>
          <p:cNvSpPr/>
          <p:nvPr/>
        </p:nvSpPr>
        <p:spPr>
          <a:xfrm>
            <a:off x="621792" y="2249424"/>
            <a:ext cx="10948111" cy="512064"/>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96112" y="2359152"/>
            <a:ext cx="3657600"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good / useful</a:t>
            </a:r>
          </a:p>
        </p:txBody>
      </p:sp>
      <p:sp>
        <p:nvSpPr>
          <p:cNvPr id="13" name="TextBox 12"/>
          <p:cNvSpPr txBox="1"/>
          <p:nvPr/>
        </p:nvSpPr>
        <p:spPr>
          <a:xfrm>
            <a:off x="4828031" y="2359152"/>
            <a:ext cx="646755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172A31"/>
                </a:solidFill>
                <a:latin typeface="Segoe UI"/>
                <a:ea typeface="Microsoft YaHei"/>
                <a:cs typeface="Segoe UI"/>
              </a:rPr>
              <a:t>valuable · practical · reliable</a:t>
            </a:r>
          </a:p>
        </p:txBody>
      </p:sp>
      <p:sp>
        <p:nvSpPr>
          <p:cNvPr id="14" name="Rounded Rectangle 13"/>
          <p:cNvSpPr/>
          <p:nvPr/>
        </p:nvSpPr>
        <p:spPr>
          <a:xfrm>
            <a:off x="621792" y="2834640"/>
            <a:ext cx="10948111" cy="512064"/>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96112" y="2944368"/>
            <a:ext cx="3657600"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important</a:t>
            </a:r>
          </a:p>
        </p:txBody>
      </p:sp>
      <p:sp>
        <p:nvSpPr>
          <p:cNvPr id="16" name="TextBox 15"/>
          <p:cNvSpPr txBox="1"/>
          <p:nvPr/>
        </p:nvSpPr>
        <p:spPr>
          <a:xfrm>
            <a:off x="4828031" y="2944368"/>
            <a:ext cx="646755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172A31"/>
                </a:solidFill>
                <a:latin typeface="Segoe UI"/>
                <a:ea typeface="Microsoft YaHei"/>
                <a:cs typeface="Segoe UI"/>
              </a:rPr>
              <a:t>decisive · essential · the key to</a:t>
            </a:r>
          </a:p>
        </p:txBody>
      </p:sp>
      <p:sp>
        <p:nvSpPr>
          <p:cNvPr id="17" name="Rounded Rectangle 16"/>
          <p:cNvSpPr/>
          <p:nvPr/>
        </p:nvSpPr>
        <p:spPr>
          <a:xfrm>
            <a:off x="621792" y="3419856"/>
            <a:ext cx="10948111" cy="512064"/>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96112" y="3529584"/>
            <a:ext cx="3657600"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help</a:t>
            </a:r>
          </a:p>
        </p:txBody>
      </p:sp>
      <p:sp>
        <p:nvSpPr>
          <p:cNvPr id="19" name="TextBox 18"/>
          <p:cNvSpPr txBox="1"/>
          <p:nvPr/>
        </p:nvSpPr>
        <p:spPr>
          <a:xfrm>
            <a:off x="4828031" y="3529584"/>
            <a:ext cx="646755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172A31"/>
                </a:solidFill>
                <a:latin typeface="Segoe UI"/>
                <a:ea typeface="Microsoft YaHei"/>
                <a:cs typeface="Segoe UI"/>
              </a:rPr>
              <a:t>enable · allow · make it possible for</a:t>
            </a:r>
          </a:p>
        </p:txBody>
      </p:sp>
      <p:sp>
        <p:nvSpPr>
          <p:cNvPr id="20" name="Rounded Rectangle 19"/>
          <p:cNvSpPr/>
          <p:nvPr/>
        </p:nvSpPr>
        <p:spPr>
          <a:xfrm>
            <a:off x="621792" y="4005072"/>
            <a:ext cx="10948111" cy="512064"/>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96112" y="4114800"/>
            <a:ext cx="3657600"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get a job</a:t>
            </a:r>
          </a:p>
        </p:txBody>
      </p:sp>
      <p:sp>
        <p:nvSpPr>
          <p:cNvPr id="22" name="TextBox 21"/>
          <p:cNvSpPr txBox="1"/>
          <p:nvPr/>
        </p:nvSpPr>
        <p:spPr>
          <a:xfrm>
            <a:off x="4828031" y="4114800"/>
            <a:ext cx="646755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172A31"/>
                </a:solidFill>
                <a:latin typeface="Segoe UI"/>
                <a:ea typeface="Microsoft YaHei"/>
                <a:cs typeface="Segoe UI"/>
              </a:rPr>
              <a:t>be hired · land a position · be offered a role</a:t>
            </a:r>
          </a:p>
        </p:txBody>
      </p:sp>
      <p:sp>
        <p:nvSpPr>
          <p:cNvPr id="23" name="Rounded Rectangle 22"/>
          <p:cNvSpPr/>
          <p:nvPr/>
        </p:nvSpPr>
        <p:spPr>
          <a:xfrm>
            <a:off x="621792" y="4590288"/>
            <a:ext cx="10948111" cy="512064"/>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96112" y="4700016"/>
            <a:ext cx="3657600"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skills</a:t>
            </a:r>
          </a:p>
        </p:txBody>
      </p:sp>
      <p:sp>
        <p:nvSpPr>
          <p:cNvPr id="25" name="TextBox 24"/>
          <p:cNvSpPr txBox="1"/>
          <p:nvPr/>
        </p:nvSpPr>
        <p:spPr>
          <a:xfrm>
            <a:off x="4828031" y="4700016"/>
            <a:ext cx="646755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172A31"/>
                </a:solidFill>
                <a:latin typeface="Segoe UI"/>
                <a:ea typeface="Microsoft YaHei"/>
                <a:cs typeface="Segoe UI"/>
              </a:rPr>
              <a:t>qualifications · training · credentials</a:t>
            </a:r>
          </a:p>
        </p:txBody>
      </p:sp>
      <p:sp>
        <p:nvSpPr>
          <p:cNvPr id="26" name="Rounded Rectangle 25"/>
          <p:cNvSpPr/>
          <p:nvPr/>
        </p:nvSpPr>
        <p:spPr>
          <a:xfrm>
            <a:off x="621792" y="5175503"/>
            <a:ext cx="10948111" cy="512064"/>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896112" y="5285231"/>
            <a:ext cx="3657600"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know people</a:t>
            </a:r>
          </a:p>
        </p:txBody>
      </p:sp>
      <p:sp>
        <p:nvSpPr>
          <p:cNvPr id="28" name="TextBox 27"/>
          <p:cNvSpPr txBox="1"/>
          <p:nvPr/>
        </p:nvSpPr>
        <p:spPr>
          <a:xfrm>
            <a:off x="4828031" y="5285231"/>
            <a:ext cx="646755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172A31"/>
                </a:solidFill>
                <a:latin typeface="Segoe UI"/>
                <a:ea typeface="Microsoft YaHei"/>
                <a:cs typeface="Segoe UI"/>
              </a:rPr>
              <a:t>personal connections · a professional network</a:t>
            </a:r>
          </a:p>
        </p:txBody>
      </p:sp>
      <p:sp>
        <p:nvSpPr>
          <p:cNvPr id="29" name="Rounded Rectangle 28"/>
          <p:cNvSpPr/>
          <p:nvPr/>
        </p:nvSpPr>
        <p:spPr>
          <a:xfrm>
            <a:off x="621792" y="5760719"/>
            <a:ext cx="10948111" cy="512064"/>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896112" y="5870447"/>
            <a:ext cx="3657600"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rich / poor family</a:t>
            </a:r>
          </a:p>
        </p:txBody>
      </p:sp>
      <p:sp>
        <p:nvSpPr>
          <p:cNvPr id="31" name="TextBox 30"/>
          <p:cNvSpPr txBox="1"/>
          <p:nvPr/>
        </p:nvSpPr>
        <p:spPr>
          <a:xfrm>
            <a:off x="4828031" y="5870447"/>
            <a:ext cx="646755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172A31"/>
                </a:solidFill>
                <a:latin typeface="Segoe UI"/>
                <a:ea typeface="Microsoft YaHei"/>
                <a:cs typeface="Segoe UI"/>
              </a:rPr>
              <a:t>an ordinary family · a well-connected family</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4 · 展开训练</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69</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OUTPUT · 4 人各一条</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B08300"/>
                </a:solidFill>
                <a:latin typeface="Segoe UI"/>
                <a:ea typeface="Microsoft YaHei"/>
                <a:cs typeface="Segoe UI"/>
              </a:rPr>
              <a:t>链条展示 · 全班过一遍</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719072"/>
            <a:ext cx="10948111" cy="1143000"/>
          </a:xfrm>
          <a:prstGeom prst="roundRect">
            <a:avLst>
              <a:gd name="adj" fmla="val 6000"/>
            </a:avLst>
          </a:prstGeom>
          <a:solidFill>
            <a:srgbClr val="FAF2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21792" y="1719072"/>
            <a:ext cx="64008" cy="1143000"/>
          </a:xfrm>
          <a:prstGeom prst="rect">
            <a:avLst/>
          </a:prstGeom>
          <a:solidFill>
            <a:srgbClr val="B083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50976" y="1938528"/>
            <a:ext cx="10216591" cy="822960"/>
          </a:xfrm>
          <a:prstGeom prst="rect">
            <a:avLst/>
          </a:prstGeom>
          <a:noFill/>
        </p:spPr>
        <p:txBody>
          <a:bodyPr wrap="square" lIns="0" rIns="0" tIns="0" bIns="0" anchor="t">
            <a:spAutoFit/>
          </a:bodyPr>
          <a:lstStyle/>
          <a:p>
            <a:pPr algn="l">
              <a:lnSpc>
                <a:spcPct val="115000"/>
              </a:lnSpc>
              <a:spcBef>
                <a:spcPts val="0"/>
              </a:spcBef>
              <a:spcAft>
                <a:spcPts val="0"/>
              </a:spcAft>
            </a:pPr>
            <a:r>
              <a:rPr sz="2400" b="1" i="0" u="none">
                <a:solidFill>
                  <a:srgbClr val="B08300"/>
                </a:solidFill>
                <a:latin typeface="Segoe UI"/>
                <a:ea typeface="Microsoft YaHei"/>
                <a:cs typeface="Segoe UI"/>
              </a:rPr>
              <a:t>读出你在练习 5 或练习 6 里写的完整链条（Reason → WHY → Example → Result）。</a:t>
            </a:r>
          </a:p>
        </p:txBody>
      </p:sp>
      <p:sp>
        <p:nvSpPr>
          <p:cNvPr id="11" name="Rounded Rectangle 10"/>
          <p:cNvSpPr/>
          <p:nvPr/>
        </p:nvSpPr>
        <p:spPr>
          <a:xfrm>
            <a:off x="621792" y="3108960"/>
            <a:ext cx="10948111" cy="658368"/>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3255264"/>
            <a:ext cx="457200"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B08300"/>
                </a:solidFill>
                <a:latin typeface="Segoe UI"/>
                <a:ea typeface="Microsoft YaHei"/>
                <a:cs typeface="Segoe UI"/>
              </a:rPr>
              <a:t>1</a:t>
            </a:r>
          </a:p>
        </p:txBody>
      </p:sp>
      <p:sp>
        <p:nvSpPr>
          <p:cNvPr id="13" name="TextBox 12"/>
          <p:cNvSpPr txBox="1"/>
          <p:nvPr/>
        </p:nvSpPr>
        <p:spPr>
          <a:xfrm>
            <a:off x="1371600" y="3255264"/>
            <a:ext cx="9850831" cy="45720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听的人手上拿笔，只做一件事：数一数这条链条有几层</a:t>
            </a:r>
          </a:p>
        </p:txBody>
      </p:sp>
      <p:sp>
        <p:nvSpPr>
          <p:cNvPr id="14" name="Rounded Rectangle 13"/>
          <p:cNvSpPr/>
          <p:nvPr/>
        </p:nvSpPr>
        <p:spPr>
          <a:xfrm>
            <a:off x="621792" y="3858768"/>
            <a:ext cx="10948111" cy="658368"/>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77824" y="4005072"/>
            <a:ext cx="457200"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B08300"/>
                </a:solidFill>
                <a:latin typeface="Segoe UI"/>
                <a:ea typeface="Microsoft YaHei"/>
                <a:cs typeface="Segoe UI"/>
              </a:rPr>
              <a:t>2</a:t>
            </a:r>
          </a:p>
        </p:txBody>
      </p:sp>
      <p:sp>
        <p:nvSpPr>
          <p:cNvPr id="16" name="TextBox 15"/>
          <p:cNvSpPr txBox="1"/>
          <p:nvPr/>
        </p:nvSpPr>
        <p:spPr>
          <a:xfrm>
            <a:off x="1371600" y="4005072"/>
            <a:ext cx="9850831" cy="45720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四层齐了就说「四层」；缺哪一层就直接说缺哪一层</a:t>
            </a:r>
          </a:p>
        </p:txBody>
      </p:sp>
      <p:sp>
        <p:nvSpPr>
          <p:cNvPr id="17" name="Rounded Rectangle 16"/>
          <p:cNvSpPr/>
          <p:nvPr/>
        </p:nvSpPr>
        <p:spPr>
          <a:xfrm>
            <a:off x="621792" y="4608576"/>
            <a:ext cx="10948111" cy="658368"/>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77824" y="4754880"/>
            <a:ext cx="457200"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B08300"/>
                </a:solidFill>
                <a:latin typeface="Segoe UI"/>
                <a:ea typeface="Microsoft YaHei"/>
                <a:cs typeface="Segoe UI"/>
              </a:rPr>
              <a:t>3</a:t>
            </a:r>
          </a:p>
        </p:txBody>
      </p:sp>
      <p:sp>
        <p:nvSpPr>
          <p:cNvPr id="19" name="TextBox 18"/>
          <p:cNvSpPr txBox="1"/>
          <p:nvPr/>
        </p:nvSpPr>
        <p:spPr>
          <a:xfrm>
            <a:off x="1371600" y="4754880"/>
            <a:ext cx="9850831" cy="45720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缺 RESULT 的当场补一句，不要等回家改</a:t>
            </a:r>
          </a:p>
        </p:txBody>
      </p:sp>
      <p:sp>
        <p:nvSpPr>
          <p:cNvPr id="20" name="Rounded Rectangle 19"/>
          <p:cNvSpPr/>
          <p:nvPr/>
        </p:nvSpPr>
        <p:spPr>
          <a:xfrm>
            <a:off x="621792" y="5468112"/>
            <a:ext cx="720547" cy="384048"/>
          </a:xfrm>
          <a:prstGeom prst="roundRect">
            <a:avLst>
              <a:gd name="adj" fmla="val 40000"/>
            </a:avLst>
          </a:prstGeom>
          <a:solidFill>
            <a:srgbClr val="B083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21792" y="5509260"/>
            <a:ext cx="720547" cy="384048"/>
          </a:xfrm>
          <a:prstGeom prst="rect">
            <a:avLst/>
          </a:prstGeom>
          <a:noFill/>
        </p:spPr>
        <p:txBody>
          <a:bodyPr wrap="square" lIns="0" rIns="0" tIns="0" bIns="0" anchor="t">
            <a:spAutoFit/>
          </a:bodyPr>
          <a:lstStyle/>
          <a:p>
            <a:pPr algn="ctr">
              <a:lnSpc>
                <a:spcPct val="116000"/>
              </a:lnSpc>
              <a:spcBef>
                <a:spcPts val="0"/>
              </a:spcBef>
              <a:spcAft>
                <a:spcPts val="0"/>
              </a:spcAft>
            </a:pPr>
            <a:r>
              <a:rPr sz="1700" b="1" i="0" u="none">
                <a:solidFill>
                  <a:srgbClr val="FFFFFF"/>
                </a:solidFill>
                <a:latin typeface="Segoe UI"/>
                <a:ea typeface="Microsoft YaHei"/>
                <a:cs typeface="Segoe UI"/>
              </a:rPr>
              <a:t>5 分钟</a:t>
            </a:r>
          </a:p>
        </p:txBody>
      </p:sp>
      <p:sp>
        <p:nvSpPr>
          <p:cNvPr id="22" name="TextBox 21"/>
          <p:cNvSpPr txBox="1"/>
          <p:nvPr/>
        </p:nvSpPr>
        <p:spPr>
          <a:xfrm>
            <a:off x="2542032" y="5522976"/>
            <a:ext cx="8936431" cy="45720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老师记下每个人缺的那一层——Part 6 写作时点名提醒。</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4 · 展开训练</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70</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PART 4 · 收</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Part 4 小结：一个理由，六句话</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856232"/>
            <a:ext cx="10948111" cy="1188720"/>
          </a:xfrm>
          <a:prstGeom prst="roundRect">
            <a:avLst>
              <a:gd name="adj" fmla="val 6000"/>
            </a:avLst>
          </a:prstGeom>
          <a:solidFill>
            <a:srgbClr val="0E53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33272" y="2130552"/>
            <a:ext cx="10125151" cy="731520"/>
          </a:xfrm>
          <a:prstGeom prst="rect">
            <a:avLst/>
          </a:prstGeom>
          <a:noFill/>
        </p:spPr>
        <p:txBody>
          <a:bodyPr wrap="square" lIns="0" rIns="0" tIns="0" bIns="0" anchor="t">
            <a:spAutoFit/>
          </a:bodyPr>
          <a:lstStyle/>
          <a:p>
            <a:pPr algn="ctr">
              <a:lnSpc>
                <a:spcPct val="116000"/>
              </a:lnSpc>
              <a:spcBef>
                <a:spcPts val="0"/>
              </a:spcBef>
              <a:spcAft>
                <a:spcPts val="0"/>
              </a:spcAft>
            </a:pPr>
            <a:r>
              <a:rPr sz="2500" b="1" i="0" u="none">
                <a:solidFill>
                  <a:srgbClr val="FFFFFF"/>
                </a:solidFill>
                <a:latin typeface="Segoe UI"/>
                <a:ea typeface="Microsoft YaHei"/>
                <a:cs typeface="Segoe UI"/>
              </a:rPr>
              <a:t>与其写三个理由各两句，不如写一个理由六句。</a:t>
            </a:r>
          </a:p>
        </p:txBody>
      </p:sp>
      <p:sp>
        <p:nvSpPr>
          <p:cNvPr id="10" name="Rounded Rectangle 9"/>
          <p:cNvSpPr/>
          <p:nvPr/>
        </p:nvSpPr>
        <p:spPr>
          <a:xfrm>
            <a:off x="621792" y="3319272"/>
            <a:ext cx="10948111" cy="932688"/>
          </a:xfrm>
          <a:prstGeom prst="roundRect">
            <a:avLst>
              <a:gd name="adj" fmla="val 6000"/>
            </a:avLst>
          </a:prstGeom>
          <a:solidFill>
            <a:srgbClr val="F3F8F9"/>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32688" y="3557015"/>
            <a:ext cx="3291840" cy="41148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627378"/>
                </a:solidFill>
                <a:latin typeface="Segoe UI"/>
                <a:ea typeface="Microsoft YaHei"/>
                <a:cs typeface="Segoe UI"/>
              </a:rPr>
              <a:t>多数 3 分作文</a:t>
            </a:r>
          </a:p>
        </p:txBody>
      </p:sp>
      <p:sp>
        <p:nvSpPr>
          <p:cNvPr id="12" name="TextBox 11"/>
          <p:cNvSpPr txBox="1"/>
          <p:nvPr/>
        </p:nvSpPr>
        <p:spPr>
          <a:xfrm>
            <a:off x="4370831" y="3557015"/>
            <a:ext cx="6924751" cy="41148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三个理由 × 两句 = 六句，但每一句都可以换话题使用</a:t>
            </a:r>
          </a:p>
        </p:txBody>
      </p:sp>
      <p:sp>
        <p:nvSpPr>
          <p:cNvPr id="13" name="Rounded Rectangle 12"/>
          <p:cNvSpPr/>
          <p:nvPr/>
        </p:nvSpPr>
        <p:spPr>
          <a:xfrm>
            <a:off x="621792" y="4361688"/>
            <a:ext cx="10948111" cy="932688"/>
          </a:xfrm>
          <a:prstGeom prst="roundRect">
            <a:avLst>
              <a:gd name="adj" fmla="val 6000"/>
            </a:avLst>
          </a:prstGeom>
          <a:solidFill>
            <a:srgbClr val="E7F1EB"/>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32688" y="4599431"/>
            <a:ext cx="3291840" cy="41148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2E6B4F"/>
                </a:solidFill>
                <a:latin typeface="Segoe UI"/>
                <a:ea typeface="Microsoft YaHei"/>
                <a:cs typeface="Segoe UI"/>
              </a:rPr>
              <a:t>多数 5 分作文</a:t>
            </a:r>
          </a:p>
        </p:txBody>
      </p:sp>
      <p:sp>
        <p:nvSpPr>
          <p:cNvPr id="15" name="TextBox 14"/>
          <p:cNvSpPr txBox="1"/>
          <p:nvPr/>
        </p:nvSpPr>
        <p:spPr>
          <a:xfrm>
            <a:off x="4370831" y="4599431"/>
            <a:ext cx="6924751" cy="41148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一个理由 × 六句，每一句都只能用在这道题上</a:t>
            </a:r>
          </a:p>
        </p:txBody>
      </p:sp>
      <p:sp>
        <p:nvSpPr>
          <p:cNvPr id="16" name="Rounded Rectangle 15"/>
          <p:cNvSpPr/>
          <p:nvPr/>
        </p:nvSpPr>
        <p:spPr>
          <a:xfrm>
            <a:off x="621792" y="5458967"/>
            <a:ext cx="10948111" cy="731520"/>
          </a:xfrm>
          <a:prstGeom prst="roundRect">
            <a:avLst>
              <a:gd name="adj" fmla="val 6000"/>
            </a:avLst>
          </a:prstGeom>
          <a:solidFill>
            <a:srgbClr val="FBEC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05840" y="5623559"/>
            <a:ext cx="10170871" cy="457200"/>
          </a:xfrm>
          <a:prstGeom prst="rect">
            <a:avLst/>
          </a:prstGeom>
          <a:noFill/>
        </p:spPr>
        <p:txBody>
          <a:bodyPr wrap="square" lIns="0" rIns="0" tIns="0" bIns="0" anchor="t">
            <a:spAutoFit/>
          </a:bodyPr>
          <a:lstStyle/>
          <a:p>
            <a:pPr algn="l">
              <a:lnSpc>
                <a:spcPct val="116000"/>
              </a:lnSpc>
              <a:spcBef>
                <a:spcPts val="0"/>
              </a:spcBef>
              <a:spcAft>
                <a:spcPts val="0"/>
              </a:spcAft>
            </a:pPr>
            <a:r>
              <a:rPr sz="2100" b="1" i="0" u="none">
                <a:solidFill>
                  <a:srgbClr val="C95527"/>
                </a:solidFill>
                <a:latin typeface="Segoe UI"/>
                <a:ea typeface="Microsoft YaHei"/>
                <a:cs typeface="Segoe UI"/>
              </a:rPr>
              <a:t>接下来 20 分钟：把这条链条接到 Kelly 和 Andrew 身上。</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53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3" name="Connector 2"/>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5 · Contribution</a:t>
            </a:r>
          </a:p>
        </p:txBody>
      </p:sp>
      <p:sp>
        <p:nvSpPr>
          <p:cNvPr id="5" name="TextBox 4"/>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71</a:t>
            </a:r>
          </a:p>
        </p:txBody>
      </p:sp>
      <p:sp>
        <p:nvSpPr>
          <p:cNvPr id="6" name="Rectangle 5"/>
          <p:cNvSpPr/>
          <p:nvPr/>
        </p:nvSpPr>
        <p:spPr>
          <a:xfrm>
            <a:off x="0" y="0"/>
            <a:ext cx="310896" cy="6858000"/>
          </a:xfrm>
          <a:prstGeom prst="rect">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371600" y="1481328"/>
            <a:ext cx="10033711" cy="457200"/>
          </a:xfrm>
          <a:prstGeom prst="rect">
            <a:avLst/>
          </a:prstGeom>
          <a:noFill/>
        </p:spPr>
        <p:txBody>
          <a:bodyPr wrap="square" lIns="0" rIns="0" tIns="0" bIns="0" anchor="t">
            <a:spAutoFit/>
          </a:bodyPr>
          <a:lstStyle/>
          <a:p>
            <a:pPr algn="l">
              <a:lnSpc>
                <a:spcPct val="116000"/>
              </a:lnSpc>
              <a:spcBef>
                <a:spcPts val="0"/>
              </a:spcBef>
              <a:spcAft>
                <a:spcPts val="200"/>
              </a:spcAft>
            </a:pPr>
            <a:r>
              <a:rPr sz="4600" b="1" i="0" u="none">
                <a:solidFill>
                  <a:srgbClr val="5C94A0"/>
                </a:solidFill>
                <a:latin typeface="Segoe UI"/>
                <a:ea typeface="Microsoft YaHei"/>
                <a:cs typeface="Segoe UI"/>
              </a:rPr>
              <a:t>PART 5</a:t>
            </a:r>
          </a:p>
        </p:txBody>
      </p:sp>
      <p:sp>
        <p:nvSpPr>
          <p:cNvPr id="8" name="TextBox 7"/>
          <p:cNvSpPr txBox="1"/>
          <p:nvPr/>
        </p:nvSpPr>
        <p:spPr>
          <a:xfrm>
            <a:off x="1371600" y="2395728"/>
            <a:ext cx="10033711" cy="731520"/>
          </a:xfrm>
          <a:prstGeom prst="rect">
            <a:avLst/>
          </a:prstGeom>
          <a:noFill/>
        </p:spPr>
        <p:txBody>
          <a:bodyPr wrap="square" lIns="0" rIns="0" tIns="0" bIns="0" anchor="t">
            <a:spAutoFit/>
          </a:bodyPr>
          <a:lstStyle/>
          <a:p>
            <a:pPr algn="l">
              <a:lnSpc>
                <a:spcPct val="116000"/>
              </a:lnSpc>
              <a:spcBef>
                <a:spcPts val="0"/>
              </a:spcBef>
              <a:spcAft>
                <a:spcPts val="400"/>
              </a:spcAft>
            </a:pPr>
            <a:r>
              <a:rPr sz="4200" b="1" i="0" u="none">
                <a:solidFill>
                  <a:srgbClr val="FFFFFF"/>
                </a:solidFill>
                <a:latin typeface="Segoe UI"/>
                <a:ea typeface="Microsoft YaHei"/>
                <a:cs typeface="Segoe UI"/>
              </a:rPr>
              <a:t>Contribution 训练</a:t>
            </a:r>
          </a:p>
        </p:txBody>
      </p:sp>
      <p:sp>
        <p:nvSpPr>
          <p:cNvPr id="9" name="TextBox 8"/>
          <p:cNvSpPr txBox="1"/>
          <p:nvPr/>
        </p:nvSpPr>
        <p:spPr>
          <a:xfrm>
            <a:off x="1371600" y="3200400"/>
            <a:ext cx="10033711" cy="411480"/>
          </a:xfrm>
          <a:prstGeom prst="rect">
            <a:avLst/>
          </a:prstGeom>
          <a:noFill/>
        </p:spPr>
        <p:txBody>
          <a:bodyPr wrap="square" lIns="0" rIns="0" tIns="0" bIns="0" anchor="t">
            <a:spAutoFit/>
          </a:bodyPr>
          <a:lstStyle/>
          <a:p>
            <a:pPr algn="l">
              <a:lnSpc>
                <a:spcPct val="116000"/>
              </a:lnSpc>
              <a:spcBef>
                <a:spcPts val="0"/>
              </a:spcBef>
              <a:spcAft>
                <a:spcPts val="0"/>
              </a:spcAft>
            </a:pPr>
            <a:r>
              <a:rPr sz="2200" b="0" i="0" u="none">
                <a:solidFill>
                  <a:srgbClr val="9EC6CE"/>
                </a:solidFill>
                <a:latin typeface="Segoe UI"/>
                <a:ea typeface="Microsoft YaHei"/>
                <a:cs typeface="Segoe UI"/>
              </a:rPr>
              <a:t>回应同学，而不是重复同学</a:t>
            </a:r>
          </a:p>
        </p:txBody>
      </p:sp>
      <p:sp>
        <p:nvSpPr>
          <p:cNvPr id="10" name="Rectangle 9"/>
          <p:cNvSpPr/>
          <p:nvPr/>
        </p:nvSpPr>
        <p:spPr>
          <a:xfrm>
            <a:off x="1371600" y="3886200"/>
            <a:ext cx="54864" cy="640080"/>
          </a:xfrm>
          <a:prstGeom prst="rect">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627632" y="3886200"/>
            <a:ext cx="9119311" cy="73152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FFFFFF"/>
                </a:solidFill>
                <a:latin typeface="Segoe UI"/>
                <a:ea typeface="Microsoft YaHei"/>
                <a:cs typeface="Segoe UI"/>
              </a:rPr>
              <a:t>本环节目标：官方要求 make a contribution … in your own words。这一步直接决定 4 分还是 5 分。</a:t>
            </a:r>
          </a:p>
        </p:txBody>
      </p:sp>
      <p:sp>
        <p:nvSpPr>
          <p:cNvPr id="12" name="Rounded Rectangle 11"/>
          <p:cNvSpPr/>
          <p:nvPr/>
        </p:nvSpPr>
        <p:spPr>
          <a:xfrm>
            <a:off x="1371600" y="4892040"/>
            <a:ext cx="841248" cy="365760"/>
          </a:xfrm>
          <a:prstGeom prst="roundRect">
            <a:avLst>
              <a:gd name="adj" fmla="val 40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371600" y="4933188"/>
            <a:ext cx="841248" cy="365760"/>
          </a:xfrm>
          <a:prstGeom prst="rect">
            <a:avLst/>
          </a:prstGeom>
          <a:noFill/>
        </p:spPr>
        <p:txBody>
          <a:bodyPr wrap="square" lIns="0" rIns="0" tIns="0" bIns="0" anchor="t">
            <a:spAutoFit/>
          </a:bodyPr>
          <a:lstStyle/>
          <a:p>
            <a:pPr algn="ctr">
              <a:lnSpc>
                <a:spcPct val="116000"/>
              </a:lnSpc>
              <a:spcBef>
                <a:spcPts val="0"/>
              </a:spcBef>
              <a:spcAft>
                <a:spcPts val="0"/>
              </a:spcAft>
            </a:pPr>
            <a:r>
              <a:rPr sz="1700" b="1" i="0" u="none">
                <a:solidFill>
                  <a:srgbClr val="FFFFFF"/>
                </a:solidFill>
                <a:latin typeface="Segoe UI"/>
                <a:ea typeface="Microsoft YaHei"/>
                <a:cs typeface="Segoe UI"/>
              </a:rPr>
              <a:t>20 分钟</a:t>
            </a:r>
          </a:p>
        </p:txBody>
      </p:sp>
      <p:sp>
        <p:nvSpPr>
          <p:cNvPr id="14" name="TextBox 13"/>
          <p:cNvSpPr txBox="1"/>
          <p:nvPr/>
        </p:nvSpPr>
        <p:spPr>
          <a:xfrm>
            <a:off x="3200400" y="4937760"/>
            <a:ext cx="8022031" cy="45720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9EC6CE"/>
                </a:solidFill>
                <a:latin typeface="Segoe UI"/>
                <a:ea typeface="Microsoft YaHei"/>
                <a:cs typeface="Segoe UI"/>
              </a:rPr>
              <a:t>Agree + Add ×2 · Disagree + Explain ×2</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5 · Contribution</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72</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DEFINITION</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Contribution 到底是什么</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673352"/>
            <a:ext cx="10948111" cy="1234440"/>
          </a:xfrm>
          <a:prstGeom prst="roundRect">
            <a:avLst>
              <a:gd name="adj" fmla="val 6000"/>
            </a:avLst>
          </a:prstGeom>
          <a:solidFill>
            <a:srgbClr val="FFFFFF"/>
          </a:solidFill>
          <a:ln w="22860">
            <a:solidFill>
              <a:srgbClr val="0E536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33272" y="1883664"/>
            <a:ext cx="10125151" cy="868680"/>
          </a:xfrm>
          <a:prstGeom prst="rect">
            <a:avLst/>
          </a:prstGeom>
          <a:noFill/>
        </p:spPr>
        <p:txBody>
          <a:bodyPr wrap="square" lIns="0" rIns="0" tIns="0" bIns="0" anchor="t">
            <a:spAutoFit/>
          </a:bodyPr>
          <a:lstStyle/>
          <a:p>
            <a:pPr algn="l">
              <a:lnSpc>
                <a:spcPct val="116000"/>
              </a:lnSpc>
              <a:spcBef>
                <a:spcPts val="0"/>
              </a:spcBef>
              <a:spcAft>
                <a:spcPts val="800"/>
              </a:spcAft>
            </a:pPr>
            <a:r>
              <a:rPr sz="2300" b="1" i="0" u="none">
                <a:solidFill>
                  <a:srgbClr val="0E5362"/>
                </a:solidFill>
                <a:latin typeface="Segoe UI"/>
                <a:ea typeface="Microsoft YaHei"/>
                <a:cs typeface="Segoe UI"/>
              </a:rPr>
              <a:t>Make a contribution to the discussion in your own words.</a:t>
            </a:r>
          </a:p>
          <a:p>
            <a:pPr algn="l">
              <a:lnSpc>
                <a:spcPct val="116000"/>
              </a:lnSpc>
              <a:spcBef>
                <a:spcPts val="0"/>
              </a:spcBef>
              <a:spcAft>
                <a:spcPts val="0"/>
              </a:spcAft>
            </a:pPr>
            <a:r>
              <a:rPr sz="1900" b="0" i="0" u="none">
                <a:solidFill>
                  <a:srgbClr val="627378"/>
                </a:solidFill>
                <a:latin typeface="Segoe UI"/>
                <a:ea typeface="Microsoft YaHei"/>
                <a:cs typeface="Segoe UI"/>
              </a:rPr>
              <a:t>— TOEFL iBT 官方指令原文</a:t>
            </a:r>
          </a:p>
        </p:txBody>
      </p:sp>
      <p:sp>
        <p:nvSpPr>
          <p:cNvPr id="10" name="Rounded Rectangle 9"/>
          <p:cNvSpPr/>
          <p:nvPr/>
        </p:nvSpPr>
        <p:spPr>
          <a:xfrm>
            <a:off x="621792" y="3182112"/>
            <a:ext cx="10948111" cy="1024128"/>
          </a:xfrm>
          <a:prstGeom prst="roundRect">
            <a:avLst>
              <a:gd name="adj" fmla="val 6000"/>
            </a:avLst>
          </a:prstGeom>
          <a:solidFill>
            <a:srgbClr val="FBEC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21792" y="3182112"/>
            <a:ext cx="64008" cy="1024128"/>
          </a:xfrm>
          <a:prstGeom prst="rect">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50976" y="3364992"/>
            <a:ext cx="10262311" cy="411480"/>
          </a:xfrm>
          <a:prstGeom prst="rect">
            <a:avLst/>
          </a:prstGeom>
          <a:noFill/>
        </p:spPr>
        <p:txBody>
          <a:bodyPr wrap="square" lIns="0" rIns="0" tIns="0" bIns="0" anchor="t">
            <a:spAutoFit/>
          </a:bodyPr>
          <a:lstStyle/>
          <a:p>
            <a:pPr algn="l">
              <a:lnSpc>
                <a:spcPct val="116000"/>
              </a:lnSpc>
              <a:spcBef>
                <a:spcPts val="0"/>
              </a:spcBef>
              <a:spcAft>
                <a:spcPts val="400"/>
              </a:spcAft>
            </a:pPr>
            <a:r>
              <a:rPr sz="2100" b="1" i="0" u="none">
                <a:solidFill>
                  <a:srgbClr val="C95527"/>
                </a:solidFill>
                <a:latin typeface="Segoe UI"/>
                <a:ea typeface="Microsoft YaHei"/>
                <a:cs typeface="Segoe UI"/>
              </a:rPr>
              <a:t>不是 contribution</a:t>
            </a:r>
          </a:p>
        </p:txBody>
      </p:sp>
      <p:sp>
        <p:nvSpPr>
          <p:cNvPr id="13" name="TextBox 12"/>
          <p:cNvSpPr txBox="1"/>
          <p:nvPr/>
        </p:nvSpPr>
        <p:spPr>
          <a:xfrm>
            <a:off x="950976" y="3785615"/>
            <a:ext cx="1026231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把 Kelly 或 Andrew 说过的话，换几个词再说一遍。</a:t>
            </a:r>
          </a:p>
        </p:txBody>
      </p:sp>
      <p:sp>
        <p:nvSpPr>
          <p:cNvPr id="14" name="Rounded Rectangle 13"/>
          <p:cNvSpPr/>
          <p:nvPr/>
        </p:nvSpPr>
        <p:spPr>
          <a:xfrm>
            <a:off x="621792" y="4352544"/>
            <a:ext cx="10948111" cy="1024128"/>
          </a:xfrm>
          <a:prstGeom prst="roundRect">
            <a:avLst>
              <a:gd name="adj" fmla="val 6000"/>
            </a:avLst>
          </a:prstGeom>
          <a:solidFill>
            <a:srgbClr val="E7F1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621792" y="4352544"/>
            <a:ext cx="64008" cy="1024128"/>
          </a:xfrm>
          <a:prstGeom prst="rect">
            <a:avLst/>
          </a:prstGeom>
          <a:solidFill>
            <a:srgbClr val="2E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950976" y="4535424"/>
            <a:ext cx="10262311" cy="411480"/>
          </a:xfrm>
          <a:prstGeom prst="rect">
            <a:avLst/>
          </a:prstGeom>
          <a:noFill/>
        </p:spPr>
        <p:txBody>
          <a:bodyPr wrap="square" lIns="0" rIns="0" tIns="0" bIns="0" anchor="t">
            <a:spAutoFit/>
          </a:bodyPr>
          <a:lstStyle/>
          <a:p>
            <a:pPr algn="l">
              <a:lnSpc>
                <a:spcPct val="116000"/>
              </a:lnSpc>
              <a:spcBef>
                <a:spcPts val="0"/>
              </a:spcBef>
              <a:spcAft>
                <a:spcPts val="400"/>
              </a:spcAft>
            </a:pPr>
            <a:r>
              <a:rPr sz="2100" b="1" i="0" u="none">
                <a:solidFill>
                  <a:srgbClr val="2E6B4F"/>
                </a:solidFill>
                <a:latin typeface="Segoe UI"/>
                <a:ea typeface="Microsoft YaHei"/>
                <a:cs typeface="Segoe UI"/>
              </a:rPr>
              <a:t>是 contribution</a:t>
            </a:r>
          </a:p>
        </p:txBody>
      </p:sp>
      <p:sp>
        <p:nvSpPr>
          <p:cNvPr id="17" name="TextBox 16"/>
          <p:cNvSpPr txBox="1"/>
          <p:nvPr/>
        </p:nvSpPr>
        <p:spPr>
          <a:xfrm>
            <a:off x="950976" y="4956048"/>
            <a:ext cx="1026231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读完你这一句，讨论里多出了一个之前没有的信息。</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5 · Contribution</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73</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THE TEST</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一个判断标准</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764792"/>
            <a:ext cx="10948111" cy="1143000"/>
          </a:xfrm>
          <a:prstGeom prst="roundRect">
            <a:avLst>
              <a:gd name="adj" fmla="val 6000"/>
            </a:avLst>
          </a:prstGeom>
          <a:solidFill>
            <a:srgbClr val="0E53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33272" y="2011680"/>
            <a:ext cx="10125151" cy="640080"/>
          </a:xfrm>
          <a:prstGeom prst="rect">
            <a:avLst/>
          </a:prstGeom>
          <a:noFill/>
        </p:spPr>
        <p:txBody>
          <a:bodyPr wrap="square" lIns="0" rIns="0" tIns="0" bIns="0" anchor="t">
            <a:spAutoFit/>
          </a:bodyPr>
          <a:lstStyle/>
          <a:p>
            <a:pPr algn="ctr">
              <a:lnSpc>
                <a:spcPct val="116000"/>
              </a:lnSpc>
              <a:spcBef>
                <a:spcPts val="0"/>
              </a:spcBef>
              <a:spcAft>
                <a:spcPts val="0"/>
              </a:spcAft>
            </a:pPr>
            <a:r>
              <a:rPr sz="2700" b="1" i="0" u="none">
                <a:solidFill>
                  <a:srgbClr val="FFFFFF"/>
                </a:solidFill>
                <a:latin typeface="Segoe UI"/>
                <a:ea typeface="Microsoft YaHei"/>
                <a:cs typeface="Segoe UI"/>
              </a:rPr>
              <a:t>把你这一句删掉，这场讨论会少掉什么？</a:t>
            </a:r>
          </a:p>
        </p:txBody>
      </p:sp>
      <p:sp>
        <p:nvSpPr>
          <p:cNvPr id="10" name="Rounded Rectangle 9"/>
          <p:cNvSpPr/>
          <p:nvPr/>
        </p:nvSpPr>
        <p:spPr>
          <a:xfrm>
            <a:off x="621792" y="3227832"/>
            <a:ext cx="10948111" cy="960120"/>
          </a:xfrm>
          <a:prstGeom prst="roundRect">
            <a:avLst>
              <a:gd name="adj" fmla="val 6000"/>
            </a:avLst>
          </a:prstGeom>
          <a:solidFill>
            <a:srgbClr val="FFFFFF"/>
          </a:solidFill>
          <a:ln w="22860">
            <a:solidFill>
              <a:srgbClr val="C9552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50976" y="3483864"/>
            <a:ext cx="6787828" cy="41148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172A31"/>
                </a:solidFill>
                <a:latin typeface="Segoe UI"/>
                <a:ea typeface="Microsoft YaHei"/>
                <a:cs typeface="Segoe UI"/>
              </a:rPr>
              <a:t>答案是「什么都不少」</a:t>
            </a:r>
          </a:p>
        </p:txBody>
      </p:sp>
      <p:sp>
        <p:nvSpPr>
          <p:cNvPr id="12" name="TextBox 11"/>
          <p:cNvSpPr txBox="1"/>
          <p:nvPr/>
        </p:nvSpPr>
        <p:spPr>
          <a:xfrm>
            <a:off x="7847545" y="3483864"/>
            <a:ext cx="3448037" cy="41148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C95527"/>
                </a:solidFill>
                <a:latin typeface="Segoe UI"/>
                <a:ea typeface="Microsoft YaHei"/>
                <a:cs typeface="Segoe UI"/>
              </a:rPr>
              <a:t>→ 这是重复，0 分贡献</a:t>
            </a:r>
          </a:p>
        </p:txBody>
      </p:sp>
      <p:sp>
        <p:nvSpPr>
          <p:cNvPr id="13" name="Rounded Rectangle 12"/>
          <p:cNvSpPr/>
          <p:nvPr/>
        </p:nvSpPr>
        <p:spPr>
          <a:xfrm>
            <a:off x="621792" y="4325112"/>
            <a:ext cx="10948111" cy="960120"/>
          </a:xfrm>
          <a:prstGeom prst="roundRect">
            <a:avLst>
              <a:gd name="adj" fmla="val 6000"/>
            </a:avLst>
          </a:prstGeom>
          <a:solidFill>
            <a:srgbClr val="FFFFFF"/>
          </a:solidFill>
          <a:ln w="22860">
            <a:solidFill>
              <a:srgbClr val="2E6B4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50976" y="4581144"/>
            <a:ext cx="6787828" cy="41148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172A31"/>
                </a:solidFill>
                <a:latin typeface="Segoe UI"/>
                <a:ea typeface="Microsoft YaHei"/>
                <a:cs typeface="Segoe UI"/>
              </a:rPr>
              <a:t>答案是「少了一个具体的人 / 一个新原因 / 一个新角度」</a:t>
            </a:r>
          </a:p>
        </p:txBody>
      </p:sp>
      <p:sp>
        <p:nvSpPr>
          <p:cNvPr id="15" name="TextBox 14"/>
          <p:cNvSpPr txBox="1"/>
          <p:nvPr/>
        </p:nvSpPr>
        <p:spPr>
          <a:xfrm>
            <a:off x="7847545" y="4581144"/>
            <a:ext cx="3448037" cy="41148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2E6B4F"/>
                </a:solidFill>
                <a:latin typeface="Segoe UI"/>
                <a:ea typeface="Microsoft YaHei"/>
                <a:cs typeface="Segoe UI"/>
              </a:rPr>
              <a:t>→ 这是贡献</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5 · Contribution</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74</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COMPARE</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重复 vs 贡献 · 三组对照</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700784"/>
            <a:ext cx="3284433" cy="402336"/>
          </a:xfrm>
          <a:prstGeom prst="roundRect">
            <a:avLst>
              <a:gd name="adj" fmla="val 6000"/>
            </a:avLst>
          </a:prstGeom>
          <a:solidFill>
            <a:srgbClr val="0E53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49808" y="1755648"/>
            <a:ext cx="3284433"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FFFFFF"/>
                </a:solidFill>
                <a:latin typeface="Segoe UI"/>
                <a:ea typeface="Microsoft YaHei"/>
                <a:cs typeface="Segoe UI"/>
              </a:rPr>
              <a:t>同学说了什么</a:t>
            </a:r>
          </a:p>
        </p:txBody>
      </p:sp>
      <p:sp>
        <p:nvSpPr>
          <p:cNvPr id="10" name="Rounded Rectangle 9"/>
          <p:cNvSpPr/>
          <p:nvPr/>
        </p:nvSpPr>
        <p:spPr>
          <a:xfrm>
            <a:off x="4015706" y="1700784"/>
            <a:ext cx="3284433" cy="402336"/>
          </a:xfrm>
          <a:prstGeom prst="roundRect">
            <a:avLst>
              <a:gd name="adj" fmla="val 6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143722" y="1755648"/>
            <a:ext cx="3284433"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FFFFFF"/>
                </a:solidFill>
                <a:latin typeface="Segoe UI"/>
                <a:ea typeface="Microsoft YaHei"/>
                <a:cs typeface="Segoe UI"/>
              </a:rPr>
              <a:t>× 重复</a:t>
            </a:r>
          </a:p>
        </p:txBody>
      </p:sp>
      <p:sp>
        <p:nvSpPr>
          <p:cNvPr id="12" name="Rounded Rectangle 11"/>
          <p:cNvSpPr/>
          <p:nvPr/>
        </p:nvSpPr>
        <p:spPr>
          <a:xfrm>
            <a:off x="7409620" y="1700784"/>
            <a:ext cx="4160282" cy="402336"/>
          </a:xfrm>
          <a:prstGeom prst="roundRect">
            <a:avLst>
              <a:gd name="adj" fmla="val 6000"/>
            </a:avLst>
          </a:prstGeom>
          <a:solidFill>
            <a:srgbClr val="2E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537636" y="1755648"/>
            <a:ext cx="4160282"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FFFFFF"/>
                </a:solidFill>
                <a:latin typeface="Segoe UI"/>
                <a:ea typeface="Microsoft YaHei"/>
                <a:cs typeface="Segoe UI"/>
              </a:rPr>
              <a:t>√ 贡献</a:t>
            </a:r>
          </a:p>
        </p:txBody>
      </p:sp>
      <p:sp>
        <p:nvSpPr>
          <p:cNvPr id="14" name="Rounded Rectangle 13"/>
          <p:cNvSpPr/>
          <p:nvPr/>
        </p:nvSpPr>
        <p:spPr>
          <a:xfrm>
            <a:off x="621792" y="2176272"/>
            <a:ext cx="10948111" cy="1243584"/>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49808" y="2322576"/>
            <a:ext cx="3174952" cy="1005840"/>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627378"/>
                </a:solidFill>
                <a:latin typeface="Segoe UI"/>
                <a:ea typeface="Microsoft YaHei"/>
                <a:cs typeface="Segoe UI"/>
              </a:rPr>
              <a:t>Kelly 说：education gives knowledge and skills.</a:t>
            </a:r>
          </a:p>
        </p:txBody>
      </p:sp>
      <p:sp>
        <p:nvSpPr>
          <p:cNvPr id="16" name="TextBox 15"/>
          <p:cNvSpPr txBox="1"/>
          <p:nvPr/>
        </p:nvSpPr>
        <p:spPr>
          <a:xfrm>
            <a:off x="4143722" y="2322576"/>
            <a:ext cx="3174952" cy="1005840"/>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C95527"/>
                </a:solidFill>
                <a:latin typeface="Segoe UI"/>
                <a:ea typeface="Microsoft YaHei"/>
                <a:cs typeface="Segoe UI"/>
              </a:rPr>
              <a:t>I agree that education gives knowledge and skills.</a:t>
            </a:r>
          </a:p>
        </p:txBody>
      </p:sp>
      <p:sp>
        <p:nvSpPr>
          <p:cNvPr id="17" name="TextBox 16"/>
          <p:cNvSpPr txBox="1"/>
          <p:nvPr/>
        </p:nvSpPr>
        <p:spPr>
          <a:xfrm>
            <a:off x="7537636" y="2322576"/>
            <a:ext cx="4050801" cy="1005840"/>
          </a:xfrm>
          <a:prstGeom prst="rect">
            <a:avLst/>
          </a:prstGeom>
          <a:noFill/>
        </p:spPr>
        <p:txBody>
          <a:bodyPr wrap="square" lIns="0" rIns="0" tIns="0" bIns="0" anchor="t">
            <a:spAutoFit/>
          </a:bodyPr>
          <a:lstStyle/>
          <a:p>
            <a:pPr algn="l">
              <a:lnSpc>
                <a:spcPct val="110000"/>
              </a:lnSpc>
              <a:spcBef>
                <a:spcPts val="0"/>
              </a:spcBef>
              <a:spcAft>
                <a:spcPts val="0"/>
              </a:spcAft>
            </a:pPr>
            <a:r>
              <a:rPr sz="1900" b="1" i="0" u="none">
                <a:solidFill>
                  <a:srgbClr val="172A31"/>
                </a:solidFill>
                <a:latin typeface="Segoe UI"/>
                <a:ea typeface="Microsoft YaHei"/>
                <a:cs typeface="Segoe UI"/>
              </a:rPr>
              <a:t>I agree with Kelly, and I would add that a certificate is the only proof a stranger will accept.</a:t>
            </a:r>
          </a:p>
        </p:txBody>
      </p:sp>
      <p:sp>
        <p:nvSpPr>
          <p:cNvPr id="18" name="Rounded Rectangle 17"/>
          <p:cNvSpPr/>
          <p:nvPr/>
        </p:nvSpPr>
        <p:spPr>
          <a:xfrm>
            <a:off x="621792" y="3493008"/>
            <a:ext cx="10948111" cy="1243584"/>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49808" y="3639312"/>
            <a:ext cx="3174952" cy="1005840"/>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627378"/>
                </a:solidFill>
                <a:latin typeface="Segoe UI"/>
                <a:ea typeface="Microsoft YaHei"/>
                <a:cs typeface="Segoe UI"/>
              </a:rPr>
              <a:t>Andrew 说：knowing the right people opens doors.</a:t>
            </a:r>
          </a:p>
        </p:txBody>
      </p:sp>
      <p:sp>
        <p:nvSpPr>
          <p:cNvPr id="20" name="TextBox 19"/>
          <p:cNvSpPr txBox="1"/>
          <p:nvPr/>
        </p:nvSpPr>
        <p:spPr>
          <a:xfrm>
            <a:off x="4143722" y="3639312"/>
            <a:ext cx="3174952" cy="1005840"/>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C95527"/>
                </a:solidFill>
                <a:latin typeface="Segoe UI"/>
                <a:ea typeface="Microsoft YaHei"/>
                <a:cs typeface="Segoe UI"/>
              </a:rPr>
              <a:t>Andrew is right that connections open doors.</a:t>
            </a:r>
          </a:p>
        </p:txBody>
      </p:sp>
      <p:sp>
        <p:nvSpPr>
          <p:cNvPr id="21" name="TextBox 20"/>
          <p:cNvSpPr txBox="1"/>
          <p:nvPr/>
        </p:nvSpPr>
        <p:spPr>
          <a:xfrm>
            <a:off x="7537636" y="3639312"/>
            <a:ext cx="4050801" cy="1005840"/>
          </a:xfrm>
          <a:prstGeom prst="rect">
            <a:avLst/>
          </a:prstGeom>
          <a:noFill/>
        </p:spPr>
        <p:txBody>
          <a:bodyPr wrap="square" lIns="0" rIns="0" tIns="0" bIns="0" anchor="t">
            <a:spAutoFit/>
          </a:bodyPr>
          <a:lstStyle/>
          <a:p>
            <a:pPr algn="l">
              <a:lnSpc>
                <a:spcPct val="110000"/>
              </a:lnSpc>
              <a:spcBef>
                <a:spcPts val="0"/>
              </a:spcBef>
              <a:spcAft>
                <a:spcPts val="0"/>
              </a:spcAft>
            </a:pPr>
            <a:r>
              <a:rPr sz="1900" b="1" i="0" u="none">
                <a:solidFill>
                  <a:srgbClr val="172A31"/>
                </a:solidFill>
                <a:latin typeface="Segoe UI"/>
                <a:ea typeface="Microsoft YaHei"/>
                <a:cs typeface="Segoe UI"/>
              </a:rPr>
              <a:t>Andrew is right that connections open doors, but someone has to be qualified before that door is worth opening.</a:t>
            </a:r>
          </a:p>
        </p:txBody>
      </p:sp>
      <p:sp>
        <p:nvSpPr>
          <p:cNvPr id="22" name="Rounded Rectangle 21"/>
          <p:cNvSpPr/>
          <p:nvPr/>
        </p:nvSpPr>
        <p:spPr>
          <a:xfrm>
            <a:off x="621792" y="4809744"/>
            <a:ext cx="10948111" cy="1243584"/>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49808" y="4956048"/>
            <a:ext cx="3174952" cy="1005840"/>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627378"/>
                </a:solidFill>
                <a:latin typeface="Segoe UI"/>
                <a:ea typeface="Microsoft YaHei"/>
                <a:cs typeface="Segoe UI"/>
              </a:rPr>
              <a:t>Kelly 说：education is a foundation for success.</a:t>
            </a:r>
          </a:p>
        </p:txBody>
      </p:sp>
      <p:sp>
        <p:nvSpPr>
          <p:cNvPr id="24" name="TextBox 23"/>
          <p:cNvSpPr txBox="1"/>
          <p:nvPr/>
        </p:nvSpPr>
        <p:spPr>
          <a:xfrm>
            <a:off x="4143722" y="4956048"/>
            <a:ext cx="3174952" cy="1005840"/>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C95527"/>
                </a:solidFill>
                <a:latin typeface="Segoe UI"/>
                <a:ea typeface="Microsoft YaHei"/>
                <a:cs typeface="Segoe UI"/>
              </a:rPr>
              <a:t>Education is really the foundation of success.</a:t>
            </a:r>
          </a:p>
        </p:txBody>
      </p:sp>
      <p:sp>
        <p:nvSpPr>
          <p:cNvPr id="25" name="TextBox 24"/>
          <p:cNvSpPr txBox="1"/>
          <p:nvPr/>
        </p:nvSpPr>
        <p:spPr>
          <a:xfrm>
            <a:off x="7537636" y="4956048"/>
            <a:ext cx="4050801" cy="1005840"/>
          </a:xfrm>
          <a:prstGeom prst="rect">
            <a:avLst/>
          </a:prstGeom>
          <a:noFill/>
        </p:spPr>
        <p:txBody>
          <a:bodyPr wrap="square" lIns="0" rIns="0" tIns="0" bIns="0" anchor="t">
            <a:spAutoFit/>
          </a:bodyPr>
          <a:lstStyle/>
          <a:p>
            <a:pPr algn="l">
              <a:lnSpc>
                <a:spcPct val="110000"/>
              </a:lnSpc>
              <a:spcBef>
                <a:spcPts val="0"/>
              </a:spcBef>
              <a:spcAft>
                <a:spcPts val="0"/>
              </a:spcAft>
            </a:pPr>
            <a:r>
              <a:rPr sz="1900" b="1" i="0" u="none">
                <a:solidFill>
                  <a:srgbClr val="172A31"/>
                </a:solidFill>
                <a:latin typeface="Segoe UI"/>
                <a:ea typeface="Microsoft YaHei"/>
                <a:cs typeface="Segoe UI"/>
              </a:rPr>
              <a:t>Education also decides who a person meets, because classmates become the first professional network.</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5 · Contribution</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75</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TEMPLATE</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模板 1 · Agree + Add</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719072"/>
            <a:ext cx="10948111" cy="1371600"/>
          </a:xfrm>
          <a:prstGeom prst="roundRect">
            <a:avLst>
              <a:gd name="adj" fmla="val 6000"/>
            </a:avLst>
          </a:prstGeom>
          <a:solidFill>
            <a:srgbClr val="E7F1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33272" y="1956816"/>
            <a:ext cx="10125151" cy="1005840"/>
          </a:xfrm>
          <a:prstGeom prst="rect">
            <a:avLst/>
          </a:prstGeom>
          <a:noFill/>
        </p:spPr>
        <p:txBody>
          <a:bodyPr wrap="square" lIns="0" rIns="0" tIns="0" bIns="0" anchor="t">
            <a:spAutoFit/>
          </a:bodyPr>
          <a:lstStyle/>
          <a:p>
            <a:pPr algn="l">
              <a:lnSpc>
                <a:spcPct val="116000"/>
              </a:lnSpc>
              <a:spcBef>
                <a:spcPts val="0"/>
              </a:spcBef>
              <a:spcAft>
                <a:spcPts val="800"/>
              </a:spcAft>
            </a:pPr>
            <a:r>
              <a:rPr sz="2500" b="1" i="0" u="none">
                <a:solidFill>
                  <a:srgbClr val="2E6B4F"/>
                </a:solidFill>
                <a:latin typeface="Segoe UI"/>
                <a:ea typeface="Microsoft YaHei"/>
                <a:cs typeface="Segoe UI"/>
              </a:rPr>
              <a:t>I agree with ______ that ______.</a:t>
            </a:r>
          </a:p>
          <a:p>
            <a:pPr algn="l">
              <a:lnSpc>
                <a:spcPct val="116000"/>
              </a:lnSpc>
              <a:spcBef>
                <a:spcPts val="0"/>
              </a:spcBef>
              <a:spcAft>
                <a:spcPts val="0"/>
              </a:spcAft>
            </a:pPr>
            <a:r>
              <a:rPr sz="2500" b="1" i="0" u="none">
                <a:solidFill>
                  <a:srgbClr val="2E6B4F"/>
                </a:solidFill>
                <a:latin typeface="Segoe UI"/>
                <a:ea typeface="Microsoft YaHei"/>
                <a:cs typeface="Segoe UI"/>
              </a:rPr>
              <a:t>I would also add that ______ because ______.</a:t>
            </a:r>
          </a:p>
        </p:txBody>
      </p:sp>
      <p:sp>
        <p:nvSpPr>
          <p:cNvPr id="10" name="Rounded Rectangle 9"/>
          <p:cNvSpPr/>
          <p:nvPr/>
        </p:nvSpPr>
        <p:spPr>
          <a:xfrm>
            <a:off x="621792" y="3319272"/>
            <a:ext cx="10948111" cy="841248"/>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14400" y="3538728"/>
            <a:ext cx="2011680" cy="41148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2E6B4F"/>
                </a:solidFill>
                <a:latin typeface="Segoe UI"/>
                <a:ea typeface="Microsoft YaHei"/>
                <a:cs typeface="Segoe UI"/>
              </a:rPr>
              <a:t>第一句</a:t>
            </a:r>
          </a:p>
        </p:txBody>
      </p:sp>
      <p:sp>
        <p:nvSpPr>
          <p:cNvPr id="12" name="TextBox 11"/>
          <p:cNvSpPr txBox="1"/>
          <p:nvPr/>
        </p:nvSpPr>
        <p:spPr>
          <a:xfrm>
            <a:off x="3090672" y="3538728"/>
            <a:ext cx="8159191" cy="41148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先说清楚你同意他哪一点——只写一句，不要复述整段。</a:t>
            </a:r>
          </a:p>
        </p:txBody>
      </p:sp>
      <p:sp>
        <p:nvSpPr>
          <p:cNvPr id="13" name="Rounded Rectangle 12"/>
          <p:cNvSpPr/>
          <p:nvPr/>
        </p:nvSpPr>
        <p:spPr>
          <a:xfrm>
            <a:off x="621792" y="4251960"/>
            <a:ext cx="10948111" cy="841248"/>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14400" y="4471416"/>
            <a:ext cx="2011680" cy="41148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2E6B4F"/>
                </a:solidFill>
                <a:latin typeface="Segoe UI"/>
                <a:ea typeface="Microsoft YaHei"/>
                <a:cs typeface="Segoe UI"/>
              </a:rPr>
              <a:t>第二句</a:t>
            </a:r>
          </a:p>
        </p:txBody>
      </p:sp>
      <p:sp>
        <p:nvSpPr>
          <p:cNvPr id="15" name="TextBox 14"/>
          <p:cNvSpPr txBox="1"/>
          <p:nvPr/>
        </p:nvSpPr>
        <p:spPr>
          <a:xfrm>
            <a:off x="3090672" y="4471416"/>
            <a:ext cx="8159191" cy="41148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加一个他没说过的东西：一个新原因、一个具体的人、一个反面情况。</a:t>
            </a:r>
          </a:p>
        </p:txBody>
      </p:sp>
      <p:sp>
        <p:nvSpPr>
          <p:cNvPr id="16" name="Rounded Rectangle 15"/>
          <p:cNvSpPr/>
          <p:nvPr/>
        </p:nvSpPr>
        <p:spPr>
          <a:xfrm>
            <a:off x="621792" y="5184648"/>
            <a:ext cx="10948111" cy="841248"/>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914400" y="5404104"/>
            <a:ext cx="2011680" cy="41148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2E6B4F"/>
                </a:solidFill>
                <a:latin typeface="Segoe UI"/>
                <a:ea typeface="Microsoft YaHei"/>
                <a:cs typeface="Segoe UI"/>
              </a:rPr>
              <a:t>最后半句</a:t>
            </a:r>
          </a:p>
        </p:txBody>
      </p:sp>
      <p:sp>
        <p:nvSpPr>
          <p:cNvPr id="18" name="TextBox 17"/>
          <p:cNvSpPr txBox="1"/>
          <p:nvPr/>
        </p:nvSpPr>
        <p:spPr>
          <a:xfrm>
            <a:off x="3090672" y="5404104"/>
            <a:ext cx="8159191" cy="41148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because 后面必须解释，否则这个 add 还是空的。</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5 · Contribution</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76</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WORKED EXAMPLE</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Agree + Add 示范</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673352"/>
            <a:ext cx="10948111" cy="940775"/>
          </a:xfrm>
          <a:prstGeom prst="roundRect">
            <a:avLst>
              <a:gd name="adj" fmla="val 6000"/>
            </a:avLst>
          </a:prstGeom>
          <a:solidFill>
            <a:srgbClr val="F3F8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21792" y="1673352"/>
            <a:ext cx="64008" cy="940775"/>
          </a:xfrm>
          <a:prstGeom prst="rect">
            <a:avLst/>
          </a:prstGeom>
          <a:solidFill>
            <a:srgbClr val="2A7E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77824" y="1856232"/>
            <a:ext cx="2103120" cy="36576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2A7E8E"/>
                </a:solidFill>
                <a:latin typeface="Segoe UI"/>
                <a:ea typeface="Microsoft YaHei"/>
                <a:cs typeface="Segoe UI"/>
              </a:rPr>
              <a:t>Kelly 原话</a:t>
            </a:r>
          </a:p>
        </p:txBody>
      </p:sp>
      <p:sp>
        <p:nvSpPr>
          <p:cNvPr id="11" name="TextBox 10"/>
          <p:cNvSpPr txBox="1"/>
          <p:nvPr/>
        </p:nvSpPr>
        <p:spPr>
          <a:xfrm>
            <a:off x="3090672" y="1856232"/>
            <a:ext cx="8204911" cy="556727"/>
          </a:xfrm>
          <a:prstGeom prst="rect">
            <a:avLst/>
          </a:prstGeom>
          <a:noFill/>
        </p:spPr>
        <p:txBody>
          <a:bodyPr wrap="square" lIns="0" rIns="0" tIns="0" bIns="0" anchor="t">
            <a:spAutoFit/>
          </a:bodyPr>
          <a:lstStyle/>
          <a:p>
            <a:pPr algn="l">
              <a:lnSpc>
                <a:spcPct val="112000"/>
              </a:lnSpc>
              <a:spcBef>
                <a:spcPts val="0"/>
              </a:spcBef>
              <a:spcAft>
                <a:spcPts val="0"/>
              </a:spcAft>
            </a:pPr>
            <a:r>
              <a:rPr sz="1900" b="0" i="1" u="none">
                <a:solidFill>
                  <a:srgbClr val="172A31"/>
                </a:solidFill>
                <a:latin typeface="Segoe UI"/>
                <a:ea typeface="Microsoft YaHei"/>
                <a:cs typeface="Segoe UI"/>
              </a:rPr>
              <a:t>“… education provides a foundation for long-term success and upward mobility.”</a:t>
            </a:r>
          </a:p>
        </p:txBody>
      </p:sp>
      <p:sp>
        <p:nvSpPr>
          <p:cNvPr id="12" name="TextBox 11"/>
          <p:cNvSpPr txBox="1"/>
          <p:nvPr/>
        </p:nvSpPr>
        <p:spPr>
          <a:xfrm>
            <a:off x="877824" y="2185416"/>
            <a:ext cx="2103120" cy="292608"/>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节选</a:t>
            </a:r>
          </a:p>
        </p:txBody>
      </p:sp>
      <p:sp>
        <p:nvSpPr>
          <p:cNvPr id="13" name="Rounded Rectangle 12"/>
          <p:cNvSpPr/>
          <p:nvPr/>
        </p:nvSpPr>
        <p:spPr>
          <a:xfrm>
            <a:off x="621792" y="2815295"/>
            <a:ext cx="10948111" cy="2304288"/>
          </a:xfrm>
          <a:prstGeom prst="roundRect">
            <a:avLst>
              <a:gd name="adj" fmla="val 6000"/>
            </a:avLst>
          </a:prstGeom>
          <a:solidFill>
            <a:srgbClr val="E7F1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621792" y="2815295"/>
            <a:ext cx="64008" cy="2304288"/>
          </a:xfrm>
          <a:prstGeom prst="rect">
            <a:avLst/>
          </a:prstGeom>
          <a:solidFill>
            <a:srgbClr val="2E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96112" y="2998175"/>
            <a:ext cx="10399471" cy="310896"/>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2E6B4F"/>
                </a:solidFill>
                <a:latin typeface="Segoe UI"/>
                <a:ea typeface="Microsoft YaHei"/>
                <a:cs typeface="Segoe UI"/>
              </a:rPr>
              <a:t>老师示范 · 新信息在哪一句？</a:t>
            </a:r>
          </a:p>
        </p:txBody>
      </p:sp>
      <p:sp>
        <p:nvSpPr>
          <p:cNvPr id="16" name="TextBox 15"/>
          <p:cNvSpPr txBox="1"/>
          <p:nvPr/>
        </p:nvSpPr>
        <p:spPr>
          <a:xfrm>
            <a:off x="896112" y="3382223"/>
            <a:ext cx="1234440" cy="365760"/>
          </a:xfrm>
          <a:prstGeom prst="rect">
            <a:avLst/>
          </a:prstGeom>
          <a:noFill/>
        </p:spPr>
        <p:txBody>
          <a:bodyPr wrap="square" lIns="0" rIns="0" tIns="0" bIns="0" anchor="t">
            <a:spAutoFit/>
          </a:bodyPr>
          <a:lstStyle/>
          <a:p>
            <a:pPr algn="l">
              <a:lnSpc>
                <a:spcPct val="116000"/>
              </a:lnSpc>
              <a:spcBef>
                <a:spcPts val="0"/>
              </a:spcBef>
              <a:spcAft>
                <a:spcPts val="0"/>
              </a:spcAft>
            </a:pPr>
            <a:r>
              <a:rPr sz="1800" b="1" i="0" u="none">
                <a:solidFill>
                  <a:srgbClr val="2E6B4F"/>
                </a:solidFill>
                <a:latin typeface="Segoe UI"/>
                <a:ea typeface="Microsoft YaHei"/>
                <a:cs typeface="Segoe UI"/>
              </a:rPr>
              <a:t>Agree</a:t>
            </a:r>
          </a:p>
        </p:txBody>
      </p:sp>
      <p:sp>
        <p:nvSpPr>
          <p:cNvPr id="17" name="TextBox 16"/>
          <p:cNvSpPr txBox="1"/>
          <p:nvPr/>
        </p:nvSpPr>
        <p:spPr>
          <a:xfrm>
            <a:off x="2130552" y="3354791"/>
            <a:ext cx="9119311" cy="457200"/>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172A31"/>
                </a:solidFill>
                <a:latin typeface="Segoe UI"/>
                <a:ea typeface="Microsoft YaHei"/>
                <a:cs typeface="Segoe UI"/>
              </a:rPr>
              <a:t>I agree with Kelly that education provides a foundation for long-term success.</a:t>
            </a:r>
          </a:p>
        </p:txBody>
      </p:sp>
      <p:sp>
        <p:nvSpPr>
          <p:cNvPr id="18" name="TextBox 17"/>
          <p:cNvSpPr txBox="1"/>
          <p:nvPr/>
        </p:nvSpPr>
        <p:spPr>
          <a:xfrm>
            <a:off x="896112" y="3912575"/>
            <a:ext cx="1234440" cy="365760"/>
          </a:xfrm>
          <a:prstGeom prst="rect">
            <a:avLst/>
          </a:prstGeom>
          <a:noFill/>
        </p:spPr>
        <p:txBody>
          <a:bodyPr wrap="square" lIns="0" rIns="0" tIns="0" bIns="0" anchor="t">
            <a:spAutoFit/>
          </a:bodyPr>
          <a:lstStyle/>
          <a:p>
            <a:pPr algn="l">
              <a:lnSpc>
                <a:spcPct val="116000"/>
              </a:lnSpc>
              <a:spcBef>
                <a:spcPts val="0"/>
              </a:spcBef>
              <a:spcAft>
                <a:spcPts val="0"/>
              </a:spcAft>
            </a:pPr>
            <a:r>
              <a:rPr sz="1800" b="1" i="0" u="none">
                <a:solidFill>
                  <a:srgbClr val="2E6B4F"/>
                </a:solidFill>
                <a:latin typeface="Segoe UI"/>
                <a:ea typeface="Microsoft YaHei"/>
                <a:cs typeface="Segoe UI"/>
              </a:rPr>
              <a:t>Add</a:t>
            </a:r>
          </a:p>
        </p:txBody>
      </p:sp>
      <p:sp>
        <p:nvSpPr>
          <p:cNvPr id="19" name="TextBox 18"/>
          <p:cNvSpPr txBox="1"/>
          <p:nvPr/>
        </p:nvSpPr>
        <p:spPr>
          <a:xfrm>
            <a:off x="2130552" y="3885143"/>
            <a:ext cx="9119311" cy="457200"/>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172A31"/>
                </a:solidFill>
                <a:latin typeface="Segoe UI"/>
                <a:ea typeface="Microsoft YaHei"/>
                <a:cs typeface="Segoe UI"/>
              </a:rPr>
              <a:t>I would also add that education is the only advantage a student can build alone,</a:t>
            </a:r>
          </a:p>
        </p:txBody>
      </p:sp>
      <p:sp>
        <p:nvSpPr>
          <p:cNvPr id="20" name="TextBox 19"/>
          <p:cNvSpPr txBox="1"/>
          <p:nvPr/>
        </p:nvSpPr>
        <p:spPr>
          <a:xfrm>
            <a:off x="896112" y="4442927"/>
            <a:ext cx="1234440" cy="365760"/>
          </a:xfrm>
          <a:prstGeom prst="rect">
            <a:avLst/>
          </a:prstGeom>
          <a:noFill/>
        </p:spPr>
        <p:txBody>
          <a:bodyPr wrap="square" lIns="0" rIns="0" tIns="0" bIns="0" anchor="t">
            <a:spAutoFit/>
          </a:bodyPr>
          <a:lstStyle/>
          <a:p>
            <a:pPr algn="l">
              <a:lnSpc>
                <a:spcPct val="116000"/>
              </a:lnSpc>
              <a:spcBef>
                <a:spcPts val="0"/>
              </a:spcBef>
              <a:spcAft>
                <a:spcPts val="0"/>
              </a:spcAft>
            </a:pPr>
            <a:r>
              <a:rPr sz="1800" b="1" i="0" u="none">
                <a:solidFill>
                  <a:srgbClr val="2E6B4F"/>
                </a:solidFill>
                <a:latin typeface="Segoe UI"/>
                <a:ea typeface="Microsoft YaHei"/>
                <a:cs typeface="Segoe UI"/>
              </a:rPr>
              <a:t>Because</a:t>
            </a:r>
          </a:p>
        </p:txBody>
      </p:sp>
      <p:sp>
        <p:nvSpPr>
          <p:cNvPr id="21" name="TextBox 20"/>
          <p:cNvSpPr txBox="1"/>
          <p:nvPr/>
        </p:nvSpPr>
        <p:spPr>
          <a:xfrm>
            <a:off x="2130552" y="4415495"/>
            <a:ext cx="9119311" cy="457200"/>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172A31"/>
                </a:solidFill>
                <a:latin typeface="Segoe UI"/>
                <a:ea typeface="Microsoft YaHei"/>
                <a:cs typeface="Segoe UI"/>
              </a:rPr>
              <a:t>because nobody can choose the family they are born into.</a:t>
            </a:r>
          </a:p>
        </p:txBody>
      </p:sp>
      <p:sp>
        <p:nvSpPr>
          <p:cNvPr id="22" name="Rounded Rectangle 21"/>
          <p:cNvSpPr/>
          <p:nvPr/>
        </p:nvSpPr>
        <p:spPr>
          <a:xfrm>
            <a:off x="621792" y="5046431"/>
            <a:ext cx="10948111" cy="603504"/>
          </a:xfrm>
          <a:prstGeom prst="roundRect">
            <a:avLst>
              <a:gd name="adj" fmla="val 6000"/>
            </a:avLst>
          </a:prstGeom>
          <a:solidFill>
            <a:srgbClr val="FBEC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32688" y="5220167"/>
            <a:ext cx="1030803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新信息 = 「不能选择出身」。Kelly 全段都没提过这一点。</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5 · Contribution</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77</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DRILL · 学生输出</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练习 A1 · Agree + Add（回应 Kelly）</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609344"/>
            <a:ext cx="1565452" cy="347472"/>
          </a:xfrm>
          <a:prstGeom prst="roundRect">
            <a:avLst>
              <a:gd name="adj" fmla="val 40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21792" y="1650492"/>
            <a:ext cx="1565452" cy="347472"/>
          </a:xfrm>
          <a:prstGeom prst="rect">
            <a:avLst/>
          </a:prstGeom>
          <a:noFill/>
        </p:spPr>
        <p:txBody>
          <a:bodyPr wrap="square" lIns="0" rIns="0" tIns="0" bIns="0" anchor="t">
            <a:spAutoFit/>
          </a:bodyPr>
          <a:lstStyle/>
          <a:p>
            <a:pPr algn="ctr">
              <a:lnSpc>
                <a:spcPct val="116000"/>
              </a:lnSpc>
              <a:spcBef>
                <a:spcPts val="0"/>
              </a:spcBef>
              <a:spcAft>
                <a:spcPts val="0"/>
              </a:spcAft>
            </a:pPr>
            <a:r>
              <a:rPr sz="1700" b="1" i="0" u="none">
                <a:solidFill>
                  <a:srgbClr val="FFFFFF"/>
                </a:solidFill>
                <a:latin typeface="Segoe UI"/>
                <a:ea typeface="Microsoft YaHei"/>
                <a:cs typeface="Segoe UI"/>
              </a:rPr>
              <a:t>Agree + Add</a:t>
            </a:r>
          </a:p>
        </p:txBody>
      </p:sp>
      <p:sp>
        <p:nvSpPr>
          <p:cNvPr id="10" name="TextBox 9"/>
          <p:cNvSpPr txBox="1"/>
          <p:nvPr/>
        </p:nvSpPr>
        <p:spPr>
          <a:xfrm>
            <a:off x="2406700" y="1655064"/>
            <a:ext cx="9108338"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172A31"/>
                </a:solidFill>
                <a:latin typeface="Segoe UI"/>
                <a:ea typeface="Microsoft YaHei"/>
                <a:cs typeface="Segoe UI"/>
              </a:rPr>
              <a:t>两句话。第二句必须出现 Kelly 没说过的信息。</a:t>
            </a:r>
          </a:p>
        </p:txBody>
      </p:sp>
      <p:sp>
        <p:nvSpPr>
          <p:cNvPr id="11" name="Rounded Rectangle 10"/>
          <p:cNvSpPr/>
          <p:nvPr/>
        </p:nvSpPr>
        <p:spPr>
          <a:xfrm>
            <a:off x="621792" y="2103120"/>
            <a:ext cx="10948111" cy="1213500"/>
          </a:xfrm>
          <a:prstGeom prst="roundRect">
            <a:avLst>
              <a:gd name="adj" fmla="val 6000"/>
            </a:avLst>
          </a:prstGeom>
          <a:solidFill>
            <a:srgbClr val="E7F1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21792" y="2103120"/>
            <a:ext cx="64008" cy="1213500"/>
          </a:xfrm>
          <a:prstGeom prst="rect">
            <a:avLst/>
          </a:prstGeom>
          <a:solidFill>
            <a:srgbClr val="2E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96112" y="2148839"/>
            <a:ext cx="2377440" cy="27432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2E6B4F"/>
                </a:solidFill>
                <a:latin typeface="Segoe UI"/>
                <a:ea typeface="Microsoft YaHei"/>
                <a:cs typeface="Segoe UI"/>
              </a:rPr>
              <a:t>示范  EXAMPLE</a:t>
            </a:r>
          </a:p>
        </p:txBody>
      </p:sp>
      <p:sp>
        <p:nvSpPr>
          <p:cNvPr id="14" name="TextBox 13"/>
          <p:cNvSpPr txBox="1"/>
          <p:nvPr/>
        </p:nvSpPr>
        <p:spPr>
          <a:xfrm>
            <a:off x="896112" y="2404872"/>
            <a:ext cx="10399471" cy="274320"/>
          </a:xfrm>
          <a:prstGeom prst="rect">
            <a:avLst/>
          </a:prstGeom>
          <a:noFill/>
        </p:spPr>
        <p:txBody>
          <a:bodyPr wrap="square" lIns="0" rIns="0" tIns="0" bIns="0" anchor="t">
            <a:spAutoFit/>
          </a:bodyPr>
          <a:lstStyle/>
          <a:p>
            <a:pPr algn="l">
              <a:lnSpc>
                <a:spcPct val="108000"/>
              </a:lnSpc>
              <a:spcAft>
                <a:spcPts val="0"/>
              </a:spcAft>
            </a:pPr>
            <a:r>
              <a:rPr sz="1900" b="1" i="0" u="none">
                <a:solidFill>
                  <a:srgbClr val="C95527"/>
                </a:solidFill>
                <a:latin typeface="Segoe UI"/>
                <a:ea typeface="Microsoft YaHei"/>
                <a:cs typeface="Segoe UI"/>
              </a:rPr>
              <a:t>×  </a:t>
            </a:r>
            <a:r>
              <a:rPr sz="1900" b="0" i="0" u="none">
                <a:solidFill>
                  <a:srgbClr val="627378"/>
                </a:solidFill>
                <a:latin typeface="Segoe UI"/>
                <a:ea typeface="Microsoft YaHei"/>
                <a:cs typeface="Segoe UI"/>
              </a:rPr>
              <a:t>I agree with Kelly that education is very important for people.</a:t>
            </a:r>
          </a:p>
        </p:txBody>
      </p:sp>
      <p:sp>
        <p:nvSpPr>
          <p:cNvPr id="15" name="TextBox 14"/>
          <p:cNvSpPr txBox="1"/>
          <p:nvPr/>
        </p:nvSpPr>
        <p:spPr>
          <a:xfrm>
            <a:off x="896112" y="2679191"/>
            <a:ext cx="10399471" cy="536844"/>
          </a:xfrm>
          <a:prstGeom prst="rect">
            <a:avLst/>
          </a:prstGeom>
          <a:noFill/>
        </p:spPr>
        <p:txBody>
          <a:bodyPr wrap="square" lIns="0" rIns="0" tIns="0" bIns="0" anchor="t">
            <a:spAutoFit/>
          </a:bodyPr>
          <a:lstStyle/>
          <a:p>
            <a:pPr algn="l">
              <a:lnSpc>
                <a:spcPct val="108000"/>
              </a:lnSpc>
              <a:spcAft>
                <a:spcPts val="0"/>
              </a:spcAft>
            </a:pPr>
            <a:r>
              <a:rPr sz="1900" b="1" i="0" u="none">
                <a:solidFill>
                  <a:srgbClr val="2E6B4F"/>
                </a:solidFill>
                <a:latin typeface="Segoe UI"/>
                <a:ea typeface="Microsoft YaHei"/>
                <a:cs typeface="Segoe UI"/>
              </a:rPr>
              <a:t>√  </a:t>
            </a:r>
            <a:r>
              <a:rPr sz="1900" b="1" i="0" u="none">
                <a:solidFill>
                  <a:srgbClr val="172A31"/>
                </a:solidFill>
                <a:latin typeface="Segoe UI"/>
                <a:ea typeface="Microsoft YaHei"/>
                <a:cs typeface="Segoe UI"/>
              </a:rPr>
              <a:t>I agree with Kelly that education opens job opportunities. I would also add that it decides who a student meets every day, because classmates become the first professional network.</a:t>
            </a:r>
          </a:p>
        </p:txBody>
      </p:sp>
      <p:sp>
        <p:nvSpPr>
          <p:cNvPr id="16" name="Rounded Rectangle 15"/>
          <p:cNvSpPr/>
          <p:nvPr/>
        </p:nvSpPr>
        <p:spPr>
          <a:xfrm>
            <a:off x="621792" y="3444636"/>
            <a:ext cx="384048" cy="384048"/>
          </a:xfrm>
          <a:prstGeom prst="roundRect">
            <a:avLst>
              <a:gd name="adj" fmla="val 50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21792" y="3494928"/>
            <a:ext cx="384048" cy="365760"/>
          </a:xfrm>
          <a:prstGeom prst="rect">
            <a:avLst/>
          </a:prstGeom>
          <a:noFill/>
        </p:spPr>
        <p:txBody>
          <a:bodyPr wrap="square" lIns="0" rIns="0" tIns="0" bIns="0" anchor="t">
            <a:spAutoFit/>
          </a:bodyPr>
          <a:lstStyle/>
          <a:p>
            <a:pPr algn="ctr">
              <a:lnSpc>
                <a:spcPct val="116000"/>
              </a:lnSpc>
              <a:spcBef>
                <a:spcPts val="0"/>
              </a:spcBef>
              <a:spcAft>
                <a:spcPts val="0"/>
              </a:spcAft>
            </a:pPr>
            <a:r>
              <a:rPr sz="1700" b="1" i="0" u="none">
                <a:solidFill>
                  <a:srgbClr val="FFFFFF"/>
                </a:solidFill>
                <a:latin typeface="Segoe UI"/>
                <a:ea typeface="Microsoft YaHei"/>
                <a:cs typeface="Segoe UI"/>
              </a:rPr>
              <a:t>1</a:t>
            </a:r>
          </a:p>
        </p:txBody>
      </p:sp>
      <p:sp>
        <p:nvSpPr>
          <p:cNvPr id="18" name="TextBox 17"/>
          <p:cNvSpPr txBox="1"/>
          <p:nvPr/>
        </p:nvSpPr>
        <p:spPr>
          <a:xfrm>
            <a:off x="1133856" y="3453780"/>
            <a:ext cx="10436047" cy="365760"/>
          </a:xfrm>
          <a:prstGeom prst="rect">
            <a:avLst/>
          </a:prstGeom>
          <a:noFill/>
        </p:spPr>
        <p:txBody>
          <a:bodyPr wrap="square" lIns="0" rIns="0" tIns="0" bIns="0" anchor="t">
            <a:spAutoFit/>
          </a:bodyPr>
          <a:lstStyle/>
          <a:p>
            <a:pPr algn="l">
              <a:lnSpc>
                <a:spcPct val="110000"/>
              </a:lnSpc>
              <a:spcBef>
                <a:spcPts val="0"/>
              </a:spcBef>
              <a:spcAft>
                <a:spcPts val="0"/>
              </a:spcAft>
            </a:pPr>
            <a:r>
              <a:rPr sz="1900" b="1" i="0" u="none">
                <a:solidFill>
                  <a:srgbClr val="172A31"/>
                </a:solidFill>
                <a:latin typeface="Segoe UI"/>
                <a:ea typeface="Microsoft YaHei"/>
                <a:cs typeface="Segoe UI"/>
              </a:rPr>
              <a:t>I agree with Kelly that ______. I would also add that ______ because ______.</a:t>
            </a:r>
          </a:p>
        </p:txBody>
      </p:sp>
      <p:sp>
        <p:nvSpPr>
          <p:cNvPr id="19" name="TextBox 18"/>
          <p:cNvSpPr txBox="1"/>
          <p:nvPr/>
        </p:nvSpPr>
        <p:spPr>
          <a:xfrm>
            <a:off x="1133856" y="3856116"/>
            <a:ext cx="10436047" cy="292608"/>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C95527"/>
                </a:solidFill>
                <a:latin typeface="Segoe UI"/>
                <a:ea typeface="Microsoft YaHei"/>
                <a:cs typeface="Segoe UI"/>
              </a:rPr>
              <a:t>可用新角度：同学就是第一批人脉 / 教育让人敢开口 / 教育给的是第二次机会</a:t>
            </a:r>
          </a:p>
        </p:txBody>
      </p:sp>
      <p:cxnSp>
        <p:nvCxnSpPr>
          <p:cNvPr id="20" name="Connector 19"/>
          <p:cNvCxnSpPr/>
          <p:nvPr/>
        </p:nvCxnSpPr>
        <p:spPr>
          <a:xfrm>
            <a:off x="1133856" y="4295028"/>
            <a:ext cx="10436047"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133856" y="4679076"/>
            <a:ext cx="10436047"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133856" y="5063124"/>
            <a:ext cx="10436047"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5 · Contribution</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78</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DRILL · 学生输出</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练习 A2 · Agree + Add（回应 Andrew）</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609344"/>
            <a:ext cx="1565452" cy="347472"/>
          </a:xfrm>
          <a:prstGeom prst="roundRect">
            <a:avLst>
              <a:gd name="adj" fmla="val 40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21792" y="1650492"/>
            <a:ext cx="1565452" cy="347472"/>
          </a:xfrm>
          <a:prstGeom prst="rect">
            <a:avLst/>
          </a:prstGeom>
          <a:noFill/>
        </p:spPr>
        <p:txBody>
          <a:bodyPr wrap="square" lIns="0" rIns="0" tIns="0" bIns="0" anchor="t">
            <a:spAutoFit/>
          </a:bodyPr>
          <a:lstStyle/>
          <a:p>
            <a:pPr algn="ctr">
              <a:lnSpc>
                <a:spcPct val="116000"/>
              </a:lnSpc>
              <a:spcBef>
                <a:spcPts val="0"/>
              </a:spcBef>
              <a:spcAft>
                <a:spcPts val="0"/>
              </a:spcAft>
            </a:pPr>
            <a:r>
              <a:rPr sz="1700" b="1" i="0" u="none">
                <a:solidFill>
                  <a:srgbClr val="FFFFFF"/>
                </a:solidFill>
                <a:latin typeface="Segoe UI"/>
                <a:ea typeface="Microsoft YaHei"/>
                <a:cs typeface="Segoe UI"/>
              </a:rPr>
              <a:t>Agree + Add</a:t>
            </a:r>
          </a:p>
        </p:txBody>
      </p:sp>
      <p:sp>
        <p:nvSpPr>
          <p:cNvPr id="10" name="TextBox 9"/>
          <p:cNvSpPr txBox="1"/>
          <p:nvPr/>
        </p:nvSpPr>
        <p:spPr>
          <a:xfrm>
            <a:off x="2406700" y="1655064"/>
            <a:ext cx="9108338"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172A31"/>
                </a:solidFill>
                <a:latin typeface="Segoe UI"/>
                <a:ea typeface="Microsoft YaHei"/>
                <a:cs typeface="Segoe UI"/>
              </a:rPr>
              <a:t>这次同意 Andrew。注意：同意他，不等于放弃你的立场。</a:t>
            </a:r>
          </a:p>
        </p:txBody>
      </p:sp>
      <p:sp>
        <p:nvSpPr>
          <p:cNvPr id="11" name="Rounded Rectangle 10"/>
          <p:cNvSpPr/>
          <p:nvPr/>
        </p:nvSpPr>
        <p:spPr>
          <a:xfrm>
            <a:off x="621792" y="2103120"/>
            <a:ext cx="10948111" cy="1481922"/>
          </a:xfrm>
          <a:prstGeom prst="roundRect">
            <a:avLst>
              <a:gd name="adj" fmla="val 6000"/>
            </a:avLst>
          </a:prstGeom>
          <a:solidFill>
            <a:srgbClr val="E7F1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21792" y="2103120"/>
            <a:ext cx="64008" cy="1481922"/>
          </a:xfrm>
          <a:prstGeom prst="rect">
            <a:avLst/>
          </a:prstGeom>
          <a:solidFill>
            <a:srgbClr val="2E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96112" y="2148839"/>
            <a:ext cx="2377440" cy="27432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2E6B4F"/>
                </a:solidFill>
                <a:latin typeface="Segoe UI"/>
                <a:ea typeface="Microsoft YaHei"/>
                <a:cs typeface="Segoe UI"/>
              </a:rPr>
              <a:t>示范  EXAMPLE</a:t>
            </a:r>
          </a:p>
        </p:txBody>
      </p:sp>
      <p:sp>
        <p:nvSpPr>
          <p:cNvPr id="14" name="TextBox 13"/>
          <p:cNvSpPr txBox="1"/>
          <p:nvPr/>
        </p:nvSpPr>
        <p:spPr>
          <a:xfrm>
            <a:off x="896112" y="2404872"/>
            <a:ext cx="10399471" cy="274320"/>
          </a:xfrm>
          <a:prstGeom prst="rect">
            <a:avLst/>
          </a:prstGeom>
          <a:noFill/>
        </p:spPr>
        <p:txBody>
          <a:bodyPr wrap="square" lIns="0" rIns="0" tIns="0" bIns="0" anchor="t">
            <a:spAutoFit/>
          </a:bodyPr>
          <a:lstStyle/>
          <a:p>
            <a:pPr algn="l">
              <a:lnSpc>
                <a:spcPct val="108000"/>
              </a:lnSpc>
              <a:spcAft>
                <a:spcPts val="0"/>
              </a:spcAft>
            </a:pPr>
            <a:r>
              <a:rPr sz="1900" b="1" i="0" u="none">
                <a:solidFill>
                  <a:srgbClr val="C95527"/>
                </a:solidFill>
                <a:latin typeface="Segoe UI"/>
                <a:ea typeface="Microsoft YaHei"/>
                <a:cs typeface="Segoe UI"/>
              </a:rPr>
              <a:t>×  </a:t>
            </a:r>
            <a:r>
              <a:rPr sz="1900" b="0" i="0" u="none">
                <a:solidFill>
                  <a:srgbClr val="627378"/>
                </a:solidFill>
                <a:latin typeface="Segoe UI"/>
                <a:ea typeface="Microsoft YaHei"/>
                <a:cs typeface="Segoe UI"/>
              </a:rPr>
              <a:t>I agree with Andrew because connections are also useful.</a:t>
            </a:r>
          </a:p>
        </p:txBody>
      </p:sp>
      <p:sp>
        <p:nvSpPr>
          <p:cNvPr id="15" name="TextBox 14"/>
          <p:cNvSpPr txBox="1"/>
          <p:nvPr/>
        </p:nvSpPr>
        <p:spPr>
          <a:xfrm>
            <a:off x="896112" y="2679191"/>
            <a:ext cx="10399471" cy="805266"/>
          </a:xfrm>
          <a:prstGeom prst="rect">
            <a:avLst/>
          </a:prstGeom>
          <a:noFill/>
        </p:spPr>
        <p:txBody>
          <a:bodyPr wrap="square" lIns="0" rIns="0" tIns="0" bIns="0" anchor="t">
            <a:spAutoFit/>
          </a:bodyPr>
          <a:lstStyle/>
          <a:p>
            <a:pPr algn="l">
              <a:lnSpc>
                <a:spcPct val="108000"/>
              </a:lnSpc>
              <a:spcAft>
                <a:spcPts val="0"/>
              </a:spcAft>
            </a:pPr>
            <a:r>
              <a:rPr sz="1900" b="1" i="0" u="none">
                <a:solidFill>
                  <a:srgbClr val="2E6B4F"/>
                </a:solidFill>
                <a:latin typeface="Segoe UI"/>
                <a:ea typeface="Microsoft YaHei"/>
                <a:cs typeface="Segoe UI"/>
              </a:rPr>
              <a:t>√  </a:t>
            </a:r>
            <a:r>
              <a:rPr sz="1900" b="1" i="0" u="none">
                <a:solidFill>
                  <a:srgbClr val="172A31"/>
                </a:solidFill>
                <a:latin typeface="Segoe UI"/>
                <a:ea typeface="Microsoft YaHei"/>
                <a:cs typeface="Segoe UI"/>
              </a:rPr>
              <a:t>I agree with Andrew that connections open doors. I would also add that they mostly work for people who already have something to show, because a friend can recommend you but cannot do the job for you.</a:t>
            </a:r>
          </a:p>
        </p:txBody>
      </p:sp>
      <p:sp>
        <p:nvSpPr>
          <p:cNvPr id="16" name="Rounded Rectangle 15"/>
          <p:cNvSpPr/>
          <p:nvPr/>
        </p:nvSpPr>
        <p:spPr>
          <a:xfrm>
            <a:off x="621792" y="3713058"/>
            <a:ext cx="384048" cy="384048"/>
          </a:xfrm>
          <a:prstGeom prst="roundRect">
            <a:avLst>
              <a:gd name="adj" fmla="val 50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21792" y="3763350"/>
            <a:ext cx="384048" cy="365760"/>
          </a:xfrm>
          <a:prstGeom prst="rect">
            <a:avLst/>
          </a:prstGeom>
          <a:noFill/>
        </p:spPr>
        <p:txBody>
          <a:bodyPr wrap="square" lIns="0" rIns="0" tIns="0" bIns="0" anchor="t">
            <a:spAutoFit/>
          </a:bodyPr>
          <a:lstStyle/>
          <a:p>
            <a:pPr algn="ctr">
              <a:lnSpc>
                <a:spcPct val="116000"/>
              </a:lnSpc>
              <a:spcBef>
                <a:spcPts val="0"/>
              </a:spcBef>
              <a:spcAft>
                <a:spcPts val="0"/>
              </a:spcAft>
            </a:pPr>
            <a:r>
              <a:rPr sz="1700" b="1" i="0" u="none">
                <a:solidFill>
                  <a:srgbClr val="FFFFFF"/>
                </a:solidFill>
                <a:latin typeface="Segoe UI"/>
                <a:ea typeface="Microsoft YaHei"/>
                <a:cs typeface="Segoe UI"/>
              </a:rPr>
              <a:t>1</a:t>
            </a:r>
          </a:p>
        </p:txBody>
      </p:sp>
      <p:sp>
        <p:nvSpPr>
          <p:cNvPr id="18" name="TextBox 17"/>
          <p:cNvSpPr txBox="1"/>
          <p:nvPr/>
        </p:nvSpPr>
        <p:spPr>
          <a:xfrm>
            <a:off x="1133856" y="3722202"/>
            <a:ext cx="10436047" cy="365760"/>
          </a:xfrm>
          <a:prstGeom prst="rect">
            <a:avLst/>
          </a:prstGeom>
          <a:noFill/>
        </p:spPr>
        <p:txBody>
          <a:bodyPr wrap="square" lIns="0" rIns="0" tIns="0" bIns="0" anchor="t">
            <a:spAutoFit/>
          </a:bodyPr>
          <a:lstStyle/>
          <a:p>
            <a:pPr algn="l">
              <a:lnSpc>
                <a:spcPct val="110000"/>
              </a:lnSpc>
              <a:spcBef>
                <a:spcPts val="0"/>
              </a:spcBef>
              <a:spcAft>
                <a:spcPts val="0"/>
              </a:spcAft>
            </a:pPr>
            <a:r>
              <a:rPr sz="1900" b="1" i="0" u="none">
                <a:solidFill>
                  <a:srgbClr val="172A31"/>
                </a:solidFill>
                <a:latin typeface="Segoe UI"/>
                <a:ea typeface="Microsoft YaHei"/>
                <a:cs typeface="Segoe UI"/>
              </a:rPr>
              <a:t>I agree with Andrew that ______. I would also add that ______ because ______.</a:t>
            </a:r>
          </a:p>
        </p:txBody>
      </p:sp>
      <p:sp>
        <p:nvSpPr>
          <p:cNvPr id="19" name="TextBox 18"/>
          <p:cNvSpPr txBox="1"/>
          <p:nvPr/>
        </p:nvSpPr>
        <p:spPr>
          <a:xfrm>
            <a:off x="1133856" y="4124538"/>
            <a:ext cx="10436047" cy="292608"/>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C95527"/>
                </a:solidFill>
                <a:latin typeface="Segoe UI"/>
                <a:ea typeface="Microsoft YaHei"/>
                <a:cs typeface="Segoe UI"/>
              </a:rPr>
              <a:t>可用新角度：人脉决定谁先听到消息 / 人脉救不了没准备的人 / 人脉本身也来自学校</a:t>
            </a:r>
          </a:p>
        </p:txBody>
      </p:sp>
      <p:cxnSp>
        <p:nvCxnSpPr>
          <p:cNvPr id="20" name="Connector 19"/>
          <p:cNvCxnSpPr/>
          <p:nvPr/>
        </p:nvCxnSpPr>
        <p:spPr>
          <a:xfrm>
            <a:off x="1133856" y="4563450"/>
            <a:ext cx="10436047"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133856" y="4947498"/>
            <a:ext cx="10436047"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133856" y="5331546"/>
            <a:ext cx="10436047"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5 · Contribution</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79</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TEMPLATE</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模板 2 · Disagree + Explain</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719072"/>
            <a:ext cx="10948111" cy="1371600"/>
          </a:xfrm>
          <a:prstGeom prst="roundRect">
            <a:avLst>
              <a:gd name="adj" fmla="val 6000"/>
            </a:avLst>
          </a:prstGeom>
          <a:solidFill>
            <a:srgbClr val="FBEC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33272" y="1956816"/>
            <a:ext cx="10125151" cy="1005840"/>
          </a:xfrm>
          <a:prstGeom prst="rect">
            <a:avLst/>
          </a:prstGeom>
          <a:noFill/>
        </p:spPr>
        <p:txBody>
          <a:bodyPr wrap="square" lIns="0" rIns="0" tIns="0" bIns="0" anchor="t">
            <a:spAutoFit/>
          </a:bodyPr>
          <a:lstStyle/>
          <a:p>
            <a:pPr algn="l">
              <a:lnSpc>
                <a:spcPct val="116000"/>
              </a:lnSpc>
              <a:spcBef>
                <a:spcPts val="0"/>
              </a:spcBef>
              <a:spcAft>
                <a:spcPts val="800"/>
              </a:spcAft>
            </a:pPr>
            <a:r>
              <a:rPr sz="2500" b="1" i="0" u="none">
                <a:solidFill>
                  <a:srgbClr val="C95527"/>
                </a:solidFill>
                <a:latin typeface="Segoe UI"/>
                <a:ea typeface="Microsoft YaHei"/>
                <a:cs typeface="Segoe UI"/>
              </a:rPr>
              <a:t>Although ______ argues that ______,</a:t>
            </a:r>
          </a:p>
          <a:p>
            <a:pPr algn="l">
              <a:lnSpc>
                <a:spcPct val="116000"/>
              </a:lnSpc>
              <a:spcBef>
                <a:spcPts val="0"/>
              </a:spcBef>
              <a:spcAft>
                <a:spcPts val="0"/>
              </a:spcAft>
            </a:pPr>
            <a:r>
              <a:rPr sz="2500" b="1" i="0" u="none">
                <a:solidFill>
                  <a:srgbClr val="C95527"/>
                </a:solidFill>
                <a:latin typeface="Segoe UI"/>
                <a:ea typeface="Microsoft YaHei"/>
                <a:cs typeface="Segoe UI"/>
              </a:rPr>
              <a:t>I believe ______ because ______.</a:t>
            </a:r>
          </a:p>
        </p:txBody>
      </p:sp>
      <p:sp>
        <p:nvSpPr>
          <p:cNvPr id="10" name="Rounded Rectangle 9"/>
          <p:cNvSpPr/>
          <p:nvPr/>
        </p:nvSpPr>
        <p:spPr>
          <a:xfrm>
            <a:off x="621792" y="3319272"/>
            <a:ext cx="10948111" cy="841248"/>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14400" y="3538728"/>
            <a:ext cx="2011680" cy="41148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C95527"/>
                </a:solidFill>
                <a:latin typeface="Segoe UI"/>
                <a:ea typeface="Microsoft YaHei"/>
                <a:cs typeface="Segoe UI"/>
              </a:rPr>
              <a:t>先承认</a:t>
            </a:r>
          </a:p>
        </p:txBody>
      </p:sp>
      <p:sp>
        <p:nvSpPr>
          <p:cNvPr id="12" name="TextBox 11"/>
          <p:cNvSpPr txBox="1"/>
          <p:nvPr/>
        </p:nvSpPr>
        <p:spPr>
          <a:xfrm>
            <a:off x="3090672" y="3538728"/>
            <a:ext cx="8159191" cy="41148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Although 后面必须准确复述对方的观点——不能歪曲。</a:t>
            </a:r>
          </a:p>
        </p:txBody>
      </p:sp>
      <p:sp>
        <p:nvSpPr>
          <p:cNvPr id="13" name="Rounded Rectangle 12"/>
          <p:cNvSpPr/>
          <p:nvPr/>
        </p:nvSpPr>
        <p:spPr>
          <a:xfrm>
            <a:off x="621792" y="4251960"/>
            <a:ext cx="10948111" cy="841248"/>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14400" y="4471416"/>
            <a:ext cx="2011680" cy="41148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C95527"/>
                </a:solidFill>
                <a:latin typeface="Segoe UI"/>
                <a:ea typeface="Microsoft YaHei"/>
                <a:cs typeface="Segoe UI"/>
              </a:rPr>
              <a:t>再反驳</a:t>
            </a:r>
          </a:p>
        </p:txBody>
      </p:sp>
      <p:sp>
        <p:nvSpPr>
          <p:cNvPr id="15" name="TextBox 14"/>
          <p:cNvSpPr txBox="1"/>
          <p:nvPr/>
        </p:nvSpPr>
        <p:spPr>
          <a:xfrm>
            <a:off x="3090672" y="4471416"/>
            <a:ext cx="8159191" cy="41148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I believe 后面写你的立场，必须和对方形成真正的对立。</a:t>
            </a:r>
          </a:p>
        </p:txBody>
      </p:sp>
      <p:sp>
        <p:nvSpPr>
          <p:cNvPr id="16" name="Rounded Rectangle 15"/>
          <p:cNvSpPr/>
          <p:nvPr/>
        </p:nvSpPr>
        <p:spPr>
          <a:xfrm>
            <a:off x="621792" y="5184648"/>
            <a:ext cx="10948111" cy="841248"/>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914400" y="5404104"/>
            <a:ext cx="2011680" cy="41148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C95527"/>
                </a:solidFill>
                <a:latin typeface="Segoe UI"/>
                <a:ea typeface="Microsoft YaHei"/>
                <a:cs typeface="Segoe UI"/>
              </a:rPr>
              <a:t>礼貌</a:t>
            </a:r>
          </a:p>
        </p:txBody>
      </p:sp>
      <p:sp>
        <p:nvSpPr>
          <p:cNvPr id="18" name="TextBox 17"/>
          <p:cNvSpPr txBox="1"/>
          <p:nvPr/>
        </p:nvSpPr>
        <p:spPr>
          <a:xfrm>
            <a:off x="3090672" y="5404104"/>
            <a:ext cx="8159191" cy="41148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官方明确写：disagree in a respectful way。不要写 Andrew is wrong。</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5 · Contribution</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80</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WORKED EXAMPLE</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Disagree + Explain 示范</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673352"/>
            <a:ext cx="10948111" cy="940775"/>
          </a:xfrm>
          <a:prstGeom prst="roundRect">
            <a:avLst>
              <a:gd name="adj" fmla="val 6000"/>
            </a:avLst>
          </a:prstGeom>
          <a:solidFill>
            <a:srgbClr val="FBEC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21792" y="1673352"/>
            <a:ext cx="64008" cy="940775"/>
          </a:xfrm>
          <a:prstGeom prst="rect">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77824" y="1856232"/>
            <a:ext cx="2103120" cy="36576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C95527"/>
                </a:solidFill>
                <a:latin typeface="Segoe UI"/>
                <a:ea typeface="Microsoft YaHei"/>
                <a:cs typeface="Segoe UI"/>
              </a:rPr>
              <a:t>Andrew 原话</a:t>
            </a:r>
          </a:p>
        </p:txBody>
      </p:sp>
      <p:sp>
        <p:nvSpPr>
          <p:cNvPr id="11" name="TextBox 10"/>
          <p:cNvSpPr txBox="1"/>
          <p:nvPr/>
        </p:nvSpPr>
        <p:spPr>
          <a:xfrm>
            <a:off x="3090672" y="1856232"/>
            <a:ext cx="8204911" cy="556727"/>
          </a:xfrm>
          <a:prstGeom prst="rect">
            <a:avLst/>
          </a:prstGeom>
          <a:noFill/>
        </p:spPr>
        <p:txBody>
          <a:bodyPr wrap="square" lIns="0" rIns="0" tIns="0" bIns="0" anchor="t">
            <a:spAutoFit/>
          </a:bodyPr>
          <a:lstStyle/>
          <a:p>
            <a:pPr algn="l">
              <a:lnSpc>
                <a:spcPct val="112000"/>
              </a:lnSpc>
              <a:spcBef>
                <a:spcPts val="0"/>
              </a:spcBef>
              <a:spcAft>
                <a:spcPts val="0"/>
              </a:spcAft>
            </a:pPr>
            <a:r>
              <a:rPr sz="1900" b="0" i="1" u="none">
                <a:solidFill>
                  <a:srgbClr val="172A31"/>
                </a:solidFill>
                <a:latin typeface="Segoe UI"/>
                <a:ea typeface="Microsoft YaHei"/>
                <a:cs typeface="Segoe UI"/>
              </a:rPr>
              <a:t>“Knowing the right people can open doors to opportunities that education alone might not provide.”</a:t>
            </a:r>
          </a:p>
        </p:txBody>
      </p:sp>
      <p:sp>
        <p:nvSpPr>
          <p:cNvPr id="12" name="TextBox 11"/>
          <p:cNvSpPr txBox="1"/>
          <p:nvPr/>
        </p:nvSpPr>
        <p:spPr>
          <a:xfrm>
            <a:off x="877824" y="2185416"/>
            <a:ext cx="2103120" cy="292608"/>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节选</a:t>
            </a:r>
          </a:p>
        </p:txBody>
      </p:sp>
      <p:sp>
        <p:nvSpPr>
          <p:cNvPr id="13" name="Rounded Rectangle 12"/>
          <p:cNvSpPr/>
          <p:nvPr/>
        </p:nvSpPr>
        <p:spPr>
          <a:xfrm>
            <a:off x="621792" y="2815295"/>
            <a:ext cx="10948111" cy="2304288"/>
          </a:xfrm>
          <a:prstGeom prst="roundRect">
            <a:avLst>
              <a:gd name="adj" fmla="val 6000"/>
            </a:avLst>
          </a:prstGeom>
          <a:solidFill>
            <a:srgbClr val="F3F8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621792" y="2815295"/>
            <a:ext cx="64008" cy="2304288"/>
          </a:xfrm>
          <a:prstGeom prst="rect">
            <a:avLst/>
          </a:prstGeom>
          <a:solidFill>
            <a:srgbClr val="0E53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96112" y="2998175"/>
            <a:ext cx="10399471" cy="310896"/>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0E5362"/>
                </a:solidFill>
                <a:latin typeface="Segoe UI"/>
                <a:ea typeface="Microsoft YaHei"/>
                <a:cs typeface="Segoe UI"/>
              </a:rPr>
              <a:t>老师示范 · 这一句为什么有力？</a:t>
            </a:r>
          </a:p>
        </p:txBody>
      </p:sp>
      <p:sp>
        <p:nvSpPr>
          <p:cNvPr id="16" name="TextBox 15"/>
          <p:cNvSpPr txBox="1"/>
          <p:nvPr/>
        </p:nvSpPr>
        <p:spPr>
          <a:xfrm>
            <a:off x="896112" y="3382223"/>
            <a:ext cx="1417320" cy="365760"/>
          </a:xfrm>
          <a:prstGeom prst="rect">
            <a:avLst/>
          </a:prstGeom>
          <a:noFill/>
        </p:spPr>
        <p:txBody>
          <a:bodyPr wrap="square" lIns="0" rIns="0" tIns="0" bIns="0" anchor="t">
            <a:spAutoFit/>
          </a:bodyPr>
          <a:lstStyle/>
          <a:p>
            <a:pPr algn="l">
              <a:lnSpc>
                <a:spcPct val="116000"/>
              </a:lnSpc>
              <a:spcBef>
                <a:spcPts val="0"/>
              </a:spcBef>
              <a:spcAft>
                <a:spcPts val="0"/>
              </a:spcAft>
            </a:pPr>
            <a:r>
              <a:rPr sz="1800" b="1" i="0" u="none">
                <a:solidFill>
                  <a:srgbClr val="0E5362"/>
                </a:solidFill>
                <a:latin typeface="Segoe UI"/>
                <a:ea typeface="Microsoft YaHei"/>
                <a:cs typeface="Segoe UI"/>
              </a:rPr>
              <a:t>Although</a:t>
            </a:r>
          </a:p>
        </p:txBody>
      </p:sp>
      <p:sp>
        <p:nvSpPr>
          <p:cNvPr id="17" name="TextBox 16"/>
          <p:cNvSpPr txBox="1"/>
          <p:nvPr/>
        </p:nvSpPr>
        <p:spPr>
          <a:xfrm>
            <a:off x="2313432" y="3354791"/>
            <a:ext cx="8936431" cy="457200"/>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172A31"/>
                </a:solidFill>
                <a:latin typeface="Segoe UI"/>
                <a:ea typeface="Microsoft YaHei"/>
                <a:cs typeface="Segoe UI"/>
              </a:rPr>
              <a:t>Although Andrew argues that personal connections are more crucial,</a:t>
            </a:r>
          </a:p>
        </p:txBody>
      </p:sp>
      <p:sp>
        <p:nvSpPr>
          <p:cNvPr id="18" name="TextBox 17"/>
          <p:cNvSpPr txBox="1"/>
          <p:nvPr/>
        </p:nvSpPr>
        <p:spPr>
          <a:xfrm>
            <a:off x="896112" y="3912575"/>
            <a:ext cx="1417320" cy="365760"/>
          </a:xfrm>
          <a:prstGeom prst="rect">
            <a:avLst/>
          </a:prstGeom>
          <a:noFill/>
        </p:spPr>
        <p:txBody>
          <a:bodyPr wrap="square" lIns="0" rIns="0" tIns="0" bIns="0" anchor="t">
            <a:spAutoFit/>
          </a:bodyPr>
          <a:lstStyle/>
          <a:p>
            <a:pPr algn="l">
              <a:lnSpc>
                <a:spcPct val="116000"/>
              </a:lnSpc>
              <a:spcBef>
                <a:spcPts val="0"/>
              </a:spcBef>
              <a:spcAft>
                <a:spcPts val="0"/>
              </a:spcAft>
            </a:pPr>
            <a:r>
              <a:rPr sz="1800" b="1" i="0" u="none">
                <a:solidFill>
                  <a:srgbClr val="0E5362"/>
                </a:solidFill>
                <a:latin typeface="Segoe UI"/>
                <a:ea typeface="Microsoft YaHei"/>
                <a:cs typeface="Segoe UI"/>
              </a:rPr>
              <a:t>I believe</a:t>
            </a:r>
          </a:p>
        </p:txBody>
      </p:sp>
      <p:sp>
        <p:nvSpPr>
          <p:cNvPr id="19" name="TextBox 18"/>
          <p:cNvSpPr txBox="1"/>
          <p:nvPr/>
        </p:nvSpPr>
        <p:spPr>
          <a:xfrm>
            <a:off x="2313432" y="3885143"/>
            <a:ext cx="8936431" cy="457200"/>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172A31"/>
                </a:solidFill>
                <a:latin typeface="Segoe UI"/>
                <a:ea typeface="Microsoft YaHei"/>
                <a:cs typeface="Segoe UI"/>
              </a:rPr>
              <a:t>I believe education matters more,</a:t>
            </a:r>
          </a:p>
        </p:txBody>
      </p:sp>
      <p:sp>
        <p:nvSpPr>
          <p:cNvPr id="20" name="TextBox 19"/>
          <p:cNvSpPr txBox="1"/>
          <p:nvPr/>
        </p:nvSpPr>
        <p:spPr>
          <a:xfrm>
            <a:off x="896112" y="4442927"/>
            <a:ext cx="1417320" cy="365760"/>
          </a:xfrm>
          <a:prstGeom prst="rect">
            <a:avLst/>
          </a:prstGeom>
          <a:noFill/>
        </p:spPr>
        <p:txBody>
          <a:bodyPr wrap="square" lIns="0" rIns="0" tIns="0" bIns="0" anchor="t">
            <a:spAutoFit/>
          </a:bodyPr>
          <a:lstStyle/>
          <a:p>
            <a:pPr algn="l">
              <a:lnSpc>
                <a:spcPct val="116000"/>
              </a:lnSpc>
              <a:spcBef>
                <a:spcPts val="0"/>
              </a:spcBef>
              <a:spcAft>
                <a:spcPts val="0"/>
              </a:spcAft>
            </a:pPr>
            <a:r>
              <a:rPr sz="1800" b="1" i="0" u="none">
                <a:solidFill>
                  <a:srgbClr val="0E5362"/>
                </a:solidFill>
                <a:latin typeface="Segoe UI"/>
                <a:ea typeface="Microsoft YaHei"/>
                <a:cs typeface="Segoe UI"/>
              </a:rPr>
              <a:t>Because</a:t>
            </a:r>
          </a:p>
        </p:txBody>
      </p:sp>
      <p:sp>
        <p:nvSpPr>
          <p:cNvPr id="21" name="TextBox 20"/>
          <p:cNvSpPr txBox="1"/>
          <p:nvPr/>
        </p:nvSpPr>
        <p:spPr>
          <a:xfrm>
            <a:off x="2313432" y="4415495"/>
            <a:ext cx="8936431" cy="457200"/>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172A31"/>
                </a:solidFill>
                <a:latin typeface="Segoe UI"/>
                <a:ea typeface="Microsoft YaHei"/>
                <a:cs typeface="Segoe UI"/>
              </a:rPr>
              <a:t>because connections usually help people who already have the qualifications.</a:t>
            </a:r>
          </a:p>
        </p:txBody>
      </p:sp>
      <p:sp>
        <p:nvSpPr>
          <p:cNvPr id="22" name="Rounded Rectangle 21"/>
          <p:cNvSpPr/>
          <p:nvPr/>
        </p:nvSpPr>
        <p:spPr>
          <a:xfrm>
            <a:off x="621792" y="5046431"/>
            <a:ext cx="10948111" cy="603504"/>
          </a:xfrm>
          <a:prstGeom prst="roundRect">
            <a:avLst>
              <a:gd name="adj" fmla="val 6000"/>
            </a:avLst>
          </a:prstGeom>
          <a:solidFill>
            <a:srgbClr val="E4EF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32688" y="5220167"/>
            <a:ext cx="1030803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0E5362"/>
                </a:solidFill>
                <a:latin typeface="Segoe UI"/>
                <a:ea typeface="Microsoft YaHei"/>
                <a:cs typeface="Segoe UI"/>
              </a:rPr>
              <a:t>因为它没有否认人脉有用，而是指出了人脉起作用的前提条件。</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5 · Contribution</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81</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DRILL · 学生输出</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练习 D1 · Disagree + Explain（反驳 Andrew）</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609344"/>
            <a:ext cx="2410358" cy="347472"/>
          </a:xfrm>
          <a:prstGeom prst="roundRect">
            <a:avLst>
              <a:gd name="adj" fmla="val 40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21792" y="1650492"/>
            <a:ext cx="2410358" cy="347472"/>
          </a:xfrm>
          <a:prstGeom prst="rect">
            <a:avLst/>
          </a:prstGeom>
          <a:noFill/>
        </p:spPr>
        <p:txBody>
          <a:bodyPr wrap="square" lIns="0" rIns="0" tIns="0" bIns="0" anchor="t">
            <a:spAutoFit/>
          </a:bodyPr>
          <a:lstStyle/>
          <a:p>
            <a:pPr algn="ctr">
              <a:lnSpc>
                <a:spcPct val="116000"/>
              </a:lnSpc>
              <a:spcBef>
                <a:spcPts val="0"/>
              </a:spcBef>
              <a:spcAft>
                <a:spcPts val="0"/>
              </a:spcAft>
            </a:pPr>
            <a:r>
              <a:rPr sz="1700" b="1" i="0" u="none">
                <a:solidFill>
                  <a:srgbClr val="FFFFFF"/>
                </a:solidFill>
                <a:latin typeface="Segoe UI"/>
                <a:ea typeface="Microsoft YaHei"/>
                <a:cs typeface="Segoe UI"/>
              </a:rPr>
              <a:t>Disagree + Explain</a:t>
            </a:r>
          </a:p>
        </p:txBody>
      </p:sp>
      <p:sp>
        <p:nvSpPr>
          <p:cNvPr id="10" name="TextBox 9"/>
          <p:cNvSpPr txBox="1"/>
          <p:nvPr/>
        </p:nvSpPr>
        <p:spPr>
          <a:xfrm>
            <a:off x="3251606" y="1655064"/>
            <a:ext cx="8263432"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172A31"/>
                </a:solidFill>
                <a:latin typeface="Segoe UI"/>
                <a:ea typeface="Microsoft YaHei"/>
                <a:cs typeface="Segoe UI"/>
              </a:rPr>
              <a:t>两句话。Although 后面必须准确复述 Andrew 的观点。</a:t>
            </a:r>
          </a:p>
        </p:txBody>
      </p:sp>
      <p:sp>
        <p:nvSpPr>
          <p:cNvPr id="11" name="Rounded Rectangle 10"/>
          <p:cNvSpPr/>
          <p:nvPr/>
        </p:nvSpPr>
        <p:spPr>
          <a:xfrm>
            <a:off x="621792" y="2103120"/>
            <a:ext cx="10948111" cy="1213500"/>
          </a:xfrm>
          <a:prstGeom prst="roundRect">
            <a:avLst>
              <a:gd name="adj" fmla="val 6000"/>
            </a:avLst>
          </a:prstGeom>
          <a:solidFill>
            <a:srgbClr val="E7F1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21792" y="2103120"/>
            <a:ext cx="64008" cy="1213500"/>
          </a:xfrm>
          <a:prstGeom prst="rect">
            <a:avLst/>
          </a:prstGeom>
          <a:solidFill>
            <a:srgbClr val="2E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96112" y="2148839"/>
            <a:ext cx="2377440" cy="27432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2E6B4F"/>
                </a:solidFill>
                <a:latin typeface="Segoe UI"/>
                <a:ea typeface="Microsoft YaHei"/>
                <a:cs typeface="Segoe UI"/>
              </a:rPr>
              <a:t>示范  EXAMPLE</a:t>
            </a:r>
          </a:p>
        </p:txBody>
      </p:sp>
      <p:sp>
        <p:nvSpPr>
          <p:cNvPr id="14" name="TextBox 13"/>
          <p:cNvSpPr txBox="1"/>
          <p:nvPr/>
        </p:nvSpPr>
        <p:spPr>
          <a:xfrm>
            <a:off x="896112" y="2404872"/>
            <a:ext cx="10399471" cy="274320"/>
          </a:xfrm>
          <a:prstGeom prst="rect">
            <a:avLst/>
          </a:prstGeom>
          <a:noFill/>
        </p:spPr>
        <p:txBody>
          <a:bodyPr wrap="square" lIns="0" rIns="0" tIns="0" bIns="0" anchor="t">
            <a:spAutoFit/>
          </a:bodyPr>
          <a:lstStyle/>
          <a:p>
            <a:pPr algn="l">
              <a:lnSpc>
                <a:spcPct val="108000"/>
              </a:lnSpc>
              <a:spcAft>
                <a:spcPts val="0"/>
              </a:spcAft>
            </a:pPr>
            <a:r>
              <a:rPr sz="1900" b="1" i="0" u="none">
                <a:solidFill>
                  <a:srgbClr val="C95527"/>
                </a:solidFill>
                <a:latin typeface="Segoe UI"/>
                <a:ea typeface="Microsoft YaHei"/>
                <a:cs typeface="Segoe UI"/>
              </a:rPr>
              <a:t>×  </a:t>
            </a:r>
            <a:r>
              <a:rPr sz="1900" b="0" i="0" u="none">
                <a:solidFill>
                  <a:srgbClr val="627378"/>
                </a:solidFill>
                <a:latin typeface="Segoe UI"/>
                <a:ea typeface="Microsoft YaHei"/>
                <a:cs typeface="Segoe UI"/>
              </a:rPr>
              <a:t>Andrew is wrong because education is better than connections.</a:t>
            </a:r>
          </a:p>
        </p:txBody>
      </p:sp>
      <p:sp>
        <p:nvSpPr>
          <p:cNvPr id="15" name="TextBox 14"/>
          <p:cNvSpPr txBox="1"/>
          <p:nvPr/>
        </p:nvSpPr>
        <p:spPr>
          <a:xfrm>
            <a:off x="896112" y="2679191"/>
            <a:ext cx="10399471" cy="536844"/>
          </a:xfrm>
          <a:prstGeom prst="rect">
            <a:avLst/>
          </a:prstGeom>
          <a:noFill/>
        </p:spPr>
        <p:txBody>
          <a:bodyPr wrap="square" lIns="0" rIns="0" tIns="0" bIns="0" anchor="t">
            <a:spAutoFit/>
          </a:bodyPr>
          <a:lstStyle/>
          <a:p>
            <a:pPr algn="l">
              <a:lnSpc>
                <a:spcPct val="108000"/>
              </a:lnSpc>
              <a:spcAft>
                <a:spcPts val="0"/>
              </a:spcAft>
            </a:pPr>
            <a:r>
              <a:rPr sz="1900" b="1" i="0" u="none">
                <a:solidFill>
                  <a:srgbClr val="2E6B4F"/>
                </a:solidFill>
                <a:latin typeface="Segoe UI"/>
                <a:ea typeface="Microsoft YaHei"/>
                <a:cs typeface="Segoe UI"/>
              </a:rPr>
              <a:t>√  </a:t>
            </a:r>
            <a:r>
              <a:rPr sz="1900" b="1" i="0" u="none">
                <a:solidFill>
                  <a:srgbClr val="172A31"/>
                </a:solidFill>
                <a:latin typeface="Segoe UI"/>
                <a:ea typeface="Microsoft YaHei"/>
                <a:cs typeface="Segoe UI"/>
              </a:rPr>
              <a:t>Although Andrew argues that connections open doors, I believe education matters more, because a recommendation only works if the person can actually do the job.</a:t>
            </a:r>
          </a:p>
        </p:txBody>
      </p:sp>
      <p:sp>
        <p:nvSpPr>
          <p:cNvPr id="16" name="Rounded Rectangle 15"/>
          <p:cNvSpPr/>
          <p:nvPr/>
        </p:nvSpPr>
        <p:spPr>
          <a:xfrm>
            <a:off x="621792" y="3444636"/>
            <a:ext cx="384048" cy="384048"/>
          </a:xfrm>
          <a:prstGeom prst="roundRect">
            <a:avLst>
              <a:gd name="adj" fmla="val 50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21792" y="3494928"/>
            <a:ext cx="384048" cy="365760"/>
          </a:xfrm>
          <a:prstGeom prst="rect">
            <a:avLst/>
          </a:prstGeom>
          <a:noFill/>
        </p:spPr>
        <p:txBody>
          <a:bodyPr wrap="square" lIns="0" rIns="0" tIns="0" bIns="0" anchor="t">
            <a:spAutoFit/>
          </a:bodyPr>
          <a:lstStyle/>
          <a:p>
            <a:pPr algn="ctr">
              <a:lnSpc>
                <a:spcPct val="116000"/>
              </a:lnSpc>
              <a:spcBef>
                <a:spcPts val="0"/>
              </a:spcBef>
              <a:spcAft>
                <a:spcPts val="0"/>
              </a:spcAft>
            </a:pPr>
            <a:r>
              <a:rPr sz="1700" b="1" i="0" u="none">
                <a:solidFill>
                  <a:srgbClr val="FFFFFF"/>
                </a:solidFill>
                <a:latin typeface="Segoe UI"/>
                <a:ea typeface="Microsoft YaHei"/>
                <a:cs typeface="Segoe UI"/>
              </a:rPr>
              <a:t>1</a:t>
            </a:r>
          </a:p>
        </p:txBody>
      </p:sp>
      <p:sp>
        <p:nvSpPr>
          <p:cNvPr id="18" name="TextBox 17"/>
          <p:cNvSpPr txBox="1"/>
          <p:nvPr/>
        </p:nvSpPr>
        <p:spPr>
          <a:xfrm>
            <a:off x="1133856" y="3453780"/>
            <a:ext cx="10436047" cy="365760"/>
          </a:xfrm>
          <a:prstGeom prst="rect">
            <a:avLst/>
          </a:prstGeom>
          <a:noFill/>
        </p:spPr>
        <p:txBody>
          <a:bodyPr wrap="square" lIns="0" rIns="0" tIns="0" bIns="0" anchor="t">
            <a:spAutoFit/>
          </a:bodyPr>
          <a:lstStyle/>
          <a:p>
            <a:pPr algn="l">
              <a:lnSpc>
                <a:spcPct val="110000"/>
              </a:lnSpc>
              <a:spcBef>
                <a:spcPts val="0"/>
              </a:spcBef>
              <a:spcAft>
                <a:spcPts val="0"/>
              </a:spcAft>
            </a:pPr>
            <a:r>
              <a:rPr sz="1900" b="1" i="0" u="none">
                <a:solidFill>
                  <a:srgbClr val="172A31"/>
                </a:solidFill>
                <a:latin typeface="Segoe UI"/>
                <a:ea typeface="Microsoft YaHei"/>
                <a:cs typeface="Segoe UI"/>
              </a:rPr>
              <a:t>Although Andrew argues that ______, I believe ______ because ______.</a:t>
            </a:r>
          </a:p>
        </p:txBody>
      </p:sp>
      <p:sp>
        <p:nvSpPr>
          <p:cNvPr id="19" name="TextBox 18"/>
          <p:cNvSpPr txBox="1"/>
          <p:nvPr/>
        </p:nvSpPr>
        <p:spPr>
          <a:xfrm>
            <a:off x="1133856" y="3856116"/>
            <a:ext cx="10436047" cy="292608"/>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C95527"/>
                </a:solidFill>
                <a:latin typeface="Segoe UI"/>
                <a:ea typeface="Microsoft YaHei"/>
                <a:cs typeface="Segoe UI"/>
              </a:rPr>
              <a:t>可用角度：人脉需要先有资格 / 人脉不可复制 / 没人脉的人靠什么起步</a:t>
            </a:r>
          </a:p>
        </p:txBody>
      </p:sp>
      <p:cxnSp>
        <p:nvCxnSpPr>
          <p:cNvPr id="20" name="Connector 19"/>
          <p:cNvCxnSpPr/>
          <p:nvPr/>
        </p:nvCxnSpPr>
        <p:spPr>
          <a:xfrm>
            <a:off x="1133856" y="4295028"/>
            <a:ext cx="10436047"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133856" y="4679076"/>
            <a:ext cx="10436047"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133856" y="5063124"/>
            <a:ext cx="10436047"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5 · Contribution</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82</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DRILL · 学生输出</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练习 D2 · Disagree + Explain（反驳 Kelly）</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609344"/>
            <a:ext cx="2410358" cy="347472"/>
          </a:xfrm>
          <a:prstGeom prst="roundRect">
            <a:avLst>
              <a:gd name="adj" fmla="val 40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21792" y="1650492"/>
            <a:ext cx="2410358" cy="347472"/>
          </a:xfrm>
          <a:prstGeom prst="rect">
            <a:avLst/>
          </a:prstGeom>
          <a:noFill/>
        </p:spPr>
        <p:txBody>
          <a:bodyPr wrap="square" lIns="0" rIns="0" tIns="0" bIns="0" anchor="t">
            <a:spAutoFit/>
          </a:bodyPr>
          <a:lstStyle/>
          <a:p>
            <a:pPr algn="ctr">
              <a:lnSpc>
                <a:spcPct val="116000"/>
              </a:lnSpc>
              <a:spcBef>
                <a:spcPts val="0"/>
              </a:spcBef>
              <a:spcAft>
                <a:spcPts val="0"/>
              </a:spcAft>
            </a:pPr>
            <a:r>
              <a:rPr sz="1700" b="1" i="0" u="none">
                <a:solidFill>
                  <a:srgbClr val="FFFFFF"/>
                </a:solidFill>
                <a:latin typeface="Segoe UI"/>
                <a:ea typeface="Microsoft YaHei"/>
                <a:cs typeface="Segoe UI"/>
              </a:rPr>
              <a:t>Disagree + Explain</a:t>
            </a:r>
          </a:p>
        </p:txBody>
      </p:sp>
      <p:sp>
        <p:nvSpPr>
          <p:cNvPr id="10" name="TextBox 9"/>
          <p:cNvSpPr txBox="1"/>
          <p:nvPr/>
        </p:nvSpPr>
        <p:spPr>
          <a:xfrm>
            <a:off x="3251606" y="1655064"/>
            <a:ext cx="8263432"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172A31"/>
                </a:solidFill>
                <a:latin typeface="Segoe UI"/>
                <a:ea typeface="Microsoft YaHei"/>
                <a:cs typeface="Segoe UI"/>
              </a:rPr>
              <a:t>这次反驳 Kelly。练的是方法，不是立场。</a:t>
            </a:r>
          </a:p>
        </p:txBody>
      </p:sp>
      <p:sp>
        <p:nvSpPr>
          <p:cNvPr id="11" name="Rounded Rectangle 10"/>
          <p:cNvSpPr/>
          <p:nvPr/>
        </p:nvSpPr>
        <p:spPr>
          <a:xfrm>
            <a:off x="621792" y="2103120"/>
            <a:ext cx="10948111" cy="1481922"/>
          </a:xfrm>
          <a:prstGeom prst="roundRect">
            <a:avLst>
              <a:gd name="adj" fmla="val 6000"/>
            </a:avLst>
          </a:prstGeom>
          <a:solidFill>
            <a:srgbClr val="E7F1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21792" y="2103120"/>
            <a:ext cx="64008" cy="1481922"/>
          </a:xfrm>
          <a:prstGeom prst="rect">
            <a:avLst/>
          </a:prstGeom>
          <a:solidFill>
            <a:srgbClr val="2E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96112" y="2148839"/>
            <a:ext cx="2377440" cy="27432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2E6B4F"/>
                </a:solidFill>
                <a:latin typeface="Segoe UI"/>
                <a:ea typeface="Microsoft YaHei"/>
                <a:cs typeface="Segoe UI"/>
              </a:rPr>
              <a:t>示范  EXAMPLE</a:t>
            </a:r>
          </a:p>
        </p:txBody>
      </p:sp>
      <p:sp>
        <p:nvSpPr>
          <p:cNvPr id="14" name="TextBox 13"/>
          <p:cNvSpPr txBox="1"/>
          <p:nvPr/>
        </p:nvSpPr>
        <p:spPr>
          <a:xfrm>
            <a:off x="896112" y="2404872"/>
            <a:ext cx="10399471" cy="274320"/>
          </a:xfrm>
          <a:prstGeom prst="rect">
            <a:avLst/>
          </a:prstGeom>
          <a:noFill/>
        </p:spPr>
        <p:txBody>
          <a:bodyPr wrap="square" lIns="0" rIns="0" tIns="0" bIns="0" anchor="t">
            <a:spAutoFit/>
          </a:bodyPr>
          <a:lstStyle/>
          <a:p>
            <a:pPr algn="l">
              <a:lnSpc>
                <a:spcPct val="108000"/>
              </a:lnSpc>
              <a:spcAft>
                <a:spcPts val="0"/>
              </a:spcAft>
            </a:pPr>
            <a:r>
              <a:rPr sz="1900" b="1" i="0" u="none">
                <a:solidFill>
                  <a:srgbClr val="C95527"/>
                </a:solidFill>
                <a:latin typeface="Segoe UI"/>
                <a:ea typeface="Microsoft YaHei"/>
                <a:cs typeface="Segoe UI"/>
              </a:rPr>
              <a:t>×  </a:t>
            </a:r>
            <a:r>
              <a:rPr sz="1900" b="0" i="0" u="none">
                <a:solidFill>
                  <a:srgbClr val="627378"/>
                </a:solidFill>
                <a:latin typeface="Segoe UI"/>
                <a:ea typeface="Microsoft YaHei"/>
                <a:cs typeface="Segoe UI"/>
              </a:rPr>
              <a:t>Kelly is not right because many people study but are still poor.</a:t>
            </a:r>
          </a:p>
        </p:txBody>
      </p:sp>
      <p:sp>
        <p:nvSpPr>
          <p:cNvPr id="15" name="TextBox 14"/>
          <p:cNvSpPr txBox="1"/>
          <p:nvPr/>
        </p:nvSpPr>
        <p:spPr>
          <a:xfrm>
            <a:off x="896112" y="2679191"/>
            <a:ext cx="10399471" cy="805266"/>
          </a:xfrm>
          <a:prstGeom prst="rect">
            <a:avLst/>
          </a:prstGeom>
          <a:noFill/>
        </p:spPr>
        <p:txBody>
          <a:bodyPr wrap="square" lIns="0" rIns="0" tIns="0" bIns="0" anchor="t">
            <a:spAutoFit/>
          </a:bodyPr>
          <a:lstStyle/>
          <a:p>
            <a:pPr algn="l">
              <a:lnSpc>
                <a:spcPct val="108000"/>
              </a:lnSpc>
              <a:spcAft>
                <a:spcPts val="0"/>
              </a:spcAft>
            </a:pPr>
            <a:r>
              <a:rPr sz="1900" b="1" i="0" u="none">
                <a:solidFill>
                  <a:srgbClr val="2E6B4F"/>
                </a:solidFill>
                <a:latin typeface="Segoe UI"/>
                <a:ea typeface="Microsoft YaHei"/>
                <a:cs typeface="Segoe UI"/>
              </a:rPr>
              <a:t>√  </a:t>
            </a:r>
            <a:r>
              <a:rPr sz="1900" b="1" i="0" u="none">
                <a:solidFill>
                  <a:srgbClr val="172A31"/>
                </a:solidFill>
                <a:latin typeface="Segoe UI"/>
                <a:ea typeface="Microsoft YaHei"/>
                <a:cs typeface="Segoe UI"/>
              </a:rPr>
              <a:t>Although Kelly argues that education guarantees upward mobility, I believe the effect depends on where a student studies, because two people with the same degree can face very different opportunities.</a:t>
            </a:r>
          </a:p>
        </p:txBody>
      </p:sp>
      <p:sp>
        <p:nvSpPr>
          <p:cNvPr id="16" name="Rounded Rectangle 15"/>
          <p:cNvSpPr/>
          <p:nvPr/>
        </p:nvSpPr>
        <p:spPr>
          <a:xfrm>
            <a:off x="621792" y="3713058"/>
            <a:ext cx="384048" cy="384048"/>
          </a:xfrm>
          <a:prstGeom prst="roundRect">
            <a:avLst>
              <a:gd name="adj" fmla="val 50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21792" y="3763350"/>
            <a:ext cx="384048" cy="365760"/>
          </a:xfrm>
          <a:prstGeom prst="rect">
            <a:avLst/>
          </a:prstGeom>
          <a:noFill/>
        </p:spPr>
        <p:txBody>
          <a:bodyPr wrap="square" lIns="0" rIns="0" tIns="0" bIns="0" anchor="t">
            <a:spAutoFit/>
          </a:bodyPr>
          <a:lstStyle/>
          <a:p>
            <a:pPr algn="ctr">
              <a:lnSpc>
                <a:spcPct val="116000"/>
              </a:lnSpc>
              <a:spcBef>
                <a:spcPts val="0"/>
              </a:spcBef>
              <a:spcAft>
                <a:spcPts val="0"/>
              </a:spcAft>
            </a:pPr>
            <a:r>
              <a:rPr sz="1700" b="1" i="0" u="none">
                <a:solidFill>
                  <a:srgbClr val="FFFFFF"/>
                </a:solidFill>
                <a:latin typeface="Segoe UI"/>
                <a:ea typeface="Microsoft YaHei"/>
                <a:cs typeface="Segoe UI"/>
              </a:rPr>
              <a:t>1</a:t>
            </a:r>
          </a:p>
        </p:txBody>
      </p:sp>
      <p:sp>
        <p:nvSpPr>
          <p:cNvPr id="18" name="TextBox 17"/>
          <p:cNvSpPr txBox="1"/>
          <p:nvPr/>
        </p:nvSpPr>
        <p:spPr>
          <a:xfrm>
            <a:off x="1133856" y="3722202"/>
            <a:ext cx="10436047" cy="365760"/>
          </a:xfrm>
          <a:prstGeom prst="rect">
            <a:avLst/>
          </a:prstGeom>
          <a:noFill/>
        </p:spPr>
        <p:txBody>
          <a:bodyPr wrap="square" lIns="0" rIns="0" tIns="0" bIns="0" anchor="t">
            <a:spAutoFit/>
          </a:bodyPr>
          <a:lstStyle/>
          <a:p>
            <a:pPr algn="l">
              <a:lnSpc>
                <a:spcPct val="110000"/>
              </a:lnSpc>
              <a:spcBef>
                <a:spcPts val="0"/>
              </a:spcBef>
              <a:spcAft>
                <a:spcPts val="0"/>
              </a:spcAft>
            </a:pPr>
            <a:r>
              <a:rPr sz="1900" b="1" i="0" u="none">
                <a:solidFill>
                  <a:srgbClr val="172A31"/>
                </a:solidFill>
                <a:latin typeface="Segoe UI"/>
                <a:ea typeface="Microsoft YaHei"/>
                <a:cs typeface="Segoe UI"/>
              </a:rPr>
              <a:t>Although Kelly argues that ______, I believe ______ because ______.</a:t>
            </a:r>
          </a:p>
        </p:txBody>
      </p:sp>
      <p:sp>
        <p:nvSpPr>
          <p:cNvPr id="19" name="TextBox 18"/>
          <p:cNvSpPr txBox="1"/>
          <p:nvPr/>
        </p:nvSpPr>
        <p:spPr>
          <a:xfrm>
            <a:off x="1133856" y="4124538"/>
            <a:ext cx="10436047" cy="292608"/>
          </a:xfrm>
          <a:prstGeom prst="rect">
            <a:avLst/>
          </a:prstGeom>
          <a:noFill/>
        </p:spPr>
        <p:txBody>
          <a:bodyPr wrap="square" lIns="0" rIns="0" tIns="0" bIns="0" anchor="t">
            <a:spAutoFit/>
          </a:bodyPr>
          <a:lstStyle/>
          <a:p>
            <a:pPr algn="l">
              <a:lnSpc>
                <a:spcPct val="110000"/>
              </a:lnSpc>
              <a:spcBef>
                <a:spcPts val="0"/>
              </a:spcBef>
              <a:spcAft>
                <a:spcPts val="0"/>
              </a:spcAft>
            </a:pPr>
            <a:r>
              <a:rPr sz="1900" b="0" i="0" u="none">
                <a:solidFill>
                  <a:srgbClr val="C95527"/>
                </a:solidFill>
                <a:latin typeface="Segoe UI"/>
                <a:ea typeface="Microsoft YaHei"/>
                <a:cs typeface="Segoe UI"/>
              </a:rPr>
              <a:t>可用角度：同样的学历回报不同 / 教育需要时间和金钱 / 教育解决不了信息差</a:t>
            </a:r>
          </a:p>
        </p:txBody>
      </p:sp>
      <p:cxnSp>
        <p:nvCxnSpPr>
          <p:cNvPr id="20" name="Connector 19"/>
          <p:cNvCxnSpPr/>
          <p:nvPr/>
        </p:nvCxnSpPr>
        <p:spPr>
          <a:xfrm>
            <a:off x="1133856" y="4563450"/>
            <a:ext cx="10436047"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133856" y="4947498"/>
            <a:ext cx="10436047"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133856" y="5331546"/>
            <a:ext cx="10436047"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5 · Contribution</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83</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WHERE NEW IDEAS COME FROM</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新角度从哪里来？三个抽屉</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764792"/>
            <a:ext cx="10948111" cy="1234440"/>
          </a:xfrm>
          <a:prstGeom prst="roundRect">
            <a:avLst>
              <a:gd name="adj" fmla="val 6000"/>
            </a:avLst>
          </a:prstGeom>
          <a:solidFill>
            <a:srgbClr val="FFFFFF"/>
          </a:solidFill>
          <a:ln w="22860">
            <a:solidFill>
              <a:srgbClr val="0E536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621792" y="1764792"/>
            <a:ext cx="2103120" cy="1234440"/>
          </a:xfrm>
          <a:prstGeom prst="roundRect">
            <a:avLst>
              <a:gd name="adj" fmla="val 6000"/>
            </a:avLst>
          </a:prstGeom>
          <a:solidFill>
            <a:srgbClr val="0E53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2167128"/>
            <a:ext cx="1920240" cy="457200"/>
          </a:xfrm>
          <a:prstGeom prst="rect">
            <a:avLst/>
          </a:prstGeom>
          <a:noFill/>
        </p:spPr>
        <p:txBody>
          <a:bodyPr wrap="square" lIns="0" rIns="0" tIns="0" bIns="0" anchor="t">
            <a:spAutoFit/>
          </a:bodyPr>
          <a:lstStyle/>
          <a:p>
            <a:pPr algn="ctr">
              <a:lnSpc>
                <a:spcPct val="116000"/>
              </a:lnSpc>
              <a:spcBef>
                <a:spcPts val="0"/>
              </a:spcBef>
              <a:spcAft>
                <a:spcPts val="0"/>
              </a:spcAft>
            </a:pPr>
            <a:r>
              <a:rPr sz="2000" b="1" i="0" u="none">
                <a:solidFill>
                  <a:srgbClr val="FFFFFF"/>
                </a:solidFill>
                <a:latin typeface="Segoe UI"/>
                <a:ea typeface="Microsoft YaHei"/>
                <a:cs typeface="Segoe UI"/>
              </a:rPr>
              <a:t>① 换一个人</a:t>
            </a:r>
          </a:p>
        </p:txBody>
      </p:sp>
      <p:sp>
        <p:nvSpPr>
          <p:cNvPr id="11" name="TextBox 10"/>
          <p:cNvSpPr txBox="1"/>
          <p:nvPr/>
        </p:nvSpPr>
        <p:spPr>
          <a:xfrm>
            <a:off x="2999232" y="1947672"/>
            <a:ext cx="8250631" cy="411480"/>
          </a:xfrm>
          <a:prstGeom prst="rect">
            <a:avLst/>
          </a:prstGeom>
          <a:noFill/>
        </p:spPr>
        <p:txBody>
          <a:bodyPr wrap="square" lIns="0" rIns="0" tIns="0" bIns="0" anchor="t">
            <a:spAutoFit/>
          </a:bodyPr>
          <a:lstStyle/>
          <a:p>
            <a:pPr algn="l">
              <a:lnSpc>
                <a:spcPct val="116000"/>
              </a:lnSpc>
              <a:spcBef>
                <a:spcPts val="0"/>
              </a:spcBef>
              <a:spcAft>
                <a:spcPts val="600"/>
              </a:spcAft>
            </a:pPr>
            <a:r>
              <a:rPr sz="2000" b="1" i="0" u="none">
                <a:solidFill>
                  <a:srgbClr val="0E5362"/>
                </a:solidFill>
                <a:latin typeface="Segoe UI"/>
                <a:ea typeface="Microsoft YaHei"/>
                <a:cs typeface="Segoe UI"/>
              </a:rPr>
              <a:t>同样一件事，对谁最重要？</a:t>
            </a:r>
          </a:p>
        </p:txBody>
      </p:sp>
      <p:sp>
        <p:nvSpPr>
          <p:cNvPr id="12" name="TextBox 11"/>
          <p:cNvSpPr txBox="1"/>
          <p:nvPr/>
        </p:nvSpPr>
        <p:spPr>
          <a:xfrm>
            <a:off x="2999232" y="2423160"/>
            <a:ext cx="8250631" cy="41148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对没有人脉的学生来说，教育是唯一的入口。</a:t>
            </a:r>
          </a:p>
        </p:txBody>
      </p:sp>
      <p:sp>
        <p:nvSpPr>
          <p:cNvPr id="13" name="Rounded Rectangle 12"/>
          <p:cNvSpPr/>
          <p:nvPr/>
        </p:nvSpPr>
        <p:spPr>
          <a:xfrm>
            <a:off x="621792" y="3118104"/>
            <a:ext cx="10948111" cy="1234440"/>
          </a:xfrm>
          <a:prstGeom prst="roundRect">
            <a:avLst>
              <a:gd name="adj" fmla="val 6000"/>
            </a:avLst>
          </a:prstGeom>
          <a:solidFill>
            <a:srgbClr val="FFFFFF"/>
          </a:solidFill>
          <a:ln w="22860">
            <a:solidFill>
              <a:srgbClr val="C9552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621792" y="3118104"/>
            <a:ext cx="2103120" cy="1234440"/>
          </a:xfrm>
          <a:prstGeom prst="roundRect">
            <a:avLst>
              <a:gd name="adj" fmla="val 6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13232" y="3520440"/>
            <a:ext cx="1920240" cy="457200"/>
          </a:xfrm>
          <a:prstGeom prst="rect">
            <a:avLst/>
          </a:prstGeom>
          <a:noFill/>
        </p:spPr>
        <p:txBody>
          <a:bodyPr wrap="square" lIns="0" rIns="0" tIns="0" bIns="0" anchor="t">
            <a:spAutoFit/>
          </a:bodyPr>
          <a:lstStyle/>
          <a:p>
            <a:pPr algn="ctr">
              <a:lnSpc>
                <a:spcPct val="116000"/>
              </a:lnSpc>
              <a:spcBef>
                <a:spcPts val="0"/>
              </a:spcBef>
              <a:spcAft>
                <a:spcPts val="0"/>
              </a:spcAft>
            </a:pPr>
            <a:r>
              <a:rPr sz="2000" b="1" i="0" u="none">
                <a:solidFill>
                  <a:srgbClr val="FFFFFF"/>
                </a:solidFill>
                <a:latin typeface="Segoe UI"/>
                <a:ea typeface="Microsoft YaHei"/>
                <a:cs typeface="Segoe UI"/>
              </a:rPr>
              <a:t>② 换一个条件</a:t>
            </a:r>
          </a:p>
        </p:txBody>
      </p:sp>
      <p:sp>
        <p:nvSpPr>
          <p:cNvPr id="16" name="TextBox 15"/>
          <p:cNvSpPr txBox="1"/>
          <p:nvPr/>
        </p:nvSpPr>
        <p:spPr>
          <a:xfrm>
            <a:off x="2999232" y="3300984"/>
            <a:ext cx="8250631" cy="411480"/>
          </a:xfrm>
          <a:prstGeom prst="rect">
            <a:avLst/>
          </a:prstGeom>
          <a:noFill/>
        </p:spPr>
        <p:txBody>
          <a:bodyPr wrap="square" lIns="0" rIns="0" tIns="0" bIns="0" anchor="t">
            <a:spAutoFit/>
          </a:bodyPr>
          <a:lstStyle/>
          <a:p>
            <a:pPr algn="l">
              <a:lnSpc>
                <a:spcPct val="116000"/>
              </a:lnSpc>
              <a:spcBef>
                <a:spcPts val="0"/>
              </a:spcBef>
              <a:spcAft>
                <a:spcPts val="600"/>
              </a:spcAft>
            </a:pPr>
            <a:r>
              <a:rPr sz="2000" b="1" i="0" u="none">
                <a:solidFill>
                  <a:srgbClr val="C95527"/>
                </a:solidFill>
                <a:latin typeface="Segoe UI"/>
                <a:ea typeface="Microsoft YaHei"/>
                <a:cs typeface="Segoe UI"/>
              </a:rPr>
              <a:t>什么情况下对方说的才成立？</a:t>
            </a:r>
          </a:p>
        </p:txBody>
      </p:sp>
      <p:sp>
        <p:nvSpPr>
          <p:cNvPr id="17" name="TextBox 16"/>
          <p:cNvSpPr txBox="1"/>
          <p:nvPr/>
        </p:nvSpPr>
        <p:spPr>
          <a:xfrm>
            <a:off x="2999232" y="3776472"/>
            <a:ext cx="8250631" cy="41148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人脉起作用的前提是你已经有资格。</a:t>
            </a:r>
          </a:p>
        </p:txBody>
      </p:sp>
      <p:sp>
        <p:nvSpPr>
          <p:cNvPr id="18" name="Rounded Rectangle 17"/>
          <p:cNvSpPr/>
          <p:nvPr/>
        </p:nvSpPr>
        <p:spPr>
          <a:xfrm>
            <a:off x="621792" y="4471416"/>
            <a:ext cx="10948111" cy="1234440"/>
          </a:xfrm>
          <a:prstGeom prst="roundRect">
            <a:avLst>
              <a:gd name="adj" fmla="val 6000"/>
            </a:avLst>
          </a:prstGeom>
          <a:solidFill>
            <a:srgbClr val="FFFFFF"/>
          </a:solidFill>
          <a:ln w="22860">
            <a:solidFill>
              <a:srgbClr val="B083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621792" y="4471416"/>
            <a:ext cx="2103120" cy="1234440"/>
          </a:xfrm>
          <a:prstGeom prst="roundRect">
            <a:avLst>
              <a:gd name="adj" fmla="val 6000"/>
            </a:avLst>
          </a:prstGeom>
          <a:solidFill>
            <a:srgbClr val="B083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13232" y="4873752"/>
            <a:ext cx="1920240" cy="457200"/>
          </a:xfrm>
          <a:prstGeom prst="rect">
            <a:avLst/>
          </a:prstGeom>
          <a:noFill/>
        </p:spPr>
        <p:txBody>
          <a:bodyPr wrap="square" lIns="0" rIns="0" tIns="0" bIns="0" anchor="t">
            <a:spAutoFit/>
          </a:bodyPr>
          <a:lstStyle/>
          <a:p>
            <a:pPr algn="ctr">
              <a:lnSpc>
                <a:spcPct val="116000"/>
              </a:lnSpc>
              <a:spcBef>
                <a:spcPts val="0"/>
              </a:spcBef>
              <a:spcAft>
                <a:spcPts val="0"/>
              </a:spcAft>
            </a:pPr>
            <a:r>
              <a:rPr sz="2000" b="1" i="0" u="none">
                <a:solidFill>
                  <a:srgbClr val="FFFFFF"/>
                </a:solidFill>
                <a:latin typeface="Segoe UI"/>
                <a:ea typeface="Microsoft YaHei"/>
                <a:cs typeface="Segoe UI"/>
              </a:rPr>
              <a:t>③ 换一个时间</a:t>
            </a:r>
          </a:p>
        </p:txBody>
      </p:sp>
      <p:sp>
        <p:nvSpPr>
          <p:cNvPr id="21" name="TextBox 20"/>
          <p:cNvSpPr txBox="1"/>
          <p:nvPr/>
        </p:nvSpPr>
        <p:spPr>
          <a:xfrm>
            <a:off x="2999232" y="4654296"/>
            <a:ext cx="8250631" cy="411480"/>
          </a:xfrm>
          <a:prstGeom prst="rect">
            <a:avLst/>
          </a:prstGeom>
          <a:noFill/>
        </p:spPr>
        <p:txBody>
          <a:bodyPr wrap="square" lIns="0" rIns="0" tIns="0" bIns="0" anchor="t">
            <a:spAutoFit/>
          </a:bodyPr>
          <a:lstStyle/>
          <a:p>
            <a:pPr algn="l">
              <a:lnSpc>
                <a:spcPct val="116000"/>
              </a:lnSpc>
              <a:spcBef>
                <a:spcPts val="0"/>
              </a:spcBef>
              <a:spcAft>
                <a:spcPts val="600"/>
              </a:spcAft>
            </a:pPr>
            <a:r>
              <a:rPr sz="2000" b="1" i="0" u="none">
                <a:solidFill>
                  <a:srgbClr val="B08300"/>
                </a:solidFill>
                <a:latin typeface="Segoe UI"/>
                <a:ea typeface="Microsoft YaHei"/>
                <a:cs typeface="Segoe UI"/>
              </a:rPr>
              <a:t>短期和长期一样吗？</a:t>
            </a:r>
          </a:p>
        </p:txBody>
      </p:sp>
      <p:sp>
        <p:nvSpPr>
          <p:cNvPr id="22" name="TextBox 21"/>
          <p:cNvSpPr txBox="1"/>
          <p:nvPr/>
        </p:nvSpPr>
        <p:spPr>
          <a:xfrm>
            <a:off x="2999232" y="5129784"/>
            <a:ext cx="8250631" cy="41148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人脉能让你更快听到消息，教育决定你能留多久。</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5 · Contribution</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84</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OUTPUT · 4 人各一条</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B08300"/>
                </a:solidFill>
                <a:latin typeface="Segoe UI"/>
                <a:ea typeface="Microsoft YaHei"/>
                <a:cs typeface="Segoe UI"/>
              </a:rPr>
              <a:t>每人一条 Contribution</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719072"/>
            <a:ext cx="10948111" cy="1143000"/>
          </a:xfrm>
          <a:prstGeom prst="roundRect">
            <a:avLst>
              <a:gd name="adj" fmla="val 6000"/>
            </a:avLst>
          </a:prstGeom>
          <a:solidFill>
            <a:srgbClr val="FAF2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21792" y="1719072"/>
            <a:ext cx="64008" cy="1143000"/>
          </a:xfrm>
          <a:prstGeom prst="rect">
            <a:avLst/>
          </a:prstGeom>
          <a:solidFill>
            <a:srgbClr val="B083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50976" y="1938528"/>
            <a:ext cx="10216591" cy="822960"/>
          </a:xfrm>
          <a:prstGeom prst="rect">
            <a:avLst/>
          </a:prstGeom>
          <a:noFill/>
        </p:spPr>
        <p:txBody>
          <a:bodyPr wrap="square" lIns="0" rIns="0" tIns="0" bIns="0" anchor="t">
            <a:spAutoFit/>
          </a:bodyPr>
          <a:lstStyle/>
          <a:p>
            <a:pPr algn="l">
              <a:lnSpc>
                <a:spcPct val="115000"/>
              </a:lnSpc>
              <a:spcBef>
                <a:spcPts val="0"/>
              </a:spcBef>
              <a:spcAft>
                <a:spcPts val="0"/>
              </a:spcAft>
            </a:pPr>
            <a:r>
              <a:rPr sz="2400" b="1" i="0" u="none">
                <a:solidFill>
                  <a:srgbClr val="B08300"/>
                </a:solidFill>
                <a:latin typeface="Segoe UI"/>
                <a:ea typeface="Microsoft YaHei"/>
                <a:cs typeface="Segoe UI"/>
              </a:rPr>
              <a:t>读你写的其中一条：Agree + Add 或 Disagree + Explain。</a:t>
            </a:r>
          </a:p>
        </p:txBody>
      </p:sp>
      <p:sp>
        <p:nvSpPr>
          <p:cNvPr id="11" name="Rounded Rectangle 10"/>
          <p:cNvSpPr/>
          <p:nvPr/>
        </p:nvSpPr>
        <p:spPr>
          <a:xfrm>
            <a:off x="621792" y="3108960"/>
            <a:ext cx="10948111" cy="658368"/>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3255264"/>
            <a:ext cx="457200"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B08300"/>
                </a:solidFill>
                <a:latin typeface="Segoe UI"/>
                <a:ea typeface="Microsoft YaHei"/>
                <a:cs typeface="Segoe UI"/>
              </a:rPr>
              <a:t>1</a:t>
            </a:r>
          </a:p>
        </p:txBody>
      </p:sp>
      <p:sp>
        <p:nvSpPr>
          <p:cNvPr id="13" name="TextBox 12"/>
          <p:cNvSpPr txBox="1"/>
          <p:nvPr/>
        </p:nvSpPr>
        <p:spPr>
          <a:xfrm>
            <a:off x="1371600" y="3255264"/>
            <a:ext cx="9850831" cy="45720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听的人只回答：这句话删掉，讨论会少什么？</a:t>
            </a:r>
          </a:p>
        </p:txBody>
      </p:sp>
      <p:sp>
        <p:nvSpPr>
          <p:cNvPr id="14" name="Rounded Rectangle 13"/>
          <p:cNvSpPr/>
          <p:nvPr/>
        </p:nvSpPr>
        <p:spPr>
          <a:xfrm>
            <a:off x="621792" y="3858768"/>
            <a:ext cx="10948111" cy="658368"/>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77824" y="4005072"/>
            <a:ext cx="457200"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B08300"/>
                </a:solidFill>
                <a:latin typeface="Segoe UI"/>
                <a:ea typeface="Microsoft YaHei"/>
                <a:cs typeface="Segoe UI"/>
              </a:rPr>
              <a:t>2</a:t>
            </a:r>
          </a:p>
        </p:txBody>
      </p:sp>
      <p:sp>
        <p:nvSpPr>
          <p:cNvPr id="16" name="TextBox 15"/>
          <p:cNvSpPr txBox="1"/>
          <p:nvPr/>
        </p:nvSpPr>
        <p:spPr>
          <a:xfrm>
            <a:off x="1371600" y="4005072"/>
            <a:ext cx="9850831" cy="45720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如果答案是「什么都不少」——现场加一个具体的人或一个条件</a:t>
            </a:r>
          </a:p>
        </p:txBody>
      </p:sp>
      <p:sp>
        <p:nvSpPr>
          <p:cNvPr id="17" name="Rounded Rectangle 16"/>
          <p:cNvSpPr/>
          <p:nvPr/>
        </p:nvSpPr>
        <p:spPr>
          <a:xfrm>
            <a:off x="621792" y="4608576"/>
            <a:ext cx="10948111" cy="658368"/>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77824" y="4754880"/>
            <a:ext cx="457200"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B08300"/>
                </a:solidFill>
                <a:latin typeface="Segoe UI"/>
                <a:ea typeface="Microsoft YaHei"/>
                <a:cs typeface="Segoe UI"/>
              </a:rPr>
              <a:t>3</a:t>
            </a:r>
          </a:p>
        </p:txBody>
      </p:sp>
      <p:sp>
        <p:nvSpPr>
          <p:cNvPr id="19" name="TextBox 18"/>
          <p:cNvSpPr txBox="1"/>
          <p:nvPr/>
        </p:nvSpPr>
        <p:spPr>
          <a:xfrm>
            <a:off x="1371600" y="4754880"/>
            <a:ext cx="9850831" cy="45720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彭子骞读 A1，其余三人各读一条不同的</a:t>
            </a:r>
          </a:p>
        </p:txBody>
      </p:sp>
      <p:sp>
        <p:nvSpPr>
          <p:cNvPr id="20" name="Rounded Rectangle 19"/>
          <p:cNvSpPr/>
          <p:nvPr/>
        </p:nvSpPr>
        <p:spPr>
          <a:xfrm>
            <a:off x="621792" y="5468112"/>
            <a:ext cx="720547" cy="384048"/>
          </a:xfrm>
          <a:prstGeom prst="roundRect">
            <a:avLst>
              <a:gd name="adj" fmla="val 40000"/>
            </a:avLst>
          </a:prstGeom>
          <a:solidFill>
            <a:srgbClr val="B083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21792" y="5509260"/>
            <a:ext cx="720547" cy="384048"/>
          </a:xfrm>
          <a:prstGeom prst="rect">
            <a:avLst/>
          </a:prstGeom>
          <a:noFill/>
        </p:spPr>
        <p:txBody>
          <a:bodyPr wrap="square" lIns="0" rIns="0" tIns="0" bIns="0" anchor="t">
            <a:spAutoFit/>
          </a:bodyPr>
          <a:lstStyle/>
          <a:p>
            <a:pPr algn="ctr">
              <a:lnSpc>
                <a:spcPct val="116000"/>
              </a:lnSpc>
              <a:spcBef>
                <a:spcPts val="0"/>
              </a:spcBef>
              <a:spcAft>
                <a:spcPts val="0"/>
              </a:spcAft>
            </a:pPr>
            <a:r>
              <a:rPr sz="1700" b="1" i="0" u="none">
                <a:solidFill>
                  <a:srgbClr val="FFFFFF"/>
                </a:solidFill>
                <a:latin typeface="Segoe UI"/>
                <a:ea typeface="Microsoft YaHei"/>
                <a:cs typeface="Segoe UI"/>
              </a:rPr>
              <a:t>5 分钟</a:t>
            </a:r>
          </a:p>
        </p:txBody>
      </p:sp>
      <p:sp>
        <p:nvSpPr>
          <p:cNvPr id="22" name="TextBox 21"/>
          <p:cNvSpPr txBox="1"/>
          <p:nvPr/>
        </p:nvSpPr>
        <p:spPr>
          <a:xfrm>
            <a:off x="2542032" y="5522976"/>
            <a:ext cx="8936431" cy="45720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这一条待会儿直接写进 Part 6 的作文。</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5 · Contribution</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85</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PART 5 · 收</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Part 5 小结：4 分和 5 分的分界线</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856232"/>
            <a:ext cx="10948111" cy="1188720"/>
          </a:xfrm>
          <a:prstGeom prst="roundRect">
            <a:avLst>
              <a:gd name="adj" fmla="val 6000"/>
            </a:avLst>
          </a:prstGeom>
          <a:solidFill>
            <a:srgbClr val="B083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33272" y="2130552"/>
            <a:ext cx="10125151" cy="731520"/>
          </a:xfrm>
          <a:prstGeom prst="rect">
            <a:avLst/>
          </a:prstGeom>
          <a:noFill/>
        </p:spPr>
        <p:txBody>
          <a:bodyPr wrap="square" lIns="0" rIns="0" tIns="0" bIns="0" anchor="t">
            <a:spAutoFit/>
          </a:bodyPr>
          <a:lstStyle/>
          <a:p>
            <a:pPr algn="ctr">
              <a:lnSpc>
                <a:spcPct val="116000"/>
              </a:lnSpc>
              <a:spcBef>
                <a:spcPts val="0"/>
              </a:spcBef>
              <a:spcAft>
                <a:spcPts val="0"/>
              </a:spcAft>
            </a:pPr>
            <a:r>
              <a:rPr sz="2500" b="1" i="0" u="none">
                <a:solidFill>
                  <a:srgbClr val="FFFFFF"/>
                </a:solidFill>
                <a:latin typeface="Segoe UI"/>
                <a:ea typeface="Microsoft YaHei"/>
                <a:cs typeface="Segoe UI"/>
              </a:rPr>
              <a:t>同样写了 100 词，有没有新信息，是完全不同的两个分数。</a:t>
            </a:r>
          </a:p>
        </p:txBody>
      </p:sp>
      <p:sp>
        <p:nvSpPr>
          <p:cNvPr id="10" name="Rounded Rectangle 9"/>
          <p:cNvSpPr/>
          <p:nvPr/>
        </p:nvSpPr>
        <p:spPr>
          <a:xfrm>
            <a:off x="621792" y="3319272"/>
            <a:ext cx="10948111" cy="841248"/>
          </a:xfrm>
          <a:prstGeom prst="roundRect">
            <a:avLst>
              <a:gd name="adj" fmla="val 6000"/>
            </a:avLst>
          </a:prstGeom>
          <a:solidFill>
            <a:srgbClr val="FFFFFF"/>
          </a:solidFill>
          <a:ln w="20320">
            <a:solidFill>
              <a:srgbClr val="0E536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14400" y="3538728"/>
            <a:ext cx="2103120" cy="41148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0E5362"/>
                </a:solidFill>
                <a:latin typeface="Segoe UI"/>
                <a:ea typeface="Microsoft YaHei"/>
                <a:cs typeface="Segoe UI"/>
              </a:rPr>
              <a:t>必须做到 ①</a:t>
            </a:r>
          </a:p>
        </p:txBody>
      </p:sp>
      <p:sp>
        <p:nvSpPr>
          <p:cNvPr id="12" name="TextBox 11"/>
          <p:cNvSpPr txBox="1"/>
          <p:nvPr/>
        </p:nvSpPr>
        <p:spPr>
          <a:xfrm>
            <a:off x="3182112" y="3538728"/>
            <a:ext cx="8067751" cy="41148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明确提到 Kelly 或 Andrew 的名字与观点</a:t>
            </a:r>
          </a:p>
        </p:txBody>
      </p:sp>
      <p:sp>
        <p:nvSpPr>
          <p:cNvPr id="13" name="Rounded Rectangle 12"/>
          <p:cNvSpPr/>
          <p:nvPr/>
        </p:nvSpPr>
        <p:spPr>
          <a:xfrm>
            <a:off x="621792" y="4251960"/>
            <a:ext cx="10948111" cy="841248"/>
          </a:xfrm>
          <a:prstGeom prst="roundRect">
            <a:avLst>
              <a:gd name="adj" fmla="val 6000"/>
            </a:avLst>
          </a:prstGeom>
          <a:solidFill>
            <a:srgbClr val="FFFFFF"/>
          </a:solidFill>
          <a:ln w="20320">
            <a:solidFill>
              <a:srgbClr val="2E6B4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14400" y="4471416"/>
            <a:ext cx="2103120" cy="41148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2E6B4F"/>
                </a:solidFill>
                <a:latin typeface="Segoe UI"/>
                <a:ea typeface="Microsoft YaHei"/>
                <a:cs typeface="Segoe UI"/>
              </a:rPr>
              <a:t>必须做到 ②</a:t>
            </a:r>
          </a:p>
        </p:txBody>
      </p:sp>
      <p:sp>
        <p:nvSpPr>
          <p:cNvPr id="15" name="TextBox 14"/>
          <p:cNvSpPr txBox="1"/>
          <p:nvPr/>
        </p:nvSpPr>
        <p:spPr>
          <a:xfrm>
            <a:off x="3182112" y="4471416"/>
            <a:ext cx="8067751" cy="41148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在同意 / 反驳之后，再加一句他没说过的话</a:t>
            </a:r>
          </a:p>
        </p:txBody>
      </p:sp>
      <p:sp>
        <p:nvSpPr>
          <p:cNvPr id="16" name="Rounded Rectangle 15"/>
          <p:cNvSpPr/>
          <p:nvPr/>
        </p:nvSpPr>
        <p:spPr>
          <a:xfrm>
            <a:off x="621792" y="5184648"/>
            <a:ext cx="10948111" cy="841248"/>
          </a:xfrm>
          <a:prstGeom prst="roundRect">
            <a:avLst>
              <a:gd name="adj" fmla="val 6000"/>
            </a:avLst>
          </a:prstGeom>
          <a:solidFill>
            <a:srgbClr val="FFFFFF"/>
          </a:solidFill>
          <a:ln w="20320">
            <a:solidFill>
              <a:srgbClr val="B083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914400" y="5404104"/>
            <a:ext cx="2103120" cy="41148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B08300"/>
                </a:solidFill>
                <a:latin typeface="Segoe UI"/>
                <a:ea typeface="Microsoft YaHei"/>
                <a:cs typeface="Segoe UI"/>
              </a:rPr>
              <a:t>尽量做到</a:t>
            </a:r>
          </a:p>
        </p:txBody>
      </p:sp>
      <p:sp>
        <p:nvSpPr>
          <p:cNvPr id="18" name="TextBox 17"/>
          <p:cNvSpPr txBox="1"/>
          <p:nvPr/>
        </p:nvSpPr>
        <p:spPr>
          <a:xfrm>
            <a:off x="3182112" y="5404104"/>
            <a:ext cx="8067751" cy="41148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这句新话本身也有 because 或一个具体的人</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53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3" name="Connector 2"/>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6 · Full Writing</a:t>
            </a:r>
          </a:p>
        </p:txBody>
      </p:sp>
      <p:sp>
        <p:nvSpPr>
          <p:cNvPr id="5" name="TextBox 4"/>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86</a:t>
            </a:r>
          </a:p>
        </p:txBody>
      </p:sp>
      <p:sp>
        <p:nvSpPr>
          <p:cNvPr id="6" name="Rectangle 5"/>
          <p:cNvSpPr/>
          <p:nvPr/>
        </p:nvSpPr>
        <p:spPr>
          <a:xfrm>
            <a:off x="0" y="0"/>
            <a:ext cx="310896" cy="6858000"/>
          </a:xfrm>
          <a:prstGeom prst="rect">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371600" y="1481328"/>
            <a:ext cx="10033711" cy="457200"/>
          </a:xfrm>
          <a:prstGeom prst="rect">
            <a:avLst/>
          </a:prstGeom>
          <a:noFill/>
        </p:spPr>
        <p:txBody>
          <a:bodyPr wrap="square" lIns="0" rIns="0" tIns="0" bIns="0" anchor="t">
            <a:spAutoFit/>
          </a:bodyPr>
          <a:lstStyle/>
          <a:p>
            <a:pPr algn="l">
              <a:lnSpc>
                <a:spcPct val="116000"/>
              </a:lnSpc>
              <a:spcBef>
                <a:spcPts val="0"/>
              </a:spcBef>
              <a:spcAft>
                <a:spcPts val="200"/>
              </a:spcAft>
            </a:pPr>
            <a:r>
              <a:rPr sz="4600" b="1" i="0" u="none">
                <a:solidFill>
                  <a:srgbClr val="5C94A0"/>
                </a:solidFill>
                <a:latin typeface="Segoe UI"/>
                <a:ea typeface="Microsoft YaHei"/>
                <a:cs typeface="Segoe UI"/>
              </a:rPr>
              <a:t>PART 6</a:t>
            </a:r>
          </a:p>
        </p:txBody>
      </p:sp>
      <p:sp>
        <p:nvSpPr>
          <p:cNvPr id="8" name="TextBox 7"/>
          <p:cNvSpPr txBox="1"/>
          <p:nvPr/>
        </p:nvSpPr>
        <p:spPr>
          <a:xfrm>
            <a:off x="1371600" y="2395728"/>
            <a:ext cx="10033711" cy="731520"/>
          </a:xfrm>
          <a:prstGeom prst="rect">
            <a:avLst/>
          </a:prstGeom>
          <a:noFill/>
        </p:spPr>
        <p:txBody>
          <a:bodyPr wrap="square" lIns="0" rIns="0" tIns="0" bIns="0" anchor="t">
            <a:spAutoFit/>
          </a:bodyPr>
          <a:lstStyle/>
          <a:p>
            <a:pPr algn="l">
              <a:lnSpc>
                <a:spcPct val="116000"/>
              </a:lnSpc>
              <a:spcBef>
                <a:spcPts val="0"/>
              </a:spcBef>
              <a:spcAft>
                <a:spcPts val="400"/>
              </a:spcAft>
            </a:pPr>
            <a:r>
              <a:rPr sz="4200" b="1" i="0" u="none">
                <a:solidFill>
                  <a:srgbClr val="FFFFFF"/>
                </a:solidFill>
                <a:latin typeface="Segoe UI"/>
                <a:ea typeface="Microsoft YaHei"/>
                <a:cs typeface="Segoe UI"/>
              </a:rPr>
              <a:t>Full Writing</a:t>
            </a:r>
          </a:p>
        </p:txBody>
      </p:sp>
      <p:sp>
        <p:nvSpPr>
          <p:cNvPr id="9" name="TextBox 8"/>
          <p:cNvSpPr txBox="1"/>
          <p:nvPr/>
        </p:nvSpPr>
        <p:spPr>
          <a:xfrm>
            <a:off x="1371600" y="3200400"/>
            <a:ext cx="10033711" cy="411480"/>
          </a:xfrm>
          <a:prstGeom prst="rect">
            <a:avLst/>
          </a:prstGeom>
          <a:noFill/>
        </p:spPr>
        <p:txBody>
          <a:bodyPr wrap="square" lIns="0" rIns="0" tIns="0" bIns="0" anchor="t">
            <a:spAutoFit/>
          </a:bodyPr>
          <a:lstStyle/>
          <a:p>
            <a:pPr algn="l">
              <a:lnSpc>
                <a:spcPct val="116000"/>
              </a:lnSpc>
              <a:spcBef>
                <a:spcPts val="0"/>
              </a:spcBef>
              <a:spcAft>
                <a:spcPts val="0"/>
              </a:spcAft>
            </a:pPr>
            <a:r>
              <a:rPr sz="2200" b="0" i="0" u="none">
                <a:solidFill>
                  <a:srgbClr val="9EC6CE"/>
                </a:solidFill>
                <a:latin typeface="Segoe UI"/>
                <a:ea typeface="Microsoft YaHei"/>
                <a:cs typeface="Segoe UI"/>
              </a:rPr>
              <a:t>10 分钟，一次写完</a:t>
            </a:r>
          </a:p>
        </p:txBody>
      </p:sp>
      <p:sp>
        <p:nvSpPr>
          <p:cNvPr id="10" name="Rectangle 9"/>
          <p:cNvSpPr/>
          <p:nvPr/>
        </p:nvSpPr>
        <p:spPr>
          <a:xfrm>
            <a:off x="1371600" y="3886200"/>
            <a:ext cx="54864" cy="640080"/>
          </a:xfrm>
          <a:prstGeom prst="rect">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627632" y="3886200"/>
            <a:ext cx="9119311" cy="73152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FFFFFF"/>
                </a:solidFill>
                <a:latin typeface="Segoe UI"/>
                <a:ea typeface="Microsoft YaHei"/>
                <a:cs typeface="Segoe UI"/>
              </a:rPr>
              <a:t>本环节目标：今天所有练习，现在合成一篇。先填 Planning Box，再动笔。</a:t>
            </a:r>
          </a:p>
        </p:txBody>
      </p:sp>
      <p:sp>
        <p:nvSpPr>
          <p:cNvPr id="12" name="Rounded Rectangle 11"/>
          <p:cNvSpPr/>
          <p:nvPr/>
        </p:nvSpPr>
        <p:spPr>
          <a:xfrm>
            <a:off x="1371600" y="4892040"/>
            <a:ext cx="841248" cy="365760"/>
          </a:xfrm>
          <a:prstGeom prst="roundRect">
            <a:avLst>
              <a:gd name="adj" fmla="val 40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371600" y="4933188"/>
            <a:ext cx="841248" cy="365760"/>
          </a:xfrm>
          <a:prstGeom prst="rect">
            <a:avLst/>
          </a:prstGeom>
          <a:noFill/>
        </p:spPr>
        <p:txBody>
          <a:bodyPr wrap="square" lIns="0" rIns="0" tIns="0" bIns="0" anchor="t">
            <a:spAutoFit/>
          </a:bodyPr>
          <a:lstStyle/>
          <a:p>
            <a:pPr algn="ctr">
              <a:lnSpc>
                <a:spcPct val="116000"/>
              </a:lnSpc>
              <a:spcBef>
                <a:spcPts val="0"/>
              </a:spcBef>
              <a:spcAft>
                <a:spcPts val="0"/>
              </a:spcAft>
            </a:pPr>
            <a:r>
              <a:rPr sz="1700" b="1" i="0" u="none">
                <a:solidFill>
                  <a:srgbClr val="FFFFFF"/>
                </a:solidFill>
                <a:latin typeface="Segoe UI"/>
                <a:ea typeface="Microsoft YaHei"/>
                <a:cs typeface="Segoe UI"/>
              </a:rPr>
              <a:t>20 分钟</a:t>
            </a:r>
          </a:p>
        </p:txBody>
      </p:sp>
      <p:sp>
        <p:nvSpPr>
          <p:cNvPr id="14" name="TextBox 13"/>
          <p:cNvSpPr txBox="1"/>
          <p:nvPr/>
        </p:nvSpPr>
        <p:spPr>
          <a:xfrm>
            <a:off x="3200400" y="4937760"/>
            <a:ext cx="8022031" cy="45720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9EC6CE"/>
                </a:solidFill>
                <a:latin typeface="Segoe UI"/>
                <a:ea typeface="Microsoft YaHei"/>
                <a:cs typeface="Segoe UI"/>
              </a:rPr>
              <a:t>Planning 2′ · 写作 10′ · 自查 3′ · 互评 3′</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6 · Full Writing</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87</a:t>
            </a:r>
          </a:p>
        </p:txBody>
      </p:sp>
      <p:sp>
        <p:nvSpPr>
          <p:cNvPr id="5" name="TextBox 4"/>
          <p:cNvSpPr txBox="1"/>
          <p:nvPr/>
        </p:nvSpPr>
        <p:spPr>
          <a:xfrm>
            <a:off x="621792" y="347472"/>
            <a:ext cx="7882640" cy="548640"/>
          </a:xfrm>
          <a:prstGeom prst="rect">
            <a:avLst/>
          </a:prstGeom>
          <a:noFill/>
        </p:spPr>
        <p:txBody>
          <a:bodyPr wrap="square" lIns="0" rIns="0" tIns="0" bIns="0" anchor="t">
            <a:spAutoFit/>
          </a:bodyPr>
          <a:lstStyle/>
          <a:p>
            <a:pPr algn="l">
              <a:lnSpc>
                <a:spcPct val="105000"/>
              </a:lnSpc>
              <a:spcBef>
                <a:spcPts val="0"/>
              </a:spcBef>
              <a:spcAft>
                <a:spcPts val="0"/>
              </a:spcAft>
            </a:pPr>
            <a:r>
              <a:rPr sz="2900" b="1" i="0" u="none">
                <a:solidFill>
                  <a:srgbClr val="0E5362"/>
                </a:solidFill>
                <a:latin typeface="Segoe UI"/>
                <a:ea typeface="Microsoft YaHei"/>
                <a:cs typeface="Segoe UI"/>
              </a:rPr>
              <a:t>题目回到眼前 · 完整官方题</a:t>
            </a:r>
          </a:p>
        </p:txBody>
      </p:sp>
      <p:sp>
        <p:nvSpPr>
          <p:cNvPr id="6" name="TextBox 5"/>
          <p:cNvSpPr txBox="1"/>
          <p:nvPr/>
        </p:nvSpPr>
        <p:spPr>
          <a:xfrm>
            <a:off x="8504432" y="438912"/>
            <a:ext cx="3065471" cy="365760"/>
          </a:xfrm>
          <a:prstGeom prst="rect">
            <a:avLst/>
          </a:prstGeom>
          <a:noFill/>
        </p:spPr>
        <p:txBody>
          <a:bodyPr wrap="square" lIns="0" rIns="0" tIns="0" bIns="0" anchor="t">
            <a:spAutoFit/>
          </a:bodyPr>
          <a:lstStyle/>
          <a:p>
            <a:pPr algn="r">
              <a:lnSpc>
                <a:spcPct val="116000"/>
              </a:lnSpc>
              <a:spcBef>
                <a:spcPts val="0"/>
              </a:spcBef>
              <a:spcAft>
                <a:spcPts val="0"/>
              </a:spcAft>
            </a:pPr>
            <a:r>
              <a:rPr sz="1900" b="1" i="0" u="none">
                <a:solidFill>
                  <a:srgbClr val="C95527"/>
                </a:solidFill>
                <a:latin typeface="Segoe UI"/>
                <a:ea typeface="Microsoft YaHei"/>
                <a:cs typeface="Segoe UI"/>
              </a:rPr>
              <a:t>OFFICIAL PROMPT</a:t>
            </a:r>
          </a:p>
        </p:txBody>
      </p:sp>
      <p:cxnSp>
        <p:nvCxnSpPr>
          <p:cNvPr id="7" name="Connector 6"/>
          <p:cNvCxnSpPr/>
          <p:nvPr/>
        </p:nvCxnSpPr>
        <p:spPr>
          <a:xfrm>
            <a:off x="621792" y="1024128"/>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234440"/>
            <a:ext cx="10948111" cy="4497776"/>
          </a:xfrm>
          <a:prstGeom prst="roundRect">
            <a:avLst>
              <a:gd name="adj" fmla="val 6000"/>
            </a:avLst>
          </a:prstGeom>
          <a:solidFill>
            <a:srgbClr val="FFFFFF"/>
          </a:solidFill>
          <a:ln w="20320">
            <a:solidFill>
              <a:srgbClr val="0E536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841248" y="1463040"/>
            <a:ext cx="50292" cy="1386662"/>
          </a:xfrm>
          <a:prstGeom prst="rect">
            <a:avLst/>
          </a:prstGeom>
          <a:solidFill>
            <a:srgbClr val="0E53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060704" y="1408176"/>
            <a:ext cx="10079431" cy="1441526"/>
          </a:xfrm>
          <a:prstGeom prst="rect">
            <a:avLst/>
          </a:prstGeom>
          <a:noFill/>
        </p:spPr>
        <p:txBody>
          <a:bodyPr wrap="square" lIns="0" rIns="0" tIns="0" bIns="0" anchor="t">
            <a:spAutoFit/>
          </a:bodyPr>
          <a:lstStyle/>
          <a:p>
            <a:pPr algn="l">
              <a:lnSpc>
                <a:spcPct val="116000"/>
              </a:lnSpc>
              <a:spcAft>
                <a:spcPts val="0"/>
              </a:spcAft>
            </a:pPr>
            <a:r>
              <a:rPr sz="1900" b="1" i="0" u="none">
                <a:solidFill>
                  <a:srgbClr val="0E5362"/>
                </a:solidFill>
                <a:latin typeface="Segoe UI"/>
                <a:ea typeface="Microsoft YaHei"/>
                <a:cs typeface="Segoe UI"/>
              </a:rPr>
              <a:t>Dr. Gupta（sociology）：</a:t>
            </a:r>
            <a:r>
              <a:rPr sz="1900" b="0" i="0" u="none">
                <a:solidFill>
                  <a:srgbClr val="172A31"/>
                </a:solidFill>
                <a:latin typeface="Segoe UI"/>
                <a:ea typeface="Microsoft YaHei"/>
                <a:cs typeface="Segoe UI"/>
              </a:rPr>
              <a:t>For the past few classes, we have been discussing the concept of social mobility which refers to the ability of individuals or families to move up or down the social hierarchy. Some argue that education is the key to social mobility, while others believe that networking and personal connections are more important. Which viewpoint do you agree with? Why?</a:t>
            </a:r>
          </a:p>
        </p:txBody>
      </p:sp>
      <p:cxnSp>
        <p:nvCxnSpPr>
          <p:cNvPr id="11" name="Connector 10"/>
          <p:cNvCxnSpPr/>
          <p:nvPr/>
        </p:nvCxnSpPr>
        <p:spPr>
          <a:xfrm>
            <a:off x="1060704" y="2922854"/>
            <a:ext cx="10216591"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841248" y="3060014"/>
            <a:ext cx="50292" cy="1098356"/>
          </a:xfrm>
          <a:prstGeom prst="rect">
            <a:avLst/>
          </a:prstGeom>
          <a:solidFill>
            <a:srgbClr val="2A7E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60704" y="3005150"/>
            <a:ext cx="10079431" cy="1153220"/>
          </a:xfrm>
          <a:prstGeom prst="rect">
            <a:avLst/>
          </a:prstGeom>
          <a:noFill/>
        </p:spPr>
        <p:txBody>
          <a:bodyPr wrap="square" lIns="0" rIns="0" tIns="0" bIns="0" anchor="t">
            <a:spAutoFit/>
          </a:bodyPr>
          <a:lstStyle/>
          <a:p>
            <a:pPr algn="l">
              <a:lnSpc>
                <a:spcPct val="116000"/>
              </a:lnSpc>
              <a:spcAft>
                <a:spcPts val="0"/>
              </a:spcAft>
            </a:pPr>
            <a:r>
              <a:rPr sz="1900" b="1" i="0" u="none">
                <a:solidFill>
                  <a:srgbClr val="2A7E8E"/>
                </a:solidFill>
                <a:latin typeface="Segoe UI"/>
                <a:ea typeface="Microsoft YaHei"/>
                <a:cs typeface="Segoe UI"/>
              </a:rPr>
              <a:t>Kelly（Student A）：</a:t>
            </a:r>
            <a:r>
              <a:rPr sz="1900" b="0" i="0" u="none">
                <a:solidFill>
                  <a:srgbClr val="172A31"/>
                </a:solidFill>
                <a:latin typeface="Segoe UI"/>
                <a:ea typeface="Microsoft YaHei"/>
                <a:cs typeface="Segoe UI"/>
              </a:rPr>
              <a:t>I believe that education is the key to social mobility. With a good education, individuals can acquire the knowledge and skills needed to access better job opportunities and improve their social status. We have always been taught that education provides a foundation for long-term success and upward mobility.</a:t>
            </a:r>
          </a:p>
        </p:txBody>
      </p:sp>
      <p:cxnSp>
        <p:nvCxnSpPr>
          <p:cNvPr id="14" name="Connector 13"/>
          <p:cNvCxnSpPr/>
          <p:nvPr/>
        </p:nvCxnSpPr>
        <p:spPr>
          <a:xfrm>
            <a:off x="1060704" y="4231523"/>
            <a:ext cx="10216591"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841248" y="4368683"/>
            <a:ext cx="50292" cy="1098356"/>
          </a:xfrm>
          <a:prstGeom prst="rect">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060704" y="4313819"/>
            <a:ext cx="10079431" cy="1153220"/>
          </a:xfrm>
          <a:prstGeom prst="rect">
            <a:avLst/>
          </a:prstGeom>
          <a:noFill/>
        </p:spPr>
        <p:txBody>
          <a:bodyPr wrap="square" lIns="0" rIns="0" tIns="0" bIns="0" anchor="t">
            <a:spAutoFit/>
          </a:bodyPr>
          <a:lstStyle/>
          <a:p>
            <a:pPr algn="l">
              <a:lnSpc>
                <a:spcPct val="116000"/>
              </a:lnSpc>
              <a:spcAft>
                <a:spcPts val="0"/>
              </a:spcAft>
            </a:pPr>
            <a:r>
              <a:rPr sz="1900" b="1" i="0" u="none">
                <a:solidFill>
                  <a:srgbClr val="C95527"/>
                </a:solidFill>
                <a:latin typeface="Segoe UI"/>
                <a:ea typeface="Microsoft YaHei"/>
                <a:cs typeface="Segoe UI"/>
              </a:rPr>
              <a:t>Andrew（Student B）：</a:t>
            </a:r>
            <a:r>
              <a:rPr sz="1900" b="0" i="0" u="none">
                <a:solidFill>
                  <a:srgbClr val="172A31"/>
                </a:solidFill>
                <a:latin typeface="Segoe UI"/>
                <a:ea typeface="Microsoft YaHei"/>
                <a:cs typeface="Segoe UI"/>
              </a:rPr>
              <a:t>In my opinion, networking and personal connections are more crucial for social mobility. Knowing the right people can open doors to opportunities that education alone might not provide. Therefore, personal connections can lead to job offers, mentorship, and other advantages that help individuals climb the social ladder.</a:t>
            </a:r>
          </a:p>
        </p:txBody>
      </p:sp>
      <p:sp>
        <p:nvSpPr>
          <p:cNvPr id="17" name="TextBox 16"/>
          <p:cNvSpPr txBox="1"/>
          <p:nvPr/>
        </p:nvSpPr>
        <p:spPr>
          <a:xfrm>
            <a:off x="621792" y="5832800"/>
            <a:ext cx="1094811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题源：TOEFL iBT® Writing · Write for an Academic Discussion（官方题目原文，未改写）</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6 · Full Writing</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88</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PLANNING BOX · 2 分钟</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B08300"/>
                </a:solidFill>
                <a:latin typeface="Segoe UI"/>
                <a:ea typeface="Microsoft YaHei"/>
                <a:cs typeface="Segoe UI"/>
              </a:rPr>
              <a:t>写之前，先填这五行</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645920"/>
            <a:ext cx="10948111" cy="548640"/>
          </a:xfrm>
          <a:prstGeom prst="roundRect">
            <a:avLst>
              <a:gd name="adj" fmla="val 6000"/>
            </a:avLst>
          </a:prstGeom>
          <a:solidFill>
            <a:srgbClr val="FAF2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773936"/>
            <a:ext cx="1035375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B08300"/>
                </a:solidFill>
                <a:latin typeface="Segoe UI"/>
                <a:ea typeface="Microsoft YaHei"/>
                <a:cs typeface="Segoe UI"/>
              </a:rPr>
              <a:t>只写关键词，不写完整句。填不满就说明想法还不够。</a:t>
            </a:r>
          </a:p>
        </p:txBody>
      </p:sp>
      <p:sp>
        <p:nvSpPr>
          <p:cNvPr id="10" name="Rounded Rectangle 9"/>
          <p:cNvSpPr/>
          <p:nvPr/>
        </p:nvSpPr>
        <p:spPr>
          <a:xfrm>
            <a:off x="621792" y="2340864"/>
            <a:ext cx="2194560" cy="457200"/>
          </a:xfrm>
          <a:prstGeom prst="roundRect">
            <a:avLst>
              <a:gd name="adj" fmla="val 6000"/>
            </a:avLst>
          </a:prstGeom>
          <a:solidFill>
            <a:srgbClr val="B083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21792" y="2423160"/>
            <a:ext cx="2194560" cy="365760"/>
          </a:xfrm>
          <a:prstGeom prst="rect">
            <a:avLst/>
          </a:prstGeom>
          <a:noFill/>
        </p:spPr>
        <p:txBody>
          <a:bodyPr wrap="square" lIns="0" rIns="0" tIns="0" bIns="0" anchor="t">
            <a:spAutoFit/>
          </a:bodyPr>
          <a:lstStyle/>
          <a:p>
            <a:pPr algn="ctr">
              <a:lnSpc>
                <a:spcPct val="116000"/>
              </a:lnSpc>
              <a:spcBef>
                <a:spcPts val="0"/>
              </a:spcBef>
              <a:spcAft>
                <a:spcPts val="0"/>
              </a:spcAft>
            </a:pPr>
            <a:r>
              <a:rPr sz="1900" b="1" i="0" u="none">
                <a:solidFill>
                  <a:srgbClr val="FFFFFF"/>
                </a:solidFill>
                <a:latin typeface="Segoe UI"/>
                <a:ea typeface="Microsoft YaHei"/>
                <a:cs typeface="Segoe UI"/>
              </a:rPr>
              <a:t>POSITION</a:t>
            </a:r>
          </a:p>
        </p:txBody>
      </p:sp>
      <p:sp>
        <p:nvSpPr>
          <p:cNvPr id="12" name="TextBox 11"/>
          <p:cNvSpPr txBox="1"/>
          <p:nvPr/>
        </p:nvSpPr>
        <p:spPr>
          <a:xfrm>
            <a:off x="3017520" y="2395728"/>
            <a:ext cx="847923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我站哪边？（education / connections）</a:t>
            </a:r>
          </a:p>
        </p:txBody>
      </p:sp>
      <p:cxnSp>
        <p:nvCxnSpPr>
          <p:cNvPr id="13" name="Connector 12"/>
          <p:cNvCxnSpPr/>
          <p:nvPr/>
        </p:nvCxnSpPr>
        <p:spPr>
          <a:xfrm>
            <a:off x="3017520" y="2834640"/>
            <a:ext cx="8552383"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21792" y="3200400"/>
            <a:ext cx="2194560" cy="457200"/>
          </a:xfrm>
          <a:prstGeom prst="roundRect">
            <a:avLst>
              <a:gd name="adj" fmla="val 6000"/>
            </a:avLst>
          </a:prstGeom>
          <a:solidFill>
            <a:srgbClr val="B083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21792" y="3282696"/>
            <a:ext cx="2194560" cy="365760"/>
          </a:xfrm>
          <a:prstGeom prst="rect">
            <a:avLst/>
          </a:prstGeom>
          <a:noFill/>
        </p:spPr>
        <p:txBody>
          <a:bodyPr wrap="square" lIns="0" rIns="0" tIns="0" bIns="0" anchor="t">
            <a:spAutoFit/>
          </a:bodyPr>
          <a:lstStyle/>
          <a:p>
            <a:pPr algn="ctr">
              <a:lnSpc>
                <a:spcPct val="116000"/>
              </a:lnSpc>
              <a:spcBef>
                <a:spcPts val="0"/>
              </a:spcBef>
              <a:spcAft>
                <a:spcPts val="0"/>
              </a:spcAft>
            </a:pPr>
            <a:r>
              <a:rPr sz="1900" b="1" i="0" u="none">
                <a:solidFill>
                  <a:srgbClr val="FFFFFF"/>
                </a:solidFill>
                <a:latin typeface="Segoe UI"/>
                <a:ea typeface="Microsoft YaHei"/>
                <a:cs typeface="Segoe UI"/>
              </a:rPr>
              <a:t>REASON</a:t>
            </a:r>
          </a:p>
        </p:txBody>
      </p:sp>
      <p:sp>
        <p:nvSpPr>
          <p:cNvPr id="16" name="TextBox 15"/>
          <p:cNvSpPr txBox="1"/>
          <p:nvPr/>
        </p:nvSpPr>
        <p:spPr>
          <a:xfrm>
            <a:off x="3017520" y="3255264"/>
            <a:ext cx="847923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一个具体理由（不许 good / important / useful）</a:t>
            </a:r>
          </a:p>
        </p:txBody>
      </p:sp>
      <p:cxnSp>
        <p:nvCxnSpPr>
          <p:cNvPr id="17" name="Connector 16"/>
          <p:cNvCxnSpPr/>
          <p:nvPr/>
        </p:nvCxnSpPr>
        <p:spPr>
          <a:xfrm>
            <a:off x="3017520" y="3694176"/>
            <a:ext cx="8552383"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21792" y="4059935"/>
            <a:ext cx="2194560" cy="457200"/>
          </a:xfrm>
          <a:prstGeom prst="roundRect">
            <a:avLst>
              <a:gd name="adj" fmla="val 6000"/>
            </a:avLst>
          </a:prstGeom>
          <a:solidFill>
            <a:srgbClr val="B083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21792" y="4142231"/>
            <a:ext cx="2194560" cy="365760"/>
          </a:xfrm>
          <a:prstGeom prst="rect">
            <a:avLst/>
          </a:prstGeom>
          <a:noFill/>
        </p:spPr>
        <p:txBody>
          <a:bodyPr wrap="square" lIns="0" rIns="0" tIns="0" bIns="0" anchor="t">
            <a:spAutoFit/>
          </a:bodyPr>
          <a:lstStyle/>
          <a:p>
            <a:pPr algn="ctr">
              <a:lnSpc>
                <a:spcPct val="116000"/>
              </a:lnSpc>
              <a:spcBef>
                <a:spcPts val="0"/>
              </a:spcBef>
              <a:spcAft>
                <a:spcPts val="0"/>
              </a:spcAft>
            </a:pPr>
            <a:r>
              <a:rPr sz="1900" b="1" i="0" u="none">
                <a:solidFill>
                  <a:srgbClr val="FFFFFF"/>
                </a:solidFill>
                <a:latin typeface="Segoe UI"/>
                <a:ea typeface="Microsoft YaHei"/>
                <a:cs typeface="Segoe UI"/>
              </a:rPr>
              <a:t>WHY</a:t>
            </a:r>
          </a:p>
        </p:txBody>
      </p:sp>
      <p:sp>
        <p:nvSpPr>
          <p:cNvPr id="20" name="TextBox 19"/>
          <p:cNvSpPr txBox="1"/>
          <p:nvPr/>
        </p:nvSpPr>
        <p:spPr>
          <a:xfrm>
            <a:off x="3017520" y="4114799"/>
            <a:ext cx="847923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This matters because …</a:t>
            </a:r>
          </a:p>
        </p:txBody>
      </p:sp>
      <p:cxnSp>
        <p:nvCxnSpPr>
          <p:cNvPr id="21" name="Connector 20"/>
          <p:cNvCxnSpPr/>
          <p:nvPr/>
        </p:nvCxnSpPr>
        <p:spPr>
          <a:xfrm>
            <a:off x="3017520" y="4553712"/>
            <a:ext cx="8552383"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21792" y="4919471"/>
            <a:ext cx="2194560" cy="457200"/>
          </a:xfrm>
          <a:prstGeom prst="roundRect">
            <a:avLst>
              <a:gd name="adj" fmla="val 6000"/>
            </a:avLst>
          </a:prstGeom>
          <a:solidFill>
            <a:srgbClr val="B083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21792" y="5001767"/>
            <a:ext cx="2194560" cy="365760"/>
          </a:xfrm>
          <a:prstGeom prst="rect">
            <a:avLst/>
          </a:prstGeom>
          <a:noFill/>
        </p:spPr>
        <p:txBody>
          <a:bodyPr wrap="square" lIns="0" rIns="0" tIns="0" bIns="0" anchor="t">
            <a:spAutoFit/>
          </a:bodyPr>
          <a:lstStyle/>
          <a:p>
            <a:pPr algn="ctr">
              <a:lnSpc>
                <a:spcPct val="116000"/>
              </a:lnSpc>
              <a:spcBef>
                <a:spcPts val="0"/>
              </a:spcBef>
              <a:spcAft>
                <a:spcPts val="0"/>
              </a:spcAft>
            </a:pPr>
            <a:r>
              <a:rPr sz="1900" b="1" i="0" u="none">
                <a:solidFill>
                  <a:srgbClr val="FFFFFF"/>
                </a:solidFill>
                <a:latin typeface="Segoe UI"/>
                <a:ea typeface="Microsoft YaHei"/>
                <a:cs typeface="Segoe UI"/>
              </a:rPr>
              <a:t>EXAMPLE</a:t>
            </a:r>
          </a:p>
        </p:txBody>
      </p:sp>
      <p:sp>
        <p:nvSpPr>
          <p:cNvPr id="24" name="TextBox 23"/>
          <p:cNvSpPr txBox="1"/>
          <p:nvPr/>
        </p:nvSpPr>
        <p:spPr>
          <a:xfrm>
            <a:off x="3017520" y="4974335"/>
            <a:ext cx="847923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谁 + 做什么 + 结果</a:t>
            </a:r>
          </a:p>
        </p:txBody>
      </p:sp>
      <p:cxnSp>
        <p:nvCxnSpPr>
          <p:cNvPr id="25" name="Connector 24"/>
          <p:cNvCxnSpPr/>
          <p:nvPr/>
        </p:nvCxnSpPr>
        <p:spPr>
          <a:xfrm>
            <a:off x="3017520" y="5413247"/>
            <a:ext cx="8552383"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621792" y="5779007"/>
            <a:ext cx="2194560" cy="457200"/>
          </a:xfrm>
          <a:prstGeom prst="roundRect">
            <a:avLst>
              <a:gd name="adj" fmla="val 6000"/>
            </a:avLst>
          </a:prstGeom>
          <a:solidFill>
            <a:srgbClr val="B083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21792" y="5861303"/>
            <a:ext cx="2194560" cy="365760"/>
          </a:xfrm>
          <a:prstGeom prst="rect">
            <a:avLst/>
          </a:prstGeom>
          <a:noFill/>
        </p:spPr>
        <p:txBody>
          <a:bodyPr wrap="square" lIns="0" rIns="0" tIns="0" bIns="0" anchor="t">
            <a:spAutoFit/>
          </a:bodyPr>
          <a:lstStyle/>
          <a:p>
            <a:pPr algn="ctr">
              <a:lnSpc>
                <a:spcPct val="116000"/>
              </a:lnSpc>
              <a:spcBef>
                <a:spcPts val="0"/>
              </a:spcBef>
              <a:spcAft>
                <a:spcPts val="0"/>
              </a:spcAft>
            </a:pPr>
            <a:r>
              <a:rPr sz="1900" b="1" i="0" u="none">
                <a:solidFill>
                  <a:srgbClr val="FFFFFF"/>
                </a:solidFill>
                <a:latin typeface="Segoe UI"/>
                <a:ea typeface="Microsoft YaHei"/>
                <a:cs typeface="Segoe UI"/>
              </a:rPr>
              <a:t>CONTRIBUTION</a:t>
            </a:r>
          </a:p>
        </p:txBody>
      </p:sp>
      <p:sp>
        <p:nvSpPr>
          <p:cNvPr id="28" name="TextBox 27"/>
          <p:cNvSpPr txBox="1"/>
          <p:nvPr/>
        </p:nvSpPr>
        <p:spPr>
          <a:xfrm>
            <a:off x="3017520" y="5833871"/>
            <a:ext cx="847923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回应 Kelly 还是 Andrew？我要加的新信息是什么？</a:t>
            </a:r>
          </a:p>
        </p:txBody>
      </p:sp>
      <p:cxnSp>
        <p:nvCxnSpPr>
          <p:cNvPr id="29" name="Connector 28"/>
          <p:cNvCxnSpPr/>
          <p:nvPr/>
        </p:nvCxnSpPr>
        <p:spPr>
          <a:xfrm>
            <a:off x="3017520" y="6272783"/>
            <a:ext cx="8552383"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6 · Full Writing</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89</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WORKED EXAMPLE</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老师的 Planning Box（60 秒版）</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764792"/>
            <a:ext cx="10948111" cy="694944"/>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621792" y="1764792"/>
            <a:ext cx="2194560" cy="694944"/>
          </a:xfrm>
          <a:prstGeom prst="roundRect">
            <a:avLst>
              <a:gd name="adj" fmla="val 6000"/>
            </a:avLst>
          </a:prstGeom>
          <a:solidFill>
            <a:srgbClr val="2E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21792" y="1938528"/>
            <a:ext cx="2194560" cy="365760"/>
          </a:xfrm>
          <a:prstGeom prst="rect">
            <a:avLst/>
          </a:prstGeom>
          <a:noFill/>
        </p:spPr>
        <p:txBody>
          <a:bodyPr wrap="square" lIns="0" rIns="0" tIns="0" bIns="0" anchor="t">
            <a:spAutoFit/>
          </a:bodyPr>
          <a:lstStyle/>
          <a:p>
            <a:pPr algn="ctr">
              <a:lnSpc>
                <a:spcPct val="116000"/>
              </a:lnSpc>
              <a:spcBef>
                <a:spcPts val="0"/>
              </a:spcBef>
              <a:spcAft>
                <a:spcPts val="0"/>
              </a:spcAft>
            </a:pPr>
            <a:r>
              <a:rPr sz="1900" b="1" i="0" u="none">
                <a:solidFill>
                  <a:srgbClr val="FFFFFF"/>
                </a:solidFill>
                <a:latin typeface="Segoe UI"/>
                <a:ea typeface="Microsoft YaHei"/>
                <a:cs typeface="Segoe UI"/>
              </a:rPr>
              <a:t>POSITION</a:t>
            </a:r>
          </a:p>
        </p:txBody>
      </p:sp>
      <p:sp>
        <p:nvSpPr>
          <p:cNvPr id="11" name="TextBox 10"/>
          <p:cNvSpPr txBox="1"/>
          <p:nvPr/>
        </p:nvSpPr>
        <p:spPr>
          <a:xfrm>
            <a:off x="3054096" y="1938528"/>
            <a:ext cx="8250631" cy="41148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172A31"/>
                </a:solidFill>
                <a:latin typeface="Segoe UI"/>
                <a:ea typeface="Microsoft YaHei"/>
                <a:cs typeface="Segoe UI"/>
              </a:rPr>
              <a:t>education</a:t>
            </a:r>
          </a:p>
        </p:txBody>
      </p:sp>
      <p:sp>
        <p:nvSpPr>
          <p:cNvPr id="12" name="Rounded Rectangle 11"/>
          <p:cNvSpPr/>
          <p:nvPr/>
        </p:nvSpPr>
        <p:spPr>
          <a:xfrm>
            <a:off x="621792" y="2532888"/>
            <a:ext cx="10948111" cy="694944"/>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621792" y="2532888"/>
            <a:ext cx="2194560" cy="694944"/>
          </a:xfrm>
          <a:prstGeom prst="roundRect">
            <a:avLst>
              <a:gd name="adj" fmla="val 6000"/>
            </a:avLst>
          </a:prstGeom>
          <a:solidFill>
            <a:srgbClr val="2E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21792" y="2706624"/>
            <a:ext cx="2194560" cy="365760"/>
          </a:xfrm>
          <a:prstGeom prst="rect">
            <a:avLst/>
          </a:prstGeom>
          <a:noFill/>
        </p:spPr>
        <p:txBody>
          <a:bodyPr wrap="square" lIns="0" rIns="0" tIns="0" bIns="0" anchor="t">
            <a:spAutoFit/>
          </a:bodyPr>
          <a:lstStyle/>
          <a:p>
            <a:pPr algn="ctr">
              <a:lnSpc>
                <a:spcPct val="116000"/>
              </a:lnSpc>
              <a:spcBef>
                <a:spcPts val="0"/>
              </a:spcBef>
              <a:spcAft>
                <a:spcPts val="0"/>
              </a:spcAft>
            </a:pPr>
            <a:r>
              <a:rPr sz="1900" b="1" i="0" u="none">
                <a:solidFill>
                  <a:srgbClr val="FFFFFF"/>
                </a:solidFill>
                <a:latin typeface="Segoe UI"/>
                <a:ea typeface="Microsoft YaHei"/>
                <a:cs typeface="Segoe UI"/>
              </a:rPr>
              <a:t>REASON</a:t>
            </a:r>
          </a:p>
        </p:txBody>
      </p:sp>
      <p:sp>
        <p:nvSpPr>
          <p:cNvPr id="15" name="TextBox 14"/>
          <p:cNvSpPr txBox="1"/>
          <p:nvPr/>
        </p:nvSpPr>
        <p:spPr>
          <a:xfrm>
            <a:off x="3054096" y="2706624"/>
            <a:ext cx="8250631" cy="41148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172A31"/>
                </a:solidFill>
                <a:latin typeface="Segoe UI"/>
                <a:ea typeface="Microsoft YaHei"/>
                <a:cs typeface="Segoe UI"/>
              </a:rPr>
              <a:t>the only advantage you can build without knowing anyone</a:t>
            </a:r>
          </a:p>
        </p:txBody>
      </p:sp>
      <p:sp>
        <p:nvSpPr>
          <p:cNvPr id="16" name="Rounded Rectangle 15"/>
          <p:cNvSpPr/>
          <p:nvPr/>
        </p:nvSpPr>
        <p:spPr>
          <a:xfrm>
            <a:off x="621792" y="3300984"/>
            <a:ext cx="10948111" cy="694944"/>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621792" y="3300984"/>
            <a:ext cx="2194560" cy="694944"/>
          </a:xfrm>
          <a:prstGeom prst="roundRect">
            <a:avLst>
              <a:gd name="adj" fmla="val 6000"/>
            </a:avLst>
          </a:prstGeom>
          <a:solidFill>
            <a:srgbClr val="2E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21792" y="3474720"/>
            <a:ext cx="2194560" cy="365760"/>
          </a:xfrm>
          <a:prstGeom prst="rect">
            <a:avLst/>
          </a:prstGeom>
          <a:noFill/>
        </p:spPr>
        <p:txBody>
          <a:bodyPr wrap="square" lIns="0" rIns="0" tIns="0" bIns="0" anchor="t">
            <a:spAutoFit/>
          </a:bodyPr>
          <a:lstStyle/>
          <a:p>
            <a:pPr algn="ctr">
              <a:lnSpc>
                <a:spcPct val="116000"/>
              </a:lnSpc>
              <a:spcBef>
                <a:spcPts val="0"/>
              </a:spcBef>
              <a:spcAft>
                <a:spcPts val="0"/>
              </a:spcAft>
            </a:pPr>
            <a:r>
              <a:rPr sz="1900" b="1" i="0" u="none">
                <a:solidFill>
                  <a:srgbClr val="FFFFFF"/>
                </a:solidFill>
                <a:latin typeface="Segoe UI"/>
                <a:ea typeface="Microsoft YaHei"/>
                <a:cs typeface="Segoe UI"/>
              </a:rPr>
              <a:t>WHY</a:t>
            </a:r>
          </a:p>
        </p:txBody>
      </p:sp>
      <p:sp>
        <p:nvSpPr>
          <p:cNvPr id="19" name="TextBox 18"/>
          <p:cNvSpPr txBox="1"/>
          <p:nvPr/>
        </p:nvSpPr>
        <p:spPr>
          <a:xfrm>
            <a:off x="3054096" y="3474720"/>
            <a:ext cx="8250631" cy="41148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172A31"/>
                </a:solidFill>
                <a:latin typeface="Segoe UI"/>
                <a:ea typeface="Microsoft YaHei"/>
                <a:cs typeface="Segoe UI"/>
              </a:rPr>
              <a:t>ordinary families → nobody to introduce you</a:t>
            </a:r>
          </a:p>
        </p:txBody>
      </p:sp>
      <p:sp>
        <p:nvSpPr>
          <p:cNvPr id="20" name="Rounded Rectangle 19"/>
          <p:cNvSpPr/>
          <p:nvPr/>
        </p:nvSpPr>
        <p:spPr>
          <a:xfrm>
            <a:off x="621792" y="4069080"/>
            <a:ext cx="10948111" cy="694944"/>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621792" y="4069080"/>
            <a:ext cx="2194560" cy="694944"/>
          </a:xfrm>
          <a:prstGeom prst="roundRect">
            <a:avLst>
              <a:gd name="adj" fmla="val 6000"/>
            </a:avLst>
          </a:prstGeom>
          <a:solidFill>
            <a:srgbClr val="2E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21792" y="4242816"/>
            <a:ext cx="2194560" cy="365760"/>
          </a:xfrm>
          <a:prstGeom prst="rect">
            <a:avLst/>
          </a:prstGeom>
          <a:noFill/>
        </p:spPr>
        <p:txBody>
          <a:bodyPr wrap="square" lIns="0" rIns="0" tIns="0" bIns="0" anchor="t">
            <a:spAutoFit/>
          </a:bodyPr>
          <a:lstStyle/>
          <a:p>
            <a:pPr algn="ctr">
              <a:lnSpc>
                <a:spcPct val="116000"/>
              </a:lnSpc>
              <a:spcBef>
                <a:spcPts val="0"/>
              </a:spcBef>
              <a:spcAft>
                <a:spcPts val="0"/>
              </a:spcAft>
            </a:pPr>
            <a:r>
              <a:rPr sz="1900" b="1" i="0" u="none">
                <a:solidFill>
                  <a:srgbClr val="FFFFFF"/>
                </a:solidFill>
                <a:latin typeface="Segoe UI"/>
                <a:ea typeface="Microsoft YaHei"/>
                <a:cs typeface="Segoe UI"/>
              </a:rPr>
              <a:t>EXAMPLE</a:t>
            </a:r>
          </a:p>
        </p:txBody>
      </p:sp>
      <p:sp>
        <p:nvSpPr>
          <p:cNvPr id="23" name="TextBox 22"/>
          <p:cNvSpPr txBox="1"/>
          <p:nvPr/>
        </p:nvSpPr>
        <p:spPr>
          <a:xfrm>
            <a:off x="3054096" y="4242816"/>
            <a:ext cx="8250631" cy="41148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172A31"/>
                </a:solidFill>
                <a:latin typeface="Segoe UI"/>
                <a:ea typeface="Microsoft YaHei"/>
                <a:cs typeface="Segoe UI"/>
              </a:rPr>
              <a:t>farmer's daughter → accounting exam → hired, knows nobody</a:t>
            </a:r>
          </a:p>
        </p:txBody>
      </p:sp>
      <p:sp>
        <p:nvSpPr>
          <p:cNvPr id="24" name="Rounded Rectangle 23"/>
          <p:cNvSpPr/>
          <p:nvPr/>
        </p:nvSpPr>
        <p:spPr>
          <a:xfrm>
            <a:off x="621792" y="4837176"/>
            <a:ext cx="10948111" cy="694944"/>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621792" y="4837176"/>
            <a:ext cx="2194560" cy="694944"/>
          </a:xfrm>
          <a:prstGeom prst="roundRect">
            <a:avLst>
              <a:gd name="adj" fmla="val 6000"/>
            </a:avLst>
          </a:prstGeom>
          <a:solidFill>
            <a:srgbClr val="2E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21792" y="5010912"/>
            <a:ext cx="2194560" cy="365760"/>
          </a:xfrm>
          <a:prstGeom prst="rect">
            <a:avLst/>
          </a:prstGeom>
          <a:noFill/>
        </p:spPr>
        <p:txBody>
          <a:bodyPr wrap="square" lIns="0" rIns="0" tIns="0" bIns="0" anchor="t">
            <a:spAutoFit/>
          </a:bodyPr>
          <a:lstStyle/>
          <a:p>
            <a:pPr algn="ctr">
              <a:lnSpc>
                <a:spcPct val="116000"/>
              </a:lnSpc>
              <a:spcBef>
                <a:spcPts val="0"/>
              </a:spcBef>
              <a:spcAft>
                <a:spcPts val="0"/>
              </a:spcAft>
            </a:pPr>
            <a:r>
              <a:rPr sz="1900" b="1" i="0" u="none">
                <a:solidFill>
                  <a:srgbClr val="FFFFFF"/>
                </a:solidFill>
                <a:latin typeface="Segoe UI"/>
                <a:ea typeface="Microsoft YaHei"/>
                <a:cs typeface="Segoe UI"/>
              </a:rPr>
              <a:t>CONTRIBUTION</a:t>
            </a:r>
          </a:p>
        </p:txBody>
      </p:sp>
      <p:sp>
        <p:nvSpPr>
          <p:cNvPr id="27" name="TextBox 26"/>
          <p:cNvSpPr txBox="1"/>
          <p:nvPr/>
        </p:nvSpPr>
        <p:spPr>
          <a:xfrm>
            <a:off x="3054096" y="5010912"/>
            <a:ext cx="8250631" cy="41148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172A31"/>
                </a:solidFill>
                <a:latin typeface="Segoe UI"/>
                <a:ea typeface="Microsoft YaHei"/>
                <a:cs typeface="Segoe UI"/>
              </a:rPr>
              <a:t>→ Andrew：education gets you into the room where connections form</a:t>
            </a:r>
          </a:p>
        </p:txBody>
      </p:sp>
      <p:sp>
        <p:nvSpPr>
          <p:cNvPr id="28" name="Rounded Rectangle 27"/>
          <p:cNvSpPr/>
          <p:nvPr/>
        </p:nvSpPr>
        <p:spPr>
          <a:xfrm>
            <a:off x="621792" y="5650992"/>
            <a:ext cx="10948111" cy="658368"/>
          </a:xfrm>
          <a:prstGeom prst="roundRect">
            <a:avLst>
              <a:gd name="adj" fmla="val 6000"/>
            </a:avLst>
          </a:prstGeom>
          <a:solidFill>
            <a:srgbClr val="F3F8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932688" y="5815584"/>
            <a:ext cx="10308031" cy="38404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0E5362"/>
                </a:solidFill>
                <a:latin typeface="Segoe UI"/>
                <a:ea typeface="Microsoft YaHei"/>
                <a:cs typeface="Segoe UI"/>
              </a:rPr>
              <a:t>全是关键词，没有一个完整句子——Planning 的目的是定方向，不是先写一遍。</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6 · Full Writing</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90</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WRITE</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C95527"/>
                </a:solidFill>
                <a:latin typeface="Segoe UI"/>
                <a:ea typeface="Microsoft YaHei"/>
                <a:cs typeface="Segoe UI"/>
              </a:rPr>
              <a:t>现在开始 · 10 分钟</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764792"/>
            <a:ext cx="10948111" cy="1371600"/>
          </a:xfrm>
          <a:prstGeom prst="roundRect">
            <a:avLst>
              <a:gd name="adj" fmla="val 6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33272" y="2039112"/>
            <a:ext cx="10125151" cy="822960"/>
          </a:xfrm>
          <a:prstGeom prst="rect">
            <a:avLst/>
          </a:prstGeom>
          <a:noFill/>
        </p:spPr>
        <p:txBody>
          <a:bodyPr wrap="square" lIns="0" rIns="0" tIns="0" bIns="0" anchor="t">
            <a:spAutoFit/>
          </a:bodyPr>
          <a:lstStyle/>
          <a:p>
            <a:pPr algn="ctr">
              <a:lnSpc>
                <a:spcPct val="116000"/>
              </a:lnSpc>
              <a:spcBef>
                <a:spcPts val="0"/>
              </a:spcBef>
              <a:spcAft>
                <a:spcPts val="0"/>
              </a:spcAft>
            </a:pPr>
            <a:r>
              <a:rPr sz="4200" b="1" i="0" u="none">
                <a:solidFill>
                  <a:srgbClr val="FFFFFF"/>
                </a:solidFill>
                <a:latin typeface="Segoe UI"/>
                <a:ea typeface="Microsoft YaHei"/>
                <a:cs typeface="Segoe UI"/>
              </a:rPr>
              <a:t>10:00</a:t>
            </a:r>
          </a:p>
        </p:txBody>
      </p:sp>
      <p:sp>
        <p:nvSpPr>
          <p:cNvPr id="10" name="Rounded Rectangle 9"/>
          <p:cNvSpPr/>
          <p:nvPr/>
        </p:nvSpPr>
        <p:spPr>
          <a:xfrm>
            <a:off x="621792" y="3410712"/>
            <a:ext cx="10948111" cy="914400"/>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21792" y="3410712"/>
            <a:ext cx="54864" cy="914400"/>
          </a:xfrm>
          <a:prstGeom prst="rect">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32688" y="3538728"/>
            <a:ext cx="10308031" cy="384048"/>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C95527"/>
                </a:solidFill>
                <a:latin typeface="Segoe UI"/>
                <a:ea typeface="Microsoft YaHei"/>
                <a:cs typeface="Segoe UI"/>
              </a:rPr>
              <a:t>不查词典</a:t>
            </a:r>
          </a:p>
        </p:txBody>
      </p:sp>
      <p:sp>
        <p:nvSpPr>
          <p:cNvPr id="13" name="TextBox 12"/>
          <p:cNvSpPr txBox="1"/>
          <p:nvPr/>
        </p:nvSpPr>
        <p:spPr>
          <a:xfrm>
            <a:off x="932688" y="3922776"/>
            <a:ext cx="1030803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写不出来的词先用中文括号标记，写完再查。</a:t>
            </a:r>
          </a:p>
        </p:txBody>
      </p:sp>
      <p:sp>
        <p:nvSpPr>
          <p:cNvPr id="14" name="Rounded Rectangle 13"/>
          <p:cNvSpPr/>
          <p:nvPr/>
        </p:nvSpPr>
        <p:spPr>
          <a:xfrm>
            <a:off x="621792" y="4416552"/>
            <a:ext cx="10948111" cy="914400"/>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621792" y="4416552"/>
            <a:ext cx="54864" cy="914400"/>
          </a:xfrm>
          <a:prstGeom prst="rect">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932688" y="4544568"/>
            <a:ext cx="10308031" cy="384048"/>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C95527"/>
                </a:solidFill>
                <a:latin typeface="Segoe UI"/>
                <a:ea typeface="Microsoft YaHei"/>
                <a:cs typeface="Segoe UI"/>
              </a:rPr>
              <a:t>不回头改语法</a:t>
            </a:r>
          </a:p>
        </p:txBody>
      </p:sp>
      <p:sp>
        <p:nvSpPr>
          <p:cNvPr id="17" name="TextBox 16"/>
          <p:cNvSpPr txBox="1"/>
          <p:nvPr/>
        </p:nvSpPr>
        <p:spPr>
          <a:xfrm>
            <a:off x="932688" y="4928616"/>
            <a:ext cx="1030803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写完再改。中途回头会写不完 100 词。</a:t>
            </a:r>
          </a:p>
        </p:txBody>
      </p:sp>
      <p:sp>
        <p:nvSpPr>
          <p:cNvPr id="18" name="Rounded Rectangle 17"/>
          <p:cNvSpPr/>
          <p:nvPr/>
        </p:nvSpPr>
        <p:spPr>
          <a:xfrm>
            <a:off x="621792" y="5422392"/>
            <a:ext cx="10948111" cy="914400"/>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21792" y="5422392"/>
            <a:ext cx="54864" cy="914400"/>
          </a:xfrm>
          <a:prstGeom prst="rect">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932688" y="5550407"/>
            <a:ext cx="10308031" cy="384048"/>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C95527"/>
                </a:solidFill>
                <a:latin typeface="Segoe UI"/>
                <a:ea typeface="Microsoft YaHei"/>
                <a:cs typeface="Segoe UI"/>
              </a:rPr>
              <a:t>最后 2 分钟</a:t>
            </a:r>
          </a:p>
        </p:txBody>
      </p:sp>
      <p:sp>
        <p:nvSpPr>
          <p:cNvPr id="21" name="TextBox 20"/>
          <p:cNvSpPr txBox="1"/>
          <p:nvPr/>
        </p:nvSpPr>
        <p:spPr>
          <a:xfrm>
            <a:off x="932688" y="5934456"/>
            <a:ext cx="1030803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数一次词数，并确认自己提到了 Kelly 或 Andrew。</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6 · Full Writing</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91</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SCAFFOLD · 彭子骞</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支架版 · 给第一次写 AD 的同学</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645920"/>
            <a:ext cx="10948111" cy="548640"/>
          </a:xfrm>
          <a:prstGeom prst="roundRect">
            <a:avLst>
              <a:gd name="adj" fmla="val 6000"/>
            </a:avLst>
          </a:prstGeom>
          <a:solidFill>
            <a:srgbClr val="E4EF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773936"/>
            <a:ext cx="1035375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0E5362"/>
                </a:solidFill>
                <a:latin typeface="Segoe UI"/>
                <a:ea typeface="Microsoft YaHei"/>
                <a:cs typeface="Segoe UI"/>
              </a:rPr>
              <a:t>把下面五句填完，就是一篇合格的 AD。填完还有时间，再加一句 As a result。</a:t>
            </a:r>
          </a:p>
        </p:txBody>
      </p:sp>
      <p:sp>
        <p:nvSpPr>
          <p:cNvPr id="10" name="Rounded Rectangle 9"/>
          <p:cNvSpPr/>
          <p:nvPr/>
        </p:nvSpPr>
        <p:spPr>
          <a:xfrm>
            <a:off x="621792" y="2286000"/>
            <a:ext cx="10948111" cy="713232"/>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21792" y="2286000"/>
            <a:ext cx="475488" cy="713232"/>
          </a:xfrm>
          <a:prstGeom prst="roundRect">
            <a:avLst>
              <a:gd name="adj" fmla="val 6000"/>
            </a:avLst>
          </a:prstGeom>
          <a:solidFill>
            <a:srgbClr val="2A7E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21792" y="2459736"/>
            <a:ext cx="475488" cy="365760"/>
          </a:xfrm>
          <a:prstGeom prst="rect">
            <a:avLst/>
          </a:prstGeom>
          <a:noFill/>
        </p:spPr>
        <p:txBody>
          <a:bodyPr wrap="square" lIns="0" rIns="0" tIns="0" bIns="0" anchor="t">
            <a:spAutoFit/>
          </a:bodyPr>
          <a:lstStyle/>
          <a:p>
            <a:pPr algn="ctr">
              <a:lnSpc>
                <a:spcPct val="116000"/>
              </a:lnSpc>
              <a:spcBef>
                <a:spcPts val="0"/>
              </a:spcBef>
              <a:spcAft>
                <a:spcPts val="0"/>
              </a:spcAft>
            </a:pPr>
            <a:r>
              <a:rPr sz="1900" b="1" i="0" u="none">
                <a:solidFill>
                  <a:srgbClr val="FFFFFF"/>
                </a:solidFill>
                <a:latin typeface="Segoe UI"/>
                <a:ea typeface="Microsoft YaHei"/>
                <a:cs typeface="Segoe UI"/>
              </a:rPr>
              <a:t>1</a:t>
            </a:r>
          </a:p>
        </p:txBody>
      </p:sp>
      <p:sp>
        <p:nvSpPr>
          <p:cNvPr id="13" name="TextBox 12"/>
          <p:cNvSpPr txBox="1"/>
          <p:nvPr/>
        </p:nvSpPr>
        <p:spPr>
          <a:xfrm>
            <a:off x="1335024" y="2459736"/>
            <a:ext cx="9987991" cy="41148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172A31"/>
                </a:solidFill>
                <a:latin typeface="Segoe UI"/>
                <a:ea typeface="Microsoft YaHei"/>
                <a:cs typeface="Segoe UI"/>
              </a:rPr>
              <a:t>I would argue that ______ matters more than ______.</a:t>
            </a:r>
          </a:p>
        </p:txBody>
      </p:sp>
      <p:sp>
        <p:nvSpPr>
          <p:cNvPr id="14" name="Rounded Rectangle 13"/>
          <p:cNvSpPr/>
          <p:nvPr/>
        </p:nvSpPr>
        <p:spPr>
          <a:xfrm>
            <a:off x="621792" y="3072384"/>
            <a:ext cx="10948111" cy="713232"/>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621792" y="3072384"/>
            <a:ext cx="475488" cy="713232"/>
          </a:xfrm>
          <a:prstGeom prst="roundRect">
            <a:avLst>
              <a:gd name="adj" fmla="val 6000"/>
            </a:avLst>
          </a:prstGeom>
          <a:solidFill>
            <a:srgbClr val="2A7E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21792" y="3246120"/>
            <a:ext cx="475488" cy="365760"/>
          </a:xfrm>
          <a:prstGeom prst="rect">
            <a:avLst/>
          </a:prstGeom>
          <a:noFill/>
        </p:spPr>
        <p:txBody>
          <a:bodyPr wrap="square" lIns="0" rIns="0" tIns="0" bIns="0" anchor="t">
            <a:spAutoFit/>
          </a:bodyPr>
          <a:lstStyle/>
          <a:p>
            <a:pPr algn="ctr">
              <a:lnSpc>
                <a:spcPct val="116000"/>
              </a:lnSpc>
              <a:spcBef>
                <a:spcPts val="0"/>
              </a:spcBef>
              <a:spcAft>
                <a:spcPts val="0"/>
              </a:spcAft>
            </a:pPr>
            <a:r>
              <a:rPr sz="1900" b="1" i="0" u="none">
                <a:solidFill>
                  <a:srgbClr val="FFFFFF"/>
                </a:solidFill>
                <a:latin typeface="Segoe UI"/>
                <a:ea typeface="Microsoft YaHei"/>
                <a:cs typeface="Segoe UI"/>
              </a:rPr>
              <a:t>2</a:t>
            </a:r>
          </a:p>
        </p:txBody>
      </p:sp>
      <p:sp>
        <p:nvSpPr>
          <p:cNvPr id="17" name="TextBox 16"/>
          <p:cNvSpPr txBox="1"/>
          <p:nvPr/>
        </p:nvSpPr>
        <p:spPr>
          <a:xfrm>
            <a:off x="1335024" y="3246120"/>
            <a:ext cx="9987991" cy="41148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172A31"/>
                </a:solidFill>
                <a:latin typeface="Segoe UI"/>
                <a:ea typeface="Microsoft YaHei"/>
                <a:cs typeface="Segoe UI"/>
              </a:rPr>
              <a:t>One important reason is that ______.</a:t>
            </a:r>
          </a:p>
        </p:txBody>
      </p:sp>
      <p:sp>
        <p:nvSpPr>
          <p:cNvPr id="18" name="Rounded Rectangle 17"/>
          <p:cNvSpPr/>
          <p:nvPr/>
        </p:nvSpPr>
        <p:spPr>
          <a:xfrm>
            <a:off x="621792" y="3858768"/>
            <a:ext cx="10948111" cy="713232"/>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621792" y="3858768"/>
            <a:ext cx="475488" cy="713232"/>
          </a:xfrm>
          <a:prstGeom prst="roundRect">
            <a:avLst>
              <a:gd name="adj" fmla="val 6000"/>
            </a:avLst>
          </a:prstGeom>
          <a:solidFill>
            <a:srgbClr val="2A7E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21792" y="4032504"/>
            <a:ext cx="475488" cy="365760"/>
          </a:xfrm>
          <a:prstGeom prst="rect">
            <a:avLst/>
          </a:prstGeom>
          <a:noFill/>
        </p:spPr>
        <p:txBody>
          <a:bodyPr wrap="square" lIns="0" rIns="0" tIns="0" bIns="0" anchor="t">
            <a:spAutoFit/>
          </a:bodyPr>
          <a:lstStyle/>
          <a:p>
            <a:pPr algn="ctr">
              <a:lnSpc>
                <a:spcPct val="116000"/>
              </a:lnSpc>
              <a:spcBef>
                <a:spcPts val="0"/>
              </a:spcBef>
              <a:spcAft>
                <a:spcPts val="0"/>
              </a:spcAft>
            </a:pPr>
            <a:r>
              <a:rPr sz="1900" b="1" i="0" u="none">
                <a:solidFill>
                  <a:srgbClr val="FFFFFF"/>
                </a:solidFill>
                <a:latin typeface="Segoe UI"/>
                <a:ea typeface="Microsoft YaHei"/>
                <a:cs typeface="Segoe UI"/>
              </a:rPr>
              <a:t>3</a:t>
            </a:r>
          </a:p>
        </p:txBody>
      </p:sp>
      <p:sp>
        <p:nvSpPr>
          <p:cNvPr id="21" name="TextBox 20"/>
          <p:cNvSpPr txBox="1"/>
          <p:nvPr/>
        </p:nvSpPr>
        <p:spPr>
          <a:xfrm>
            <a:off x="1335024" y="4032504"/>
            <a:ext cx="9987991" cy="41148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172A31"/>
                </a:solidFill>
                <a:latin typeface="Segoe UI"/>
                <a:ea typeface="Microsoft YaHei"/>
                <a:cs typeface="Segoe UI"/>
              </a:rPr>
              <a:t>This matters because ______.</a:t>
            </a:r>
          </a:p>
        </p:txBody>
      </p:sp>
      <p:sp>
        <p:nvSpPr>
          <p:cNvPr id="22" name="Rounded Rectangle 21"/>
          <p:cNvSpPr/>
          <p:nvPr/>
        </p:nvSpPr>
        <p:spPr>
          <a:xfrm>
            <a:off x="621792" y="4645152"/>
            <a:ext cx="10948111" cy="713232"/>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621792" y="4645152"/>
            <a:ext cx="475488" cy="713232"/>
          </a:xfrm>
          <a:prstGeom prst="roundRect">
            <a:avLst>
              <a:gd name="adj" fmla="val 6000"/>
            </a:avLst>
          </a:prstGeom>
          <a:solidFill>
            <a:srgbClr val="2A7E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21792" y="4818888"/>
            <a:ext cx="475488" cy="365760"/>
          </a:xfrm>
          <a:prstGeom prst="rect">
            <a:avLst/>
          </a:prstGeom>
          <a:noFill/>
        </p:spPr>
        <p:txBody>
          <a:bodyPr wrap="square" lIns="0" rIns="0" tIns="0" bIns="0" anchor="t">
            <a:spAutoFit/>
          </a:bodyPr>
          <a:lstStyle/>
          <a:p>
            <a:pPr algn="ctr">
              <a:lnSpc>
                <a:spcPct val="116000"/>
              </a:lnSpc>
              <a:spcBef>
                <a:spcPts val="0"/>
              </a:spcBef>
              <a:spcAft>
                <a:spcPts val="0"/>
              </a:spcAft>
            </a:pPr>
            <a:r>
              <a:rPr sz="1900" b="1" i="0" u="none">
                <a:solidFill>
                  <a:srgbClr val="FFFFFF"/>
                </a:solidFill>
                <a:latin typeface="Segoe UI"/>
                <a:ea typeface="Microsoft YaHei"/>
                <a:cs typeface="Segoe UI"/>
              </a:rPr>
              <a:t>4</a:t>
            </a:r>
          </a:p>
        </p:txBody>
      </p:sp>
      <p:sp>
        <p:nvSpPr>
          <p:cNvPr id="25" name="TextBox 24"/>
          <p:cNvSpPr txBox="1"/>
          <p:nvPr/>
        </p:nvSpPr>
        <p:spPr>
          <a:xfrm>
            <a:off x="1335024" y="4818888"/>
            <a:ext cx="9987991" cy="41148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172A31"/>
                </a:solidFill>
                <a:latin typeface="Segoe UI"/>
                <a:ea typeface="Microsoft YaHei"/>
                <a:cs typeface="Segoe UI"/>
              </a:rPr>
              <a:t>For example, a student who ______ can ______.</a:t>
            </a:r>
          </a:p>
        </p:txBody>
      </p:sp>
      <p:sp>
        <p:nvSpPr>
          <p:cNvPr id="26" name="Rounded Rectangle 25"/>
          <p:cNvSpPr/>
          <p:nvPr/>
        </p:nvSpPr>
        <p:spPr>
          <a:xfrm>
            <a:off x="621792" y="5431536"/>
            <a:ext cx="10948111" cy="713232"/>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621792" y="5431536"/>
            <a:ext cx="475488" cy="713232"/>
          </a:xfrm>
          <a:prstGeom prst="roundRect">
            <a:avLst>
              <a:gd name="adj" fmla="val 6000"/>
            </a:avLst>
          </a:prstGeom>
          <a:solidFill>
            <a:srgbClr val="2A7E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21792" y="5605272"/>
            <a:ext cx="475488" cy="365760"/>
          </a:xfrm>
          <a:prstGeom prst="rect">
            <a:avLst/>
          </a:prstGeom>
          <a:noFill/>
        </p:spPr>
        <p:txBody>
          <a:bodyPr wrap="square" lIns="0" rIns="0" tIns="0" bIns="0" anchor="t">
            <a:spAutoFit/>
          </a:bodyPr>
          <a:lstStyle/>
          <a:p>
            <a:pPr algn="ctr">
              <a:lnSpc>
                <a:spcPct val="116000"/>
              </a:lnSpc>
              <a:spcBef>
                <a:spcPts val="0"/>
              </a:spcBef>
              <a:spcAft>
                <a:spcPts val="0"/>
              </a:spcAft>
            </a:pPr>
            <a:r>
              <a:rPr sz="1900" b="1" i="0" u="none">
                <a:solidFill>
                  <a:srgbClr val="FFFFFF"/>
                </a:solidFill>
                <a:latin typeface="Segoe UI"/>
                <a:ea typeface="Microsoft YaHei"/>
                <a:cs typeface="Segoe UI"/>
              </a:rPr>
              <a:t>5</a:t>
            </a:r>
          </a:p>
        </p:txBody>
      </p:sp>
      <p:sp>
        <p:nvSpPr>
          <p:cNvPr id="29" name="TextBox 28"/>
          <p:cNvSpPr txBox="1"/>
          <p:nvPr/>
        </p:nvSpPr>
        <p:spPr>
          <a:xfrm>
            <a:off x="1335024" y="5605272"/>
            <a:ext cx="9987991" cy="41148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172A31"/>
                </a:solidFill>
                <a:latin typeface="Segoe UI"/>
                <a:ea typeface="Microsoft YaHei"/>
                <a:cs typeface="Segoe UI"/>
              </a:rPr>
              <a:t>I agree with ______ that ______, but I would also add that ______.</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6 · Full Writing</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92</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CHALLENGE · 韩 / 刘 / 钟</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挑战版 · 给已经写过 AD 的同学</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810512"/>
            <a:ext cx="10948111" cy="987552"/>
          </a:xfrm>
          <a:prstGeom prst="roundRect">
            <a:avLst>
              <a:gd name="adj" fmla="val 6000"/>
            </a:avLst>
          </a:prstGeom>
          <a:solidFill>
            <a:srgbClr val="FFFFFF"/>
          </a:solidFill>
          <a:ln w="20320">
            <a:solidFill>
              <a:srgbClr val="B083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32688" y="1975104"/>
            <a:ext cx="10308031" cy="384048"/>
          </a:xfrm>
          <a:prstGeom prst="rect">
            <a:avLst/>
          </a:prstGeom>
          <a:noFill/>
        </p:spPr>
        <p:txBody>
          <a:bodyPr wrap="square" lIns="0" rIns="0" tIns="0" bIns="0" anchor="t">
            <a:spAutoFit/>
          </a:bodyPr>
          <a:lstStyle/>
          <a:p>
            <a:pPr algn="l">
              <a:lnSpc>
                <a:spcPct val="116000"/>
              </a:lnSpc>
              <a:spcAft>
                <a:spcPts val="0"/>
              </a:spcAft>
            </a:pPr>
            <a:r>
              <a:rPr sz="2000" b="1" i="0" u="none">
                <a:solidFill>
                  <a:srgbClr val="B08300"/>
                </a:solidFill>
                <a:latin typeface="Segoe UI"/>
                <a:ea typeface="Microsoft YaHei"/>
                <a:cs typeface="Segoe UI"/>
              </a:rPr>
              <a:t>□  </a:t>
            </a:r>
            <a:r>
              <a:rPr sz="2000" b="1" i="0" u="none">
                <a:solidFill>
                  <a:srgbClr val="172A31"/>
                </a:solidFill>
                <a:latin typeface="Segoe UI"/>
                <a:ea typeface="Microsoft YaHei"/>
                <a:cs typeface="Segoe UI"/>
              </a:rPr>
              <a:t>必须 120 词以上</a:t>
            </a:r>
          </a:p>
        </p:txBody>
      </p:sp>
      <p:sp>
        <p:nvSpPr>
          <p:cNvPr id="10" name="TextBox 9"/>
          <p:cNvSpPr txBox="1"/>
          <p:nvPr/>
        </p:nvSpPr>
        <p:spPr>
          <a:xfrm>
            <a:off x="932688" y="2377440"/>
            <a:ext cx="1030803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不是凑字数，是把一个理由推到 Result。</a:t>
            </a:r>
          </a:p>
        </p:txBody>
      </p:sp>
      <p:sp>
        <p:nvSpPr>
          <p:cNvPr id="11" name="Rounded Rectangle 10"/>
          <p:cNvSpPr/>
          <p:nvPr/>
        </p:nvSpPr>
        <p:spPr>
          <a:xfrm>
            <a:off x="621792" y="2907791"/>
            <a:ext cx="10948111" cy="987552"/>
          </a:xfrm>
          <a:prstGeom prst="roundRect">
            <a:avLst>
              <a:gd name="adj" fmla="val 6000"/>
            </a:avLst>
          </a:prstGeom>
          <a:solidFill>
            <a:srgbClr val="FFFFFF"/>
          </a:solidFill>
          <a:ln w="20320">
            <a:solidFill>
              <a:srgbClr val="B083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32688" y="3072384"/>
            <a:ext cx="10308031" cy="384048"/>
          </a:xfrm>
          <a:prstGeom prst="rect">
            <a:avLst/>
          </a:prstGeom>
          <a:noFill/>
        </p:spPr>
        <p:txBody>
          <a:bodyPr wrap="square" lIns="0" rIns="0" tIns="0" bIns="0" anchor="t">
            <a:spAutoFit/>
          </a:bodyPr>
          <a:lstStyle/>
          <a:p>
            <a:pPr algn="l">
              <a:lnSpc>
                <a:spcPct val="116000"/>
              </a:lnSpc>
              <a:spcAft>
                <a:spcPts val="0"/>
              </a:spcAft>
            </a:pPr>
            <a:r>
              <a:rPr sz="2000" b="1" i="0" u="none">
                <a:solidFill>
                  <a:srgbClr val="B08300"/>
                </a:solidFill>
                <a:latin typeface="Segoe UI"/>
                <a:ea typeface="Microsoft YaHei"/>
                <a:cs typeface="Segoe UI"/>
              </a:rPr>
              <a:t>□  </a:t>
            </a:r>
            <a:r>
              <a:rPr sz="2000" b="1" i="0" u="none">
                <a:solidFill>
                  <a:srgbClr val="172A31"/>
                </a:solidFill>
                <a:latin typeface="Segoe UI"/>
                <a:ea typeface="Microsoft YaHei"/>
                <a:cs typeface="Segoe UI"/>
              </a:rPr>
              <a:t>必须出现一次 Although 或 At the same time</a:t>
            </a:r>
          </a:p>
        </p:txBody>
      </p:sp>
      <p:sp>
        <p:nvSpPr>
          <p:cNvPr id="13" name="TextBox 12"/>
          <p:cNvSpPr txBox="1"/>
          <p:nvPr/>
        </p:nvSpPr>
        <p:spPr>
          <a:xfrm>
            <a:off x="932688" y="3474720"/>
            <a:ext cx="1030803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训练让步句，让立场更成熟。</a:t>
            </a:r>
          </a:p>
        </p:txBody>
      </p:sp>
      <p:sp>
        <p:nvSpPr>
          <p:cNvPr id="14" name="Rounded Rectangle 13"/>
          <p:cNvSpPr/>
          <p:nvPr/>
        </p:nvSpPr>
        <p:spPr>
          <a:xfrm>
            <a:off x="621792" y="4005072"/>
            <a:ext cx="10948111" cy="987552"/>
          </a:xfrm>
          <a:prstGeom prst="roundRect">
            <a:avLst>
              <a:gd name="adj" fmla="val 6000"/>
            </a:avLst>
          </a:prstGeom>
          <a:solidFill>
            <a:srgbClr val="FFFFFF"/>
          </a:solidFill>
          <a:ln w="20320">
            <a:solidFill>
              <a:srgbClr val="B083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32688" y="4169663"/>
            <a:ext cx="10308031" cy="384048"/>
          </a:xfrm>
          <a:prstGeom prst="rect">
            <a:avLst/>
          </a:prstGeom>
          <a:noFill/>
        </p:spPr>
        <p:txBody>
          <a:bodyPr wrap="square" lIns="0" rIns="0" tIns="0" bIns="0" anchor="t">
            <a:spAutoFit/>
          </a:bodyPr>
          <a:lstStyle/>
          <a:p>
            <a:pPr algn="l">
              <a:lnSpc>
                <a:spcPct val="116000"/>
              </a:lnSpc>
              <a:spcAft>
                <a:spcPts val="0"/>
              </a:spcAft>
            </a:pPr>
            <a:r>
              <a:rPr sz="2000" b="1" i="0" u="none">
                <a:solidFill>
                  <a:srgbClr val="B08300"/>
                </a:solidFill>
                <a:latin typeface="Segoe UI"/>
                <a:ea typeface="Microsoft YaHei"/>
                <a:cs typeface="Segoe UI"/>
              </a:rPr>
              <a:t>□  </a:t>
            </a:r>
            <a:r>
              <a:rPr sz="2000" b="1" i="0" u="none">
                <a:solidFill>
                  <a:srgbClr val="172A31"/>
                </a:solidFill>
                <a:latin typeface="Segoe UI"/>
                <a:ea typeface="Microsoft YaHei"/>
                <a:cs typeface="Segoe UI"/>
              </a:rPr>
              <a:t>例子里必须出现一个具体职业或场景</a:t>
            </a:r>
          </a:p>
        </p:txBody>
      </p:sp>
      <p:sp>
        <p:nvSpPr>
          <p:cNvPr id="16" name="TextBox 15"/>
          <p:cNvSpPr txBox="1"/>
          <p:nvPr/>
        </p:nvSpPr>
        <p:spPr>
          <a:xfrm>
            <a:off x="932688" y="4572000"/>
            <a:ext cx="1030803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nursing / accounting / café / design studio 都可以。</a:t>
            </a:r>
          </a:p>
        </p:txBody>
      </p:sp>
      <p:sp>
        <p:nvSpPr>
          <p:cNvPr id="17" name="Rounded Rectangle 16"/>
          <p:cNvSpPr/>
          <p:nvPr/>
        </p:nvSpPr>
        <p:spPr>
          <a:xfrm>
            <a:off x="621792" y="5102352"/>
            <a:ext cx="10948111" cy="987552"/>
          </a:xfrm>
          <a:prstGeom prst="roundRect">
            <a:avLst>
              <a:gd name="adj" fmla="val 6000"/>
            </a:avLst>
          </a:prstGeom>
          <a:solidFill>
            <a:srgbClr val="FFFFFF"/>
          </a:solidFill>
          <a:ln w="20320">
            <a:solidFill>
              <a:srgbClr val="B083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32688" y="5266944"/>
            <a:ext cx="10308031" cy="384048"/>
          </a:xfrm>
          <a:prstGeom prst="rect">
            <a:avLst/>
          </a:prstGeom>
          <a:noFill/>
        </p:spPr>
        <p:txBody>
          <a:bodyPr wrap="square" lIns="0" rIns="0" tIns="0" bIns="0" anchor="t">
            <a:spAutoFit/>
          </a:bodyPr>
          <a:lstStyle/>
          <a:p>
            <a:pPr algn="l">
              <a:lnSpc>
                <a:spcPct val="116000"/>
              </a:lnSpc>
              <a:spcAft>
                <a:spcPts val="0"/>
              </a:spcAft>
            </a:pPr>
            <a:r>
              <a:rPr sz="2000" b="1" i="0" u="none">
                <a:solidFill>
                  <a:srgbClr val="B08300"/>
                </a:solidFill>
                <a:latin typeface="Segoe UI"/>
                <a:ea typeface="Microsoft YaHei"/>
                <a:cs typeface="Segoe UI"/>
              </a:rPr>
              <a:t>□  </a:t>
            </a:r>
            <a:r>
              <a:rPr sz="2000" b="1" i="0" u="none">
                <a:solidFill>
                  <a:srgbClr val="172A31"/>
                </a:solidFill>
                <a:latin typeface="Segoe UI"/>
                <a:ea typeface="Microsoft YaHei"/>
                <a:cs typeface="Segoe UI"/>
              </a:rPr>
              <a:t>Contribution 必须是三个抽屉之一</a:t>
            </a:r>
          </a:p>
        </p:txBody>
      </p:sp>
      <p:sp>
        <p:nvSpPr>
          <p:cNvPr id="19" name="TextBox 18"/>
          <p:cNvSpPr txBox="1"/>
          <p:nvPr/>
        </p:nvSpPr>
        <p:spPr>
          <a:xfrm>
            <a:off x="932688" y="5669280"/>
            <a:ext cx="1030803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换一个人 / 换一个条件 / 换一个时间。</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6 · Full Writing</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93</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SELF-CHECK</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2E6B4F"/>
                </a:solidFill>
                <a:latin typeface="Segoe UI"/>
                <a:ea typeface="Microsoft YaHei"/>
                <a:cs typeface="Segoe UI"/>
              </a:rPr>
              <a:t>写完 3 分钟 · 自查清单</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810512"/>
            <a:ext cx="10948111" cy="731520"/>
          </a:xfrm>
          <a:prstGeom prst="roundRect">
            <a:avLst>
              <a:gd name="adj" fmla="val 6000"/>
            </a:avLst>
          </a:prstGeom>
          <a:solidFill>
            <a:srgbClr val="E7F1EB"/>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896112" y="2002536"/>
            <a:ext cx="347472" cy="347472"/>
          </a:xfrm>
          <a:prstGeom prst="rect">
            <a:avLst/>
          </a:prstGeom>
          <a:solidFill>
            <a:srgbClr val="FFFFFF"/>
          </a:solidFill>
          <a:ln w="20320">
            <a:solidFill>
              <a:srgbClr val="2E6B4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490472" y="1993392"/>
            <a:ext cx="9759391" cy="411480"/>
          </a:xfrm>
          <a:prstGeom prst="rect">
            <a:avLst/>
          </a:prstGeom>
          <a:noFill/>
        </p:spPr>
        <p:txBody>
          <a:bodyPr wrap="square" lIns="0" rIns="0" tIns="0" bIns="0" anchor="t">
            <a:spAutoFit/>
          </a:bodyPr>
          <a:lstStyle/>
          <a:p>
            <a:pPr algn="l">
              <a:lnSpc>
                <a:spcPct val="116000"/>
              </a:lnSpc>
              <a:spcBef>
                <a:spcPts val="0"/>
              </a:spcBef>
              <a:spcAft>
                <a:spcPts val="0"/>
              </a:spcAft>
            </a:pPr>
            <a:r>
              <a:rPr sz="2000" b="0" i="0" u="none">
                <a:solidFill>
                  <a:srgbClr val="172A31"/>
                </a:solidFill>
                <a:latin typeface="Segoe UI"/>
                <a:ea typeface="Microsoft YaHei"/>
                <a:cs typeface="Segoe UI"/>
              </a:rPr>
              <a:t>我有没有明确回应这场讨论（提到 Kelly 或 Andrew 的观点）？</a:t>
            </a:r>
          </a:p>
        </p:txBody>
      </p:sp>
      <p:sp>
        <p:nvSpPr>
          <p:cNvPr id="11" name="Rounded Rectangle 10"/>
          <p:cNvSpPr/>
          <p:nvPr/>
        </p:nvSpPr>
        <p:spPr>
          <a:xfrm>
            <a:off x="621792" y="2615184"/>
            <a:ext cx="10948111" cy="731520"/>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896112" y="2807208"/>
            <a:ext cx="347472" cy="347472"/>
          </a:xfrm>
          <a:prstGeom prst="rect">
            <a:avLst/>
          </a:prstGeom>
          <a:solidFill>
            <a:srgbClr val="FFFFFF"/>
          </a:solidFill>
          <a:ln w="20320">
            <a:solidFill>
              <a:srgbClr val="2E6B4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490472" y="2798064"/>
            <a:ext cx="9759391" cy="411480"/>
          </a:xfrm>
          <a:prstGeom prst="rect">
            <a:avLst/>
          </a:prstGeom>
          <a:noFill/>
        </p:spPr>
        <p:txBody>
          <a:bodyPr wrap="square" lIns="0" rIns="0" tIns="0" bIns="0" anchor="t">
            <a:spAutoFit/>
          </a:bodyPr>
          <a:lstStyle/>
          <a:p>
            <a:pPr algn="l">
              <a:lnSpc>
                <a:spcPct val="116000"/>
              </a:lnSpc>
              <a:spcBef>
                <a:spcPts val="0"/>
              </a:spcBef>
              <a:spcAft>
                <a:spcPts val="0"/>
              </a:spcAft>
            </a:pPr>
            <a:r>
              <a:rPr sz="2000" b="0" i="0" u="none">
                <a:solidFill>
                  <a:srgbClr val="172A31"/>
                </a:solidFill>
                <a:latin typeface="Segoe UI"/>
                <a:ea typeface="Microsoft YaHei"/>
                <a:cs typeface="Segoe UI"/>
              </a:rPr>
              <a:t>我有没有加入自己的新观点，而不是把别人的话重复一遍？</a:t>
            </a:r>
          </a:p>
        </p:txBody>
      </p:sp>
      <p:sp>
        <p:nvSpPr>
          <p:cNvPr id="14" name="Rounded Rectangle 13"/>
          <p:cNvSpPr/>
          <p:nvPr/>
        </p:nvSpPr>
        <p:spPr>
          <a:xfrm>
            <a:off x="621792" y="3419856"/>
            <a:ext cx="10948111" cy="731520"/>
          </a:xfrm>
          <a:prstGeom prst="roundRect">
            <a:avLst>
              <a:gd name="adj" fmla="val 6000"/>
            </a:avLst>
          </a:prstGeom>
          <a:solidFill>
            <a:srgbClr val="E7F1EB"/>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896112" y="3611879"/>
            <a:ext cx="347472" cy="347472"/>
          </a:xfrm>
          <a:prstGeom prst="rect">
            <a:avLst/>
          </a:prstGeom>
          <a:solidFill>
            <a:srgbClr val="FFFFFF"/>
          </a:solidFill>
          <a:ln w="20320">
            <a:solidFill>
              <a:srgbClr val="2E6B4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490472" y="3602736"/>
            <a:ext cx="9759391" cy="411480"/>
          </a:xfrm>
          <a:prstGeom prst="rect">
            <a:avLst/>
          </a:prstGeom>
          <a:noFill/>
        </p:spPr>
        <p:txBody>
          <a:bodyPr wrap="square" lIns="0" rIns="0" tIns="0" bIns="0" anchor="t">
            <a:spAutoFit/>
          </a:bodyPr>
          <a:lstStyle/>
          <a:p>
            <a:pPr algn="l">
              <a:lnSpc>
                <a:spcPct val="116000"/>
              </a:lnSpc>
              <a:spcBef>
                <a:spcPts val="0"/>
              </a:spcBef>
              <a:spcAft>
                <a:spcPts val="0"/>
              </a:spcAft>
            </a:pPr>
            <a:r>
              <a:rPr sz="2000" b="0" i="0" u="none">
                <a:solidFill>
                  <a:srgbClr val="172A31"/>
                </a:solidFill>
                <a:latin typeface="Segoe UI"/>
                <a:ea typeface="Microsoft YaHei"/>
                <a:cs typeface="Segoe UI"/>
              </a:rPr>
              <a:t>我有没有一句真正解释 WHY 的话？</a:t>
            </a:r>
          </a:p>
        </p:txBody>
      </p:sp>
      <p:sp>
        <p:nvSpPr>
          <p:cNvPr id="17" name="Rounded Rectangle 16"/>
          <p:cNvSpPr/>
          <p:nvPr/>
        </p:nvSpPr>
        <p:spPr>
          <a:xfrm>
            <a:off x="621792" y="4224528"/>
            <a:ext cx="10948111" cy="731520"/>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896112" y="4416552"/>
            <a:ext cx="347472" cy="347472"/>
          </a:xfrm>
          <a:prstGeom prst="rect">
            <a:avLst/>
          </a:prstGeom>
          <a:solidFill>
            <a:srgbClr val="FFFFFF"/>
          </a:solidFill>
          <a:ln w="20320">
            <a:solidFill>
              <a:srgbClr val="2E6B4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490472" y="4407408"/>
            <a:ext cx="9759391" cy="411480"/>
          </a:xfrm>
          <a:prstGeom prst="rect">
            <a:avLst/>
          </a:prstGeom>
          <a:noFill/>
        </p:spPr>
        <p:txBody>
          <a:bodyPr wrap="square" lIns="0" rIns="0" tIns="0" bIns="0" anchor="t">
            <a:spAutoFit/>
          </a:bodyPr>
          <a:lstStyle/>
          <a:p>
            <a:pPr algn="l">
              <a:lnSpc>
                <a:spcPct val="116000"/>
              </a:lnSpc>
              <a:spcBef>
                <a:spcPts val="0"/>
              </a:spcBef>
              <a:spcAft>
                <a:spcPts val="0"/>
              </a:spcAft>
            </a:pPr>
            <a:r>
              <a:rPr sz="2000" b="0" i="0" u="none">
                <a:solidFill>
                  <a:srgbClr val="172A31"/>
                </a:solidFill>
                <a:latin typeface="Segoe UI"/>
                <a:ea typeface="Microsoft YaHei"/>
                <a:cs typeface="Segoe UI"/>
              </a:rPr>
              <a:t>我的例子里有没有一个具体的人和一个具体动作？</a:t>
            </a:r>
          </a:p>
        </p:txBody>
      </p:sp>
      <p:sp>
        <p:nvSpPr>
          <p:cNvPr id="20" name="Rounded Rectangle 19"/>
          <p:cNvSpPr/>
          <p:nvPr/>
        </p:nvSpPr>
        <p:spPr>
          <a:xfrm>
            <a:off x="621792" y="5029200"/>
            <a:ext cx="10948111" cy="731520"/>
          </a:xfrm>
          <a:prstGeom prst="roundRect">
            <a:avLst>
              <a:gd name="adj" fmla="val 6000"/>
            </a:avLst>
          </a:prstGeom>
          <a:solidFill>
            <a:srgbClr val="E7F1EB"/>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896112" y="5221224"/>
            <a:ext cx="347472" cy="347472"/>
          </a:xfrm>
          <a:prstGeom prst="rect">
            <a:avLst/>
          </a:prstGeom>
          <a:solidFill>
            <a:srgbClr val="FFFFFF"/>
          </a:solidFill>
          <a:ln w="20320">
            <a:solidFill>
              <a:srgbClr val="2E6B4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1490472" y="5212080"/>
            <a:ext cx="9759391" cy="411480"/>
          </a:xfrm>
          <a:prstGeom prst="rect">
            <a:avLst/>
          </a:prstGeom>
          <a:noFill/>
        </p:spPr>
        <p:txBody>
          <a:bodyPr wrap="square" lIns="0" rIns="0" tIns="0" bIns="0" anchor="t">
            <a:spAutoFit/>
          </a:bodyPr>
          <a:lstStyle/>
          <a:p>
            <a:pPr algn="l">
              <a:lnSpc>
                <a:spcPct val="116000"/>
              </a:lnSpc>
              <a:spcBef>
                <a:spcPts val="0"/>
              </a:spcBef>
              <a:spcAft>
                <a:spcPts val="0"/>
              </a:spcAft>
            </a:pPr>
            <a:r>
              <a:rPr sz="2000" b="0" i="0" u="none">
                <a:solidFill>
                  <a:srgbClr val="172A31"/>
                </a:solidFill>
                <a:latin typeface="Segoe UI"/>
                <a:ea typeface="Microsoft YaHei"/>
                <a:cs typeface="Segoe UI"/>
              </a:rPr>
              <a:t>我有没有写到 100 词以上？（数一次，写下来）</a:t>
            </a:r>
          </a:p>
        </p:txBody>
      </p:sp>
      <p:sp>
        <p:nvSpPr>
          <p:cNvPr id="23" name="TextBox 22"/>
          <p:cNvSpPr txBox="1"/>
          <p:nvPr/>
        </p:nvSpPr>
        <p:spPr>
          <a:xfrm>
            <a:off x="621792" y="5907024"/>
            <a:ext cx="10948111" cy="36576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2E6B4F"/>
                </a:solidFill>
                <a:latin typeface="Segoe UI"/>
                <a:ea typeface="Microsoft YaHei"/>
                <a:cs typeface="Segoe UI"/>
              </a:rPr>
              <a:t>字数：__________ 词        自评：__________ 分</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6 · Full Writing</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94</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PEER REVIEW · 3 分钟</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B08300"/>
                </a:solidFill>
                <a:latin typeface="Segoe UI"/>
                <a:ea typeface="Microsoft YaHei"/>
                <a:cs typeface="Segoe UI"/>
              </a:rPr>
              <a:t>同伴互评 · 只找三样东西</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673352"/>
            <a:ext cx="10948111" cy="566928"/>
          </a:xfrm>
          <a:prstGeom prst="roundRect">
            <a:avLst>
              <a:gd name="adj" fmla="val 6000"/>
            </a:avLst>
          </a:prstGeom>
          <a:solidFill>
            <a:srgbClr val="FAF2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801368"/>
            <a:ext cx="1035375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B08300"/>
                </a:solidFill>
                <a:latin typeface="Segoe UI"/>
                <a:ea typeface="Microsoft YaHei"/>
                <a:cs typeface="Segoe UI"/>
              </a:rPr>
              <a:t>交换讲义。不许改语法，只找这三样，用铅笔标出来。</a:t>
            </a:r>
          </a:p>
        </p:txBody>
      </p:sp>
      <p:sp>
        <p:nvSpPr>
          <p:cNvPr id="10" name="Rounded Rectangle 9"/>
          <p:cNvSpPr/>
          <p:nvPr/>
        </p:nvSpPr>
        <p:spPr>
          <a:xfrm>
            <a:off x="621792" y="2450592"/>
            <a:ext cx="10948111" cy="1143000"/>
          </a:xfrm>
          <a:prstGeom prst="roundRect">
            <a:avLst>
              <a:gd name="adj" fmla="val 6000"/>
            </a:avLst>
          </a:prstGeom>
          <a:solidFill>
            <a:srgbClr val="FFFFFF"/>
          </a:solidFill>
          <a:ln w="22860">
            <a:solidFill>
              <a:srgbClr val="0E536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21792" y="2450592"/>
            <a:ext cx="2651760" cy="1143000"/>
          </a:xfrm>
          <a:prstGeom prst="roundRect">
            <a:avLst>
              <a:gd name="adj" fmla="val 6000"/>
            </a:avLst>
          </a:prstGeom>
          <a:solidFill>
            <a:srgbClr val="0E53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13232" y="2816352"/>
            <a:ext cx="2468880" cy="457200"/>
          </a:xfrm>
          <a:prstGeom prst="rect">
            <a:avLst/>
          </a:prstGeom>
          <a:noFill/>
        </p:spPr>
        <p:txBody>
          <a:bodyPr wrap="square" lIns="0" rIns="0" tIns="0" bIns="0" anchor="t">
            <a:spAutoFit/>
          </a:bodyPr>
          <a:lstStyle/>
          <a:p>
            <a:pPr algn="ctr">
              <a:lnSpc>
                <a:spcPct val="116000"/>
              </a:lnSpc>
              <a:spcBef>
                <a:spcPts val="0"/>
              </a:spcBef>
              <a:spcAft>
                <a:spcPts val="0"/>
              </a:spcAft>
            </a:pPr>
            <a:r>
              <a:rPr sz="2100" b="1" i="0" u="none">
                <a:solidFill>
                  <a:srgbClr val="FFFFFF"/>
                </a:solidFill>
                <a:latin typeface="Segoe UI"/>
                <a:ea typeface="Microsoft YaHei"/>
                <a:cs typeface="Segoe UI"/>
              </a:rPr>
              <a:t>① 找立场句</a:t>
            </a:r>
          </a:p>
        </p:txBody>
      </p:sp>
      <p:sp>
        <p:nvSpPr>
          <p:cNvPr id="13" name="TextBox 12"/>
          <p:cNvSpPr txBox="1"/>
          <p:nvPr/>
        </p:nvSpPr>
        <p:spPr>
          <a:xfrm>
            <a:off x="3547872" y="2816352"/>
            <a:ext cx="7747711" cy="45720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圈出来。找不到 → 在旁边写「无立场」。</a:t>
            </a:r>
          </a:p>
        </p:txBody>
      </p:sp>
      <p:sp>
        <p:nvSpPr>
          <p:cNvPr id="14" name="Rounded Rectangle 13"/>
          <p:cNvSpPr/>
          <p:nvPr/>
        </p:nvSpPr>
        <p:spPr>
          <a:xfrm>
            <a:off x="621792" y="3730752"/>
            <a:ext cx="10948111" cy="1143000"/>
          </a:xfrm>
          <a:prstGeom prst="roundRect">
            <a:avLst>
              <a:gd name="adj" fmla="val 6000"/>
            </a:avLst>
          </a:prstGeom>
          <a:solidFill>
            <a:srgbClr val="FFFFFF"/>
          </a:solidFill>
          <a:ln w="22860">
            <a:solidFill>
              <a:srgbClr val="C9552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621792" y="3730752"/>
            <a:ext cx="2651760" cy="1143000"/>
          </a:xfrm>
          <a:prstGeom prst="roundRect">
            <a:avLst>
              <a:gd name="adj" fmla="val 6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713232" y="4096512"/>
            <a:ext cx="2468880" cy="457200"/>
          </a:xfrm>
          <a:prstGeom prst="rect">
            <a:avLst/>
          </a:prstGeom>
          <a:noFill/>
        </p:spPr>
        <p:txBody>
          <a:bodyPr wrap="square" lIns="0" rIns="0" tIns="0" bIns="0" anchor="t">
            <a:spAutoFit/>
          </a:bodyPr>
          <a:lstStyle/>
          <a:p>
            <a:pPr algn="ctr">
              <a:lnSpc>
                <a:spcPct val="116000"/>
              </a:lnSpc>
              <a:spcBef>
                <a:spcPts val="0"/>
              </a:spcBef>
              <a:spcAft>
                <a:spcPts val="0"/>
              </a:spcAft>
            </a:pPr>
            <a:r>
              <a:rPr sz="2100" b="1" i="0" u="none">
                <a:solidFill>
                  <a:srgbClr val="FFFFFF"/>
                </a:solidFill>
                <a:latin typeface="Segoe UI"/>
                <a:ea typeface="Microsoft YaHei"/>
                <a:cs typeface="Segoe UI"/>
              </a:rPr>
              <a:t>② 找例子里的那个人</a:t>
            </a:r>
          </a:p>
        </p:txBody>
      </p:sp>
      <p:sp>
        <p:nvSpPr>
          <p:cNvPr id="17" name="TextBox 16"/>
          <p:cNvSpPr txBox="1"/>
          <p:nvPr/>
        </p:nvSpPr>
        <p:spPr>
          <a:xfrm>
            <a:off x="3547872" y="4096512"/>
            <a:ext cx="7747711" cy="45720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画方框。如果只有 many students → 写「没有人」。</a:t>
            </a:r>
          </a:p>
        </p:txBody>
      </p:sp>
      <p:sp>
        <p:nvSpPr>
          <p:cNvPr id="18" name="Rounded Rectangle 17"/>
          <p:cNvSpPr/>
          <p:nvPr/>
        </p:nvSpPr>
        <p:spPr>
          <a:xfrm>
            <a:off x="621792" y="5010912"/>
            <a:ext cx="10948111" cy="1143000"/>
          </a:xfrm>
          <a:prstGeom prst="roundRect">
            <a:avLst>
              <a:gd name="adj" fmla="val 6000"/>
            </a:avLst>
          </a:prstGeom>
          <a:solidFill>
            <a:srgbClr val="FFFFFF"/>
          </a:solidFill>
          <a:ln w="22860">
            <a:solidFill>
              <a:srgbClr val="B083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621792" y="5010912"/>
            <a:ext cx="2651760" cy="1143000"/>
          </a:xfrm>
          <a:prstGeom prst="roundRect">
            <a:avLst>
              <a:gd name="adj" fmla="val 6000"/>
            </a:avLst>
          </a:prstGeom>
          <a:solidFill>
            <a:srgbClr val="B083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13232" y="5376672"/>
            <a:ext cx="2468880" cy="457200"/>
          </a:xfrm>
          <a:prstGeom prst="rect">
            <a:avLst/>
          </a:prstGeom>
          <a:noFill/>
        </p:spPr>
        <p:txBody>
          <a:bodyPr wrap="square" lIns="0" rIns="0" tIns="0" bIns="0" anchor="t">
            <a:spAutoFit/>
          </a:bodyPr>
          <a:lstStyle/>
          <a:p>
            <a:pPr algn="ctr">
              <a:lnSpc>
                <a:spcPct val="116000"/>
              </a:lnSpc>
              <a:spcBef>
                <a:spcPts val="0"/>
              </a:spcBef>
              <a:spcAft>
                <a:spcPts val="0"/>
              </a:spcAft>
            </a:pPr>
            <a:r>
              <a:rPr sz="2100" b="1" i="0" u="none">
                <a:solidFill>
                  <a:srgbClr val="FFFFFF"/>
                </a:solidFill>
                <a:latin typeface="Segoe UI"/>
                <a:ea typeface="Microsoft YaHei"/>
                <a:cs typeface="Segoe UI"/>
              </a:rPr>
              <a:t>③ 找新信息</a:t>
            </a:r>
          </a:p>
        </p:txBody>
      </p:sp>
      <p:sp>
        <p:nvSpPr>
          <p:cNvPr id="21" name="TextBox 20"/>
          <p:cNvSpPr txBox="1"/>
          <p:nvPr/>
        </p:nvSpPr>
        <p:spPr>
          <a:xfrm>
            <a:off x="3547872" y="5376672"/>
            <a:ext cx="7747711" cy="45720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标星号。如果只是重复 Kelly / Andrew → 写「重复」。</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Part 6 · Full Writing</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95</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CLOSING THE LOOP</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今天这条链条，你已经走了两遍</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2084832"/>
            <a:ext cx="1375910" cy="1234440"/>
          </a:xfrm>
          <a:prstGeom prst="roundRect">
            <a:avLst>
              <a:gd name="adj" fmla="val 6000"/>
            </a:avLst>
          </a:prstGeom>
          <a:solidFill>
            <a:srgbClr val="0E53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76656" y="2286000"/>
            <a:ext cx="1266182" cy="914400"/>
          </a:xfrm>
          <a:prstGeom prst="rect">
            <a:avLst/>
          </a:prstGeom>
          <a:noFill/>
        </p:spPr>
        <p:txBody>
          <a:bodyPr wrap="square" lIns="0" rIns="0" tIns="0" bIns="0" anchor="t">
            <a:spAutoFit/>
          </a:bodyPr>
          <a:lstStyle/>
          <a:p>
            <a:pPr algn="ctr">
              <a:lnSpc>
                <a:spcPct val="105000"/>
              </a:lnSpc>
              <a:spcBef>
                <a:spcPts val="0"/>
              </a:spcBef>
              <a:spcAft>
                <a:spcPts val="200"/>
              </a:spcAft>
            </a:pPr>
            <a:r>
              <a:rPr sz="1900" b="1" i="0" u="none">
                <a:solidFill>
                  <a:srgbClr val="FFFFFF"/>
                </a:solidFill>
                <a:latin typeface="Segoe UI"/>
                <a:ea typeface="Microsoft YaHei"/>
                <a:cs typeface="Segoe UI"/>
              </a:rPr>
              <a:t>读题</a:t>
            </a:r>
          </a:p>
          <a:p>
            <a:pPr algn="ctr">
              <a:lnSpc>
                <a:spcPct val="105000"/>
              </a:lnSpc>
              <a:spcBef>
                <a:spcPts val="0"/>
              </a:spcBef>
              <a:spcAft>
                <a:spcPts val="200"/>
              </a:spcAft>
            </a:pPr>
            <a:r>
              <a:rPr sz="1900" b="1" i="0" u="none">
                <a:solidFill>
                  <a:srgbClr val="FFFFFF"/>
                </a:solidFill>
                <a:latin typeface="Segoe UI"/>
                <a:ea typeface="Microsoft YaHei"/>
                <a:cs typeface="Segoe UI"/>
              </a:rPr>
              <a:t>找争议</a:t>
            </a:r>
          </a:p>
        </p:txBody>
      </p:sp>
      <p:sp>
        <p:nvSpPr>
          <p:cNvPr id="10" name="Rounded Rectangle 9"/>
          <p:cNvSpPr/>
          <p:nvPr/>
        </p:nvSpPr>
        <p:spPr>
          <a:xfrm>
            <a:off x="2217158" y="2084832"/>
            <a:ext cx="1375910" cy="1234440"/>
          </a:xfrm>
          <a:prstGeom prst="roundRect">
            <a:avLst>
              <a:gd name="adj" fmla="val 6000"/>
            </a:avLst>
          </a:prstGeom>
          <a:solidFill>
            <a:srgbClr val="0E53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2272022" y="2286000"/>
            <a:ext cx="1266182" cy="914400"/>
          </a:xfrm>
          <a:prstGeom prst="rect">
            <a:avLst/>
          </a:prstGeom>
          <a:noFill/>
        </p:spPr>
        <p:txBody>
          <a:bodyPr wrap="square" lIns="0" rIns="0" tIns="0" bIns="0" anchor="t">
            <a:spAutoFit/>
          </a:bodyPr>
          <a:lstStyle/>
          <a:p>
            <a:pPr algn="ctr">
              <a:lnSpc>
                <a:spcPct val="105000"/>
              </a:lnSpc>
              <a:spcBef>
                <a:spcPts val="0"/>
              </a:spcBef>
              <a:spcAft>
                <a:spcPts val="200"/>
              </a:spcAft>
            </a:pPr>
            <a:r>
              <a:rPr sz="1900" b="1" i="0" u="none">
                <a:solidFill>
                  <a:srgbClr val="FFFFFF"/>
                </a:solidFill>
                <a:latin typeface="Segoe UI"/>
                <a:ea typeface="Microsoft YaHei"/>
                <a:cs typeface="Segoe UI"/>
              </a:rPr>
              <a:t>选一边</a:t>
            </a:r>
          </a:p>
        </p:txBody>
      </p:sp>
      <p:sp>
        <p:nvSpPr>
          <p:cNvPr id="12" name="Rounded Rectangle 11"/>
          <p:cNvSpPr/>
          <p:nvPr/>
        </p:nvSpPr>
        <p:spPr>
          <a:xfrm>
            <a:off x="3812525" y="2084832"/>
            <a:ext cx="1375910" cy="1234440"/>
          </a:xfrm>
          <a:prstGeom prst="roundRect">
            <a:avLst>
              <a:gd name="adj" fmla="val 6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867389" y="2286000"/>
            <a:ext cx="1266182" cy="914400"/>
          </a:xfrm>
          <a:prstGeom prst="rect">
            <a:avLst/>
          </a:prstGeom>
          <a:noFill/>
        </p:spPr>
        <p:txBody>
          <a:bodyPr wrap="square" lIns="0" rIns="0" tIns="0" bIns="0" anchor="t">
            <a:spAutoFit/>
          </a:bodyPr>
          <a:lstStyle/>
          <a:p>
            <a:pPr algn="ctr">
              <a:lnSpc>
                <a:spcPct val="105000"/>
              </a:lnSpc>
              <a:spcBef>
                <a:spcPts val="0"/>
              </a:spcBef>
              <a:spcAft>
                <a:spcPts val="200"/>
              </a:spcAft>
            </a:pPr>
            <a:r>
              <a:rPr sz="1900" b="1" i="0" u="none">
                <a:solidFill>
                  <a:srgbClr val="FFFFFF"/>
                </a:solidFill>
                <a:latin typeface="Segoe UI"/>
                <a:ea typeface="Microsoft YaHei"/>
                <a:cs typeface="Segoe UI"/>
              </a:rPr>
              <a:t>具体</a:t>
            </a:r>
          </a:p>
          <a:p>
            <a:pPr algn="ctr">
              <a:lnSpc>
                <a:spcPct val="105000"/>
              </a:lnSpc>
              <a:spcBef>
                <a:spcPts val="0"/>
              </a:spcBef>
              <a:spcAft>
                <a:spcPts val="200"/>
              </a:spcAft>
            </a:pPr>
            <a:r>
              <a:rPr sz="1900" b="1" i="0" u="none">
                <a:solidFill>
                  <a:srgbClr val="FFFFFF"/>
                </a:solidFill>
                <a:latin typeface="Segoe UI"/>
                <a:ea typeface="Microsoft YaHei"/>
                <a:cs typeface="Segoe UI"/>
              </a:rPr>
              <a:t>Reason</a:t>
            </a:r>
          </a:p>
        </p:txBody>
      </p:sp>
      <p:sp>
        <p:nvSpPr>
          <p:cNvPr id="14" name="Rounded Rectangle 13"/>
          <p:cNvSpPr/>
          <p:nvPr/>
        </p:nvSpPr>
        <p:spPr>
          <a:xfrm>
            <a:off x="5407892" y="2084832"/>
            <a:ext cx="1375910" cy="1234440"/>
          </a:xfrm>
          <a:prstGeom prst="roundRect">
            <a:avLst>
              <a:gd name="adj" fmla="val 6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5462756" y="2286000"/>
            <a:ext cx="1266182" cy="914400"/>
          </a:xfrm>
          <a:prstGeom prst="rect">
            <a:avLst/>
          </a:prstGeom>
          <a:noFill/>
        </p:spPr>
        <p:txBody>
          <a:bodyPr wrap="square" lIns="0" rIns="0" tIns="0" bIns="0" anchor="t">
            <a:spAutoFit/>
          </a:bodyPr>
          <a:lstStyle/>
          <a:p>
            <a:pPr algn="ctr">
              <a:lnSpc>
                <a:spcPct val="105000"/>
              </a:lnSpc>
              <a:spcBef>
                <a:spcPts val="0"/>
              </a:spcBef>
              <a:spcAft>
                <a:spcPts val="200"/>
              </a:spcAft>
            </a:pPr>
            <a:r>
              <a:rPr sz="1900" b="1" i="0" u="none">
                <a:solidFill>
                  <a:srgbClr val="FFFFFF"/>
                </a:solidFill>
                <a:latin typeface="Segoe UI"/>
                <a:ea typeface="Microsoft YaHei"/>
                <a:cs typeface="Segoe UI"/>
              </a:rPr>
              <a:t>WHY</a:t>
            </a:r>
          </a:p>
        </p:txBody>
      </p:sp>
      <p:sp>
        <p:nvSpPr>
          <p:cNvPr id="16" name="Rounded Rectangle 15"/>
          <p:cNvSpPr/>
          <p:nvPr/>
        </p:nvSpPr>
        <p:spPr>
          <a:xfrm>
            <a:off x="7003258" y="2084832"/>
            <a:ext cx="1375910" cy="1234440"/>
          </a:xfrm>
          <a:prstGeom prst="roundRect">
            <a:avLst>
              <a:gd name="adj" fmla="val 6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058122" y="2286000"/>
            <a:ext cx="1266182" cy="914400"/>
          </a:xfrm>
          <a:prstGeom prst="rect">
            <a:avLst/>
          </a:prstGeom>
          <a:noFill/>
        </p:spPr>
        <p:txBody>
          <a:bodyPr wrap="square" lIns="0" rIns="0" tIns="0" bIns="0" anchor="t">
            <a:spAutoFit/>
          </a:bodyPr>
          <a:lstStyle/>
          <a:p>
            <a:pPr algn="ctr">
              <a:lnSpc>
                <a:spcPct val="105000"/>
              </a:lnSpc>
              <a:spcBef>
                <a:spcPts val="0"/>
              </a:spcBef>
              <a:spcAft>
                <a:spcPts val="200"/>
              </a:spcAft>
            </a:pPr>
            <a:r>
              <a:rPr sz="1900" b="1" i="0" u="none">
                <a:solidFill>
                  <a:srgbClr val="FFFFFF"/>
                </a:solidFill>
                <a:latin typeface="Segoe UI"/>
                <a:ea typeface="Microsoft YaHei"/>
                <a:cs typeface="Segoe UI"/>
              </a:rPr>
              <a:t>Example</a:t>
            </a:r>
          </a:p>
        </p:txBody>
      </p:sp>
      <p:sp>
        <p:nvSpPr>
          <p:cNvPr id="18" name="Rounded Rectangle 17"/>
          <p:cNvSpPr/>
          <p:nvPr/>
        </p:nvSpPr>
        <p:spPr>
          <a:xfrm>
            <a:off x="8598625" y="2084832"/>
            <a:ext cx="1375910" cy="1234440"/>
          </a:xfrm>
          <a:prstGeom prst="roundRect">
            <a:avLst>
              <a:gd name="adj" fmla="val 6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53489" y="2286000"/>
            <a:ext cx="1266182" cy="914400"/>
          </a:xfrm>
          <a:prstGeom prst="rect">
            <a:avLst/>
          </a:prstGeom>
          <a:noFill/>
        </p:spPr>
        <p:txBody>
          <a:bodyPr wrap="square" lIns="0" rIns="0" tIns="0" bIns="0" anchor="t">
            <a:spAutoFit/>
          </a:bodyPr>
          <a:lstStyle/>
          <a:p>
            <a:pPr algn="ctr">
              <a:lnSpc>
                <a:spcPct val="105000"/>
              </a:lnSpc>
              <a:spcBef>
                <a:spcPts val="0"/>
              </a:spcBef>
              <a:spcAft>
                <a:spcPts val="200"/>
              </a:spcAft>
            </a:pPr>
            <a:r>
              <a:rPr sz="1900" b="1" i="0" u="none">
                <a:solidFill>
                  <a:srgbClr val="FFFFFF"/>
                </a:solidFill>
                <a:latin typeface="Segoe UI"/>
                <a:ea typeface="Microsoft YaHei"/>
                <a:cs typeface="Segoe UI"/>
              </a:rPr>
              <a:t>Result</a:t>
            </a:r>
          </a:p>
        </p:txBody>
      </p:sp>
      <p:sp>
        <p:nvSpPr>
          <p:cNvPr id="20" name="Rounded Rectangle 19"/>
          <p:cNvSpPr/>
          <p:nvPr/>
        </p:nvSpPr>
        <p:spPr>
          <a:xfrm>
            <a:off x="10193992" y="2084832"/>
            <a:ext cx="1375910" cy="1234440"/>
          </a:xfrm>
          <a:prstGeom prst="roundRect">
            <a:avLst>
              <a:gd name="adj" fmla="val 6000"/>
            </a:avLst>
          </a:prstGeom>
          <a:solidFill>
            <a:srgbClr val="B083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0248856" y="2286000"/>
            <a:ext cx="1266182" cy="914400"/>
          </a:xfrm>
          <a:prstGeom prst="rect">
            <a:avLst/>
          </a:prstGeom>
          <a:noFill/>
        </p:spPr>
        <p:txBody>
          <a:bodyPr wrap="square" lIns="0" rIns="0" tIns="0" bIns="0" anchor="t">
            <a:spAutoFit/>
          </a:bodyPr>
          <a:lstStyle/>
          <a:p>
            <a:pPr algn="ctr">
              <a:lnSpc>
                <a:spcPct val="105000"/>
              </a:lnSpc>
              <a:spcBef>
                <a:spcPts val="0"/>
              </a:spcBef>
              <a:spcAft>
                <a:spcPts val="200"/>
              </a:spcAft>
            </a:pPr>
            <a:r>
              <a:rPr sz="1900" b="1" i="0" u="none">
                <a:solidFill>
                  <a:srgbClr val="FFFFFF"/>
                </a:solidFill>
                <a:latin typeface="Segoe UI"/>
                <a:ea typeface="Microsoft YaHei"/>
                <a:cs typeface="Segoe UI"/>
              </a:rPr>
              <a:t>Contribution</a:t>
            </a:r>
          </a:p>
        </p:txBody>
      </p:sp>
      <p:sp>
        <p:nvSpPr>
          <p:cNvPr id="22" name="Rounded Rectangle 21"/>
          <p:cNvSpPr/>
          <p:nvPr/>
        </p:nvSpPr>
        <p:spPr>
          <a:xfrm>
            <a:off x="621792" y="3730752"/>
            <a:ext cx="10948111" cy="914400"/>
          </a:xfrm>
          <a:prstGeom prst="roundRect">
            <a:avLst>
              <a:gd name="adj" fmla="val 6000"/>
            </a:avLst>
          </a:prstGeom>
          <a:solidFill>
            <a:srgbClr val="F3F8F9"/>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87552" y="3959352"/>
            <a:ext cx="10216591" cy="457200"/>
          </a:xfrm>
          <a:prstGeom prst="rect">
            <a:avLst/>
          </a:prstGeom>
          <a:noFill/>
        </p:spPr>
        <p:txBody>
          <a:bodyPr wrap="square" lIns="0" rIns="0" tIns="0" bIns="0" anchor="t">
            <a:spAutoFit/>
          </a:bodyPr>
          <a:lstStyle/>
          <a:p>
            <a:pPr algn="l">
              <a:lnSpc>
                <a:spcPct val="116000"/>
              </a:lnSpc>
              <a:spcBef>
                <a:spcPts val="0"/>
              </a:spcBef>
              <a:spcAft>
                <a:spcPts val="0"/>
              </a:spcAft>
            </a:pPr>
            <a:r>
              <a:rPr sz="2100" b="1" i="0" u="none">
                <a:solidFill>
                  <a:srgbClr val="0E5362"/>
                </a:solidFill>
                <a:latin typeface="Segoe UI"/>
                <a:ea typeface="Microsoft YaHei"/>
                <a:cs typeface="Segoe UI"/>
              </a:rPr>
              <a:t>第 1 遍：Internship（上节课）        第 2 遍：Social mobility（今天）</a:t>
            </a:r>
          </a:p>
        </p:txBody>
      </p:sp>
      <p:sp>
        <p:nvSpPr>
          <p:cNvPr id="24" name="Rounded Rectangle 23"/>
          <p:cNvSpPr/>
          <p:nvPr/>
        </p:nvSpPr>
        <p:spPr>
          <a:xfrm>
            <a:off x="621792" y="4782312"/>
            <a:ext cx="10948111" cy="914400"/>
          </a:xfrm>
          <a:prstGeom prst="roundRect">
            <a:avLst>
              <a:gd name="adj" fmla="val 6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87552" y="5010912"/>
            <a:ext cx="10216591" cy="457200"/>
          </a:xfrm>
          <a:prstGeom prst="rect">
            <a:avLst/>
          </a:prstGeom>
          <a:noFill/>
        </p:spPr>
        <p:txBody>
          <a:bodyPr wrap="square" lIns="0" rIns="0" tIns="0" bIns="0" anchor="t">
            <a:spAutoFit/>
          </a:bodyPr>
          <a:lstStyle/>
          <a:p>
            <a:pPr algn="l">
              <a:lnSpc>
                <a:spcPct val="116000"/>
              </a:lnSpc>
              <a:spcBef>
                <a:spcPts val="0"/>
              </a:spcBef>
              <a:spcAft>
                <a:spcPts val="0"/>
              </a:spcAft>
            </a:pPr>
            <a:r>
              <a:rPr sz="2100" b="1" i="0" u="none">
                <a:solidFill>
                  <a:srgbClr val="FFFFFF"/>
                </a:solidFill>
                <a:latin typeface="Segoe UI"/>
                <a:ea typeface="Microsoft YaHei"/>
                <a:cs typeface="Segoe UI"/>
              </a:rPr>
              <a:t>第 3 遍：今晚的作业（一道新的官方题）——这一遍没有人在旁边提醒你。</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作业 &amp; 收尾</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96</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HOMEWORK</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今晚的作业 · 分两层</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764792"/>
            <a:ext cx="5336895" cy="3840480"/>
          </a:xfrm>
          <a:prstGeom prst="roundRect">
            <a:avLst>
              <a:gd name="adj" fmla="val 6000"/>
            </a:avLst>
          </a:prstGeom>
          <a:solidFill>
            <a:srgbClr val="FFFFFF"/>
          </a:solidFill>
          <a:ln w="25400">
            <a:solidFill>
              <a:srgbClr val="0E536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621792" y="1764792"/>
            <a:ext cx="5336895" cy="868680"/>
          </a:xfrm>
          <a:prstGeom prst="roundRect">
            <a:avLst>
              <a:gd name="adj" fmla="val 6000"/>
            </a:avLst>
          </a:prstGeom>
          <a:solidFill>
            <a:srgbClr val="0E53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21792" y="2313432"/>
            <a:ext cx="5336895" cy="320040"/>
          </a:xfrm>
          <a:prstGeom prst="rect">
            <a:avLst/>
          </a:prstGeom>
          <a:solidFill>
            <a:srgbClr val="0E53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96112" y="1901952"/>
            <a:ext cx="4788255" cy="548640"/>
          </a:xfrm>
          <a:prstGeom prst="rect">
            <a:avLst/>
          </a:prstGeom>
          <a:noFill/>
        </p:spPr>
        <p:txBody>
          <a:bodyPr wrap="square" lIns="0" rIns="0" tIns="0" bIns="0" anchor="t">
            <a:spAutoFit/>
          </a:bodyPr>
          <a:lstStyle/>
          <a:p>
            <a:pPr algn="l">
              <a:lnSpc>
                <a:spcPct val="116000"/>
              </a:lnSpc>
              <a:spcAft>
                <a:spcPts val="0"/>
              </a:spcAft>
            </a:pPr>
            <a:r>
              <a:rPr sz="2300" b="1" i="0" u="none">
                <a:solidFill>
                  <a:srgbClr val="FFFFFF"/>
                </a:solidFill>
                <a:latin typeface="Segoe UI"/>
                <a:ea typeface="Microsoft YaHei"/>
                <a:cs typeface="Segoe UI"/>
              </a:rPr>
              <a:t>彭子骞   </a:t>
            </a:r>
            <a:r>
              <a:rPr sz="1900" b="0" i="0" u="none">
                <a:solidFill>
                  <a:srgbClr val="E6EEF0"/>
                </a:solidFill>
                <a:latin typeface="Segoe UI"/>
                <a:ea typeface="Microsoft YaHei"/>
                <a:cs typeface="Segoe UI"/>
              </a:rPr>
              <a:t>打基础</a:t>
            </a:r>
          </a:p>
        </p:txBody>
      </p:sp>
      <p:sp>
        <p:nvSpPr>
          <p:cNvPr id="12" name="TextBox 11"/>
          <p:cNvSpPr txBox="1"/>
          <p:nvPr/>
        </p:nvSpPr>
        <p:spPr>
          <a:xfrm>
            <a:off x="932688" y="2816352"/>
            <a:ext cx="4715103" cy="640080"/>
          </a:xfrm>
          <a:prstGeom prst="rect">
            <a:avLst/>
          </a:prstGeom>
          <a:noFill/>
        </p:spPr>
        <p:txBody>
          <a:bodyPr wrap="square" lIns="0" rIns="0" tIns="0" bIns="0" anchor="t">
            <a:spAutoFit/>
          </a:bodyPr>
          <a:lstStyle/>
          <a:p>
            <a:pPr algn="l">
              <a:lnSpc>
                <a:spcPct val="114000"/>
              </a:lnSpc>
              <a:spcAft>
                <a:spcPts val="0"/>
              </a:spcAft>
            </a:pPr>
            <a:r>
              <a:rPr sz="1900" b="1" i="0" u="none">
                <a:solidFill>
                  <a:srgbClr val="0E5362"/>
                </a:solidFill>
                <a:latin typeface="Segoe UI"/>
                <a:ea typeface="Microsoft YaHei"/>
                <a:cs typeface="Segoe UI"/>
              </a:rPr>
              <a:t>•  </a:t>
            </a:r>
            <a:r>
              <a:rPr sz="1900" b="0" i="0" u="none">
                <a:solidFill>
                  <a:srgbClr val="172A31"/>
                </a:solidFill>
                <a:latin typeface="Segoe UI"/>
                <a:ea typeface="Microsoft YaHei"/>
                <a:cs typeface="Segoe UI"/>
              </a:rPr>
              <a:t>Reason → Why → Example 练习 12 题</a:t>
            </a:r>
          </a:p>
        </p:txBody>
      </p:sp>
      <p:sp>
        <p:nvSpPr>
          <p:cNvPr id="13" name="TextBox 12"/>
          <p:cNvSpPr txBox="1"/>
          <p:nvPr/>
        </p:nvSpPr>
        <p:spPr>
          <a:xfrm>
            <a:off x="932688" y="3474720"/>
            <a:ext cx="4715103" cy="640080"/>
          </a:xfrm>
          <a:prstGeom prst="rect">
            <a:avLst/>
          </a:prstGeom>
          <a:noFill/>
        </p:spPr>
        <p:txBody>
          <a:bodyPr wrap="square" lIns="0" rIns="0" tIns="0" bIns="0" anchor="t">
            <a:spAutoFit/>
          </a:bodyPr>
          <a:lstStyle/>
          <a:p>
            <a:pPr algn="l">
              <a:lnSpc>
                <a:spcPct val="114000"/>
              </a:lnSpc>
              <a:spcAft>
                <a:spcPts val="0"/>
              </a:spcAft>
            </a:pPr>
            <a:r>
              <a:rPr sz="1900" b="1" i="0" u="none">
                <a:solidFill>
                  <a:srgbClr val="0E5362"/>
                </a:solidFill>
                <a:latin typeface="Segoe UI"/>
                <a:ea typeface="Microsoft YaHei"/>
                <a:cs typeface="Segoe UI"/>
              </a:rPr>
              <a:t>•  </a:t>
            </a:r>
            <a:r>
              <a:rPr sz="1900" b="0" i="0" u="none">
                <a:solidFill>
                  <a:srgbClr val="172A31"/>
                </a:solidFill>
                <a:latin typeface="Segoe UI"/>
                <a:ea typeface="Microsoft YaHei"/>
                <a:cs typeface="Segoe UI"/>
              </a:rPr>
              <a:t>带框架的 AD 一篇（用支架版五句）</a:t>
            </a:r>
          </a:p>
        </p:txBody>
      </p:sp>
      <p:sp>
        <p:nvSpPr>
          <p:cNvPr id="14" name="TextBox 13"/>
          <p:cNvSpPr txBox="1"/>
          <p:nvPr/>
        </p:nvSpPr>
        <p:spPr>
          <a:xfrm>
            <a:off x="932688" y="4133087"/>
            <a:ext cx="4715103" cy="640080"/>
          </a:xfrm>
          <a:prstGeom prst="rect">
            <a:avLst/>
          </a:prstGeom>
          <a:noFill/>
        </p:spPr>
        <p:txBody>
          <a:bodyPr wrap="square" lIns="0" rIns="0" tIns="0" bIns="0" anchor="t">
            <a:spAutoFit/>
          </a:bodyPr>
          <a:lstStyle/>
          <a:p>
            <a:pPr algn="l">
              <a:lnSpc>
                <a:spcPct val="114000"/>
              </a:lnSpc>
              <a:spcAft>
                <a:spcPts val="0"/>
              </a:spcAft>
            </a:pPr>
            <a:r>
              <a:rPr sz="1900" b="1" i="0" u="none">
                <a:solidFill>
                  <a:srgbClr val="0E5362"/>
                </a:solidFill>
                <a:latin typeface="Segoe UI"/>
                <a:ea typeface="Microsoft YaHei"/>
                <a:cs typeface="Segoe UI"/>
              </a:rPr>
              <a:t>•  </a:t>
            </a:r>
            <a:r>
              <a:rPr sz="1900" b="0" i="0" u="none">
                <a:solidFill>
                  <a:srgbClr val="172A31"/>
                </a:solidFill>
                <a:latin typeface="Segoe UI"/>
                <a:ea typeface="Microsoft YaHei"/>
                <a:cs typeface="Segoe UI"/>
              </a:rPr>
              <a:t>题目：今天课上这道 social mobility</a:t>
            </a:r>
          </a:p>
        </p:txBody>
      </p:sp>
      <p:sp>
        <p:nvSpPr>
          <p:cNvPr id="15" name="TextBox 14"/>
          <p:cNvSpPr txBox="1"/>
          <p:nvPr/>
        </p:nvSpPr>
        <p:spPr>
          <a:xfrm>
            <a:off x="932688" y="4791455"/>
            <a:ext cx="4715103" cy="640080"/>
          </a:xfrm>
          <a:prstGeom prst="rect">
            <a:avLst/>
          </a:prstGeom>
          <a:noFill/>
        </p:spPr>
        <p:txBody>
          <a:bodyPr wrap="square" lIns="0" rIns="0" tIns="0" bIns="0" anchor="t">
            <a:spAutoFit/>
          </a:bodyPr>
          <a:lstStyle/>
          <a:p>
            <a:pPr algn="l">
              <a:lnSpc>
                <a:spcPct val="114000"/>
              </a:lnSpc>
              <a:spcAft>
                <a:spcPts val="0"/>
              </a:spcAft>
            </a:pPr>
            <a:r>
              <a:rPr sz="1900" b="1" i="0" u="none">
                <a:solidFill>
                  <a:srgbClr val="0E5362"/>
                </a:solidFill>
                <a:latin typeface="Segoe UI"/>
                <a:ea typeface="Microsoft YaHei"/>
                <a:cs typeface="Segoe UI"/>
              </a:rPr>
              <a:t>•  </a:t>
            </a:r>
            <a:r>
              <a:rPr sz="1900" b="0" i="0" u="none">
                <a:solidFill>
                  <a:srgbClr val="172A31"/>
                </a:solidFill>
                <a:latin typeface="Segoe UI"/>
                <a:ea typeface="Microsoft YaHei"/>
                <a:cs typeface="Segoe UI"/>
              </a:rPr>
              <a:t>不限时，可以查词典</a:t>
            </a:r>
          </a:p>
        </p:txBody>
      </p:sp>
      <p:sp>
        <p:nvSpPr>
          <p:cNvPr id="16" name="Rounded Rectangle 15"/>
          <p:cNvSpPr/>
          <p:nvPr/>
        </p:nvSpPr>
        <p:spPr>
          <a:xfrm>
            <a:off x="6233007" y="1764792"/>
            <a:ext cx="5336895" cy="3840480"/>
          </a:xfrm>
          <a:prstGeom prst="roundRect">
            <a:avLst>
              <a:gd name="adj" fmla="val 6000"/>
            </a:avLst>
          </a:prstGeom>
          <a:solidFill>
            <a:srgbClr val="FFFFFF"/>
          </a:solidFill>
          <a:ln w="25400">
            <a:solidFill>
              <a:srgbClr val="C9552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6233007" y="1764792"/>
            <a:ext cx="5336895" cy="868680"/>
          </a:xfrm>
          <a:prstGeom prst="roundRect">
            <a:avLst>
              <a:gd name="adj" fmla="val 6000"/>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6233007" y="2313432"/>
            <a:ext cx="5336895" cy="320040"/>
          </a:xfrm>
          <a:prstGeom prst="rect">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507327" y="1901952"/>
            <a:ext cx="4788255" cy="548640"/>
          </a:xfrm>
          <a:prstGeom prst="rect">
            <a:avLst/>
          </a:prstGeom>
          <a:noFill/>
        </p:spPr>
        <p:txBody>
          <a:bodyPr wrap="square" lIns="0" rIns="0" tIns="0" bIns="0" anchor="t">
            <a:spAutoFit/>
          </a:bodyPr>
          <a:lstStyle/>
          <a:p>
            <a:pPr algn="l">
              <a:lnSpc>
                <a:spcPct val="116000"/>
              </a:lnSpc>
              <a:spcAft>
                <a:spcPts val="0"/>
              </a:spcAft>
            </a:pPr>
            <a:r>
              <a:rPr sz="2300" b="1" i="0" u="none">
                <a:solidFill>
                  <a:srgbClr val="FFFFFF"/>
                </a:solidFill>
                <a:latin typeface="Segoe UI"/>
                <a:ea typeface="Microsoft YaHei"/>
                <a:cs typeface="Segoe UI"/>
              </a:rPr>
              <a:t>韩 / 刘 / 钟   </a:t>
            </a:r>
            <a:r>
              <a:rPr sz="1900" b="0" i="0" u="none">
                <a:solidFill>
                  <a:srgbClr val="E6EEF0"/>
                </a:solidFill>
                <a:latin typeface="Segoe UI"/>
                <a:ea typeface="Microsoft YaHei"/>
                <a:cs typeface="Segoe UI"/>
              </a:rPr>
              <a:t>上强度</a:t>
            </a:r>
          </a:p>
        </p:txBody>
      </p:sp>
      <p:sp>
        <p:nvSpPr>
          <p:cNvPr id="20" name="TextBox 19"/>
          <p:cNvSpPr txBox="1"/>
          <p:nvPr/>
        </p:nvSpPr>
        <p:spPr>
          <a:xfrm>
            <a:off x="6543903" y="2816352"/>
            <a:ext cx="4715103" cy="640080"/>
          </a:xfrm>
          <a:prstGeom prst="rect">
            <a:avLst/>
          </a:prstGeom>
          <a:noFill/>
        </p:spPr>
        <p:txBody>
          <a:bodyPr wrap="square" lIns="0" rIns="0" tIns="0" bIns="0" anchor="t">
            <a:spAutoFit/>
          </a:bodyPr>
          <a:lstStyle/>
          <a:p>
            <a:pPr algn="l">
              <a:lnSpc>
                <a:spcPct val="114000"/>
              </a:lnSpc>
              <a:spcAft>
                <a:spcPts val="0"/>
              </a:spcAft>
            </a:pPr>
            <a:r>
              <a:rPr sz="1900" b="1" i="0" u="none">
                <a:solidFill>
                  <a:srgbClr val="C95527"/>
                </a:solidFill>
                <a:latin typeface="Segoe UI"/>
                <a:ea typeface="Microsoft YaHei"/>
                <a:cs typeface="Segoe UI"/>
              </a:rPr>
              <a:t>•  </a:t>
            </a:r>
            <a:r>
              <a:rPr sz="1900" b="0" i="0" u="none">
                <a:solidFill>
                  <a:srgbClr val="172A31"/>
                </a:solidFill>
                <a:latin typeface="Segoe UI"/>
                <a:ea typeface="Microsoft YaHei"/>
                <a:cs typeface="Segoe UI"/>
              </a:rPr>
              <a:t>一道全新的官方 TPO AD 题</a:t>
            </a:r>
          </a:p>
        </p:txBody>
      </p:sp>
      <p:sp>
        <p:nvSpPr>
          <p:cNvPr id="21" name="TextBox 20"/>
          <p:cNvSpPr txBox="1"/>
          <p:nvPr/>
        </p:nvSpPr>
        <p:spPr>
          <a:xfrm>
            <a:off x="6543903" y="3474720"/>
            <a:ext cx="4715103" cy="640080"/>
          </a:xfrm>
          <a:prstGeom prst="rect">
            <a:avLst/>
          </a:prstGeom>
          <a:noFill/>
        </p:spPr>
        <p:txBody>
          <a:bodyPr wrap="square" lIns="0" rIns="0" tIns="0" bIns="0" anchor="t">
            <a:spAutoFit/>
          </a:bodyPr>
          <a:lstStyle/>
          <a:p>
            <a:pPr algn="l">
              <a:lnSpc>
                <a:spcPct val="114000"/>
              </a:lnSpc>
              <a:spcAft>
                <a:spcPts val="0"/>
              </a:spcAft>
            </a:pPr>
            <a:r>
              <a:rPr sz="1900" b="1" i="0" u="none">
                <a:solidFill>
                  <a:srgbClr val="C95527"/>
                </a:solidFill>
                <a:latin typeface="Segoe UI"/>
                <a:ea typeface="Microsoft YaHei"/>
                <a:cs typeface="Segoe UI"/>
              </a:rPr>
              <a:t>•  </a:t>
            </a:r>
            <a:r>
              <a:rPr sz="1900" b="0" i="0" u="none">
                <a:solidFill>
                  <a:srgbClr val="172A31"/>
                </a:solidFill>
                <a:latin typeface="Segoe UI"/>
                <a:ea typeface="Microsoft YaHei"/>
                <a:cs typeface="Segoe UI"/>
              </a:rPr>
              <a:t>严格 10 分钟，一次完成</a:t>
            </a:r>
          </a:p>
        </p:txBody>
      </p:sp>
      <p:sp>
        <p:nvSpPr>
          <p:cNvPr id="22" name="TextBox 21"/>
          <p:cNvSpPr txBox="1"/>
          <p:nvPr/>
        </p:nvSpPr>
        <p:spPr>
          <a:xfrm>
            <a:off x="6543903" y="4133087"/>
            <a:ext cx="4715103" cy="640080"/>
          </a:xfrm>
          <a:prstGeom prst="rect">
            <a:avLst/>
          </a:prstGeom>
          <a:noFill/>
        </p:spPr>
        <p:txBody>
          <a:bodyPr wrap="square" lIns="0" rIns="0" tIns="0" bIns="0" anchor="t">
            <a:spAutoFit/>
          </a:bodyPr>
          <a:lstStyle/>
          <a:p>
            <a:pPr algn="l">
              <a:lnSpc>
                <a:spcPct val="114000"/>
              </a:lnSpc>
              <a:spcAft>
                <a:spcPts val="0"/>
              </a:spcAft>
            </a:pPr>
            <a:r>
              <a:rPr sz="1900" b="1" i="0" u="none">
                <a:solidFill>
                  <a:srgbClr val="C95527"/>
                </a:solidFill>
                <a:latin typeface="Segoe UI"/>
                <a:ea typeface="Microsoft YaHei"/>
                <a:cs typeface="Segoe UI"/>
              </a:rPr>
              <a:t>•  </a:t>
            </a:r>
            <a:r>
              <a:rPr sz="1900" b="0" i="0" u="none">
                <a:solidFill>
                  <a:srgbClr val="172A31"/>
                </a:solidFill>
                <a:latin typeface="Segoe UI"/>
                <a:ea typeface="Microsoft YaHei"/>
                <a:cs typeface="Segoe UI"/>
              </a:rPr>
              <a:t>至少一次 Contribution</a:t>
            </a:r>
          </a:p>
        </p:txBody>
      </p:sp>
      <p:sp>
        <p:nvSpPr>
          <p:cNvPr id="23" name="TextBox 22"/>
          <p:cNvSpPr txBox="1"/>
          <p:nvPr/>
        </p:nvSpPr>
        <p:spPr>
          <a:xfrm>
            <a:off x="6543903" y="4791455"/>
            <a:ext cx="4715103" cy="640080"/>
          </a:xfrm>
          <a:prstGeom prst="rect">
            <a:avLst/>
          </a:prstGeom>
          <a:noFill/>
        </p:spPr>
        <p:txBody>
          <a:bodyPr wrap="square" lIns="0" rIns="0" tIns="0" bIns="0" anchor="t">
            <a:spAutoFit/>
          </a:bodyPr>
          <a:lstStyle/>
          <a:p>
            <a:pPr algn="l">
              <a:lnSpc>
                <a:spcPct val="114000"/>
              </a:lnSpc>
              <a:spcAft>
                <a:spcPts val="0"/>
              </a:spcAft>
            </a:pPr>
            <a:r>
              <a:rPr sz="1900" b="1" i="0" u="none">
                <a:solidFill>
                  <a:srgbClr val="C95527"/>
                </a:solidFill>
                <a:latin typeface="Segoe UI"/>
                <a:ea typeface="Microsoft YaHei"/>
                <a:cs typeface="Segoe UI"/>
              </a:rPr>
              <a:t>•  </a:t>
            </a:r>
            <a:r>
              <a:rPr sz="1900" b="0" i="0" u="none">
                <a:solidFill>
                  <a:srgbClr val="172A31"/>
                </a:solidFill>
                <a:latin typeface="Segoe UI"/>
                <a:ea typeface="Microsoft YaHei"/>
                <a:cs typeface="Segoe UI"/>
              </a:rPr>
              <a:t>至少一个具体 Example，100 词以上</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作业 &amp; 收尾</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97</a:t>
            </a:r>
          </a:p>
        </p:txBody>
      </p:sp>
      <p:sp>
        <p:nvSpPr>
          <p:cNvPr id="5" name="TextBox 4"/>
          <p:cNvSpPr txBox="1"/>
          <p:nvPr/>
        </p:nvSpPr>
        <p:spPr>
          <a:xfrm>
            <a:off x="621792" y="347472"/>
            <a:ext cx="7882640" cy="548640"/>
          </a:xfrm>
          <a:prstGeom prst="rect">
            <a:avLst/>
          </a:prstGeom>
          <a:noFill/>
        </p:spPr>
        <p:txBody>
          <a:bodyPr wrap="square" lIns="0" rIns="0" tIns="0" bIns="0" anchor="t">
            <a:spAutoFit/>
          </a:bodyPr>
          <a:lstStyle/>
          <a:p>
            <a:pPr algn="l">
              <a:lnSpc>
                <a:spcPct val="105000"/>
              </a:lnSpc>
              <a:spcBef>
                <a:spcPts val="0"/>
              </a:spcBef>
              <a:spcAft>
                <a:spcPts val="0"/>
              </a:spcAft>
            </a:pPr>
            <a:r>
              <a:rPr sz="2900" b="1" i="0" u="none">
                <a:solidFill>
                  <a:srgbClr val="0E5362"/>
                </a:solidFill>
                <a:latin typeface="Segoe UI"/>
                <a:ea typeface="Microsoft YaHei"/>
                <a:cs typeface="Segoe UI"/>
              </a:rPr>
              <a:t>作业题（韩 / 刘 / 钟）· 官方原题</a:t>
            </a:r>
          </a:p>
        </p:txBody>
      </p:sp>
      <p:sp>
        <p:nvSpPr>
          <p:cNvPr id="6" name="TextBox 5"/>
          <p:cNvSpPr txBox="1"/>
          <p:nvPr/>
        </p:nvSpPr>
        <p:spPr>
          <a:xfrm>
            <a:off x="8504432" y="438912"/>
            <a:ext cx="3065471" cy="365760"/>
          </a:xfrm>
          <a:prstGeom prst="rect">
            <a:avLst/>
          </a:prstGeom>
          <a:noFill/>
        </p:spPr>
        <p:txBody>
          <a:bodyPr wrap="square" lIns="0" rIns="0" tIns="0" bIns="0" anchor="t">
            <a:spAutoFit/>
          </a:bodyPr>
          <a:lstStyle/>
          <a:p>
            <a:pPr algn="r">
              <a:lnSpc>
                <a:spcPct val="116000"/>
              </a:lnSpc>
              <a:spcBef>
                <a:spcPts val="0"/>
              </a:spcBef>
              <a:spcAft>
                <a:spcPts val="0"/>
              </a:spcAft>
            </a:pPr>
            <a:r>
              <a:rPr sz="1900" b="1" i="0" u="none">
                <a:solidFill>
                  <a:srgbClr val="C95527"/>
                </a:solidFill>
                <a:latin typeface="Segoe UI"/>
                <a:ea typeface="Microsoft YaHei"/>
                <a:cs typeface="Segoe UI"/>
              </a:rPr>
              <a:t>HOMEWORK PROMPT</a:t>
            </a:r>
          </a:p>
        </p:txBody>
      </p:sp>
      <p:cxnSp>
        <p:nvCxnSpPr>
          <p:cNvPr id="7" name="Connector 6"/>
          <p:cNvCxnSpPr/>
          <p:nvPr/>
        </p:nvCxnSpPr>
        <p:spPr>
          <a:xfrm>
            <a:off x="621792" y="1024128"/>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234440"/>
            <a:ext cx="10948111" cy="4209470"/>
          </a:xfrm>
          <a:prstGeom prst="roundRect">
            <a:avLst>
              <a:gd name="adj" fmla="val 6000"/>
            </a:avLst>
          </a:prstGeom>
          <a:solidFill>
            <a:srgbClr val="FFFFFF"/>
          </a:solidFill>
          <a:ln w="20320">
            <a:solidFill>
              <a:srgbClr val="0E536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841248" y="1463040"/>
            <a:ext cx="50292" cy="1098356"/>
          </a:xfrm>
          <a:prstGeom prst="rect">
            <a:avLst/>
          </a:prstGeom>
          <a:solidFill>
            <a:srgbClr val="0E53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060704" y="1408176"/>
            <a:ext cx="10079431" cy="1153220"/>
          </a:xfrm>
          <a:prstGeom prst="rect">
            <a:avLst/>
          </a:prstGeom>
          <a:noFill/>
        </p:spPr>
        <p:txBody>
          <a:bodyPr wrap="square" lIns="0" rIns="0" tIns="0" bIns="0" anchor="t">
            <a:spAutoFit/>
          </a:bodyPr>
          <a:lstStyle/>
          <a:p>
            <a:pPr algn="l">
              <a:lnSpc>
                <a:spcPct val="116000"/>
              </a:lnSpc>
              <a:spcAft>
                <a:spcPts val="0"/>
              </a:spcAft>
            </a:pPr>
            <a:r>
              <a:rPr sz="1900" b="1" i="0" u="none">
                <a:solidFill>
                  <a:srgbClr val="0E5362"/>
                </a:solidFill>
                <a:latin typeface="Segoe UI"/>
                <a:ea typeface="Microsoft YaHei"/>
                <a:cs typeface="Segoe UI"/>
              </a:rPr>
              <a:t>Dr. Diaz（marketing）：</a:t>
            </a:r>
            <a:r>
              <a:rPr sz="1900" b="0" i="0" u="none">
                <a:solidFill>
                  <a:srgbClr val="172A31"/>
                </a:solidFill>
                <a:latin typeface="Segoe UI"/>
                <a:ea typeface="Microsoft YaHei"/>
                <a:cs typeface="Segoe UI"/>
              </a:rPr>
              <a:t>Next week we'll be discussing the role of social media influencers in marketing campaigns. Some marketers believe that influencers are essential for marketing products. Others argue that traditional advertising methods are more effective than social media influencers. What are your thoughts on this issue?</a:t>
            </a:r>
          </a:p>
        </p:txBody>
      </p:sp>
      <p:cxnSp>
        <p:nvCxnSpPr>
          <p:cNvPr id="11" name="Connector 10"/>
          <p:cNvCxnSpPr/>
          <p:nvPr/>
        </p:nvCxnSpPr>
        <p:spPr>
          <a:xfrm>
            <a:off x="1060704" y="2634548"/>
            <a:ext cx="10216591"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841248" y="2771708"/>
            <a:ext cx="50292" cy="1098356"/>
          </a:xfrm>
          <a:prstGeom prst="rect">
            <a:avLst/>
          </a:prstGeom>
          <a:solidFill>
            <a:srgbClr val="2A7E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60704" y="2716844"/>
            <a:ext cx="10079431" cy="1153220"/>
          </a:xfrm>
          <a:prstGeom prst="rect">
            <a:avLst/>
          </a:prstGeom>
          <a:noFill/>
        </p:spPr>
        <p:txBody>
          <a:bodyPr wrap="square" lIns="0" rIns="0" tIns="0" bIns="0" anchor="t">
            <a:spAutoFit/>
          </a:bodyPr>
          <a:lstStyle/>
          <a:p>
            <a:pPr algn="l">
              <a:lnSpc>
                <a:spcPct val="116000"/>
              </a:lnSpc>
              <a:spcAft>
                <a:spcPts val="0"/>
              </a:spcAft>
            </a:pPr>
            <a:r>
              <a:rPr sz="1900" b="1" i="0" u="none">
                <a:solidFill>
                  <a:srgbClr val="2A7E8E"/>
                </a:solidFill>
                <a:latin typeface="Segoe UI"/>
                <a:ea typeface="Microsoft YaHei"/>
                <a:cs typeface="Segoe UI"/>
              </a:rPr>
              <a:t>Kelly（Student A）：</a:t>
            </a:r>
            <a:r>
              <a:rPr sz="1900" b="0" i="0" u="none">
                <a:solidFill>
                  <a:srgbClr val="172A31"/>
                </a:solidFill>
                <a:latin typeface="Segoe UI"/>
                <a:ea typeface="Microsoft YaHei"/>
                <a:cs typeface="Segoe UI"/>
              </a:rPr>
              <a:t>I believe that social media influencers are essential for reaching target audiences. Influencers have a loyal following and their recommendations can be very persuasive. This personal connection makes influencer marketing a powerful tool for promoting products and increasing brand awareness.</a:t>
            </a:r>
          </a:p>
        </p:txBody>
      </p:sp>
      <p:cxnSp>
        <p:nvCxnSpPr>
          <p:cNvPr id="14" name="Connector 13"/>
          <p:cNvCxnSpPr/>
          <p:nvPr/>
        </p:nvCxnSpPr>
        <p:spPr>
          <a:xfrm>
            <a:off x="1060704" y="3943217"/>
            <a:ext cx="10216591"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841248" y="4080377"/>
            <a:ext cx="50292" cy="1098356"/>
          </a:xfrm>
          <a:prstGeom prst="rect">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060704" y="4025513"/>
            <a:ext cx="10079431" cy="1153220"/>
          </a:xfrm>
          <a:prstGeom prst="rect">
            <a:avLst/>
          </a:prstGeom>
          <a:noFill/>
        </p:spPr>
        <p:txBody>
          <a:bodyPr wrap="square" lIns="0" rIns="0" tIns="0" bIns="0" anchor="t">
            <a:spAutoFit/>
          </a:bodyPr>
          <a:lstStyle/>
          <a:p>
            <a:pPr algn="l">
              <a:lnSpc>
                <a:spcPct val="116000"/>
              </a:lnSpc>
              <a:spcAft>
                <a:spcPts val="0"/>
              </a:spcAft>
            </a:pPr>
            <a:r>
              <a:rPr sz="1900" b="1" i="0" u="none">
                <a:solidFill>
                  <a:srgbClr val="C95527"/>
                </a:solidFill>
                <a:latin typeface="Segoe UI"/>
                <a:ea typeface="Microsoft YaHei"/>
                <a:cs typeface="Segoe UI"/>
              </a:rPr>
              <a:t>Andrew（Student B）：</a:t>
            </a:r>
            <a:r>
              <a:rPr sz="1900" b="0" i="0" u="none">
                <a:solidFill>
                  <a:srgbClr val="172A31"/>
                </a:solidFill>
                <a:latin typeface="Segoe UI"/>
                <a:ea typeface="Microsoft YaHei"/>
                <a:cs typeface="Segoe UI"/>
              </a:rPr>
              <a:t>I think traditional advertising methods are still more reliable. While influencers can be effective, there is a risk of their followers being skeptical of sponsored content. Traditional advertising methods, such as TV and print ads, have proven track records and can reach a broader audience.</a:t>
            </a:r>
          </a:p>
        </p:txBody>
      </p:sp>
      <p:sp>
        <p:nvSpPr>
          <p:cNvPr id="17" name="TextBox 16"/>
          <p:cNvSpPr txBox="1"/>
          <p:nvPr/>
        </p:nvSpPr>
        <p:spPr>
          <a:xfrm>
            <a:off x="621792" y="5544494"/>
            <a:ext cx="1094811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题源：TOEFL iBT® Writing · Write for an Academic Discussion（官方题目原文，未改写）</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作业 &amp; 收尾</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98</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HOW TO DO IT</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作业怎么写才不白写</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810512"/>
            <a:ext cx="10948111" cy="1005840"/>
          </a:xfrm>
          <a:prstGeom prst="roundRect">
            <a:avLst>
              <a:gd name="adj" fmla="val 6000"/>
            </a:avLst>
          </a:prstGeom>
          <a:solidFill>
            <a:srgbClr val="F3F8F9"/>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21792" y="1810512"/>
            <a:ext cx="54864" cy="1005840"/>
          </a:xfrm>
          <a:prstGeom prst="rect">
            <a:avLst/>
          </a:prstGeom>
          <a:solidFill>
            <a:srgbClr val="0E53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32688" y="1975104"/>
            <a:ext cx="10308031" cy="41148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0E5362"/>
                </a:solidFill>
                <a:latin typeface="Segoe UI"/>
                <a:ea typeface="Microsoft YaHei"/>
                <a:cs typeface="Segoe UI"/>
              </a:rPr>
              <a:t>① 先填 Planning Box</a:t>
            </a:r>
          </a:p>
        </p:txBody>
      </p:sp>
      <p:sp>
        <p:nvSpPr>
          <p:cNvPr id="11" name="TextBox 10"/>
          <p:cNvSpPr txBox="1"/>
          <p:nvPr/>
        </p:nvSpPr>
        <p:spPr>
          <a:xfrm>
            <a:off x="932688" y="2386584"/>
            <a:ext cx="1030803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五行填完再动笔。不填直接写 = 白写。</a:t>
            </a:r>
          </a:p>
        </p:txBody>
      </p:sp>
      <p:sp>
        <p:nvSpPr>
          <p:cNvPr id="12" name="Rounded Rectangle 11"/>
          <p:cNvSpPr/>
          <p:nvPr/>
        </p:nvSpPr>
        <p:spPr>
          <a:xfrm>
            <a:off x="621792" y="2926080"/>
            <a:ext cx="10948111" cy="1005840"/>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21792" y="2926080"/>
            <a:ext cx="54864" cy="1005840"/>
          </a:xfrm>
          <a:prstGeom prst="rect">
            <a:avLst/>
          </a:prstGeom>
          <a:solidFill>
            <a:srgbClr val="0E53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32688" y="3090672"/>
            <a:ext cx="10308031" cy="41148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0E5362"/>
                </a:solidFill>
                <a:latin typeface="Segoe UI"/>
                <a:ea typeface="Microsoft YaHei"/>
                <a:cs typeface="Segoe UI"/>
              </a:rPr>
              <a:t>② 严格计时 10 分钟</a:t>
            </a:r>
          </a:p>
        </p:txBody>
      </p:sp>
      <p:sp>
        <p:nvSpPr>
          <p:cNvPr id="15" name="TextBox 14"/>
          <p:cNvSpPr txBox="1"/>
          <p:nvPr/>
        </p:nvSpPr>
        <p:spPr>
          <a:xfrm>
            <a:off x="932688" y="3502152"/>
            <a:ext cx="1030803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手机开计时器。写不完就交，写不完本身就是信息。</a:t>
            </a:r>
          </a:p>
        </p:txBody>
      </p:sp>
      <p:sp>
        <p:nvSpPr>
          <p:cNvPr id="16" name="Rounded Rectangle 15"/>
          <p:cNvSpPr/>
          <p:nvPr/>
        </p:nvSpPr>
        <p:spPr>
          <a:xfrm>
            <a:off x="621792" y="4041648"/>
            <a:ext cx="10948111" cy="1005840"/>
          </a:xfrm>
          <a:prstGeom prst="roundRect">
            <a:avLst>
              <a:gd name="adj" fmla="val 6000"/>
            </a:avLst>
          </a:prstGeom>
          <a:solidFill>
            <a:srgbClr val="F3F8F9"/>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21792" y="4041648"/>
            <a:ext cx="54864" cy="1005840"/>
          </a:xfrm>
          <a:prstGeom prst="rect">
            <a:avLst/>
          </a:prstGeom>
          <a:solidFill>
            <a:srgbClr val="0E53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32688" y="4206240"/>
            <a:ext cx="10308031" cy="41148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0E5362"/>
                </a:solidFill>
                <a:latin typeface="Segoe UI"/>
                <a:ea typeface="Microsoft YaHei"/>
                <a:cs typeface="Segoe UI"/>
              </a:rPr>
              <a:t>③ 写完先自评</a:t>
            </a:r>
          </a:p>
        </p:txBody>
      </p:sp>
      <p:sp>
        <p:nvSpPr>
          <p:cNvPr id="19" name="TextBox 18"/>
          <p:cNvSpPr txBox="1"/>
          <p:nvPr/>
        </p:nvSpPr>
        <p:spPr>
          <a:xfrm>
            <a:off x="932688" y="4617720"/>
            <a:ext cx="1030803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用课上那五条自查清单，自己打一个分数。</a:t>
            </a:r>
          </a:p>
        </p:txBody>
      </p:sp>
      <p:sp>
        <p:nvSpPr>
          <p:cNvPr id="20" name="Rounded Rectangle 19"/>
          <p:cNvSpPr/>
          <p:nvPr/>
        </p:nvSpPr>
        <p:spPr>
          <a:xfrm>
            <a:off x="621792" y="5157216"/>
            <a:ext cx="10948111" cy="1005840"/>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21792" y="5157216"/>
            <a:ext cx="54864" cy="1005840"/>
          </a:xfrm>
          <a:prstGeom prst="rect">
            <a:avLst/>
          </a:prstGeom>
          <a:solidFill>
            <a:srgbClr val="0E53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32688" y="5321807"/>
            <a:ext cx="10308031" cy="41148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0E5362"/>
                </a:solidFill>
                <a:latin typeface="Segoe UI"/>
                <a:ea typeface="Microsoft YaHei"/>
                <a:cs typeface="Segoe UI"/>
              </a:rPr>
              <a:t>④ 标出你最不确定的一句</a:t>
            </a:r>
          </a:p>
        </p:txBody>
      </p:sp>
      <p:sp>
        <p:nvSpPr>
          <p:cNvPr id="23" name="TextBox 22"/>
          <p:cNvSpPr txBox="1"/>
          <p:nvPr/>
        </p:nvSpPr>
        <p:spPr>
          <a:xfrm>
            <a:off x="932688" y="5733288"/>
            <a:ext cx="1030803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172A31"/>
                </a:solidFill>
                <a:latin typeface="Segoe UI"/>
                <a:ea typeface="Microsoft YaHei"/>
                <a:cs typeface="Segoe UI"/>
              </a:rPr>
              <a:t>下次课我们只讲你标出来的句子。</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作业 &amp; 收尾</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99</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TAKE THIS HOME</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0E5362"/>
                </a:solidFill>
                <a:latin typeface="Segoe UI"/>
                <a:ea typeface="Microsoft YaHei"/>
                <a:cs typeface="Segoe UI"/>
              </a:rPr>
              <a:t>一页带走 · 遇到任何 AD 题都这么走</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700784"/>
            <a:ext cx="10948111" cy="4114800"/>
          </a:xfrm>
          <a:prstGeom prst="roundRect">
            <a:avLst>
              <a:gd name="adj" fmla="val 6000"/>
            </a:avLst>
          </a:prstGeom>
          <a:solidFill>
            <a:srgbClr val="F3F8F9"/>
          </a:solidFill>
          <a:ln w="20320">
            <a:solidFill>
              <a:srgbClr val="0E536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914400" y="1920240"/>
            <a:ext cx="402336" cy="402336"/>
          </a:xfrm>
          <a:prstGeom prst="roundRect">
            <a:avLst>
              <a:gd name="adj" fmla="val 50000"/>
            </a:avLst>
          </a:prstGeom>
          <a:solidFill>
            <a:srgbClr val="0E53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14400" y="1984248"/>
            <a:ext cx="402336" cy="365760"/>
          </a:xfrm>
          <a:prstGeom prst="rect">
            <a:avLst/>
          </a:prstGeom>
          <a:noFill/>
        </p:spPr>
        <p:txBody>
          <a:bodyPr wrap="square" lIns="0" rIns="0" tIns="0" bIns="0" anchor="t">
            <a:spAutoFit/>
          </a:bodyPr>
          <a:lstStyle/>
          <a:p>
            <a:pPr algn="ctr">
              <a:lnSpc>
                <a:spcPct val="116000"/>
              </a:lnSpc>
              <a:spcBef>
                <a:spcPts val="0"/>
              </a:spcBef>
              <a:spcAft>
                <a:spcPts val="0"/>
              </a:spcAft>
            </a:pPr>
            <a:r>
              <a:rPr sz="1900" b="1" i="0" u="none">
                <a:solidFill>
                  <a:srgbClr val="FFFFFF"/>
                </a:solidFill>
                <a:latin typeface="Segoe UI"/>
                <a:ea typeface="Microsoft YaHei"/>
                <a:cs typeface="Segoe UI"/>
              </a:rPr>
              <a:t>1</a:t>
            </a:r>
          </a:p>
        </p:txBody>
      </p:sp>
      <p:sp>
        <p:nvSpPr>
          <p:cNvPr id="11" name="TextBox 10"/>
          <p:cNvSpPr txBox="1"/>
          <p:nvPr/>
        </p:nvSpPr>
        <p:spPr>
          <a:xfrm>
            <a:off x="1536192" y="1975104"/>
            <a:ext cx="3108960" cy="36576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172A31"/>
                </a:solidFill>
                <a:latin typeface="Segoe UI"/>
                <a:ea typeface="Microsoft YaHei"/>
                <a:cs typeface="Segoe UI"/>
              </a:rPr>
              <a:t>读教授问题两遍</a:t>
            </a:r>
          </a:p>
        </p:txBody>
      </p:sp>
      <p:sp>
        <p:nvSpPr>
          <p:cNvPr id="12" name="TextBox 11"/>
          <p:cNvSpPr txBox="1"/>
          <p:nvPr/>
        </p:nvSpPr>
        <p:spPr>
          <a:xfrm>
            <a:off x="4828031" y="1975104"/>
            <a:ext cx="637611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它问什么？有几个选择？</a:t>
            </a:r>
          </a:p>
        </p:txBody>
      </p:sp>
      <p:sp>
        <p:nvSpPr>
          <p:cNvPr id="13" name="Rounded Rectangle 12"/>
          <p:cNvSpPr/>
          <p:nvPr/>
        </p:nvSpPr>
        <p:spPr>
          <a:xfrm>
            <a:off x="914400" y="2450592"/>
            <a:ext cx="402336" cy="402336"/>
          </a:xfrm>
          <a:prstGeom prst="roundRect">
            <a:avLst>
              <a:gd name="adj" fmla="val 50000"/>
            </a:avLst>
          </a:prstGeom>
          <a:solidFill>
            <a:srgbClr val="0E53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14400" y="2514600"/>
            <a:ext cx="402336" cy="365760"/>
          </a:xfrm>
          <a:prstGeom prst="rect">
            <a:avLst/>
          </a:prstGeom>
          <a:noFill/>
        </p:spPr>
        <p:txBody>
          <a:bodyPr wrap="square" lIns="0" rIns="0" tIns="0" bIns="0" anchor="t">
            <a:spAutoFit/>
          </a:bodyPr>
          <a:lstStyle/>
          <a:p>
            <a:pPr algn="ctr">
              <a:lnSpc>
                <a:spcPct val="116000"/>
              </a:lnSpc>
              <a:spcBef>
                <a:spcPts val="0"/>
              </a:spcBef>
              <a:spcAft>
                <a:spcPts val="0"/>
              </a:spcAft>
            </a:pPr>
            <a:r>
              <a:rPr sz="1900" b="1" i="0" u="none">
                <a:solidFill>
                  <a:srgbClr val="FFFFFF"/>
                </a:solidFill>
                <a:latin typeface="Segoe UI"/>
                <a:ea typeface="Microsoft YaHei"/>
                <a:cs typeface="Segoe UI"/>
              </a:rPr>
              <a:t>2</a:t>
            </a:r>
          </a:p>
        </p:txBody>
      </p:sp>
      <p:sp>
        <p:nvSpPr>
          <p:cNvPr id="15" name="TextBox 14"/>
          <p:cNvSpPr txBox="1"/>
          <p:nvPr/>
        </p:nvSpPr>
        <p:spPr>
          <a:xfrm>
            <a:off x="1536192" y="2505456"/>
            <a:ext cx="3108960" cy="36576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172A31"/>
                </a:solidFill>
                <a:latin typeface="Segoe UI"/>
                <a:ea typeface="Microsoft YaHei"/>
                <a:cs typeface="Segoe UI"/>
              </a:rPr>
              <a:t>读两位同学</a:t>
            </a:r>
          </a:p>
        </p:txBody>
      </p:sp>
      <p:sp>
        <p:nvSpPr>
          <p:cNvPr id="16" name="TextBox 15"/>
          <p:cNvSpPr txBox="1"/>
          <p:nvPr/>
        </p:nvSpPr>
        <p:spPr>
          <a:xfrm>
            <a:off x="4828031" y="2505456"/>
            <a:ext cx="637611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各站哪边？各给了什么理由？</a:t>
            </a:r>
          </a:p>
        </p:txBody>
      </p:sp>
      <p:sp>
        <p:nvSpPr>
          <p:cNvPr id="17" name="Rounded Rectangle 16"/>
          <p:cNvSpPr/>
          <p:nvPr/>
        </p:nvSpPr>
        <p:spPr>
          <a:xfrm>
            <a:off x="914400" y="2980944"/>
            <a:ext cx="402336" cy="402336"/>
          </a:xfrm>
          <a:prstGeom prst="roundRect">
            <a:avLst>
              <a:gd name="adj" fmla="val 50000"/>
            </a:avLst>
          </a:prstGeom>
          <a:solidFill>
            <a:srgbClr val="0E53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14400" y="3044952"/>
            <a:ext cx="402336" cy="365760"/>
          </a:xfrm>
          <a:prstGeom prst="rect">
            <a:avLst/>
          </a:prstGeom>
          <a:noFill/>
        </p:spPr>
        <p:txBody>
          <a:bodyPr wrap="square" lIns="0" rIns="0" tIns="0" bIns="0" anchor="t">
            <a:spAutoFit/>
          </a:bodyPr>
          <a:lstStyle/>
          <a:p>
            <a:pPr algn="ctr">
              <a:lnSpc>
                <a:spcPct val="116000"/>
              </a:lnSpc>
              <a:spcBef>
                <a:spcPts val="0"/>
              </a:spcBef>
              <a:spcAft>
                <a:spcPts val="0"/>
              </a:spcAft>
            </a:pPr>
            <a:r>
              <a:rPr sz="1900" b="1" i="0" u="none">
                <a:solidFill>
                  <a:srgbClr val="FFFFFF"/>
                </a:solidFill>
                <a:latin typeface="Segoe UI"/>
                <a:ea typeface="Microsoft YaHei"/>
                <a:cs typeface="Segoe UI"/>
              </a:rPr>
              <a:t>3</a:t>
            </a:r>
          </a:p>
        </p:txBody>
      </p:sp>
      <p:sp>
        <p:nvSpPr>
          <p:cNvPr id="19" name="TextBox 18"/>
          <p:cNvSpPr txBox="1"/>
          <p:nvPr/>
        </p:nvSpPr>
        <p:spPr>
          <a:xfrm>
            <a:off x="1536192" y="3035808"/>
            <a:ext cx="3108960" cy="36576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172A31"/>
                </a:solidFill>
                <a:latin typeface="Segoe UI"/>
                <a:ea typeface="Microsoft YaHei"/>
                <a:cs typeface="Segoe UI"/>
              </a:rPr>
              <a:t>选一边，写立场句</a:t>
            </a:r>
          </a:p>
        </p:txBody>
      </p:sp>
      <p:sp>
        <p:nvSpPr>
          <p:cNvPr id="20" name="TextBox 19"/>
          <p:cNvSpPr txBox="1"/>
          <p:nvPr/>
        </p:nvSpPr>
        <p:spPr>
          <a:xfrm>
            <a:off x="4828031" y="3035808"/>
            <a:ext cx="637611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I would argue that ______ matters more than ______.</a:t>
            </a:r>
          </a:p>
        </p:txBody>
      </p:sp>
      <p:sp>
        <p:nvSpPr>
          <p:cNvPr id="21" name="Rounded Rectangle 20"/>
          <p:cNvSpPr/>
          <p:nvPr/>
        </p:nvSpPr>
        <p:spPr>
          <a:xfrm>
            <a:off x="914400" y="3511296"/>
            <a:ext cx="402336" cy="402336"/>
          </a:xfrm>
          <a:prstGeom prst="roundRect">
            <a:avLst>
              <a:gd name="adj" fmla="val 50000"/>
            </a:avLst>
          </a:prstGeom>
          <a:solidFill>
            <a:srgbClr val="0E53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14400" y="3575304"/>
            <a:ext cx="402336" cy="365760"/>
          </a:xfrm>
          <a:prstGeom prst="rect">
            <a:avLst/>
          </a:prstGeom>
          <a:noFill/>
        </p:spPr>
        <p:txBody>
          <a:bodyPr wrap="square" lIns="0" rIns="0" tIns="0" bIns="0" anchor="t">
            <a:spAutoFit/>
          </a:bodyPr>
          <a:lstStyle/>
          <a:p>
            <a:pPr algn="ctr">
              <a:lnSpc>
                <a:spcPct val="116000"/>
              </a:lnSpc>
              <a:spcBef>
                <a:spcPts val="0"/>
              </a:spcBef>
              <a:spcAft>
                <a:spcPts val="0"/>
              </a:spcAft>
            </a:pPr>
            <a:r>
              <a:rPr sz="1900" b="1" i="0" u="none">
                <a:solidFill>
                  <a:srgbClr val="FFFFFF"/>
                </a:solidFill>
                <a:latin typeface="Segoe UI"/>
                <a:ea typeface="Microsoft YaHei"/>
                <a:cs typeface="Segoe UI"/>
              </a:rPr>
              <a:t>4</a:t>
            </a:r>
          </a:p>
        </p:txBody>
      </p:sp>
      <p:sp>
        <p:nvSpPr>
          <p:cNvPr id="23" name="TextBox 22"/>
          <p:cNvSpPr txBox="1"/>
          <p:nvPr/>
        </p:nvSpPr>
        <p:spPr>
          <a:xfrm>
            <a:off x="1536192" y="3566160"/>
            <a:ext cx="3108960" cy="36576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172A31"/>
                </a:solidFill>
                <a:latin typeface="Segoe UI"/>
                <a:ea typeface="Microsoft YaHei"/>
                <a:cs typeface="Segoe UI"/>
              </a:rPr>
              <a:t>写一个具体理由</a:t>
            </a:r>
          </a:p>
        </p:txBody>
      </p:sp>
      <p:sp>
        <p:nvSpPr>
          <p:cNvPr id="24" name="TextBox 23"/>
          <p:cNvSpPr txBox="1"/>
          <p:nvPr/>
        </p:nvSpPr>
        <p:spPr>
          <a:xfrm>
            <a:off x="4828031" y="3566160"/>
            <a:ext cx="637611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不许 good / important / useful</a:t>
            </a:r>
          </a:p>
        </p:txBody>
      </p:sp>
      <p:sp>
        <p:nvSpPr>
          <p:cNvPr id="25" name="Rounded Rectangle 24"/>
          <p:cNvSpPr/>
          <p:nvPr/>
        </p:nvSpPr>
        <p:spPr>
          <a:xfrm>
            <a:off x="914400" y="4041648"/>
            <a:ext cx="402336" cy="402336"/>
          </a:xfrm>
          <a:prstGeom prst="roundRect">
            <a:avLst>
              <a:gd name="adj" fmla="val 50000"/>
            </a:avLst>
          </a:prstGeom>
          <a:solidFill>
            <a:srgbClr val="0E53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914400" y="4105656"/>
            <a:ext cx="402336" cy="365760"/>
          </a:xfrm>
          <a:prstGeom prst="rect">
            <a:avLst/>
          </a:prstGeom>
          <a:noFill/>
        </p:spPr>
        <p:txBody>
          <a:bodyPr wrap="square" lIns="0" rIns="0" tIns="0" bIns="0" anchor="t">
            <a:spAutoFit/>
          </a:bodyPr>
          <a:lstStyle/>
          <a:p>
            <a:pPr algn="ctr">
              <a:lnSpc>
                <a:spcPct val="116000"/>
              </a:lnSpc>
              <a:spcBef>
                <a:spcPts val="0"/>
              </a:spcBef>
              <a:spcAft>
                <a:spcPts val="0"/>
              </a:spcAft>
            </a:pPr>
            <a:r>
              <a:rPr sz="1900" b="1" i="0" u="none">
                <a:solidFill>
                  <a:srgbClr val="FFFFFF"/>
                </a:solidFill>
                <a:latin typeface="Segoe UI"/>
                <a:ea typeface="Microsoft YaHei"/>
                <a:cs typeface="Segoe UI"/>
              </a:rPr>
              <a:t>5</a:t>
            </a:r>
          </a:p>
        </p:txBody>
      </p:sp>
      <p:sp>
        <p:nvSpPr>
          <p:cNvPr id="27" name="TextBox 26"/>
          <p:cNvSpPr txBox="1"/>
          <p:nvPr/>
        </p:nvSpPr>
        <p:spPr>
          <a:xfrm>
            <a:off x="1536192" y="4096511"/>
            <a:ext cx="3108960" cy="36576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172A31"/>
                </a:solidFill>
                <a:latin typeface="Segoe UI"/>
                <a:ea typeface="Microsoft YaHei"/>
                <a:cs typeface="Segoe UI"/>
              </a:rPr>
              <a:t>补一句 WHY</a:t>
            </a:r>
          </a:p>
        </p:txBody>
      </p:sp>
      <p:sp>
        <p:nvSpPr>
          <p:cNvPr id="28" name="TextBox 27"/>
          <p:cNvSpPr txBox="1"/>
          <p:nvPr/>
        </p:nvSpPr>
        <p:spPr>
          <a:xfrm>
            <a:off x="4828031" y="4096511"/>
            <a:ext cx="637611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This matters because ______.</a:t>
            </a:r>
          </a:p>
        </p:txBody>
      </p:sp>
      <p:sp>
        <p:nvSpPr>
          <p:cNvPr id="29" name="Rounded Rectangle 28"/>
          <p:cNvSpPr/>
          <p:nvPr/>
        </p:nvSpPr>
        <p:spPr>
          <a:xfrm>
            <a:off x="914400" y="4572000"/>
            <a:ext cx="402336" cy="402336"/>
          </a:xfrm>
          <a:prstGeom prst="roundRect">
            <a:avLst>
              <a:gd name="adj" fmla="val 50000"/>
            </a:avLst>
          </a:prstGeom>
          <a:solidFill>
            <a:srgbClr val="0E53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914400" y="4636008"/>
            <a:ext cx="402336" cy="365760"/>
          </a:xfrm>
          <a:prstGeom prst="rect">
            <a:avLst/>
          </a:prstGeom>
          <a:noFill/>
        </p:spPr>
        <p:txBody>
          <a:bodyPr wrap="square" lIns="0" rIns="0" tIns="0" bIns="0" anchor="t">
            <a:spAutoFit/>
          </a:bodyPr>
          <a:lstStyle/>
          <a:p>
            <a:pPr algn="ctr">
              <a:lnSpc>
                <a:spcPct val="116000"/>
              </a:lnSpc>
              <a:spcBef>
                <a:spcPts val="0"/>
              </a:spcBef>
              <a:spcAft>
                <a:spcPts val="0"/>
              </a:spcAft>
            </a:pPr>
            <a:r>
              <a:rPr sz="1900" b="1" i="0" u="none">
                <a:solidFill>
                  <a:srgbClr val="FFFFFF"/>
                </a:solidFill>
                <a:latin typeface="Segoe UI"/>
                <a:ea typeface="Microsoft YaHei"/>
                <a:cs typeface="Segoe UI"/>
              </a:rPr>
              <a:t>6</a:t>
            </a:r>
          </a:p>
        </p:txBody>
      </p:sp>
      <p:sp>
        <p:nvSpPr>
          <p:cNvPr id="31" name="TextBox 30"/>
          <p:cNvSpPr txBox="1"/>
          <p:nvPr/>
        </p:nvSpPr>
        <p:spPr>
          <a:xfrm>
            <a:off x="1536192" y="4626864"/>
            <a:ext cx="3108960" cy="36576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172A31"/>
                </a:solidFill>
                <a:latin typeface="Segoe UI"/>
                <a:ea typeface="Microsoft YaHei"/>
                <a:cs typeface="Segoe UI"/>
              </a:rPr>
              <a:t>补一个例子</a:t>
            </a:r>
          </a:p>
        </p:txBody>
      </p:sp>
      <p:sp>
        <p:nvSpPr>
          <p:cNvPr id="32" name="TextBox 31"/>
          <p:cNvSpPr txBox="1"/>
          <p:nvPr/>
        </p:nvSpPr>
        <p:spPr>
          <a:xfrm>
            <a:off x="4828031" y="4626864"/>
            <a:ext cx="637611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谁 + 做什么 + 结果</a:t>
            </a:r>
          </a:p>
        </p:txBody>
      </p:sp>
      <p:sp>
        <p:nvSpPr>
          <p:cNvPr id="33" name="Rounded Rectangle 32"/>
          <p:cNvSpPr/>
          <p:nvPr/>
        </p:nvSpPr>
        <p:spPr>
          <a:xfrm>
            <a:off x="914400" y="5102352"/>
            <a:ext cx="402336" cy="402336"/>
          </a:xfrm>
          <a:prstGeom prst="roundRect">
            <a:avLst>
              <a:gd name="adj" fmla="val 50000"/>
            </a:avLst>
          </a:prstGeom>
          <a:solidFill>
            <a:srgbClr val="0E53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914400" y="5166360"/>
            <a:ext cx="402336" cy="365760"/>
          </a:xfrm>
          <a:prstGeom prst="rect">
            <a:avLst/>
          </a:prstGeom>
          <a:noFill/>
        </p:spPr>
        <p:txBody>
          <a:bodyPr wrap="square" lIns="0" rIns="0" tIns="0" bIns="0" anchor="t">
            <a:spAutoFit/>
          </a:bodyPr>
          <a:lstStyle/>
          <a:p>
            <a:pPr algn="ctr">
              <a:lnSpc>
                <a:spcPct val="116000"/>
              </a:lnSpc>
              <a:spcBef>
                <a:spcPts val="0"/>
              </a:spcBef>
              <a:spcAft>
                <a:spcPts val="0"/>
              </a:spcAft>
            </a:pPr>
            <a:r>
              <a:rPr sz="1900" b="1" i="0" u="none">
                <a:solidFill>
                  <a:srgbClr val="FFFFFF"/>
                </a:solidFill>
                <a:latin typeface="Segoe UI"/>
                <a:ea typeface="Microsoft YaHei"/>
                <a:cs typeface="Segoe UI"/>
              </a:rPr>
              <a:t>7</a:t>
            </a:r>
          </a:p>
        </p:txBody>
      </p:sp>
      <p:sp>
        <p:nvSpPr>
          <p:cNvPr id="35" name="TextBox 34"/>
          <p:cNvSpPr txBox="1"/>
          <p:nvPr/>
        </p:nvSpPr>
        <p:spPr>
          <a:xfrm>
            <a:off x="1536192" y="5157216"/>
            <a:ext cx="3108960" cy="365760"/>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172A31"/>
                </a:solidFill>
                <a:latin typeface="Segoe UI"/>
                <a:ea typeface="Microsoft YaHei"/>
                <a:cs typeface="Segoe UI"/>
              </a:rPr>
              <a:t>回应一位同学</a:t>
            </a:r>
          </a:p>
        </p:txBody>
      </p:sp>
      <p:sp>
        <p:nvSpPr>
          <p:cNvPr id="36" name="TextBox 35"/>
          <p:cNvSpPr txBox="1"/>
          <p:nvPr/>
        </p:nvSpPr>
        <p:spPr>
          <a:xfrm>
            <a:off x="4828031" y="5157216"/>
            <a:ext cx="6376111" cy="365760"/>
          </a:xfrm>
          <a:prstGeom prst="rect">
            <a:avLst/>
          </a:prstGeom>
          <a:noFill/>
        </p:spPr>
        <p:txBody>
          <a:bodyPr wrap="square" lIns="0" rIns="0" tIns="0" bIns="0" anchor="t">
            <a:spAutoFit/>
          </a:bodyPr>
          <a:lstStyle/>
          <a:p>
            <a:pPr algn="l">
              <a:lnSpc>
                <a:spcPct val="116000"/>
              </a:lnSpc>
              <a:spcBef>
                <a:spcPts val="0"/>
              </a:spcBef>
              <a:spcAft>
                <a:spcPts val="0"/>
              </a:spcAft>
            </a:pPr>
            <a:r>
              <a:rPr sz="1900" b="0" i="0" u="none">
                <a:solidFill>
                  <a:srgbClr val="627378"/>
                </a:solidFill>
                <a:latin typeface="Segoe UI"/>
                <a:ea typeface="Microsoft YaHei"/>
                <a:cs typeface="Segoe UI"/>
              </a:rPr>
              <a:t>同意 + 加新信息，或者 Although + 我的看法</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621792" y="6336792"/>
            <a:ext cx="10948111" cy="0"/>
          </a:xfrm>
          <a:prstGeom prst="line">
            <a:avLst/>
          </a:prstGeom>
          <a:ln w="9525">
            <a:solidFill>
              <a:srgbClr val="CFDDE1"/>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621792" y="6391656"/>
            <a:ext cx="7663677" cy="310896"/>
          </a:xfrm>
          <a:prstGeom prst="rect">
            <a:avLst/>
          </a:prstGeom>
          <a:noFill/>
        </p:spPr>
        <p:txBody>
          <a:bodyPr wrap="square" lIns="0" rIns="0" tIns="0" bIns="0" anchor="t">
            <a:spAutoFit/>
          </a:bodyPr>
          <a:lstStyle/>
          <a:p>
            <a:pPr algn="l">
              <a:lnSpc>
                <a:spcPct val="116000"/>
              </a:lnSpc>
              <a:spcBef>
                <a:spcPts val="0"/>
              </a:spcBef>
              <a:spcAft>
                <a:spcPts val="400"/>
              </a:spcAft>
            </a:pPr>
            <a:r>
              <a:rPr sz="1200" b="0" i="0" u="none">
                <a:solidFill>
                  <a:srgbClr val="627378"/>
                </a:solidFill>
                <a:latin typeface="Segoe UI"/>
                <a:ea typeface="Microsoft YaHei"/>
                <a:cs typeface="Segoe UI"/>
              </a:rPr>
              <a:t>作业 &amp; 收尾</a:t>
            </a:r>
          </a:p>
        </p:txBody>
      </p:sp>
      <p:sp>
        <p:nvSpPr>
          <p:cNvPr id="4" name="TextBox 3"/>
          <p:cNvSpPr txBox="1"/>
          <p:nvPr/>
        </p:nvSpPr>
        <p:spPr>
          <a:xfrm>
            <a:off x="8285469" y="6391656"/>
            <a:ext cx="3284433" cy="310896"/>
          </a:xfrm>
          <a:prstGeom prst="rect">
            <a:avLst/>
          </a:prstGeom>
          <a:noFill/>
        </p:spPr>
        <p:txBody>
          <a:bodyPr wrap="square" lIns="0" rIns="0" tIns="0" bIns="0" anchor="t">
            <a:spAutoFit/>
          </a:bodyPr>
          <a:lstStyle/>
          <a:p>
            <a:pPr algn="r">
              <a:lnSpc>
                <a:spcPct val="116000"/>
              </a:lnSpc>
              <a:spcBef>
                <a:spcPts val="0"/>
              </a:spcBef>
              <a:spcAft>
                <a:spcPts val="400"/>
              </a:spcAft>
            </a:pPr>
            <a:r>
              <a:rPr sz="1200" b="0" i="0" u="none">
                <a:solidFill>
                  <a:srgbClr val="627378"/>
                </a:solidFill>
                <a:latin typeface="Segoe UI"/>
                <a:ea typeface="Microsoft YaHei"/>
                <a:cs typeface="Segoe UI"/>
              </a:rPr>
              <a:t>100</a:t>
            </a:r>
          </a:p>
        </p:txBody>
      </p:sp>
      <p:sp>
        <p:nvSpPr>
          <p:cNvPr id="5" name="TextBox 4"/>
          <p:cNvSpPr txBox="1"/>
          <p:nvPr/>
        </p:nvSpPr>
        <p:spPr>
          <a:xfrm>
            <a:off x="621792" y="402336"/>
            <a:ext cx="10948111" cy="292608"/>
          </a:xfrm>
          <a:prstGeom prst="rect">
            <a:avLst/>
          </a:prstGeom>
          <a:noFill/>
        </p:spPr>
        <p:txBody>
          <a:bodyPr wrap="square" lIns="0" rIns="0" tIns="0" bIns="0" anchor="t">
            <a:spAutoFit/>
          </a:bodyPr>
          <a:lstStyle/>
          <a:p>
            <a:pPr algn="l">
              <a:lnSpc>
                <a:spcPct val="116000"/>
              </a:lnSpc>
              <a:spcBef>
                <a:spcPts val="0"/>
              </a:spcBef>
              <a:spcAft>
                <a:spcPts val="0"/>
              </a:spcAft>
            </a:pPr>
            <a:r>
              <a:rPr sz="1900" b="1" i="0" u="none">
                <a:solidFill>
                  <a:srgbClr val="C95527"/>
                </a:solidFill>
                <a:latin typeface="Segoe UI"/>
                <a:ea typeface="Microsoft YaHei"/>
                <a:cs typeface="Segoe UI"/>
              </a:rPr>
              <a:t>EXIT TICKET</a:t>
            </a:r>
          </a:p>
        </p:txBody>
      </p:sp>
      <p:sp>
        <p:nvSpPr>
          <p:cNvPr id="6" name="TextBox 5"/>
          <p:cNvSpPr txBox="1"/>
          <p:nvPr/>
        </p:nvSpPr>
        <p:spPr>
          <a:xfrm>
            <a:off x="621792" y="731520"/>
            <a:ext cx="10948111" cy="658368"/>
          </a:xfrm>
          <a:prstGeom prst="rect">
            <a:avLst/>
          </a:prstGeom>
          <a:noFill/>
        </p:spPr>
        <p:txBody>
          <a:bodyPr wrap="square" lIns="0" rIns="0" tIns="0" bIns="0" anchor="t">
            <a:spAutoFit/>
          </a:bodyPr>
          <a:lstStyle/>
          <a:p>
            <a:pPr algn="l">
              <a:lnSpc>
                <a:spcPct val="105000"/>
              </a:lnSpc>
              <a:spcBef>
                <a:spcPts val="0"/>
              </a:spcBef>
              <a:spcAft>
                <a:spcPts val="0"/>
              </a:spcAft>
            </a:pPr>
            <a:r>
              <a:rPr sz="3100" b="1" i="0" u="none">
                <a:solidFill>
                  <a:srgbClr val="B08300"/>
                </a:solidFill>
                <a:latin typeface="Segoe UI"/>
                <a:ea typeface="Microsoft YaHei"/>
                <a:cs typeface="Segoe UI"/>
              </a:rPr>
              <a:t>Exit Ticket · 下课前写完交给我</a:t>
            </a:r>
          </a:p>
        </p:txBody>
      </p:sp>
      <p:cxnSp>
        <p:nvCxnSpPr>
          <p:cNvPr id="7" name="Connector 6"/>
          <p:cNvCxnSpPr/>
          <p:nvPr/>
        </p:nvCxnSpPr>
        <p:spPr>
          <a:xfrm>
            <a:off x="621792" y="1444752"/>
            <a:ext cx="1920240" cy="0"/>
          </a:xfrm>
          <a:prstGeom prst="line">
            <a:avLst/>
          </a:prstGeom>
          <a:ln w="38100">
            <a:solidFill>
              <a:srgbClr val="C9552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1792" y="1856232"/>
            <a:ext cx="10948111" cy="1207008"/>
          </a:xfrm>
          <a:prstGeom prst="roundRect">
            <a:avLst>
              <a:gd name="adj" fmla="val 6000"/>
            </a:avLst>
          </a:prstGeom>
          <a:solidFill>
            <a:srgbClr val="FAF2DC"/>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32688" y="2020824"/>
            <a:ext cx="10308031" cy="384048"/>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B08300"/>
                </a:solidFill>
                <a:latin typeface="Segoe UI"/>
                <a:ea typeface="Microsoft YaHei"/>
                <a:cs typeface="Segoe UI"/>
              </a:rPr>
              <a:t>今天我最大的发现是：</a:t>
            </a:r>
          </a:p>
        </p:txBody>
      </p:sp>
      <p:cxnSp>
        <p:nvCxnSpPr>
          <p:cNvPr id="10" name="Connector 9"/>
          <p:cNvCxnSpPr/>
          <p:nvPr/>
        </p:nvCxnSpPr>
        <p:spPr>
          <a:xfrm>
            <a:off x="932688" y="2788920"/>
            <a:ext cx="10326319"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21792" y="3172968"/>
            <a:ext cx="10948111" cy="1207008"/>
          </a:xfrm>
          <a:prstGeom prst="roundRect">
            <a:avLst>
              <a:gd name="adj" fmla="val 6000"/>
            </a:avLst>
          </a:prstGeom>
          <a:solidFill>
            <a:srgbClr val="FFFFFF"/>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32688" y="3337560"/>
            <a:ext cx="10308031" cy="384048"/>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172A31"/>
                </a:solidFill>
                <a:latin typeface="Segoe UI"/>
                <a:ea typeface="Microsoft YaHei"/>
                <a:cs typeface="Segoe UI"/>
              </a:rPr>
              <a:t>我写作里最弱的一环是（Reason / WHY / Example / Contribution）：</a:t>
            </a:r>
          </a:p>
        </p:txBody>
      </p:sp>
      <p:cxnSp>
        <p:nvCxnSpPr>
          <p:cNvPr id="13" name="Connector 12"/>
          <p:cNvCxnSpPr/>
          <p:nvPr/>
        </p:nvCxnSpPr>
        <p:spPr>
          <a:xfrm>
            <a:off x="932688" y="4105656"/>
            <a:ext cx="10326319"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21792" y="4489704"/>
            <a:ext cx="10948111" cy="1207008"/>
          </a:xfrm>
          <a:prstGeom prst="roundRect">
            <a:avLst>
              <a:gd name="adj" fmla="val 6000"/>
            </a:avLst>
          </a:prstGeom>
          <a:solidFill>
            <a:srgbClr val="FAF2DC"/>
          </a:solidFill>
          <a:ln w="12700">
            <a:solidFill>
              <a:srgbClr val="CFDD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32688" y="4654296"/>
            <a:ext cx="10308031" cy="384048"/>
          </a:xfrm>
          <a:prstGeom prst="rect">
            <a:avLst/>
          </a:prstGeom>
          <a:noFill/>
        </p:spPr>
        <p:txBody>
          <a:bodyPr wrap="square" lIns="0" rIns="0" tIns="0" bIns="0" anchor="t">
            <a:spAutoFit/>
          </a:bodyPr>
          <a:lstStyle/>
          <a:p>
            <a:pPr algn="l">
              <a:lnSpc>
                <a:spcPct val="116000"/>
              </a:lnSpc>
              <a:spcBef>
                <a:spcPts val="0"/>
              </a:spcBef>
              <a:spcAft>
                <a:spcPts val="0"/>
              </a:spcAft>
            </a:pPr>
            <a:r>
              <a:rPr sz="2000" b="1" i="0" u="none">
                <a:solidFill>
                  <a:srgbClr val="B08300"/>
                </a:solidFill>
                <a:latin typeface="Segoe UI"/>
                <a:ea typeface="Microsoft YaHei"/>
                <a:cs typeface="Segoe UI"/>
              </a:rPr>
              <a:t>下一篇 AD 我一定会做的一件事是：</a:t>
            </a:r>
          </a:p>
        </p:txBody>
      </p:sp>
      <p:cxnSp>
        <p:nvCxnSpPr>
          <p:cNvPr id="16" name="Connector 15"/>
          <p:cNvCxnSpPr/>
          <p:nvPr/>
        </p:nvCxnSpPr>
        <p:spPr>
          <a:xfrm>
            <a:off x="932688" y="5422392"/>
            <a:ext cx="10326319" cy="0"/>
          </a:xfrm>
          <a:prstGeom prst="line">
            <a:avLst/>
          </a:prstGeom>
          <a:ln w="12700">
            <a:solidFill>
              <a:srgbClr val="CFDDE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53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384048"/>
          </a:xfrm>
          <a:prstGeom prst="rect">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868680" y="1965960"/>
            <a:ext cx="64008" cy="2377440"/>
          </a:xfrm>
          <a:prstGeom prst="rect">
            <a:avLst/>
          </a:prstGeom>
          <a:solidFill>
            <a:srgbClr val="C955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207008" y="1920240"/>
            <a:ext cx="10058400" cy="1280160"/>
          </a:xfrm>
          <a:prstGeom prst="rect">
            <a:avLst/>
          </a:prstGeom>
          <a:noFill/>
        </p:spPr>
        <p:txBody>
          <a:bodyPr wrap="square" lIns="0" rIns="0" tIns="0" bIns="0" anchor="t">
            <a:spAutoFit/>
          </a:bodyPr>
          <a:lstStyle/>
          <a:p>
            <a:pPr algn="l">
              <a:lnSpc>
                <a:spcPct val="105000"/>
              </a:lnSpc>
              <a:spcBef>
                <a:spcPts val="0"/>
              </a:spcBef>
              <a:spcAft>
                <a:spcPts val="1000"/>
              </a:spcAft>
            </a:pPr>
            <a:r>
              <a:rPr sz="4400" b="1" i="0" u="none">
                <a:solidFill>
                  <a:srgbClr val="FFFFFF"/>
                </a:solidFill>
                <a:latin typeface="Segoe UI"/>
                <a:ea typeface="Microsoft YaHei"/>
                <a:cs typeface="Segoe UI"/>
              </a:rPr>
              <a:t>题会变，流程不会变。</a:t>
            </a:r>
          </a:p>
        </p:txBody>
      </p:sp>
      <p:sp>
        <p:nvSpPr>
          <p:cNvPr id="6" name="TextBox 5"/>
          <p:cNvSpPr txBox="1"/>
          <p:nvPr/>
        </p:nvSpPr>
        <p:spPr>
          <a:xfrm>
            <a:off x="1207008" y="3063240"/>
            <a:ext cx="10058400" cy="1097280"/>
          </a:xfrm>
          <a:prstGeom prst="rect">
            <a:avLst/>
          </a:prstGeom>
          <a:noFill/>
        </p:spPr>
        <p:txBody>
          <a:bodyPr wrap="square" lIns="0" rIns="0" tIns="0" bIns="0" anchor="t">
            <a:spAutoFit/>
          </a:bodyPr>
          <a:lstStyle/>
          <a:p>
            <a:pPr algn="l">
              <a:lnSpc>
                <a:spcPct val="116000"/>
              </a:lnSpc>
              <a:spcBef>
                <a:spcPts val="0"/>
              </a:spcBef>
              <a:spcAft>
                <a:spcPts val="1000"/>
              </a:spcAft>
            </a:pPr>
            <a:r>
              <a:rPr sz="2300" b="0" i="0" u="none">
                <a:solidFill>
                  <a:srgbClr val="C9DEE3"/>
                </a:solidFill>
                <a:latin typeface="Segoe UI"/>
                <a:ea typeface="Microsoft YaHei"/>
                <a:cs typeface="Segoe UI"/>
              </a:rPr>
              <a:t>找争议 → 选观点 → 具体理由 → 解释 WHY → 加例子 → 给结果 → 回应讨论</a:t>
            </a:r>
          </a:p>
          <a:p>
            <a:pPr algn="l">
              <a:lnSpc>
                <a:spcPct val="116000"/>
              </a:lnSpc>
              <a:spcBef>
                <a:spcPts val="0"/>
              </a:spcBef>
              <a:spcAft>
                <a:spcPts val="0"/>
              </a:spcAft>
            </a:pPr>
            <a:r>
              <a:rPr sz="1900" b="0" i="0" u="none">
                <a:solidFill>
                  <a:srgbClr val="9EC6CE"/>
                </a:solidFill>
                <a:latin typeface="Segoe UI"/>
                <a:ea typeface="Microsoft YaHei"/>
                <a:cs typeface="Segoe UI"/>
              </a:rPr>
              <a:t>下次课：把今天的作业，逐句改成 5 分句。</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